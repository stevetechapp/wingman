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slides/slide16.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entation.xml" ContentType="application/vnd.openxmlformats-officedocument.presentationml.presentation.main+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3.xml" ContentType="application/vnd.openxmlformats-officedocument.presentationml.notesSlide+xml"/>
  <Override PartName="/ppt/slideLayouts/slideLayout13.xml" ContentType="application/vnd.openxmlformats-officedocument.presentationml.slideLayout+xml"/>
  <Override PartName="/ppt/notesSlides/notesSlide10.xml" ContentType="application/vnd.openxmlformats-officedocument.presentationml.notesSlid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notesSlides/notesSlide9.xml" ContentType="application/vnd.openxmlformats-officedocument.presentationml.notes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notesSlides/notesSlide1.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slideMasters/slideMaster3.xml" ContentType="application/vnd.openxmlformats-officedocument.presentationml.slideMaster+xml"/>
  <Override PartName="/ppt/notesSlides/notesSlide2.xml" ContentType="application/vnd.openxmlformats-officedocument.presentationml.notesSlide+xml"/>
  <Override PartName="/ppt/notesSlides/notesSlide5.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1.xml" ContentType="application/vnd.openxmlformats-officedocument.presentationml.notesSlid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4.xml" ContentType="application/vnd.openxmlformats-officedocument.theme+xml"/>
  <Override PartName="/ppt/notesMasters/notesMaster1.xml" ContentType="application/vnd.openxmlformats-officedocument.presentationml.notesMaster+xml"/>
  <Override PartName="/ppt/commentAuthors.xml" ContentType="application/vnd.openxmlformats-officedocument.presentationml.commentAuthor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ppt/tags/tag56.xml" ContentType="application/vnd.openxmlformats-officedocument.presentationml.tags+xml"/>
  <Override PartName="/ppt/tags/tag30.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29.xml" ContentType="application/vnd.openxmlformats-officedocument.presentationml.tags+xml"/>
  <Override PartName="/ppt/tags/tag38.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39.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34.xml" ContentType="application/vnd.openxmlformats-officedocument.presentationml.tags+xml"/>
  <Override PartName="/ppt/tags/tag4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ags/tag28.xml" ContentType="application/vnd.openxmlformats-officedocument.presentationml.tags+xml"/>
  <Override PartName="/ppt/tags/tag27.xml" ContentType="application/vnd.openxmlformats-officedocument.presentationml.tags+xml"/>
  <Override PartName="/ppt/tags/tag26.xml" ContentType="application/vnd.openxmlformats-officedocument.presentationml.tags+xml"/>
  <Override PartName="/ppt/tags/tag25.xml" ContentType="application/vnd.openxmlformats-officedocument.presentationml.tags+xml"/>
  <Override PartName="/ppt/tags/tag24.xml" ContentType="application/vnd.openxmlformats-officedocument.presentationml.tags+xml"/>
  <Override PartName="/ppt/tags/tag23.xml" ContentType="application/vnd.openxmlformats-officedocument.presentationml.tags+xml"/>
  <Override PartName="/ppt/tags/tag22.xml" ContentType="application/vnd.openxmlformats-officedocument.presentationml.tags+xml"/>
  <Override PartName="/ppt/tags/tag20.xml" ContentType="application/vnd.openxmlformats-officedocument.presentationml.tags+xml"/>
  <Override PartName="/ppt/tags/tag19.xml" ContentType="application/vnd.openxmlformats-officedocument.presentationml.tags+xml"/>
  <Override PartName="/ppt/tags/tag18.xml" ContentType="application/vnd.openxmlformats-officedocument.presentationml.tags+xml"/>
  <Override PartName="/ppt/tags/tag17.xml" ContentType="application/vnd.openxmlformats-officedocument.presentationml.tags+xml"/>
  <Override PartName="/ppt/tags/tag16.xml" ContentType="application/vnd.openxmlformats-officedocument.presentationml.tags+xml"/>
  <Override PartName="/ppt/tags/tag15.xml" ContentType="application/vnd.openxmlformats-officedocument.presentationml.tags+xml"/>
  <Override PartName="/ppt/tags/tag14.xml" ContentType="application/vnd.openxmlformats-officedocument.presentationml.tags+xml"/>
  <Override PartName="/ppt/tags/tag13.xml" ContentType="application/vnd.openxmlformats-officedocument.presentationml.tags+xml"/>
  <Override PartName="/ppt/tags/tag12.xml" ContentType="application/vnd.openxmlformats-officedocument.presentationml.tags+xml"/>
  <Override PartName="/ppt/tags/tag11.xml" ContentType="application/vnd.openxmlformats-officedocument.presentationml.tags+xml"/>
  <Override PartName="/ppt/tags/tag10.xml" ContentType="application/vnd.openxmlformats-officedocument.presentationml.tags+xml"/>
  <Override PartName="/ppt/tags/tag9.xml" ContentType="application/vnd.openxmlformats-officedocument.presentationml.tags+xml"/>
  <Override PartName="/ppt/tags/tag8.xml" ContentType="application/vnd.openxmlformats-officedocument.presentationml.tags+xml"/>
  <Override PartName="/ppt/tags/tag7.xml" ContentType="application/vnd.openxmlformats-officedocument.presentationml.tags+xml"/>
  <Override PartName="/ppt/tags/tag41.xml" ContentType="application/vnd.openxmlformats-officedocument.presentationml.tags+xml"/>
  <Override PartName="/ppt/tags/tag6.xml" ContentType="application/vnd.openxmlformats-officedocument.presentationml.tags+xml"/>
  <Override PartName="/ppt/tags/tag5.xml" ContentType="application/vnd.openxmlformats-officedocument.presentationml.tags+xml"/>
  <Override PartName="/ppt/tags/tag21.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3.xml" ContentType="application/vnd.openxmlformats-officedocument.presentationml.tags+xml"/>
  <Override PartName="/ppt/tags/tag2.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33.xml" ContentType="application/vnd.openxmlformats-officedocument.presentationml.tags+xml"/>
  <Override PartName="/ppt/tags/tag35.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3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32.xml" ContentType="application/vnd.openxmlformats-officedocument.presentationml.tags+xml"/>
  <Override PartName="/ppt/tags/tag36.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63" r:id="rId3"/>
  </p:sldMasterIdLst>
  <p:notesMasterIdLst>
    <p:notesMasterId r:id="rId20"/>
  </p:notesMasterIdLst>
  <p:sldIdLst>
    <p:sldId id="257" r:id="rId4"/>
    <p:sldId id="1007" r:id="rId5"/>
    <p:sldId id="1008" r:id="rId6"/>
    <p:sldId id="1069" r:id="rId7"/>
    <p:sldId id="1026" r:id="rId8"/>
    <p:sldId id="1053" r:id="rId9"/>
    <p:sldId id="1013" r:id="rId10"/>
    <p:sldId id="1070" r:id="rId11"/>
    <p:sldId id="1010" r:id="rId12"/>
    <p:sldId id="1011" r:id="rId13"/>
    <p:sldId id="1012" r:id="rId14"/>
    <p:sldId id="317" r:id="rId15"/>
    <p:sldId id="272" r:id="rId16"/>
    <p:sldId id="1017" r:id="rId17"/>
    <p:sldId id="1023" r:id="rId18"/>
    <p:sldId id="984" r:id="rId19"/>
  </p:sldIdLst>
  <p:sldSz cx="12192000" cy="6858000"/>
  <p:notesSz cx="6858000" cy="9144000"/>
  <p:custDataLst>
    <p:tags r:id="rId2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F3E2"/>
    <a:srgbClr val="D6E5D6"/>
    <a:srgbClr val="0B7934"/>
    <a:srgbClr val="D5E4CF"/>
    <a:srgbClr val="EFEDF9"/>
    <a:srgbClr val="FAF9FD"/>
    <a:srgbClr val="F1E9F7"/>
    <a:srgbClr val="E6D7F1"/>
    <a:srgbClr val="DFCDED"/>
    <a:srgbClr val="E3E0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AF606853-7671-496A-8E4F-DF71F8EC918B}" styleName="深色样式 1 - 强调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53" autoAdjust="0"/>
    <p:restoredTop sz="94648" autoAdjust="0"/>
  </p:normalViewPr>
  <p:slideViewPr>
    <p:cSldViewPr snapToGrid="0">
      <p:cViewPr varScale="1">
        <p:scale>
          <a:sx n="81" d="100"/>
          <a:sy n="81" d="100"/>
        </p:scale>
        <p:origin x="653" y="67"/>
      </p:cViewPr>
      <p:guideLst/>
    </p:cSldViewPr>
  </p:slideViewPr>
  <p:outlineViewPr>
    <p:cViewPr>
      <p:scale>
        <a:sx n="33" d="100"/>
        <a:sy n="33" d="100"/>
      </p:scale>
      <p:origin x="0" y="0"/>
    </p:cViewPr>
  </p:outlineViewPr>
  <p:notesTextViewPr>
    <p:cViewPr>
      <p:scale>
        <a:sx n="20" d="100"/>
        <a:sy n="2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tags" Target="tags/tag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notesMaster" Target="notesMasters/notesMaster1.xml"/><Relationship Id="rId29"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presProps" Target="presProps.xml"/><Relationship Id="rId28" Type="http://schemas.openxmlformats.org/officeDocument/2006/relationships/customXml" Target="../customXml/item2.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commentAuthors" Target="commentAuthors.xml"/><Relationship Id="rId27"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890828-D59D-4FB6-B526-44D0AEA8C2BD}" type="datetimeFigureOut">
              <a:rPr lang="zh-CN" altLang="en-US" smtClean="0"/>
              <a:t>2026/4/24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2A306D-6C12-4E72-AF59-54F4E5C1E32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r>
              <a:rPr lang="en-US" altLang="zh-CN" dirty="0"/>
              <a:t>1. </a:t>
            </a:r>
            <a:r>
              <a:rPr lang="zh-CN" altLang="en-US" dirty="0"/>
              <a:t>更新封面，不需要展示产品；</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Slide Number Placeholder 3"/>
          <p:cNvSpPr>
            <a:spLocks noGrp="1"/>
          </p:cNvSpPr>
          <p:nvPr>
            <p:ph type="sldNum" sz="quarter" idx="5"/>
          </p:nvPr>
        </p:nvSpPr>
        <p:spPr/>
        <p:txBody>
          <a:bodyPr/>
          <a:lstStyle/>
          <a:p>
            <a:fld id="{A6837353-30EB-4A48-80EB-173D804AEFBD}" type="slidenum">
              <a:rPr lang="zh-CN" altLang="en-US" smtClean="0"/>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42A306D-6C12-4E72-AF59-54F4E5C1E327}" type="slidenum">
              <a:rPr lang="zh-CN" altLang="en-US" smtClean="0"/>
              <a:t>6</a:t>
            </a:fld>
            <a:endParaRPr lang="zh-CN" altLang="en-US"/>
          </a:p>
        </p:txBody>
      </p:sp>
    </p:spTree>
    <p:extLst>
      <p:ext uri="{BB962C8B-B14F-4D97-AF65-F5344CB8AC3E}">
        <p14:creationId xmlns:p14="http://schemas.microsoft.com/office/powerpoint/2010/main" val="11797805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2A306D-6C12-4E72-AF59-54F4E5C1E327}" type="slidenum">
              <a:rPr lang="zh-CN" altLang="en-US" smtClean="0"/>
              <a:t>7</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59890-F5CF-C2E6-65DB-AA7BE4808A7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E0518F4-6DEF-6B0E-600E-A81DD29510BD}"/>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F583CEDD-F9FC-64AB-993D-952AC023D2FE}"/>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CC5FA3E1-2E8B-7AF3-B828-4C9AE85FD635}"/>
              </a:ext>
            </a:extLst>
          </p:cNvPr>
          <p:cNvSpPr>
            <a:spLocks noGrp="1"/>
          </p:cNvSpPr>
          <p:nvPr>
            <p:ph type="sldNum" sz="quarter" idx="5"/>
          </p:nvPr>
        </p:nvSpPr>
        <p:spPr/>
        <p:txBody>
          <a:bodyPr/>
          <a:lstStyle/>
          <a:p>
            <a:fld id="{742A306D-6C12-4E72-AF59-54F4E5C1E327}" type="slidenum">
              <a:rPr lang="zh-CN" altLang="en-US" smtClean="0"/>
              <a:t>8</a:t>
            </a:fld>
            <a:endParaRPr lang="zh-CN" altLang="en-US"/>
          </a:p>
        </p:txBody>
      </p:sp>
    </p:spTree>
    <p:extLst>
      <p:ext uri="{BB962C8B-B14F-4D97-AF65-F5344CB8AC3E}">
        <p14:creationId xmlns:p14="http://schemas.microsoft.com/office/powerpoint/2010/main" val="24200364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2A306D-6C12-4E72-AF59-54F4E5C1E327}" type="slidenum">
              <a:rPr lang="zh-CN" altLang="en-US" smtClean="0"/>
              <a:t>9</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2A306D-6C12-4E72-AF59-54F4E5C1E327}" type="slidenum">
              <a:rPr lang="zh-CN" altLang="en-US" smtClean="0"/>
              <a:t>11</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幻灯片图像占位符 1"/>
          <p:cNvSpPr>
            <a:spLocks noGrp="1" noRot="1" noChangeAspect="1"/>
          </p:cNvSpPr>
          <p:nvPr>
            <p:ph type="sldImg"/>
          </p:nvPr>
        </p:nvSpPr>
        <p:spPr/>
        <p:txBody>
          <a:bodyPr/>
          <a:lstStyle/>
          <a:p>
            <a:endParaRPr/>
          </a:p>
        </p:txBody>
      </p:sp>
      <p:sp>
        <p:nvSpPr>
          <p:cNvPr id="169" name="备注占位符 2"/>
          <p:cNvSpPr>
            <a:spLocks noGrp="1"/>
          </p:cNvSpPr>
          <p:nvPr>
            <p:ph type="body" idx="1"/>
          </p:nvPr>
        </p:nvSpPr>
        <p:spPr/>
        <p:txBody>
          <a:bodyPr/>
          <a:lstStyle/>
          <a:p>
            <a:r>
              <a:rPr lang="zh-CN" altLang="en-US"/>
              <a:t>修改表格从哪火速</a:t>
            </a:r>
            <a:endParaRPr lang="en-US"/>
          </a:p>
        </p:txBody>
      </p:sp>
      <p:sp>
        <p:nvSpPr>
          <p:cNvPr id="170" name="灯片编号占位符 3"/>
          <p:cNvSpPr>
            <a:spLocks noGrp="1"/>
          </p:cNvSpPr>
          <p:nvPr>
            <p:ph type="sldNum" sz="quarter" idx="5"/>
          </p:nvPr>
        </p:nvSpPr>
        <p:spPr/>
        <p:txBody>
          <a:bodyPr/>
          <a:lstStyle/>
          <a:p>
            <a:fld id="{A6837353-30EB-4A48-80EB-173D804AEFBD}" type="slidenum">
              <a:rPr lang="zh-CN" altLang="en-US" smtClean="0"/>
              <a:t>12</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Slide Number Placeholder 3"/>
          <p:cNvSpPr>
            <a:spLocks noGrp="1"/>
          </p:cNvSpPr>
          <p:nvPr>
            <p:ph type="sldNum" sz="quarter" idx="5"/>
          </p:nvPr>
        </p:nvSpPr>
        <p:spPr/>
        <p:txBody>
          <a:bodyPr/>
          <a:lstStyle/>
          <a:p>
            <a:fld id="{A6837353-30EB-4A48-80EB-173D804AEFBD}" type="slidenum">
              <a:rPr lang="zh-CN" altLang="en-US" smtClean="0"/>
              <a:t>13</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2A306D-6C12-4E72-AF59-54F4E5C1E327}" type="slidenum">
              <a:rPr lang="zh-CN" altLang="en-US" smtClean="0"/>
              <a:t>14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26111B7E-33AF-4B07-8A60-1A70837D531B}" type="datetimeFigureOut">
              <a:rPr lang="zh-CN" altLang="en-US" smtClean="0"/>
              <a:t>2026/4/24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149B56B-6286-4108-9151-EF4CD1753CAA}"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6111B7E-33AF-4B07-8A60-1A70837D531B}" type="datetimeFigureOut">
              <a:rPr lang="zh-CN" altLang="en-US" smtClean="0"/>
              <a:t>2026/4/24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149B56B-6286-4108-9151-EF4CD1753CAA}"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26111B7E-33AF-4B07-8A60-1A70837D531B}" type="datetimeFigureOut">
              <a:rPr lang="zh-CN" altLang="en-US" smtClean="0"/>
              <a:t>2026/4/24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149B56B-6286-4108-9151-EF4CD1753CAA}"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26111B7E-33AF-4B07-8A60-1A70837D531B}" type="datetimeFigureOut">
              <a:rPr lang="zh-CN" altLang="en-US" smtClean="0"/>
              <a:t>2026/4/24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149B56B-6286-4108-9151-EF4CD1753CAA}"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26111B7E-33AF-4B07-8A60-1A70837D531B}" type="datetimeFigureOut">
              <a:rPr lang="zh-CN" altLang="en-US" smtClean="0"/>
              <a:t>2026/4/24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149B56B-6286-4108-9151-EF4CD1753CAA}"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6111B7E-33AF-4B07-8A60-1A70837D531B}" type="datetimeFigureOut">
              <a:rPr lang="zh-CN" altLang="en-US" smtClean="0"/>
              <a:t>2026/4/24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149B56B-6286-4108-9151-EF4CD1753CAA}"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6111B7E-33AF-4B07-8A60-1A70837D531B}" type="datetimeFigureOut">
              <a:rPr lang="zh-CN" altLang="en-US" smtClean="0"/>
              <a:t>2026/4/24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149B56B-6286-4108-9151-EF4CD1753CAA}"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6111B7E-33AF-4B07-8A60-1A70837D531B}" type="datetimeFigureOut">
              <a:rPr lang="zh-CN" altLang="en-US" smtClean="0"/>
              <a:t>2026/4/24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149B56B-6286-4108-9151-EF4CD1753CAA}"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6111B7E-33AF-4B07-8A60-1A70837D531B}" type="datetimeFigureOut">
              <a:rPr lang="zh-CN" altLang="en-US" smtClean="0"/>
              <a:t>2026/4/24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149B56B-6286-4108-9151-EF4CD1753CAA}"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6111B7E-33AF-4B07-8A60-1A70837D531B}" type="datetimeFigureOut">
              <a:rPr lang="zh-CN" altLang="en-US" smtClean="0"/>
              <a:t>2026/4/24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149B56B-6286-4108-9151-EF4CD1753CAA}"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6111B7E-33AF-4B07-8A60-1A70837D531B}" type="datetimeFigureOut">
              <a:rPr lang="zh-CN" altLang="en-US" smtClean="0"/>
              <a:t>2026/4/24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149B56B-6286-4108-9151-EF4CD1753CAA}"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6111B7E-33AF-4B07-8A60-1A70837D531B}" type="datetimeFigureOut">
              <a:rPr lang="zh-CN" altLang="en-US" smtClean="0"/>
              <a:t>2026/4/24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149B56B-6286-4108-9151-EF4CD1753CAA}"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6111B7E-33AF-4B07-8A60-1A70837D531B}" type="datetimeFigureOut">
              <a:rPr lang="zh-CN" altLang="en-US" smtClean="0"/>
              <a:t>2026/4/24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149B56B-6286-4108-9151-EF4CD1753CAA}"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2026/4/24</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111B7E-33AF-4B07-8A60-1A70837D531B}" type="datetimeFigureOut">
              <a:rPr lang="zh-CN" altLang="en-US" smtClean="0"/>
              <a:t>2026/4/24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49B56B-6286-4108-9151-EF4CD1753CAA}"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111B7E-33AF-4B07-8A60-1A70837D531B}" type="datetimeFigureOut">
              <a:rPr lang="zh-CN" altLang="en-US" smtClean="0"/>
              <a:t>2026/4/24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49B56B-6286-4108-9151-EF4CD1753CAA}"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111B7E-33AF-4B07-8A60-1A70837D531B}" type="datetimeFigureOut">
              <a:rPr lang="zh-CN" altLang="en-US" smtClean="0"/>
              <a:t>2026/4/24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49B56B-6286-4108-9151-EF4CD1753CAA}"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tags" Target="../tags/tag7.xml"/><Relationship Id="rId7" Type="http://schemas.openxmlformats.org/officeDocument/2006/relationships/image" Target="../media/image2.pn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notesSlide" Target="../notesSlides/notesSlide1.xml"/><Relationship Id="rId5" Type="http://schemas.openxmlformats.org/officeDocument/2006/relationships/slideLayout" Target="../slideLayouts/slideLayout1.xml"/><Relationship Id="rId10" Type="http://schemas.openxmlformats.org/officeDocument/2006/relationships/image" Target="../media/image4.png"/><Relationship Id="rId4" Type="http://schemas.openxmlformats.org/officeDocument/2006/relationships/tags" Target="../tags/tag8.xml"/><Relationship Id="rId9"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tags" Target="../tags/tag11.xml"/><Relationship Id="rId7" Type="http://schemas.openxmlformats.org/officeDocument/2006/relationships/image" Target="../media/image5.png"/><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notesSlide" Target="../notesSlides/notesSlide2.xml"/><Relationship Id="rId5" Type="http://schemas.openxmlformats.org/officeDocument/2006/relationships/slideLayout" Target="../slideLayouts/slideLayout13.xml"/><Relationship Id="rId4" Type="http://schemas.openxmlformats.org/officeDocument/2006/relationships/tags" Target="../tags/tag12.xml"/></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15.xml"/><Relationship Id="rId7" Type="http://schemas.openxmlformats.org/officeDocument/2006/relationships/slideLayout" Target="../slideLayouts/slideLayout14.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9"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tags" Target="../tags/tag26.xml"/><Relationship Id="rId13" Type="http://schemas.openxmlformats.org/officeDocument/2006/relationships/image" Target="../media/image7.svg"/><Relationship Id="rId18" Type="http://schemas.openxmlformats.org/officeDocument/2006/relationships/image" Target="../media/image12.png"/><Relationship Id="rId3" Type="http://schemas.openxmlformats.org/officeDocument/2006/relationships/tags" Target="../tags/tag21.xml"/><Relationship Id="rId7" Type="http://schemas.openxmlformats.org/officeDocument/2006/relationships/tags" Target="../tags/tag25.xml"/><Relationship Id="rId12" Type="http://schemas.openxmlformats.org/officeDocument/2006/relationships/image" Target="../media/image5.png"/><Relationship Id="rId17" Type="http://schemas.openxmlformats.org/officeDocument/2006/relationships/image" Target="../media/image11.png"/><Relationship Id="rId2" Type="http://schemas.openxmlformats.org/officeDocument/2006/relationships/tags" Target="../tags/tag20.xml"/><Relationship Id="rId16" Type="http://schemas.openxmlformats.org/officeDocument/2006/relationships/image" Target="../media/image10.png"/><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notesSlide" Target="../notesSlides/notesSlide3.xml"/><Relationship Id="rId5" Type="http://schemas.openxmlformats.org/officeDocument/2006/relationships/tags" Target="../tags/tag23.xml"/><Relationship Id="rId15" Type="http://schemas.openxmlformats.org/officeDocument/2006/relationships/image" Target="../media/image9.png"/><Relationship Id="rId10" Type="http://schemas.openxmlformats.org/officeDocument/2006/relationships/slideLayout" Target="../slideLayouts/slideLayout15.xml"/><Relationship Id="rId19" Type="http://schemas.openxmlformats.org/officeDocument/2006/relationships/image" Target="../media/image13.png"/><Relationship Id="rId4" Type="http://schemas.openxmlformats.org/officeDocument/2006/relationships/tags" Target="../tags/tag22.xml"/><Relationship Id="rId9" Type="http://schemas.openxmlformats.org/officeDocument/2006/relationships/tags" Target="../tags/tag27.xml"/><Relationship Id="rId1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tags" Target="../tags/tag28.xml"/><Relationship Id="rId5" Type="http://schemas.openxmlformats.org/officeDocument/2006/relationships/image" Target="../media/image5.png"/><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5.png"/><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tags" Target="../tags/tag36.xml"/><Relationship Id="rId7" Type="http://schemas.openxmlformats.org/officeDocument/2006/relationships/image" Target="../media/image14.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image" Target="../media/image5.png"/><Relationship Id="rId5" Type="http://schemas.openxmlformats.org/officeDocument/2006/relationships/notesSlide" Target="../notesSlides/notesSlide5.xml"/><Relationship Id="rId4"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image" Target="../media/image5.png"/><Relationship Id="rId5" Type="http://schemas.openxmlformats.org/officeDocument/2006/relationships/notesSlide" Target="../notesSlides/notesSlide6.xml"/><Relationship Id="rId4"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tags" Target="../tags/tag42.xml"/><Relationship Id="rId7" Type="http://schemas.openxmlformats.org/officeDocument/2006/relationships/image" Target="../media/image16.png"/><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notesSlide" Target="../notesSlides/notesSlide7.xml"/><Relationship Id="rId5" Type="http://schemas.openxmlformats.org/officeDocument/2006/relationships/slideLayout" Target="../slideLayouts/slideLayout14.xml"/><Relationship Id="rId4" Type="http://schemas.openxmlformats.org/officeDocument/2006/relationships/tags" Target="../tags/tag43.xml"/></Relationships>
</file>

<file path=ppt/slides/_rels/slide10.xml.rels><?xml version="1.0" encoding="UTF-8" standalone="yes"?>
<Relationships xmlns="http://schemas.openxmlformats.org/package/2006/relationships"><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image" Target="../media/image17.png"/><Relationship Id="rId5" Type="http://schemas.openxmlformats.org/officeDocument/2006/relationships/slideLayout" Target="../slideLayouts/slideLayout14.xml"/><Relationship Id="rId4" Type="http://schemas.openxmlformats.org/officeDocument/2006/relationships/tags" Target="../tags/tag47.xml"/></Relationships>
</file>

<file path=ppt/slides/_rels/slide11.xml.rels><?xml version="1.0" encoding="UTF-8" standalone="yes"?>
<Relationships xmlns="http://schemas.openxmlformats.org/package/2006/relationships"><Relationship Id="rId3" Type="http://schemas.openxmlformats.org/officeDocument/2006/relationships/tags" Target="../tags/tag50.xml"/><Relationship Id="rId7" Type="http://schemas.openxmlformats.org/officeDocument/2006/relationships/image" Target="../media/image18.png"/><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notesSlide" Target="../notesSlides/notesSlide8.xml"/><Relationship Id="rId5" Type="http://schemas.openxmlformats.org/officeDocument/2006/relationships/slideLayout" Target="../slideLayouts/slideLayout14.xml"/><Relationship Id="rId4" Type="http://schemas.openxmlformats.org/officeDocument/2006/relationships/tags" Target="../tags/tag5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53.xml"/><Relationship Id="rId1" Type="http://schemas.openxmlformats.org/officeDocument/2006/relationships/tags" Target="../tags/tag52.xml"/><Relationship Id="rId4"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notesSlide" Target="../notesSlides/notesSlide10.xml"/><Relationship Id="rId4"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tags" Target="../tags/tag59.xml"/><Relationship Id="rId7" Type="http://schemas.openxmlformats.org/officeDocument/2006/relationships/image" Target="../media/image5.png"/><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notesSlide" Target="../notesSlides/notesSlide11.xml"/><Relationship Id="rId5" Type="http://schemas.openxmlformats.org/officeDocument/2006/relationships/slideLayout" Target="../slideLayouts/slideLayout14.xml"/><Relationship Id="rId4" Type="http://schemas.openxmlformats.org/officeDocument/2006/relationships/tags" Target="../tags/tag60.xml"/></Relationships>
</file>

<file path=ppt/slides/_rels/slide15.xml.rels><?xml version="1.0" encoding="UTF-8" standalone="yes"?>
<Relationships xmlns="http://schemas.openxmlformats.org/package/2006/relationships"><Relationship Id="rId3" Type="http://schemas.openxmlformats.org/officeDocument/2006/relationships/tags" Target="../tags/tag63.xml"/><Relationship Id="rId7" Type="http://schemas.openxmlformats.org/officeDocument/2006/relationships/image" Target="../media/image20.jpeg"/><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image" Target="../media/image5.png"/><Relationship Id="rId5" Type="http://schemas.openxmlformats.org/officeDocument/2006/relationships/slideLayout" Target="../slideLayouts/slideLayout2.xml"/><Relationship Id="rId4" Type="http://schemas.openxmlformats.org/officeDocument/2006/relationships/tags" Target="../tags/tag64.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66.xml"/><Relationship Id="rId1" Type="http://schemas.openxmlformats.org/officeDocument/2006/relationships/tags" Target="../tags/tag65.xml"/><Relationship Id="rId5" Type="http://schemas.openxmlformats.org/officeDocument/2006/relationships/image" Target="../media/image5.png"/><Relationship Id="rId4" Type="http://schemas.openxmlformats.org/officeDocument/2006/relationships/image" Target="../media/image2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erson and person sitting in a room with a computer&#10;&#10;Description automatically generated"/>
          <p:cNvPicPr>
            <a:picLocks noChangeAspect="1"/>
          </p:cNvPicPr>
          <p:nvPr/>
        </p:nvPicPr>
        <p:blipFill>
          <a:blip r:embed="rId7">
            <a:extLst>
              <a:ext uri="{BEBA8EAE-BF5A-486C-A8C5-ECC9F3942E4B}">
                <a14:imgProps xmlns:a14="http://schemas.microsoft.com/office/drawing/2010/main">
                  <a14:imgLayer r:embed="rId8">
                    <a14:imgEffect>
                      <a14:brightnessContrast bright="13000" contrast="-49000"/>
                    </a14:imgEffect>
                    <a14:imgEffect>
                      <a14:saturation sat="16000"/>
                    </a14:imgEffect>
                    <a14:imgEffect>
                      <a14:sharpenSoften amount="-23000"/>
                    </a14:imgEffect>
                  </a14:imgLayer>
                </a14:imgProps>
              </a:ext>
              <a:ext uri="{28A0092B-C50C-407E-A947-70E740481C1C}">
                <a14:useLocalDpi xmlns:a14="http://schemas.microsoft.com/office/drawing/2010/main" val="0"/>
              </a:ext>
            </a:extLst>
          </a:blip>
          <a:stretch>
            <a:fillRect/>
          </a:stretch>
        </p:blipFill>
        <p:spPr>
          <a:xfrm>
            <a:off x="0" y="347153"/>
            <a:ext cx="12192000" cy="6120322"/>
          </a:xfrm>
          <a:prstGeom prst="rect">
            <a:avLst/>
          </a:prstGeom>
        </p:spPr>
      </p:pic>
      <p:sp>
        <p:nvSpPr>
          <p:cNvPr id="9" name="矩形 7"/>
          <p:cNvSpPr/>
          <p:nvPr>
            <p:custDataLst>
              <p:tags r:id="rId1"/>
            </p:custDataLst>
          </p:nvPr>
        </p:nvSpPr>
        <p:spPr>
          <a:xfrm>
            <a:off x="0" y="0"/>
            <a:ext cx="12192000" cy="1203942"/>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accent6"/>
              </a:solidFill>
              <a:latin typeface="微软雅黑" panose="020B0503020204020204" pitchFamily="34" charset="-122"/>
              <a:ea typeface="微软雅黑" panose="020B0503020204020204" pitchFamily="34" charset="-122"/>
              <a:sym typeface="+mn-ea"/>
            </a:endParaRPr>
          </a:p>
        </p:txBody>
      </p:sp>
      <p:sp>
        <p:nvSpPr>
          <p:cNvPr id="30" name="矩形 7"/>
          <p:cNvSpPr/>
          <p:nvPr>
            <p:custDataLst>
              <p:tags r:id="rId2"/>
            </p:custDataLst>
          </p:nvPr>
        </p:nvSpPr>
        <p:spPr>
          <a:xfrm>
            <a:off x="0" y="1086295"/>
            <a:ext cx="12192000" cy="4567763"/>
          </a:xfrm>
          <a:prstGeom prst="rect">
            <a:avLst/>
          </a:prstGeom>
          <a:solidFill>
            <a:srgbClr val="73B98F">
              <a:alpha val="5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0" dirty="0">
              <a:solidFill>
                <a:schemeClr val="accent6"/>
              </a:solidFill>
              <a:latin typeface="微软雅黑" panose="020B0503020204020204" pitchFamily="34" charset="-122"/>
              <a:ea typeface="微软雅黑" panose="020B0503020204020204" pitchFamily="34" charset="-122"/>
              <a:sym typeface="+mn-ea"/>
            </a:endParaRPr>
          </a:p>
        </p:txBody>
      </p:sp>
      <p:sp>
        <p:nvSpPr>
          <p:cNvPr id="22" name="文本框 20"/>
          <p:cNvSpPr txBox="1"/>
          <p:nvPr>
            <p:custDataLst>
              <p:tags r:id="rId3"/>
            </p:custDataLst>
          </p:nvPr>
        </p:nvSpPr>
        <p:spPr>
          <a:xfrm>
            <a:off x="399346" y="257682"/>
            <a:ext cx="4077404" cy="609600"/>
          </a:xfrm>
          <a:prstGeom prst="rect">
            <a:avLst/>
          </a:prstGeom>
          <a:noFill/>
        </p:spPr>
        <p:txBody>
          <a:bodyPr wrap="square" lIns="63500" tIns="25400" rIns="63500" bIns="25400" rtlCol="0" anchor="ctr" anchorCtr="0">
            <a:noAutofit/>
          </a:bodyPr>
          <a:lstStyle/>
          <a:p>
            <a:pPr marL="0" indent="0" algn="l">
              <a:lnSpc>
                <a:spcPct val="100000"/>
              </a:lnSpc>
              <a:spcBef>
                <a:spcPts val="0"/>
              </a:spcBef>
              <a:spcAft>
                <a:spcPts val="0"/>
              </a:spcAft>
              <a:buSzPct val="100000"/>
              <a:buNone/>
            </a:pPr>
            <a:r>
              <a:rPr lang="en-US" altLang="zh-CN" sz="3800" b="1" strike="noStrike" dirty="0">
                <a:solidFill>
                  <a:schemeClr val="lt1"/>
                </a:solidFill>
                <a:uFillTx/>
                <a:latin typeface="Montserrat" pitchFamily="2" charset="0"/>
                <a:ea typeface="微软雅黑" panose="020B0503020204020204" pitchFamily="34" charset="-122"/>
                <a:cs typeface="Roboto" charset="0"/>
                <a:sym typeface="Roboto"/>
              </a:rPr>
              <a:t>Product Guide</a:t>
            </a:r>
          </a:p>
        </p:txBody>
      </p:sp>
      <p:sp>
        <p:nvSpPr>
          <p:cNvPr id="2" name="Title 1"/>
          <p:cNvSpPr>
            <a:spLocks noGrp="1"/>
          </p:cNvSpPr>
          <p:nvPr>
            <p:ph type="ctrTitle"/>
          </p:nvPr>
        </p:nvSpPr>
        <p:spPr>
          <a:xfrm>
            <a:off x="4881065" y="198014"/>
            <a:ext cx="7063286" cy="503028"/>
          </a:xfrm>
        </p:spPr>
        <p:txBody>
          <a:bodyPr>
            <a:noAutofit/>
          </a:bodyPr>
          <a:lstStyle/>
          <a:p>
            <a:pPr algn="r"/>
            <a:r>
              <a:rPr lang="en-US" altLang="zh-CN" sz="2600" b="1" dirty="0">
                <a:solidFill>
                  <a:schemeClr val="bg1"/>
                </a:solidFill>
                <a:latin typeface="Roboto" charset="0"/>
                <a:ea typeface="Roboto"/>
                <a:cs typeface="Roboto" charset="0"/>
                <a:sym typeface="+mn-ea"/>
              </a:rPr>
              <a:t>APO-VX20-UC</a:t>
            </a:r>
            <a:r>
              <a:rPr lang="zh-CN" altLang="en-US" sz="2600" b="1" dirty="0">
                <a:solidFill>
                  <a:schemeClr val="bg1"/>
                </a:solidFill>
                <a:latin typeface="Roboto" charset="0"/>
                <a:ea typeface="Roboto"/>
                <a:cs typeface="Roboto" charset="0"/>
                <a:sym typeface="+mn-ea"/>
              </a:rPr>
              <a:t> </a:t>
            </a:r>
            <a:r>
              <a:rPr lang="en-US" altLang="zh-CN" sz="2600" b="1" dirty="0">
                <a:solidFill>
                  <a:schemeClr val="bg1"/>
                </a:solidFill>
                <a:latin typeface="Roboto" charset="0"/>
                <a:ea typeface="Roboto"/>
                <a:cs typeface="Roboto" charset="0"/>
                <a:sym typeface="+mn-ea"/>
              </a:rPr>
              <a:t>v2</a:t>
            </a:r>
            <a:endParaRPr lang="zh-CN" altLang="en-US" sz="2600" b="1" dirty="0">
              <a:solidFill>
                <a:schemeClr val="bg1"/>
              </a:solidFill>
              <a:latin typeface="Roboto" charset="0"/>
              <a:ea typeface="宋体" panose="02010600030101010101" pitchFamily="2" charset="-122"/>
              <a:cs typeface="Roboto" charset="0"/>
              <a:sym typeface="+mn-ea"/>
            </a:endParaRPr>
          </a:p>
        </p:txBody>
      </p:sp>
      <p:sp>
        <p:nvSpPr>
          <p:cNvPr id="3" name="Title 1"/>
          <p:cNvSpPr txBox="1"/>
          <p:nvPr/>
        </p:nvSpPr>
        <p:spPr>
          <a:xfrm>
            <a:off x="5648280" y="538480"/>
            <a:ext cx="6543720" cy="43466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n-US" altLang="zh-CN" sz="1800" dirty="0">
                <a:solidFill>
                  <a:schemeClr val="accent6">
                    <a:lumMod val="40000"/>
                    <a:lumOff val="60000"/>
                  </a:schemeClr>
                </a:solidFill>
                <a:latin typeface="Roboto" charset="0"/>
                <a:ea typeface="Roboto"/>
                <a:cs typeface="Roboto" charset="0"/>
              </a:rPr>
              <a:t>4K</a:t>
            </a:r>
            <a:r>
              <a:rPr lang="zh-CN" altLang="en-US" sz="1800" dirty="0">
                <a:solidFill>
                  <a:schemeClr val="accent6">
                    <a:lumMod val="40000"/>
                    <a:lumOff val="60000"/>
                  </a:schemeClr>
                </a:solidFill>
                <a:latin typeface="Roboto" charset="0"/>
                <a:ea typeface="Roboto"/>
                <a:cs typeface="Roboto" charset="0"/>
              </a:rPr>
              <a:t> </a:t>
            </a:r>
            <a:r>
              <a:rPr lang="en-US" altLang="zh-CN" sz="1800" dirty="0">
                <a:solidFill>
                  <a:schemeClr val="accent6">
                    <a:lumMod val="40000"/>
                    <a:lumOff val="60000"/>
                  </a:schemeClr>
                </a:solidFill>
                <a:latin typeface="Roboto" charset="0"/>
                <a:ea typeface="Roboto"/>
                <a:cs typeface="Roboto" charset="0"/>
              </a:rPr>
              <a:t>All-In-One</a:t>
            </a:r>
            <a:r>
              <a:rPr lang="zh-CN" altLang="en-US" sz="1800" dirty="0">
                <a:solidFill>
                  <a:schemeClr val="accent6">
                    <a:lumMod val="40000"/>
                    <a:lumOff val="60000"/>
                  </a:schemeClr>
                </a:solidFill>
                <a:latin typeface="Roboto" charset="0"/>
                <a:ea typeface="Roboto"/>
                <a:cs typeface="Roboto" charset="0"/>
              </a:rPr>
              <a:t> </a:t>
            </a:r>
            <a:r>
              <a:rPr lang="en-US" altLang="zh-CN" sz="1800" dirty="0">
                <a:solidFill>
                  <a:schemeClr val="accent6">
                    <a:lumMod val="40000"/>
                    <a:lumOff val="60000"/>
                  </a:schemeClr>
                </a:solidFill>
                <a:latin typeface="Roboto" charset="0"/>
                <a:ea typeface="Roboto"/>
                <a:cs typeface="Roboto" charset="0"/>
              </a:rPr>
              <a:t>Conference</a:t>
            </a:r>
            <a:r>
              <a:rPr lang="zh-CN" altLang="en-US" sz="1800" dirty="0">
                <a:solidFill>
                  <a:schemeClr val="accent6">
                    <a:lumMod val="40000"/>
                    <a:lumOff val="60000"/>
                  </a:schemeClr>
                </a:solidFill>
                <a:latin typeface="Roboto" charset="0"/>
                <a:ea typeface="Roboto"/>
                <a:cs typeface="Roboto" charset="0"/>
              </a:rPr>
              <a:t> </a:t>
            </a:r>
            <a:r>
              <a:rPr lang="en-US" altLang="zh-CN" sz="1800" dirty="0">
                <a:solidFill>
                  <a:schemeClr val="accent6">
                    <a:lumMod val="40000"/>
                    <a:lumOff val="60000"/>
                  </a:schemeClr>
                </a:solidFill>
                <a:latin typeface="Roboto" charset="0"/>
                <a:ea typeface="Roboto"/>
                <a:cs typeface="Roboto" charset="0"/>
              </a:rPr>
              <a:t>Video</a:t>
            </a:r>
            <a:r>
              <a:rPr lang="zh-CN" altLang="en-US" sz="1800" dirty="0">
                <a:solidFill>
                  <a:schemeClr val="accent6">
                    <a:lumMod val="40000"/>
                    <a:lumOff val="60000"/>
                  </a:schemeClr>
                </a:solidFill>
                <a:latin typeface="Roboto" charset="0"/>
                <a:ea typeface="Roboto"/>
                <a:cs typeface="Roboto" charset="0"/>
              </a:rPr>
              <a:t> </a:t>
            </a:r>
            <a:r>
              <a:rPr lang="en-US" altLang="zh-CN" sz="1800" dirty="0">
                <a:solidFill>
                  <a:schemeClr val="accent6">
                    <a:lumMod val="40000"/>
                    <a:lumOff val="60000"/>
                  </a:schemeClr>
                </a:solidFill>
                <a:latin typeface="Roboto" charset="0"/>
                <a:ea typeface="Roboto"/>
                <a:cs typeface="Roboto" charset="0"/>
              </a:rPr>
              <a:t>Bar</a:t>
            </a:r>
            <a:r>
              <a:rPr lang="zh-CN" altLang="en-US" sz="1800" dirty="0">
                <a:solidFill>
                  <a:schemeClr val="accent6">
                    <a:lumMod val="40000"/>
                    <a:lumOff val="60000"/>
                  </a:schemeClr>
                </a:solidFill>
                <a:latin typeface="Roboto" charset="0"/>
                <a:ea typeface="Roboto"/>
                <a:cs typeface="Roboto" charset="0"/>
              </a:rPr>
              <a:t> </a:t>
            </a:r>
            <a:r>
              <a:rPr lang="en-US" altLang="zh-CN" sz="1800" dirty="0">
                <a:solidFill>
                  <a:schemeClr val="accent6">
                    <a:lumMod val="40000"/>
                    <a:lumOff val="60000"/>
                  </a:schemeClr>
                </a:solidFill>
                <a:latin typeface="Roboto" charset="0"/>
                <a:ea typeface="Roboto"/>
                <a:cs typeface="Roboto" charset="0"/>
              </a:rPr>
              <a:t>&amp;</a:t>
            </a:r>
            <a:r>
              <a:rPr lang="zh-CN" altLang="en-US" sz="1800" dirty="0">
                <a:solidFill>
                  <a:schemeClr val="accent6">
                    <a:lumMod val="40000"/>
                    <a:lumOff val="60000"/>
                  </a:schemeClr>
                </a:solidFill>
                <a:latin typeface="Roboto" charset="0"/>
                <a:ea typeface="Roboto"/>
                <a:cs typeface="Roboto" charset="0"/>
              </a:rPr>
              <a:t> </a:t>
            </a:r>
            <a:r>
              <a:rPr lang="en-US" altLang="zh-CN" sz="1800" dirty="0">
                <a:solidFill>
                  <a:schemeClr val="accent6">
                    <a:lumMod val="40000"/>
                    <a:lumOff val="60000"/>
                  </a:schemeClr>
                </a:solidFill>
                <a:latin typeface="Roboto" charset="0"/>
                <a:ea typeface="Roboto"/>
                <a:cs typeface="Roboto" charset="0"/>
              </a:rPr>
              <a:t>Switcher</a:t>
            </a:r>
            <a:endParaRPr lang="zh-CN" altLang="en-US" sz="1800" dirty="0">
              <a:solidFill>
                <a:schemeClr val="accent6">
                  <a:lumMod val="40000"/>
                  <a:lumOff val="60000"/>
                </a:schemeClr>
              </a:solidFill>
              <a:latin typeface="Roboto" charset="0"/>
              <a:ea typeface="宋体" panose="02010600030101010101" pitchFamily="2" charset="-122"/>
              <a:cs typeface="Roboto" charset="0"/>
              <a:sym typeface="+mn-ea"/>
            </a:endParaRPr>
          </a:p>
        </p:txBody>
      </p:sp>
      <p:sp>
        <p:nvSpPr>
          <p:cNvPr id="13" name="矩形 7"/>
          <p:cNvSpPr/>
          <p:nvPr>
            <p:custDataLst>
              <p:tags r:id="rId4"/>
            </p:custDataLst>
          </p:nvPr>
        </p:nvSpPr>
        <p:spPr>
          <a:xfrm>
            <a:off x="0" y="5654059"/>
            <a:ext cx="12192000" cy="1203436"/>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accent6"/>
              </a:solidFill>
              <a:latin typeface="微软雅黑" panose="020B0503020204020204" pitchFamily="34" charset="-122"/>
              <a:ea typeface="微软雅黑" panose="020B0503020204020204" pitchFamily="34" charset="-122"/>
              <a:sym typeface="+mn-ea"/>
            </a:endParaRPr>
          </a:p>
        </p:txBody>
      </p:sp>
      <p:pic>
        <p:nvPicPr>
          <p:cNvPr id="26" name="Picture 25" descr="A picture containing text, clock&#10;&#10;Description automatically generated"/>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99346" y="5877970"/>
            <a:ext cx="4315581" cy="863114"/>
          </a:xfrm>
          <a:prstGeom prst="rect">
            <a:avLst/>
          </a:prstGeom>
        </p:spPr>
      </p:pic>
      <p:sp>
        <p:nvSpPr>
          <p:cNvPr id="19" name="Title 1"/>
          <p:cNvSpPr txBox="1"/>
          <p:nvPr/>
        </p:nvSpPr>
        <p:spPr>
          <a:xfrm>
            <a:off x="6616271" y="5849316"/>
            <a:ext cx="5691024" cy="81161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i="1" dirty="0">
                <a:latin typeface="Montserrat"/>
                <a:ea typeface="Roboto"/>
                <a:cs typeface="Arial" panose="020B0604020202020204"/>
              </a:rPr>
              <a:t>Award-Winning Audio-Visual</a:t>
            </a:r>
            <a:br>
              <a:rPr lang="en-US" sz="2400" b="1" i="1" dirty="0">
                <a:latin typeface="Montserrat" pitchFamily="2" charset="77"/>
                <a:ea typeface="Roboto"/>
                <a:cs typeface="Arial" panose="020B0604020202020204"/>
              </a:rPr>
            </a:br>
            <a:r>
              <a:rPr lang="en-US" sz="2400" b="1" i="1" dirty="0">
                <a:latin typeface="Montserrat"/>
                <a:ea typeface="Roboto"/>
                <a:cs typeface="Arial" panose="020B0604020202020204"/>
              </a:rPr>
              <a:t>Solutions Manufacturer</a:t>
            </a:r>
          </a:p>
        </p:txBody>
      </p:sp>
      <p:pic>
        <p:nvPicPr>
          <p:cNvPr id="5" name="图片 4" descr="手机屏幕的截图&#10;&#10;AI 生成的内容可能不正确。">
            <a:extLst>
              <a:ext uri="{FF2B5EF4-FFF2-40B4-BE49-F238E27FC236}">
                <a16:creationId xmlns:a16="http://schemas.microsoft.com/office/drawing/2014/main" id="{FA2371C9-CFEA-63C8-5F5E-F6B56680564E}"/>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l="12548" t="29409" r="13956" b="36496"/>
          <a:stretch>
            <a:fillRect/>
          </a:stretch>
        </p:blipFill>
        <p:spPr>
          <a:xfrm>
            <a:off x="686227" y="2263124"/>
            <a:ext cx="10819546" cy="214885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400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2000"/>
                                        <p:tgtEl>
                                          <p:spTgt spid="26"/>
                                        </p:tgtEl>
                                      </p:cBhvr>
                                    </p:animEffect>
                                    <p:anim calcmode="lin" valueType="num">
                                      <p:cBhvr>
                                        <p:cTn id="15" dur="2000" fill="hold"/>
                                        <p:tgtEl>
                                          <p:spTgt spid="26"/>
                                        </p:tgtEl>
                                        <p:attrNameLst>
                                          <p:attrName>ppt_x</p:attrName>
                                        </p:attrNameLst>
                                      </p:cBhvr>
                                      <p:tavLst>
                                        <p:tav tm="0">
                                          <p:val>
                                            <p:strVal val="#ppt_x"/>
                                          </p:val>
                                        </p:tav>
                                        <p:tav tm="100000">
                                          <p:val>
                                            <p:strVal val="#ppt_x"/>
                                          </p:val>
                                        </p:tav>
                                      </p:tavLst>
                                    </p:anim>
                                    <p:anim calcmode="lin" valueType="num">
                                      <p:cBhvr>
                                        <p:cTn id="16" dur="2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accent6"/>
              </a:solidFill>
              <a:latin typeface="微软雅黑" panose="020B0503020204020204" pitchFamily="34" charset="-122"/>
              <a:ea typeface="微软雅黑" panose="020B0503020204020204" pitchFamily="34" charset="-122"/>
              <a:sym typeface="+mn-ea"/>
            </a:endParaRPr>
          </a:p>
        </p:txBody>
      </p:sp>
      <p:sp>
        <p:nvSpPr>
          <p:cNvPr id="21" name="文本框 20"/>
          <p:cNvSpPr txBox="1"/>
          <p:nvPr>
            <p:custDataLst>
              <p:tags r:id="rId3"/>
            </p:custDataLst>
          </p:nvPr>
        </p:nvSpPr>
        <p:spPr>
          <a:xfrm>
            <a:off x="457155" y="161926"/>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altLang="zh-CN" sz="3200" b="1" strike="noStrike" dirty="0">
                <a:solidFill>
                  <a:schemeClr val="lt1"/>
                </a:solidFill>
                <a:uFillTx/>
                <a:latin typeface="Montserrat" pitchFamily="2" charset="0"/>
                <a:ea typeface="微软雅黑" panose="020B0503020204020204" pitchFamily="34" charset="-122"/>
                <a:cs typeface="Roboto" charset="0"/>
                <a:sym typeface="Roboto"/>
              </a:rPr>
              <a:t>Contents</a:t>
            </a:r>
          </a:p>
        </p:txBody>
      </p:sp>
      <p:pic>
        <p:nvPicPr>
          <p:cNvPr id="2" name="Google Shape;82;p1"/>
          <p:cNvPicPr preferRelativeResize="0"/>
          <p:nvPr/>
        </p:nvPicPr>
        <p:blipFill>
          <a:blip r:embed="rId7"/>
          <a:stretch>
            <a:fillRect/>
          </a:stretch>
        </p:blipFill>
        <p:spPr>
          <a:xfrm>
            <a:off x="9652104" y="6056488"/>
            <a:ext cx="2241019" cy="440200"/>
          </a:xfrm>
          <a:prstGeom prst="rect">
            <a:avLst/>
          </a:prstGeom>
          <a:noFill/>
          <a:ln>
            <a:noFill/>
          </a:ln>
        </p:spPr>
      </p:pic>
      <p:sp>
        <p:nvSpPr>
          <p:cNvPr id="3"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p>
        </p:txBody>
      </p:sp>
      <p:sp>
        <p:nvSpPr>
          <p:cNvPr id="6" name="Rectangle 5"/>
          <p:cNvSpPr/>
          <p:nvPr/>
        </p:nvSpPr>
        <p:spPr>
          <a:xfrm>
            <a:off x="3031795" y="1200269"/>
            <a:ext cx="5950280"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4327193" y="1869423"/>
            <a:ext cx="3359482"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3593768" y="2530186"/>
            <a:ext cx="4826332"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4022393" y="4580651"/>
            <a:ext cx="3969082"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p:cNvSpPr/>
          <p:nvPr/>
        </p:nvSpPr>
        <p:spPr>
          <a:xfrm>
            <a:off x="1974518" y="5232936"/>
            <a:ext cx="8064832"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p:cNvSpPr/>
          <p:nvPr/>
        </p:nvSpPr>
        <p:spPr>
          <a:xfrm>
            <a:off x="4508168" y="5923321"/>
            <a:ext cx="2997532"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p:cNvSpPr/>
          <p:nvPr/>
        </p:nvSpPr>
        <p:spPr>
          <a:xfrm>
            <a:off x="2853662" y="3220571"/>
            <a:ext cx="6306544"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p:cNvSpPr/>
          <p:nvPr/>
        </p:nvSpPr>
        <p:spPr>
          <a:xfrm>
            <a:off x="2738560" y="3910956"/>
            <a:ext cx="6536748"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itle 6"/>
          <p:cNvSpPr txBox="1"/>
          <p:nvPr>
            <p:custDataLst>
              <p:tags r:id="rId4"/>
            </p:custDataLst>
          </p:nvPr>
        </p:nvSpPr>
        <p:spPr>
          <a:xfrm>
            <a:off x="1570188" y="1649435"/>
            <a:ext cx="8873491" cy="4209932"/>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ctr" fontAlgn="ctr">
              <a:lnSpc>
                <a:spcPts val="4500"/>
              </a:lnSpc>
              <a:spcBef>
                <a:spcPts val="0"/>
              </a:spcBef>
              <a:spcAft>
                <a:spcPts val="800"/>
              </a:spcAft>
              <a:buSzPct val="100000"/>
            </a:pP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Product Overview &amp; Key Features</a:t>
            </a:r>
          </a:p>
          <a:p>
            <a:pPr lvl="0" algn="ctr" fontAlgn="ctr">
              <a:lnSpc>
                <a:spcPts val="4500"/>
              </a:lnSpc>
              <a:spcBef>
                <a:spcPts val="0"/>
              </a:spcBef>
              <a:spcAft>
                <a:spcPts val="800"/>
              </a:spcAft>
              <a:buSzPct val="100000"/>
            </a:pP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Why Choose Us?</a:t>
            </a:r>
          </a:p>
          <a:p>
            <a:pPr lvl="0" algn="ctr" fontAlgn="ctr">
              <a:lnSpc>
                <a:spcPts val="4500"/>
              </a:lnSpc>
              <a:spcBef>
                <a:spcPts val="0"/>
              </a:spcBef>
              <a:spcAft>
                <a:spcPts val="800"/>
              </a:spcAft>
              <a:buSzPct val="100000"/>
            </a:pPr>
            <a:r>
              <a:rPr altLang="zh-CN" sz="2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Interface &amp; Specifications</a:t>
            </a:r>
            <a:endPar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algn="ctr" fontAlgn="ctr">
              <a:lnSpc>
                <a:spcPts val="4500"/>
              </a:lnSpc>
              <a:spcBef>
                <a:spcPts val="0"/>
              </a:spcBef>
              <a:spcAft>
                <a:spcPts val="800"/>
              </a:spcAft>
              <a:buSzPct val="100000"/>
            </a:pP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Typical Connection &amp; Applications </a:t>
            </a:r>
          </a:p>
          <a:p>
            <a:pPr lvl="0" algn="ctr" fontAlgn="ctr">
              <a:lnSpc>
                <a:spcPts val="4500"/>
              </a:lnSpc>
              <a:spcBef>
                <a:spcPts val="0"/>
              </a:spcBef>
              <a:spcAft>
                <a:spcPts val="800"/>
              </a:spcAft>
              <a:buSzPct val="100000"/>
            </a:pP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Comparison with Previous Products</a:t>
            </a:r>
          </a:p>
          <a:p>
            <a:pPr lvl="0" algn="ctr" fontAlgn="ctr">
              <a:lnSpc>
                <a:spcPts val="4500"/>
              </a:lnSpc>
              <a:spcBef>
                <a:spcPts val="0"/>
              </a:spcBef>
              <a:spcAft>
                <a:spcPts val="800"/>
              </a:spcAft>
              <a:buSzPct val="100000"/>
            </a:pP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Competitor Analysis</a:t>
            </a:r>
          </a:p>
          <a:p>
            <a:pPr lvl="0" algn="ctr" fontAlgn="ctr">
              <a:lnSpc>
                <a:spcPts val="4500"/>
              </a:lnSpc>
              <a:spcBef>
                <a:spcPts val="0"/>
              </a:spcBef>
              <a:spcAft>
                <a:spcPts val="800"/>
              </a:spcAft>
              <a:buSzPct val="100000"/>
            </a:pP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Quick Installation Guide &amp; Web UI Introduction</a:t>
            </a:r>
          </a:p>
          <a:p>
            <a:pPr lvl="0" algn="ctr" fontAlgn="ctr">
              <a:lnSpc>
                <a:spcPts val="4500"/>
              </a:lnSpc>
              <a:spcBef>
                <a:spcPts val="0"/>
              </a:spcBef>
              <a:spcAft>
                <a:spcPts val="800"/>
              </a:spcAft>
              <a:buSzPct val="100000"/>
            </a:pP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Q &amp; A Session</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accent6"/>
              </a:solidFill>
              <a:latin typeface="微软雅黑" panose="020B0503020204020204" pitchFamily="34" charset="-122"/>
              <a:ea typeface="微软雅黑" panose="020B0503020204020204" pitchFamily="34" charset="-122"/>
              <a:sym typeface="+mn-ea"/>
            </a:endParaRPr>
          </a:p>
        </p:txBody>
      </p:sp>
      <p:cxnSp>
        <p:nvCxnSpPr>
          <p:cNvPr id="11" name="直接连接符 10"/>
          <p:cNvCxnSpPr/>
          <p:nvPr>
            <p:custDataLst>
              <p:tags r:id="rId3"/>
            </p:custDataLst>
          </p:nvPr>
        </p:nvCxnSpPr>
        <p:spPr>
          <a:xfrm>
            <a:off x="8904655" y="1635474"/>
            <a:ext cx="2489200" cy="0"/>
          </a:xfrm>
          <a:prstGeom prst="line">
            <a:avLst/>
          </a:prstGeom>
          <a:ln w="28575" cmpd="sng">
            <a:solidFill>
              <a:schemeClr val="dk2"/>
            </a:solidFill>
            <a:prstDash val="sysDot"/>
          </a:ln>
        </p:spPr>
        <p:style>
          <a:lnRef idx="1">
            <a:schemeClr val="dk1"/>
          </a:lnRef>
          <a:fillRef idx="0">
            <a:schemeClr val="dk1"/>
          </a:fillRef>
          <a:effectRef idx="0">
            <a:schemeClr val="dk1"/>
          </a:effectRef>
          <a:fontRef idx="minor">
            <a:schemeClr val="tx1"/>
          </a:fontRef>
        </p:style>
      </p:cxnSp>
      <p:cxnSp>
        <p:nvCxnSpPr>
          <p:cNvPr id="12" name="直接连接符 11"/>
          <p:cNvCxnSpPr/>
          <p:nvPr>
            <p:custDataLst>
              <p:tags r:id="rId4"/>
            </p:custDataLst>
          </p:nvPr>
        </p:nvCxnSpPr>
        <p:spPr>
          <a:xfrm>
            <a:off x="5829257" y="5517369"/>
            <a:ext cx="2489200" cy="0"/>
          </a:xfrm>
          <a:prstGeom prst="line">
            <a:avLst/>
          </a:prstGeom>
          <a:ln w="28575" cmpd="sng">
            <a:solidFill>
              <a:schemeClr val="dk2"/>
            </a:solidFill>
            <a:prstDash val="sysDot"/>
          </a:ln>
        </p:spPr>
        <p:style>
          <a:lnRef idx="1">
            <a:schemeClr val="dk1"/>
          </a:lnRef>
          <a:fillRef idx="0">
            <a:schemeClr val="dk1"/>
          </a:fillRef>
          <a:effectRef idx="0">
            <a:schemeClr val="dk1"/>
          </a:effectRef>
          <a:fontRef idx="minor">
            <a:schemeClr val="tx1"/>
          </a:fontRef>
        </p:style>
      </p:cxnSp>
      <p:sp>
        <p:nvSpPr>
          <p:cNvPr id="7" name="文本框 6"/>
          <p:cNvSpPr txBox="1"/>
          <p:nvPr>
            <p:custDataLst>
              <p:tags r:id="rId5"/>
            </p:custDataLst>
          </p:nvPr>
        </p:nvSpPr>
        <p:spPr>
          <a:xfrm>
            <a:off x="457155" y="155572"/>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pitchFamily="34" charset="-122"/>
                <a:sym typeface="Roboto"/>
              </a:rPr>
              <a:t>Product Overview</a:t>
            </a:r>
          </a:p>
        </p:txBody>
      </p:sp>
      <p:pic>
        <p:nvPicPr>
          <p:cNvPr id="3" name="Google Shape;82;p1"/>
          <p:cNvPicPr preferRelativeResize="0"/>
          <p:nvPr/>
        </p:nvPicPr>
        <p:blipFill>
          <a:blip r:embed="rId8"/>
          <a:stretch>
            <a:fillRect/>
          </a:stretch>
        </p:blipFill>
        <p:spPr>
          <a:xfrm>
            <a:off x="9652104" y="6056488"/>
            <a:ext cx="2241019" cy="440200"/>
          </a:xfrm>
          <a:prstGeom prst="rect">
            <a:avLst/>
          </a:prstGeom>
          <a:noFill/>
          <a:ln>
            <a:noFill/>
          </a:ln>
        </p:spPr>
      </p:pic>
      <p:sp>
        <p:nvSpPr>
          <p:cNvPr id="14" name="Title 6"/>
          <p:cNvSpPr txBox="1"/>
          <p:nvPr>
            <p:custDataLst>
              <p:tags r:id="rId6"/>
            </p:custDataLst>
          </p:nvPr>
        </p:nvSpPr>
        <p:spPr>
          <a:xfrm>
            <a:off x="5722633" y="1647247"/>
            <a:ext cx="5862319" cy="3870120"/>
          </a:xfrm>
          <a:prstGeom prst="rect">
            <a:avLst/>
          </a:prstGeom>
          <a:noFill/>
          <a:ln w="3175">
            <a:noFill/>
            <a:prstDash val="dash"/>
          </a:ln>
        </p:spPr>
        <p:txBody>
          <a:bodyPr wrap="square" lIns="63500" tIns="25400" rIns="63500" bIns="25400" anchor="ctr" anchorCtr="0">
            <a:normAutofit fontScale="625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l" fontAlgn="ctr">
              <a:lnSpc>
                <a:spcPts val="2600"/>
              </a:lnSpc>
              <a:spcBef>
                <a:spcPts val="0"/>
              </a:spcBef>
              <a:spcAft>
                <a:spcPts val="800"/>
              </a:spcAft>
              <a:buSzPct val="100000"/>
              <a:buFont typeface="Wingdings" panose="05000000000000000000" charset="0"/>
              <a:buNone/>
            </a:pPr>
            <a:r>
              <a:rPr lang="en-US" sz="29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Apollo</a:t>
            </a:r>
            <a:r>
              <a:rPr lang="zh-CN" altLang="en-US" sz="29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a:t>
            </a:r>
            <a:r>
              <a:rPr lang="en-US" altLang="zh-CN" sz="29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Series</a:t>
            </a:r>
            <a:r>
              <a:rPr lang="zh-CN" altLang="en-US" sz="29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a:t>
            </a:r>
            <a:r>
              <a:rPr lang="en-US" altLang="zh-CN" sz="29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4K</a:t>
            </a:r>
            <a:r>
              <a:rPr lang="zh-CN" altLang="en-US" sz="29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a:t>
            </a:r>
            <a:r>
              <a:rPr lang="en-US" altLang="zh-CN" sz="29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All-In-One</a:t>
            </a:r>
            <a:r>
              <a:rPr lang="zh-CN" altLang="en-US" sz="29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a:t>
            </a:r>
            <a:r>
              <a:rPr lang="en-US" sz="29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Conference</a:t>
            </a:r>
            <a:r>
              <a:rPr lang="zh-CN" altLang="en-US" sz="29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a:t>
            </a:r>
            <a:r>
              <a:rPr lang="en-US" altLang="zh-CN" sz="29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Video</a:t>
            </a:r>
            <a:r>
              <a:rPr lang="zh-CN" altLang="en-US" sz="29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a:t>
            </a:r>
            <a:r>
              <a:rPr lang="en-US" altLang="zh-CN" sz="29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Bar</a:t>
            </a:r>
            <a:r>
              <a:rPr lang="zh-CN" altLang="en-US" sz="29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a:t>
            </a:r>
            <a:r>
              <a:rPr lang="en-US" altLang="zh-CN" sz="29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&amp;</a:t>
            </a:r>
            <a:r>
              <a:rPr lang="zh-CN" altLang="en-US" sz="29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a:t>
            </a:r>
            <a:r>
              <a:rPr lang="en-US" altLang="zh-CN" sz="29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Switcher</a:t>
            </a:r>
            <a:r>
              <a:rPr lang="en-US" altLang="zh-CN" sz="1400" spc="0" dirty="0">
                <a:ln w="3175">
                  <a:noFill/>
                  <a:prstDash val="dash"/>
                </a:ln>
                <a:solidFill>
                  <a:schemeClr val="dk1">
                    <a:lumMod val="75000"/>
                    <a:lumOff val="25000"/>
                  </a:schemeClr>
                </a:solidFill>
                <a:latin typeface="Roboto" charset="0"/>
                <a:ea typeface="Roboto" charset="0"/>
                <a:cs typeface="Arial" panose="020B0604020202020204" pitchFamily="34" charset="0"/>
              </a:rPr>
              <a:t> </a:t>
            </a:r>
          </a:p>
          <a:p>
            <a:pPr indent="-285750" fontAlgn="ctr">
              <a:lnSpc>
                <a:spcPct val="120000"/>
              </a:lnSpc>
              <a:spcBef>
                <a:spcPts val="0"/>
              </a:spcBef>
              <a:spcAft>
                <a:spcPts val="800"/>
              </a:spcAft>
              <a:buSzPct val="100000"/>
            </a:pPr>
            <a:r>
              <a:rPr lang="en-US" altLang="zh-CN" sz="2200" spc="0" dirty="0">
                <a:ln w="3175">
                  <a:noFill/>
                  <a:prstDash val="dash"/>
                </a:ln>
                <a:solidFill>
                  <a:schemeClr val="dk1">
                    <a:lumMod val="75000"/>
                    <a:lumOff val="25000"/>
                  </a:schemeClr>
                </a:solidFill>
                <a:latin typeface="Roboto" charset="0"/>
                <a:ea typeface="Roboto" charset="0"/>
                <a:cs typeface="Arial" panose="020B0604020202020204" pitchFamily="34" charset="0"/>
              </a:rPr>
              <a:t>The APO-VX20-UC v2 is a next-generation premium conference video bar featuring an upgraded larger image sensor, enhanced AI tracking, a newly added wireless casting</a:t>
            </a:r>
            <a:r>
              <a:rPr lang="zh-CN" altLang="en-US" sz="2200" spc="0" dirty="0">
                <a:ln w="3175">
                  <a:noFill/>
                  <a:prstDash val="dash"/>
                </a:ln>
                <a:solidFill>
                  <a:schemeClr val="dk1">
                    <a:lumMod val="75000"/>
                    <a:lumOff val="25000"/>
                  </a:schemeClr>
                </a:solidFill>
                <a:latin typeface="Roboto" charset="0"/>
                <a:ea typeface="Roboto" charset="0"/>
                <a:cs typeface="Arial" panose="020B0604020202020204" pitchFamily="34" charset="0"/>
              </a:rPr>
              <a:t> </a:t>
            </a:r>
            <a:r>
              <a:rPr lang="en-US" altLang="zh-CN" sz="2200" spc="0" dirty="0">
                <a:ln w="3175">
                  <a:noFill/>
                  <a:prstDash val="dash"/>
                </a:ln>
                <a:solidFill>
                  <a:schemeClr val="dk1">
                    <a:lumMod val="75000"/>
                    <a:lumOff val="25000"/>
                  </a:schemeClr>
                </a:solidFill>
                <a:latin typeface="Roboto" charset="0"/>
                <a:ea typeface="Roboto" charset="0"/>
                <a:cs typeface="Arial" panose="020B0604020202020204" pitchFamily="34" charset="0"/>
              </a:rPr>
              <a:t>function, and dual 4K HDMI outputs for a professional video, audio, and wireless collaboration experience.​</a:t>
            </a:r>
          </a:p>
          <a:p>
            <a:pPr indent="-285750" fontAlgn="ctr">
              <a:lnSpc>
                <a:spcPct val="120000"/>
              </a:lnSpc>
              <a:spcBef>
                <a:spcPts val="0"/>
              </a:spcBef>
              <a:spcAft>
                <a:spcPts val="800"/>
              </a:spcAft>
              <a:buSzPct val="100000"/>
            </a:pPr>
            <a:r>
              <a:rPr lang="en-US" altLang="zh-CN" sz="2200" spc="0" dirty="0">
                <a:ln w="3175">
                  <a:noFill/>
                  <a:prstDash val="dash"/>
                </a:ln>
                <a:solidFill>
                  <a:schemeClr val="dk1">
                    <a:lumMod val="75000"/>
                    <a:lumOff val="25000"/>
                  </a:schemeClr>
                </a:solidFill>
                <a:latin typeface="Roboto" charset="0"/>
                <a:ea typeface="Roboto" charset="0"/>
                <a:cs typeface="Arial" panose="020B0604020202020204" pitchFamily="34" charset="0"/>
              </a:rPr>
              <a:t>Built with WyreStorm’s professional AV technology, the APO-VX20-UC v2 offers AI-powered tracking and noise suppression to ensure everyone is seen and heard clearly. Its plug-and-play USB-C interface supports simultaneous audio, video, and power delivery, while HDMI port enables flexible connectivity. Expandable with the</a:t>
            </a:r>
            <a:r>
              <a:rPr lang="zh-CN" altLang="en-US" sz="2200" spc="0" dirty="0">
                <a:ln w="3175">
                  <a:noFill/>
                  <a:prstDash val="dash"/>
                </a:ln>
                <a:solidFill>
                  <a:schemeClr val="dk1">
                    <a:lumMod val="75000"/>
                    <a:lumOff val="25000"/>
                  </a:schemeClr>
                </a:solidFill>
                <a:latin typeface="Roboto" charset="0"/>
                <a:ea typeface="Roboto" charset="0"/>
                <a:cs typeface="Arial" panose="020B0604020202020204" pitchFamily="34" charset="0"/>
              </a:rPr>
              <a:t> </a:t>
            </a:r>
            <a:r>
              <a:rPr lang="en-US" altLang="zh-CN" sz="2200" spc="0" dirty="0">
                <a:ln w="3175">
                  <a:noFill/>
                  <a:prstDash val="dash"/>
                </a:ln>
                <a:solidFill>
                  <a:schemeClr val="dk1">
                    <a:lumMod val="75000"/>
                    <a:lumOff val="25000"/>
                  </a:schemeClr>
                </a:solidFill>
                <a:latin typeface="Roboto" charset="0"/>
                <a:ea typeface="Roboto" charset="0"/>
                <a:cs typeface="Arial" panose="020B0604020202020204" pitchFamily="34" charset="0"/>
              </a:rPr>
              <a:t>APO-SKY-MIC, it adapts to rooms of various sizes while maintaining optimal performance and minimal setup complexity.</a:t>
            </a:r>
            <a:endParaRPr lang="en-US" sz="2200" spc="0" dirty="0">
              <a:ln w="3175">
                <a:noFill/>
                <a:prstDash val="dash"/>
              </a:ln>
              <a:solidFill>
                <a:schemeClr val="dk1">
                  <a:lumMod val="75000"/>
                  <a:lumOff val="25000"/>
                </a:schemeClr>
              </a:solidFill>
              <a:latin typeface="Roboto" charset="0"/>
              <a:ea typeface="Roboto" charset="0"/>
              <a:cs typeface="Arial" panose="020B0604020202020204" pitchFamily="34" charset="0"/>
            </a:endParaRPr>
          </a:p>
          <a:p>
            <a:pPr marL="0" lvl="0" indent="-285750" algn="l" fontAlgn="ctr">
              <a:lnSpc>
                <a:spcPct val="120000"/>
              </a:lnSpc>
              <a:spcBef>
                <a:spcPts val="0"/>
              </a:spcBef>
              <a:spcAft>
                <a:spcPts val="800"/>
              </a:spcAft>
              <a:buSzPct val="100000"/>
              <a:buFont typeface="Wingdings" panose="05000000000000000000" charset="0"/>
              <a:buNone/>
            </a:pPr>
            <a:r>
              <a:rPr lang="en-US" sz="22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This video</a:t>
            </a:r>
            <a:r>
              <a:rPr lang="zh-CN" altLang="en-US" sz="22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 </a:t>
            </a:r>
            <a:r>
              <a:rPr lang="en-US" altLang="zh-CN" sz="22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bar</a:t>
            </a:r>
            <a:r>
              <a:rPr lang="en-US" sz="22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 is ideal for small to medium-sized meeting rooms, effortlessly meeting diverse needs and enhancing overall efficiency.</a:t>
            </a:r>
          </a:p>
        </p:txBody>
      </p:sp>
      <p:sp>
        <p:nvSpPr>
          <p:cNvPr id="2"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p>
        </p:txBody>
      </p:sp>
      <p:pic>
        <p:nvPicPr>
          <p:cNvPr id="4" name="图片 3" descr="手机屏幕的截图&#10;&#10;AI 生成的内容可能不正确。">
            <a:extLst>
              <a:ext uri="{FF2B5EF4-FFF2-40B4-BE49-F238E27FC236}">
                <a16:creationId xmlns:a16="http://schemas.microsoft.com/office/drawing/2014/main" id="{09AC1240-1686-3C41-B682-687910B9DF36}"/>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l="12548" t="29409" r="13956" b="36496"/>
          <a:stretch>
            <a:fillRect/>
          </a:stretch>
        </p:blipFill>
        <p:spPr>
          <a:xfrm>
            <a:off x="261145" y="3129996"/>
            <a:ext cx="5190966" cy="1030971"/>
          </a:xfrm>
          <a:prstGeom prst="rect">
            <a:avLst/>
          </a:prstGeom>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accent6"/>
              </a:solidFill>
              <a:latin typeface="微软雅黑" panose="020B0503020204020204" pitchFamily="34" charset="-122"/>
              <a:ea typeface="微软雅黑" panose="020B0503020204020204" pitchFamily="34" charset="-122"/>
              <a:sym typeface="+mn-ea"/>
            </a:endParaRPr>
          </a:p>
        </p:txBody>
      </p:sp>
      <p:pic>
        <p:nvPicPr>
          <p:cNvPr id="10" name="Google Shape;82;p1"/>
          <p:cNvPicPr preferRelativeResize="0"/>
          <p:nvPr/>
        </p:nvPicPr>
        <p:blipFill>
          <a:blip r:embed="rId12"/>
          <a:stretch>
            <a:fillRect/>
          </a:stretch>
        </p:blipFill>
        <p:spPr>
          <a:xfrm>
            <a:off x="9652104" y="6056488"/>
            <a:ext cx="2241019" cy="440200"/>
          </a:xfrm>
          <a:prstGeom prst="rect">
            <a:avLst/>
          </a:prstGeom>
          <a:noFill/>
          <a:ln>
            <a:noFill/>
          </a:ln>
        </p:spPr>
      </p:pic>
      <p:sp>
        <p:nvSpPr>
          <p:cNvPr id="1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p>
        </p:txBody>
      </p:sp>
      <p:sp>
        <p:nvSpPr>
          <p:cNvPr id="21" name="文本框 6"/>
          <p:cNvSpPr txBox="1"/>
          <p:nvPr>
            <p:custDataLst>
              <p:tags r:id="rId2"/>
            </p:custDataLst>
          </p:nvPr>
        </p:nvSpPr>
        <p:spPr>
          <a:xfrm>
            <a:off x="457155" y="163192"/>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pitchFamily="34" charset="-122"/>
                <a:sym typeface="Roboto"/>
              </a:rPr>
              <a:t>Main Features</a:t>
            </a:r>
          </a:p>
        </p:txBody>
      </p:sp>
      <p:sp>
        <p:nvSpPr>
          <p:cNvPr id="2" name="文本框 1"/>
          <p:cNvSpPr txBox="1"/>
          <p:nvPr>
            <p:custDataLst>
              <p:tags r:id="rId3"/>
            </p:custDataLst>
          </p:nvPr>
        </p:nvSpPr>
        <p:spPr>
          <a:xfrm>
            <a:off x="1224904" y="2908828"/>
            <a:ext cx="4513352" cy="848694"/>
          </a:xfrm>
          <a:prstGeom prst="rect">
            <a:avLst/>
          </a:prstGeom>
          <a:noFill/>
        </p:spPr>
        <p:txBody>
          <a:bodyPr wrap="square" rtlCol="0">
            <a:spAutoFit/>
          </a:bodyPr>
          <a:lstStyle/>
          <a:p>
            <a:pPr>
              <a:lnSpc>
                <a:spcPts val="1500"/>
              </a:lnSpc>
            </a:pPr>
            <a:r>
              <a:rPr lang="en-US" altLang="zh-CN" sz="1600" b="1" dirty="0">
                <a:solidFill>
                  <a:srgbClr val="0B7935"/>
                </a:solidFill>
                <a:latin typeface="Roboto" charset="0"/>
                <a:ea typeface="Roboto" charset="0"/>
              </a:rPr>
              <a:t>USB-C All-in-One Connectivity</a:t>
            </a:r>
            <a:br>
              <a:rPr lang="en-US" sz="1400" dirty="0"/>
            </a:br>
            <a:r>
              <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sym typeface="+mn-ea"/>
              </a:rPr>
              <a:t>The USB-C port provides 60W power delivery, video, and USB data transmission through a single cable, simplifying cabling and maintaining a clean, tidy workspace.</a:t>
            </a:r>
          </a:p>
        </p:txBody>
      </p:sp>
      <p:sp>
        <p:nvSpPr>
          <p:cNvPr id="15" name="文本框 14"/>
          <p:cNvSpPr txBox="1"/>
          <p:nvPr>
            <p:custDataLst>
              <p:tags r:id="rId4"/>
            </p:custDataLst>
          </p:nvPr>
        </p:nvSpPr>
        <p:spPr>
          <a:xfrm>
            <a:off x="1233441" y="1727862"/>
            <a:ext cx="4599940" cy="1233479"/>
          </a:xfrm>
          <a:prstGeom prst="rect">
            <a:avLst/>
          </a:prstGeom>
          <a:noFill/>
        </p:spPr>
        <p:txBody>
          <a:bodyPr wrap="square" rtlCol="0">
            <a:spAutoFit/>
          </a:bodyPr>
          <a:lstStyle/>
          <a:p>
            <a:pPr>
              <a:lnSpc>
                <a:spcPts val="1500"/>
              </a:lnSpc>
            </a:pPr>
            <a:r>
              <a:rPr lang="en-US" altLang="zh-CN" sz="1600" b="1" dirty="0">
                <a:solidFill>
                  <a:srgbClr val="0B7935"/>
                </a:solidFill>
                <a:latin typeface="Roboto" charset="0"/>
                <a:ea typeface="Roboto" charset="0"/>
              </a:rPr>
              <a:t>Comprehensive Input &amp; Output Options</a:t>
            </a:r>
            <a:endParaRPr lang="en-US" altLang="zh-CN" sz="1600" b="1" dirty="0">
              <a:solidFill>
                <a:srgbClr val="0B7935"/>
              </a:solidFill>
              <a:latin typeface="Roboto" charset="0"/>
              <a:ea typeface="Roboto" charset="0"/>
              <a:sym typeface="+mn-ea"/>
            </a:endParaRPr>
          </a:p>
          <a:p>
            <a:pPr>
              <a:lnSpc>
                <a:spcPts val="1500"/>
              </a:lnSpc>
            </a:pPr>
            <a:r>
              <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rPr>
              <a:t>Equipped</a:t>
            </a:r>
            <a:r>
              <a:rPr lang="zh-CN" altLang="en-US" sz="1200" dirty="0">
                <a:solidFill>
                  <a:schemeClr val="tx1">
                    <a:lumMod val="75000"/>
                    <a:lumOff val="25000"/>
                  </a:schemeClr>
                </a:solidFill>
                <a:latin typeface="Arial" panose="020B0604020202020204" pitchFamily="34" charset="0"/>
                <a:ea typeface="Roboto" charset="0"/>
                <a:cs typeface="Arial" panose="020B0604020202020204" pitchFamily="34" charset="0"/>
              </a:rPr>
              <a:t> </a:t>
            </a:r>
            <a:r>
              <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rPr>
              <a:t>with</a:t>
            </a:r>
            <a:r>
              <a:rPr lang="zh-CN" altLang="en-US" sz="1200" dirty="0">
                <a:solidFill>
                  <a:schemeClr val="tx1">
                    <a:lumMod val="75000"/>
                    <a:lumOff val="25000"/>
                  </a:schemeClr>
                </a:solidFill>
                <a:latin typeface="Arial" panose="020B0604020202020204" pitchFamily="34" charset="0"/>
                <a:ea typeface="Roboto" charset="0"/>
                <a:cs typeface="Arial" panose="020B0604020202020204" pitchFamily="34" charset="0"/>
              </a:rPr>
              <a:t> </a:t>
            </a:r>
            <a:r>
              <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rPr>
              <a:t>both wired (HDMI, USB-C) and wireless (Dongle, </a:t>
            </a:r>
            <a:r>
              <a:rPr lang="en-US" altLang="zh-CN" sz="1200" dirty="0" err="1">
                <a:solidFill>
                  <a:schemeClr val="tx1">
                    <a:lumMod val="75000"/>
                    <a:lumOff val="25000"/>
                  </a:schemeClr>
                </a:solidFill>
                <a:latin typeface="Arial" panose="020B0604020202020204" pitchFamily="34" charset="0"/>
                <a:ea typeface="Roboto" charset="0"/>
                <a:cs typeface="Arial" panose="020B0604020202020204" pitchFamily="34" charset="0"/>
              </a:rPr>
              <a:t>AirPlay</a:t>
            </a:r>
            <a:r>
              <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rPr>
              <a:t>, Miracast) casting across dual 4K outputs, the APO-VX20-UC</a:t>
            </a:r>
            <a:r>
              <a:rPr lang="zh-CN" altLang="en-US" sz="1200" dirty="0">
                <a:solidFill>
                  <a:schemeClr val="tx1">
                    <a:lumMod val="75000"/>
                    <a:lumOff val="25000"/>
                  </a:schemeClr>
                </a:solidFill>
                <a:latin typeface="Arial" panose="020B0604020202020204" pitchFamily="34" charset="0"/>
                <a:ea typeface="Roboto" charset="0"/>
                <a:cs typeface="Arial" panose="020B0604020202020204" pitchFamily="34" charset="0"/>
              </a:rPr>
              <a:t> </a:t>
            </a:r>
            <a:r>
              <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rPr>
              <a:t>v2 ensures flexible connectivity for various devices — ideal for conference rooms, classrooms, and hybrid meeting environments.</a:t>
            </a:r>
            <a:endPar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sym typeface="+mn-ea"/>
            </a:endParaRPr>
          </a:p>
        </p:txBody>
      </p:sp>
      <p:sp>
        <p:nvSpPr>
          <p:cNvPr id="17" name="文本框 16"/>
          <p:cNvSpPr txBox="1"/>
          <p:nvPr>
            <p:custDataLst>
              <p:tags r:id="rId5"/>
            </p:custDataLst>
          </p:nvPr>
        </p:nvSpPr>
        <p:spPr>
          <a:xfrm>
            <a:off x="1233441" y="3916936"/>
            <a:ext cx="4599940" cy="848694"/>
          </a:xfrm>
          <a:prstGeom prst="rect">
            <a:avLst/>
          </a:prstGeom>
          <a:noFill/>
        </p:spPr>
        <p:txBody>
          <a:bodyPr wrap="square" rtlCol="0">
            <a:spAutoFit/>
          </a:bodyPr>
          <a:lstStyle/>
          <a:p>
            <a:pPr>
              <a:lnSpc>
                <a:spcPts val="1500"/>
              </a:lnSpc>
            </a:pPr>
            <a:r>
              <a:rPr lang="en-US" altLang="zh-CN" sz="1600" b="1" dirty="0">
                <a:solidFill>
                  <a:srgbClr val="0B7935"/>
                </a:solidFill>
                <a:latin typeface="Roboto" charset="0"/>
                <a:ea typeface="Roboto" charset="0"/>
              </a:rPr>
              <a:t>4K</a:t>
            </a:r>
            <a:r>
              <a:rPr lang="zh-CN" altLang="en-US" sz="1600" b="1" dirty="0">
                <a:solidFill>
                  <a:srgbClr val="0B7935"/>
                </a:solidFill>
                <a:latin typeface="Roboto" charset="0"/>
                <a:ea typeface="Roboto" charset="0"/>
              </a:rPr>
              <a:t> </a:t>
            </a:r>
            <a:r>
              <a:rPr lang="en-US" altLang="zh-CN" sz="1600" b="1" dirty="0">
                <a:solidFill>
                  <a:srgbClr val="0B7935"/>
                </a:solidFill>
                <a:latin typeface="Roboto" charset="0"/>
                <a:ea typeface="Roboto" charset="0"/>
              </a:rPr>
              <a:t>Camera</a:t>
            </a:r>
            <a:r>
              <a:rPr lang="zh-CN" altLang="en-US" sz="1600" b="1" dirty="0">
                <a:solidFill>
                  <a:srgbClr val="0B7935"/>
                </a:solidFill>
                <a:latin typeface="Roboto" charset="0"/>
                <a:ea typeface="Roboto" charset="0"/>
              </a:rPr>
              <a:t> </a:t>
            </a:r>
            <a:r>
              <a:rPr lang="en-US" altLang="zh-CN" sz="1600" b="1" dirty="0">
                <a:solidFill>
                  <a:srgbClr val="0B7935"/>
                </a:solidFill>
                <a:latin typeface="Roboto" charset="0"/>
                <a:ea typeface="Roboto" charset="0"/>
              </a:rPr>
              <a:t>with</a:t>
            </a:r>
            <a:r>
              <a:rPr lang="zh-CN" altLang="en-US" sz="1600" b="1" dirty="0">
                <a:solidFill>
                  <a:srgbClr val="0B7935"/>
                </a:solidFill>
                <a:latin typeface="Roboto" charset="0"/>
                <a:ea typeface="Roboto" charset="0"/>
              </a:rPr>
              <a:t> </a:t>
            </a:r>
            <a:r>
              <a:rPr lang="en-US" altLang="zh-CN" sz="1600" b="1" dirty="0">
                <a:solidFill>
                  <a:srgbClr val="0B7935"/>
                </a:solidFill>
                <a:latin typeface="Roboto" charset="0"/>
                <a:ea typeface="Roboto" charset="0"/>
              </a:rPr>
              <a:t>Advanced</a:t>
            </a:r>
            <a:r>
              <a:rPr lang="zh-CN" altLang="en-US" sz="1600" b="1" dirty="0">
                <a:solidFill>
                  <a:srgbClr val="0B7935"/>
                </a:solidFill>
                <a:latin typeface="Roboto" charset="0"/>
                <a:ea typeface="Roboto" charset="0"/>
              </a:rPr>
              <a:t> </a:t>
            </a:r>
            <a:r>
              <a:rPr lang="en-US" altLang="zh-CN" sz="1600" b="1" dirty="0">
                <a:solidFill>
                  <a:srgbClr val="0B7935"/>
                </a:solidFill>
                <a:latin typeface="Roboto" charset="0"/>
                <a:ea typeface="Roboto" charset="0"/>
              </a:rPr>
              <a:t>AI</a:t>
            </a:r>
            <a:r>
              <a:rPr lang="zh-CN" altLang="en-US" sz="1600" b="1" dirty="0">
                <a:solidFill>
                  <a:srgbClr val="0B7935"/>
                </a:solidFill>
                <a:latin typeface="Roboto" charset="0"/>
                <a:ea typeface="Roboto" charset="0"/>
              </a:rPr>
              <a:t> </a:t>
            </a:r>
            <a:r>
              <a:rPr lang="en-US" altLang="zh-CN" sz="1600" b="1" dirty="0">
                <a:solidFill>
                  <a:srgbClr val="0B7935"/>
                </a:solidFill>
                <a:latin typeface="Roboto" charset="0"/>
                <a:ea typeface="Roboto" charset="0"/>
              </a:rPr>
              <a:t>Features</a:t>
            </a:r>
            <a:endParaRPr lang="en-US" sz="1600" b="1" dirty="0">
              <a:solidFill>
                <a:srgbClr val="0B7935"/>
              </a:solidFill>
              <a:latin typeface="Roboto" charset="0"/>
              <a:ea typeface="Roboto" charset="0"/>
            </a:endParaRPr>
          </a:p>
          <a:p>
            <a:pPr>
              <a:lnSpc>
                <a:spcPts val="1500"/>
              </a:lnSpc>
            </a:pPr>
            <a:r>
              <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rPr>
              <a:t>The built-in 4K UHD camera delivers crystal-clear images and features advanced AI capabilities, including Auto</a:t>
            </a:r>
            <a:r>
              <a:rPr lang="zh-CN" altLang="en-US" sz="1200" dirty="0">
                <a:solidFill>
                  <a:schemeClr val="tx1">
                    <a:lumMod val="75000"/>
                    <a:lumOff val="25000"/>
                  </a:schemeClr>
                </a:solidFill>
                <a:latin typeface="Arial" panose="020B0604020202020204" pitchFamily="34" charset="0"/>
                <a:ea typeface="Roboto" charset="0"/>
                <a:cs typeface="Arial" panose="020B0604020202020204" pitchFamily="34" charset="0"/>
              </a:rPr>
              <a:t> </a:t>
            </a:r>
            <a:r>
              <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rPr>
              <a:t>Framing, Presenter Tracking, Speaker Tracking, and Individuals Gallery. </a:t>
            </a:r>
            <a:endPar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sym typeface="+mn-ea"/>
            </a:endParaRPr>
          </a:p>
        </p:txBody>
      </p:sp>
      <p:sp>
        <p:nvSpPr>
          <p:cNvPr id="19" name="文本框 18"/>
          <p:cNvSpPr txBox="1"/>
          <p:nvPr>
            <p:custDataLst>
              <p:tags r:id="rId6"/>
            </p:custDataLst>
          </p:nvPr>
        </p:nvSpPr>
        <p:spPr>
          <a:xfrm>
            <a:off x="6792475" y="2924175"/>
            <a:ext cx="4451787" cy="656334"/>
          </a:xfrm>
          <a:prstGeom prst="rect">
            <a:avLst/>
          </a:prstGeom>
          <a:noFill/>
        </p:spPr>
        <p:txBody>
          <a:bodyPr wrap="square" rtlCol="0">
            <a:spAutoFit/>
          </a:bodyPr>
          <a:lstStyle/>
          <a:p>
            <a:pPr>
              <a:lnSpc>
                <a:spcPts val="1500"/>
              </a:lnSpc>
            </a:pPr>
            <a:r>
              <a:rPr lang="en-US" sz="1600" b="1" dirty="0">
                <a:solidFill>
                  <a:srgbClr val="0B7935"/>
                </a:solidFill>
                <a:latin typeface="Roboto" charset="0"/>
                <a:ea typeface="Roboto" charset="0"/>
              </a:rPr>
              <a:t>Expandable with Add-On Microphone</a:t>
            </a:r>
          </a:p>
          <a:p>
            <a:pPr>
              <a:lnSpc>
                <a:spcPts val="1500"/>
              </a:lnSpc>
            </a:pPr>
            <a:r>
              <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rPr>
              <a:t>Supports up to 5 cascading APO-SKY-MIC units, extending voice pickup coverage for larger meeting spaces.</a:t>
            </a:r>
            <a:endParaRPr lang="en-US" sz="1200" dirty="0">
              <a:solidFill>
                <a:schemeClr val="tx1">
                  <a:lumMod val="75000"/>
                  <a:lumOff val="25000"/>
                </a:schemeClr>
              </a:solidFill>
              <a:latin typeface="Arial" panose="020B0604020202020204" pitchFamily="34" charset="0"/>
              <a:ea typeface="Roboto" charset="0"/>
              <a:cs typeface="Arial" panose="020B0604020202020204" pitchFamily="34" charset="0"/>
            </a:endParaRPr>
          </a:p>
        </p:txBody>
      </p:sp>
      <p:sp>
        <p:nvSpPr>
          <p:cNvPr id="23" name="文本框 22"/>
          <p:cNvSpPr txBox="1"/>
          <p:nvPr>
            <p:custDataLst>
              <p:tags r:id="rId7"/>
            </p:custDataLst>
          </p:nvPr>
        </p:nvSpPr>
        <p:spPr>
          <a:xfrm>
            <a:off x="1224904" y="4925044"/>
            <a:ext cx="4671390" cy="838691"/>
          </a:xfrm>
          <a:prstGeom prst="rect">
            <a:avLst/>
          </a:prstGeom>
          <a:noFill/>
        </p:spPr>
        <p:txBody>
          <a:bodyPr wrap="square" rtlCol="0">
            <a:spAutoFit/>
          </a:bodyPr>
          <a:lstStyle/>
          <a:p>
            <a:pPr>
              <a:lnSpc>
                <a:spcPts val="1500"/>
              </a:lnSpc>
            </a:pPr>
            <a:r>
              <a:rPr lang="en-US" altLang="zh-CN" sz="1600" b="1" dirty="0">
                <a:solidFill>
                  <a:srgbClr val="0B7935"/>
                </a:solidFill>
                <a:latin typeface="Roboto" charset="0"/>
                <a:ea typeface="Roboto" charset="0"/>
              </a:rPr>
              <a:t>Wireless Casting Support</a:t>
            </a:r>
            <a:endParaRPr lang="en-US" sz="1600" b="1" dirty="0">
              <a:solidFill>
                <a:srgbClr val="0B7935"/>
              </a:solidFill>
              <a:latin typeface="Roboto" charset="0"/>
              <a:ea typeface="Roboto" charset="0"/>
            </a:endParaRPr>
          </a:p>
          <a:p>
            <a:r>
              <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rPr>
              <a:t>With the APO-DG2 or APO-DG2-PRO, users can easily enable wireless conferencing using the video bar’s camera with a single button press.</a:t>
            </a:r>
          </a:p>
        </p:txBody>
      </p:sp>
      <p:sp>
        <p:nvSpPr>
          <p:cNvPr id="25" name="文本框 24"/>
          <p:cNvSpPr txBox="1"/>
          <p:nvPr>
            <p:custDataLst>
              <p:tags r:id="rId8"/>
            </p:custDataLst>
          </p:nvPr>
        </p:nvSpPr>
        <p:spPr>
          <a:xfrm>
            <a:off x="6792475" y="3938395"/>
            <a:ext cx="4599940" cy="848694"/>
          </a:xfrm>
          <a:prstGeom prst="rect">
            <a:avLst/>
          </a:prstGeom>
          <a:noFill/>
        </p:spPr>
        <p:txBody>
          <a:bodyPr wrap="square" rtlCol="0">
            <a:spAutoFit/>
          </a:bodyPr>
          <a:lstStyle/>
          <a:p>
            <a:pPr>
              <a:lnSpc>
                <a:spcPts val="1500"/>
              </a:lnSpc>
            </a:pPr>
            <a:r>
              <a:rPr lang="en-US" sz="1600" b="1" dirty="0">
                <a:solidFill>
                  <a:srgbClr val="0B7935"/>
                </a:solidFill>
                <a:latin typeface="Roboto" charset="0"/>
                <a:ea typeface="Roboto" charset="0"/>
              </a:rPr>
              <a:t>Flexible Control Options</a:t>
            </a:r>
          </a:p>
          <a:p>
            <a:pPr>
              <a:lnSpc>
                <a:spcPts val="1500"/>
              </a:lnSpc>
            </a:pPr>
            <a:r>
              <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rPr>
              <a:t>Supports control and configuration via remote control, Web</a:t>
            </a:r>
            <a:r>
              <a:rPr lang="zh-CN" altLang="en-US" sz="1200" dirty="0">
                <a:solidFill>
                  <a:schemeClr val="tx1">
                    <a:lumMod val="75000"/>
                    <a:lumOff val="25000"/>
                  </a:schemeClr>
                </a:solidFill>
                <a:latin typeface="Arial" panose="020B0604020202020204" pitchFamily="34" charset="0"/>
                <a:ea typeface="Roboto" charset="0"/>
                <a:cs typeface="Arial" panose="020B0604020202020204" pitchFamily="34" charset="0"/>
              </a:rPr>
              <a:t> </a:t>
            </a:r>
            <a:r>
              <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rPr>
              <a:t>GUI, or API for convenient and efficient operation.</a:t>
            </a:r>
          </a:p>
          <a:p>
            <a:pPr>
              <a:lnSpc>
                <a:spcPts val="1500"/>
              </a:lnSpc>
            </a:pPr>
            <a:endParaRPr lang="en-US" sz="1200" dirty="0">
              <a:solidFill>
                <a:schemeClr val="tx1">
                  <a:lumMod val="75000"/>
                  <a:lumOff val="25000"/>
                </a:schemeClr>
              </a:solidFill>
              <a:latin typeface="Arial" panose="020B0604020202020204" pitchFamily="34" charset="0"/>
              <a:ea typeface="Roboto" charset="0"/>
              <a:cs typeface="Arial" panose="020B0604020202020204" pitchFamily="34" charset="0"/>
            </a:endParaRPr>
          </a:p>
        </p:txBody>
      </p:sp>
      <p:pic>
        <p:nvPicPr>
          <p:cNvPr id="27" name="图形 26"/>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116244" y="4013152"/>
            <a:ext cx="527945" cy="439954"/>
          </a:xfrm>
          <a:prstGeom prst="rect">
            <a:avLst/>
          </a:prstGeom>
        </p:spPr>
      </p:pic>
      <p:pic>
        <p:nvPicPr>
          <p:cNvPr id="6" name="Picture 42" descr="A black and white background with circles and dots&#10;&#10;Description automatically generated">
            <a:extLst>
              <a:ext uri="{FF2B5EF4-FFF2-40B4-BE49-F238E27FC236}">
                <a16:creationId xmlns:a16="http://schemas.microsoft.com/office/drawing/2014/main" id="{F8107AEB-8D61-2ECE-6DE7-3B035E794D35}"/>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06887" y="1750828"/>
            <a:ext cx="516314" cy="424368"/>
          </a:xfrm>
          <a:prstGeom prst="rect">
            <a:avLst/>
          </a:prstGeom>
        </p:spPr>
      </p:pic>
      <p:pic>
        <p:nvPicPr>
          <p:cNvPr id="7" name="Picture 32" descr="A black background with arrows pointing to a symbol&#10;&#10;Description automatically generated">
            <a:extLst>
              <a:ext uri="{FF2B5EF4-FFF2-40B4-BE49-F238E27FC236}">
                <a16:creationId xmlns:a16="http://schemas.microsoft.com/office/drawing/2014/main" id="{23800B47-2BE3-5F8B-4098-D096735B9F54}"/>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06887" y="2902522"/>
            <a:ext cx="556469" cy="439318"/>
          </a:xfrm>
          <a:prstGeom prst="rect">
            <a:avLst/>
          </a:prstGeom>
        </p:spPr>
      </p:pic>
      <p:pic>
        <p:nvPicPr>
          <p:cNvPr id="8" name="Picture 28" descr="A close up of a logo&#10;&#10;Description automatically generated">
            <a:extLst>
              <a:ext uri="{FF2B5EF4-FFF2-40B4-BE49-F238E27FC236}">
                <a16:creationId xmlns:a16="http://schemas.microsoft.com/office/drawing/2014/main" id="{55B024A2-D239-99F3-ADC5-57E8369102A8}"/>
              </a:ext>
            </a:extLst>
          </p:cNvPr>
          <p:cNvPicPr>
            <a:picLocks noChangeAspect="1"/>
          </p:cNvPicPr>
          <p:nvPr/>
        </p:nvPicPr>
        <p:blipFill>
          <a:blip r:embed="rId16">
            <a:extLst>
              <a:ext uri="{28A0092B-C50C-407E-A947-70E740481C1C}">
                <a14:useLocalDpi xmlns:a14="http://schemas.microsoft.com/office/drawing/2010/main" val="0"/>
              </a:ext>
            </a:extLst>
          </a:blip>
          <a:srcRect b="37209"/>
          <a:stretch>
            <a:fillRect/>
          </a:stretch>
        </p:blipFill>
        <p:spPr>
          <a:xfrm>
            <a:off x="600258" y="4034659"/>
            <a:ext cx="580193" cy="232541"/>
          </a:xfrm>
          <a:prstGeom prst="rect">
            <a:avLst/>
          </a:prstGeom>
        </p:spPr>
      </p:pic>
      <p:pic>
        <p:nvPicPr>
          <p:cNvPr id="11" name="Picture 30">
            <a:extLst>
              <a:ext uri="{FF2B5EF4-FFF2-40B4-BE49-F238E27FC236}">
                <a16:creationId xmlns:a16="http://schemas.microsoft.com/office/drawing/2014/main" id="{2F1FBBAC-1E8C-AC19-033A-AF8D1C97F59A}"/>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6116244" y="1752813"/>
            <a:ext cx="528419" cy="480382"/>
          </a:xfrm>
          <a:prstGeom prst="rect">
            <a:avLst/>
          </a:prstGeom>
        </p:spPr>
      </p:pic>
      <p:sp>
        <p:nvSpPr>
          <p:cNvPr id="12" name="文本框 11">
            <a:extLst>
              <a:ext uri="{FF2B5EF4-FFF2-40B4-BE49-F238E27FC236}">
                <a16:creationId xmlns:a16="http://schemas.microsoft.com/office/drawing/2014/main" id="{C36413AA-CA37-2619-9053-973D466BD994}"/>
              </a:ext>
            </a:extLst>
          </p:cNvPr>
          <p:cNvSpPr txBox="1"/>
          <p:nvPr>
            <p:custDataLst>
              <p:tags r:id="rId9"/>
            </p:custDataLst>
          </p:nvPr>
        </p:nvSpPr>
        <p:spPr>
          <a:xfrm>
            <a:off x="6792475" y="1750828"/>
            <a:ext cx="4599940" cy="1233415"/>
          </a:xfrm>
          <a:prstGeom prst="rect">
            <a:avLst/>
          </a:prstGeom>
          <a:noFill/>
        </p:spPr>
        <p:txBody>
          <a:bodyPr wrap="square" rtlCol="0">
            <a:spAutoFit/>
          </a:bodyPr>
          <a:lstStyle/>
          <a:p>
            <a:pPr>
              <a:lnSpc>
                <a:spcPts val="1500"/>
              </a:lnSpc>
            </a:pPr>
            <a:r>
              <a:rPr lang="en-US" altLang="zh-CN" sz="1600" b="1" dirty="0">
                <a:solidFill>
                  <a:srgbClr val="0B7935"/>
                </a:solidFill>
                <a:latin typeface="Roboto" charset="0"/>
                <a:ea typeface="Roboto" charset="0"/>
              </a:rPr>
              <a:t>Premium Audio System</a:t>
            </a:r>
            <a:endParaRPr lang="en-US" sz="1600" b="1" dirty="0">
              <a:solidFill>
                <a:srgbClr val="0B7935"/>
              </a:solidFill>
              <a:latin typeface="Roboto" charset="0"/>
              <a:ea typeface="Roboto" charset="0"/>
            </a:endParaRPr>
          </a:p>
          <a:p>
            <a:pPr>
              <a:lnSpc>
                <a:spcPts val="1500"/>
              </a:lnSpc>
            </a:pPr>
            <a:r>
              <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rPr>
              <a:t>Features 8 MEMS beamforming microphones with Acoustic Echo Cancellation (AEC), Automatic Gain Control (AGC), and Noise Suppression (ANS)</a:t>
            </a:r>
            <a:r>
              <a:rPr lang="zh-CN" altLang="en-US" sz="1200" dirty="0">
                <a:solidFill>
                  <a:schemeClr val="tx1">
                    <a:lumMod val="75000"/>
                    <a:lumOff val="25000"/>
                  </a:schemeClr>
                </a:solidFill>
                <a:latin typeface="Arial" panose="020B0604020202020204" pitchFamily="34" charset="0"/>
                <a:ea typeface="Roboto" charset="0"/>
                <a:cs typeface="Arial" panose="020B0604020202020204" pitchFamily="34" charset="0"/>
              </a:rPr>
              <a:t> </a:t>
            </a:r>
            <a:r>
              <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rPr>
              <a:t>powered by advanced AI algorithms, ensuring every participant is heard clearly. Dual 8W stereo speakers deliver powerful, room-filling sound.</a:t>
            </a:r>
            <a:endPar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sym typeface="+mn-ea"/>
            </a:endParaRPr>
          </a:p>
        </p:txBody>
      </p:sp>
      <p:pic>
        <p:nvPicPr>
          <p:cNvPr id="24" name="图片 23" descr="图片包含 餐具, 盘子, 游戏机, 画&#10;&#10;AI 生成的内容可能不正确。">
            <a:extLst>
              <a:ext uri="{FF2B5EF4-FFF2-40B4-BE49-F238E27FC236}">
                <a16:creationId xmlns:a16="http://schemas.microsoft.com/office/drawing/2014/main" id="{2008F86F-211C-45A6-044B-15FD1112888A}"/>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6138330" y="2965957"/>
            <a:ext cx="497419" cy="482789"/>
          </a:xfrm>
          <a:prstGeom prst="rect">
            <a:avLst/>
          </a:prstGeom>
        </p:spPr>
      </p:pic>
      <p:pic>
        <p:nvPicPr>
          <p:cNvPr id="28" name="图片 27" descr="图标&#10;&#10;AI 生成的内容可能不正确。">
            <a:extLst>
              <a:ext uri="{FF2B5EF4-FFF2-40B4-BE49-F238E27FC236}">
                <a16:creationId xmlns:a16="http://schemas.microsoft.com/office/drawing/2014/main" id="{12BB0E74-3C75-5D89-A0FB-EBA8AB1D7A83}"/>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606887" y="4925044"/>
            <a:ext cx="431883" cy="40720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3"/>
            </p:custDataLst>
          </p:nvPr>
        </p:nvSpPr>
        <p:spPr>
          <a:xfrm>
            <a:off x="457155" y="171451"/>
            <a:ext cx="11277689" cy="609600"/>
          </a:xfrm>
          <a:prstGeom prst="rect">
            <a:avLst/>
          </a:prstGeom>
          <a:noFill/>
        </p:spPr>
        <p:txBody>
          <a:bodyPr wrap="square" lIns="63500" tIns="25400" rIns="63500" bIns="25400" rtlCol="0" anchor="ctr" anchorCtr="0">
            <a:normAutofit fontScale="92500"/>
          </a:bodyPr>
          <a:lstStyle/>
          <a:p>
            <a:pPr marL="0" indent="0" algn="l">
              <a:lnSpc>
                <a:spcPct val="100000"/>
              </a:lnSpc>
              <a:spcBef>
                <a:spcPts val="0"/>
              </a:spcBef>
              <a:spcAft>
                <a:spcPts val="0"/>
              </a:spcAft>
              <a:buSzPct val="100000"/>
              <a:buNone/>
            </a:pPr>
            <a:r>
              <a:rPr lang="en-US" sz="2400" b="1" dirty="0">
                <a:solidFill>
                  <a:schemeClr val="lt1"/>
                </a:solidFill>
                <a:uFillTx/>
                <a:latin typeface="Montserrat" pitchFamily="2" charset="0"/>
                <a:ea typeface="微软雅黑" panose="020B0503020204020204" pitchFamily="34" charset="-122"/>
                <a:sym typeface="Roboto"/>
              </a:rPr>
              <a:t>Why Choose Us:  1. Next</a:t>
            </a:r>
            <a:r>
              <a:rPr lang="zh-CN" altLang="en-US" sz="2400" b="1" dirty="0">
                <a:solidFill>
                  <a:schemeClr val="lt1"/>
                </a:solidFill>
                <a:latin typeface="Montserrat" pitchFamily="2" charset="0"/>
                <a:ea typeface="微软雅黑" panose="020B0503020204020204" pitchFamily="34" charset="-122"/>
                <a:sym typeface="Roboto"/>
              </a:rPr>
              <a:t> </a:t>
            </a:r>
            <a:r>
              <a:rPr lang="en-US" altLang="zh-CN" sz="2400" b="1" dirty="0">
                <a:solidFill>
                  <a:schemeClr val="lt1"/>
                </a:solidFill>
                <a:latin typeface="Montserrat" pitchFamily="2" charset="0"/>
                <a:ea typeface="微软雅黑" panose="020B0503020204020204" pitchFamily="34" charset="-122"/>
                <a:sym typeface="Roboto"/>
              </a:rPr>
              <a:t>Generation</a:t>
            </a:r>
            <a:r>
              <a:rPr lang="zh-CN" altLang="en-US" sz="2400" b="1" dirty="0">
                <a:solidFill>
                  <a:schemeClr val="lt1"/>
                </a:solidFill>
                <a:latin typeface="Montserrat" pitchFamily="2" charset="0"/>
                <a:ea typeface="微软雅黑" panose="020B0503020204020204" pitchFamily="34" charset="-122"/>
                <a:sym typeface="Roboto"/>
              </a:rPr>
              <a:t> </a:t>
            </a:r>
            <a:r>
              <a:rPr lang="en-US" altLang="zh-CN" sz="2400" b="1" dirty="0">
                <a:solidFill>
                  <a:schemeClr val="lt1"/>
                </a:solidFill>
                <a:latin typeface="Montserrat" pitchFamily="2" charset="0"/>
                <a:ea typeface="微软雅黑" panose="020B0503020204020204" pitchFamily="34" charset="-122"/>
                <a:sym typeface="Roboto"/>
              </a:rPr>
              <a:t>All-In-One</a:t>
            </a:r>
            <a:r>
              <a:rPr lang="zh-CN" altLang="en-US" sz="2400" b="1" dirty="0">
                <a:solidFill>
                  <a:schemeClr val="lt1"/>
                </a:solidFill>
                <a:latin typeface="Montserrat" pitchFamily="2" charset="0"/>
                <a:ea typeface="微软雅黑" panose="020B0503020204020204" pitchFamily="34" charset="-122"/>
                <a:sym typeface="Roboto"/>
              </a:rPr>
              <a:t> </a:t>
            </a:r>
            <a:r>
              <a:rPr lang="en-US" altLang="zh-CN" sz="2400" b="1" dirty="0">
                <a:solidFill>
                  <a:schemeClr val="lt1"/>
                </a:solidFill>
                <a:latin typeface="Montserrat" pitchFamily="2" charset="0"/>
                <a:ea typeface="微软雅黑" panose="020B0503020204020204" pitchFamily="34" charset="-122"/>
                <a:sym typeface="Roboto"/>
              </a:rPr>
              <a:t>Collaboration</a:t>
            </a:r>
            <a:r>
              <a:rPr lang="zh-CN" altLang="en-US" sz="2400" b="1" dirty="0">
                <a:solidFill>
                  <a:schemeClr val="lt1"/>
                </a:solidFill>
                <a:latin typeface="Montserrat" pitchFamily="2" charset="0"/>
                <a:ea typeface="微软雅黑" panose="020B0503020204020204" pitchFamily="34" charset="-122"/>
                <a:sym typeface="Roboto"/>
              </a:rPr>
              <a:t> </a:t>
            </a:r>
            <a:r>
              <a:rPr lang="en-US" altLang="zh-CN" sz="2400" b="1" dirty="0">
                <a:solidFill>
                  <a:schemeClr val="lt1"/>
                </a:solidFill>
                <a:latin typeface="Montserrat" pitchFamily="2" charset="0"/>
                <a:ea typeface="微软雅黑" panose="020B0503020204020204" pitchFamily="34" charset="-122"/>
                <a:sym typeface="Roboto"/>
              </a:rPr>
              <a:t>Experience</a:t>
            </a:r>
            <a:endParaRPr lang="en-US" sz="2400" b="1" dirty="0">
              <a:solidFill>
                <a:schemeClr val="lt1"/>
              </a:solidFill>
              <a:uFillTx/>
              <a:latin typeface="Montserrat" pitchFamily="2" charset="0"/>
              <a:ea typeface="微软雅黑" panose="020B0503020204020204" pitchFamily="34" charset="-122"/>
              <a:sym typeface="Roboto"/>
            </a:endParaRPr>
          </a:p>
        </p:txBody>
      </p:sp>
      <p:sp>
        <p:nvSpPr>
          <p:cNvPr id="5" name="文本框 4"/>
          <p:cNvSpPr txBox="1"/>
          <p:nvPr/>
        </p:nvSpPr>
        <p:spPr>
          <a:xfrm>
            <a:off x="781037" y="1188320"/>
            <a:ext cx="10629924" cy="717264"/>
          </a:xfrm>
          <a:prstGeom prst="rect">
            <a:avLst/>
          </a:prstGeom>
          <a:noFill/>
        </p:spPr>
        <p:txBody>
          <a:bodyPr wrap="square" rtlCol="0">
            <a:noAutofit/>
          </a:bodyPr>
          <a:lstStyle/>
          <a:p>
            <a:pPr indent="0" fontAlgn="auto">
              <a:buFont typeface="Wingdings" panose="05000000000000000000" charset="0"/>
              <a:buNone/>
            </a:pPr>
            <a:r>
              <a:rPr lang="en-US" altLang="zh-CN" sz="2000" b="1" dirty="0">
                <a:solidFill>
                  <a:schemeClr val="tx1">
                    <a:lumMod val="75000"/>
                    <a:lumOff val="25000"/>
                  </a:schemeClr>
                </a:solidFill>
                <a:latin typeface="Roboto" charset="0"/>
                <a:ea typeface="Roboto" charset="0"/>
                <a:cs typeface="Arial" panose="020B0604020202020204" pitchFamily="34" charset="0"/>
              </a:rPr>
              <a:t>Transform your meeting spaces with the upgraded Apollo</a:t>
            </a:r>
            <a:r>
              <a:rPr lang="zh-CN" altLang="en-US" sz="2000" b="1" dirty="0">
                <a:solidFill>
                  <a:schemeClr val="tx1">
                    <a:lumMod val="75000"/>
                    <a:lumOff val="25000"/>
                  </a:schemeClr>
                </a:solidFill>
                <a:latin typeface="Roboto" charset="0"/>
                <a:ea typeface="Roboto" charset="0"/>
                <a:cs typeface="Arial" panose="020B0604020202020204" pitchFamily="34" charset="0"/>
              </a:rPr>
              <a:t> </a:t>
            </a:r>
            <a:r>
              <a:rPr lang="en-US" altLang="zh-CN" sz="2000" b="1" dirty="0">
                <a:solidFill>
                  <a:schemeClr val="tx1">
                    <a:lumMod val="75000"/>
                    <a:lumOff val="25000"/>
                  </a:schemeClr>
                </a:solidFill>
                <a:latin typeface="Roboto" charset="0"/>
                <a:ea typeface="Roboto" charset="0"/>
                <a:cs typeface="Arial" panose="020B0604020202020204" pitchFamily="34" charset="0"/>
              </a:rPr>
              <a:t>Video</a:t>
            </a:r>
            <a:r>
              <a:rPr lang="zh-CN" altLang="en-US" sz="2000" b="1" dirty="0">
                <a:solidFill>
                  <a:schemeClr val="tx1">
                    <a:lumMod val="75000"/>
                    <a:lumOff val="25000"/>
                  </a:schemeClr>
                </a:solidFill>
                <a:latin typeface="Roboto" charset="0"/>
                <a:ea typeface="Roboto" charset="0"/>
                <a:cs typeface="Arial" panose="020B0604020202020204" pitchFamily="34" charset="0"/>
              </a:rPr>
              <a:t> </a:t>
            </a:r>
            <a:r>
              <a:rPr lang="en-US" altLang="zh-CN" sz="2000" b="1" dirty="0">
                <a:solidFill>
                  <a:schemeClr val="tx1">
                    <a:lumMod val="75000"/>
                    <a:lumOff val="25000"/>
                  </a:schemeClr>
                </a:solidFill>
                <a:latin typeface="Roboto" charset="0"/>
                <a:ea typeface="Roboto" charset="0"/>
                <a:cs typeface="Arial" panose="020B0604020202020204" pitchFamily="34" charset="0"/>
              </a:rPr>
              <a:t>Bar — combining</a:t>
            </a:r>
            <a:r>
              <a:rPr lang="zh-CN" altLang="en-US" sz="2000" b="1" dirty="0">
                <a:solidFill>
                  <a:schemeClr val="tx1">
                    <a:lumMod val="75000"/>
                    <a:lumOff val="25000"/>
                  </a:schemeClr>
                </a:solidFill>
                <a:latin typeface="Roboto" charset="0"/>
                <a:ea typeface="Roboto" charset="0"/>
                <a:cs typeface="Arial" panose="020B0604020202020204" pitchFamily="34" charset="0"/>
              </a:rPr>
              <a:t> </a:t>
            </a:r>
            <a:r>
              <a:rPr lang="en-US" altLang="zh-CN" sz="2000" b="1" dirty="0">
                <a:solidFill>
                  <a:schemeClr val="tx1">
                    <a:lumMod val="75000"/>
                    <a:lumOff val="25000"/>
                  </a:schemeClr>
                </a:solidFill>
                <a:latin typeface="Roboto" charset="0"/>
                <a:ea typeface="Roboto" charset="0"/>
                <a:cs typeface="Arial" panose="020B0604020202020204" pitchFamily="34" charset="0"/>
              </a:rPr>
              <a:t>a</a:t>
            </a:r>
            <a:r>
              <a:rPr lang="zh-CN" altLang="en-US" sz="2000" b="1" dirty="0">
                <a:solidFill>
                  <a:schemeClr val="tx1">
                    <a:lumMod val="75000"/>
                    <a:lumOff val="25000"/>
                  </a:schemeClr>
                </a:solidFill>
                <a:latin typeface="Roboto" charset="0"/>
                <a:ea typeface="Roboto" charset="0"/>
                <a:cs typeface="Arial" panose="020B0604020202020204" pitchFamily="34" charset="0"/>
              </a:rPr>
              <a:t> </a:t>
            </a:r>
            <a:r>
              <a:rPr lang="en-US" altLang="zh-CN" sz="2000" b="1" dirty="0">
                <a:solidFill>
                  <a:schemeClr val="tx1">
                    <a:lumMod val="75000"/>
                    <a:lumOff val="25000"/>
                  </a:schemeClr>
                </a:solidFill>
                <a:latin typeface="Roboto" charset="0"/>
                <a:ea typeface="Roboto" charset="0"/>
                <a:cs typeface="Arial" panose="020B0604020202020204" pitchFamily="34" charset="0"/>
              </a:rPr>
              <a:t>wireless</a:t>
            </a:r>
            <a:r>
              <a:rPr lang="zh-CN" altLang="en-US" sz="2000" b="1" dirty="0">
                <a:solidFill>
                  <a:schemeClr val="tx1">
                    <a:lumMod val="75000"/>
                    <a:lumOff val="25000"/>
                  </a:schemeClr>
                </a:solidFill>
                <a:latin typeface="Roboto" charset="0"/>
                <a:ea typeface="Roboto" charset="0"/>
                <a:cs typeface="Arial" panose="020B0604020202020204" pitchFamily="34" charset="0"/>
              </a:rPr>
              <a:t> </a:t>
            </a:r>
            <a:r>
              <a:rPr lang="en-US" altLang="zh-CN" sz="2000" b="1" dirty="0">
                <a:solidFill>
                  <a:schemeClr val="tx1">
                    <a:lumMod val="75000"/>
                    <a:lumOff val="25000"/>
                  </a:schemeClr>
                </a:solidFill>
                <a:latin typeface="Roboto" charset="0"/>
                <a:ea typeface="Roboto" charset="0"/>
                <a:cs typeface="Arial" panose="020B0604020202020204" pitchFamily="34" charset="0"/>
              </a:rPr>
              <a:t>presentation and conference switcher with an all-in-one video bar in a single solution.</a:t>
            </a:r>
            <a:endParaRPr lang="en-US" sz="2000" b="1" dirty="0">
              <a:solidFill>
                <a:schemeClr val="tx1">
                  <a:lumMod val="75000"/>
                  <a:lumOff val="25000"/>
                </a:schemeClr>
              </a:solidFill>
              <a:latin typeface="Roboto" charset="0"/>
              <a:ea typeface="Roboto" charset="0"/>
              <a:cs typeface="Arial" panose="020B0604020202020204" pitchFamily="34" charset="0"/>
            </a:endParaRPr>
          </a:p>
        </p:txBody>
      </p:sp>
      <p:pic>
        <p:nvPicPr>
          <p:cNvPr id="4" name="Google Shape;82;p1"/>
          <p:cNvPicPr preferRelativeResize="0"/>
          <p:nvPr/>
        </p:nvPicPr>
        <p:blipFill>
          <a:blip r:embed="rId5"/>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p>
        </p:txBody>
      </p:sp>
      <p:sp>
        <p:nvSpPr>
          <p:cNvPr id="46" name="Rectangle 45"/>
          <p:cNvSpPr/>
          <p:nvPr/>
        </p:nvSpPr>
        <p:spPr>
          <a:xfrm>
            <a:off x="932968" y="2381249"/>
            <a:ext cx="4791557" cy="1439265"/>
          </a:xfrm>
          <a:prstGeom prst="rect">
            <a:avLst/>
          </a:prstGeom>
          <a:solidFill>
            <a:srgbClr val="CDE7ED"/>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932968" y="4283663"/>
            <a:ext cx="4791557" cy="1509585"/>
          </a:xfrm>
          <a:prstGeom prst="rect">
            <a:avLst/>
          </a:prstGeom>
          <a:solidFill>
            <a:srgbClr val="CDE7ED"/>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764846" y="2181791"/>
            <a:ext cx="2604888" cy="427428"/>
          </a:xfrm>
          <a:prstGeom prst="rect">
            <a:avLst/>
          </a:prstGeom>
          <a:solidFill>
            <a:srgbClr val="E1F1F3"/>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文本框 4"/>
          <p:cNvSpPr txBox="1"/>
          <p:nvPr/>
        </p:nvSpPr>
        <p:spPr>
          <a:xfrm>
            <a:off x="916279" y="2219890"/>
            <a:ext cx="2360321" cy="323285"/>
          </a:xfrm>
          <a:prstGeom prst="rect">
            <a:avLst/>
          </a:prstGeom>
          <a:noFill/>
        </p:spPr>
        <p:txBody>
          <a:bodyPr wrap="square" rtlCol="0">
            <a:noAutofit/>
          </a:bodyPr>
          <a:lstStyle/>
          <a:p>
            <a:pPr fontAlgn="auto">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Powerful</a:t>
            </a:r>
            <a:r>
              <a:rPr lang="zh-CN" altLang="en-US" sz="1600" b="1" dirty="0">
                <a:solidFill>
                  <a:schemeClr val="tx1">
                    <a:lumMod val="75000"/>
                    <a:lumOff val="25000"/>
                  </a:schemeClr>
                </a:solidFill>
                <a:latin typeface="Roboto" charset="0"/>
                <a:ea typeface="Roboto" charset="0"/>
                <a:cs typeface="Arial" panose="020B0604020202020204" pitchFamily="34" charset="0"/>
              </a:rPr>
              <a:t> </a:t>
            </a:r>
            <a:r>
              <a:rPr lang="en-US" altLang="zh-CN" sz="1600" b="1" dirty="0">
                <a:solidFill>
                  <a:schemeClr val="tx1">
                    <a:lumMod val="75000"/>
                    <a:lumOff val="25000"/>
                  </a:schemeClr>
                </a:solidFill>
                <a:latin typeface="Roboto" charset="0"/>
                <a:ea typeface="Roboto" charset="0"/>
                <a:cs typeface="Arial" panose="020B0604020202020204" pitchFamily="34" charset="0"/>
              </a:rPr>
              <a:t>4K</a:t>
            </a:r>
            <a:r>
              <a:rPr lang="zh-CN" altLang="en-US" sz="1600" b="1" dirty="0">
                <a:solidFill>
                  <a:schemeClr val="tx1">
                    <a:lumMod val="75000"/>
                    <a:lumOff val="25000"/>
                  </a:schemeClr>
                </a:solidFill>
                <a:latin typeface="Roboto" charset="0"/>
                <a:ea typeface="Roboto" charset="0"/>
                <a:cs typeface="Arial" panose="020B0604020202020204" pitchFamily="34" charset="0"/>
              </a:rPr>
              <a:t> </a:t>
            </a:r>
            <a:r>
              <a:rPr lang="en-US" altLang="zh-CN" sz="1600" b="1" dirty="0">
                <a:solidFill>
                  <a:schemeClr val="tx1">
                    <a:lumMod val="75000"/>
                    <a:lumOff val="25000"/>
                  </a:schemeClr>
                </a:solidFill>
                <a:latin typeface="Roboto" charset="0"/>
                <a:ea typeface="Roboto" charset="0"/>
                <a:cs typeface="Arial" panose="020B0604020202020204" pitchFamily="34" charset="0"/>
              </a:rPr>
              <a:t>AI</a:t>
            </a:r>
            <a:r>
              <a:rPr lang="zh-CN" altLang="en-US" sz="1600" b="1" dirty="0">
                <a:solidFill>
                  <a:schemeClr val="tx1">
                    <a:lumMod val="75000"/>
                    <a:lumOff val="25000"/>
                  </a:schemeClr>
                </a:solidFill>
                <a:latin typeface="Roboto" charset="0"/>
                <a:ea typeface="Roboto" charset="0"/>
                <a:cs typeface="Arial" panose="020B0604020202020204" pitchFamily="34" charset="0"/>
              </a:rPr>
              <a:t> </a:t>
            </a:r>
            <a:r>
              <a:rPr lang="en-US" altLang="zh-CN" sz="1600" b="1" dirty="0">
                <a:solidFill>
                  <a:schemeClr val="tx1">
                    <a:lumMod val="75000"/>
                    <a:lumOff val="25000"/>
                  </a:schemeClr>
                </a:solidFill>
                <a:latin typeface="Roboto" charset="0"/>
                <a:ea typeface="Roboto" charset="0"/>
                <a:cs typeface="Arial" panose="020B0604020202020204" pitchFamily="34" charset="0"/>
              </a:rPr>
              <a:t>Camera</a:t>
            </a:r>
            <a:endParaRPr lang="en-US" sz="1600" dirty="0">
              <a:solidFill>
                <a:schemeClr val="tx1">
                  <a:lumMod val="75000"/>
                  <a:lumOff val="25000"/>
                </a:schemeClr>
              </a:solidFill>
              <a:latin typeface="Roboto" charset="0"/>
              <a:ea typeface="Roboto" charset="0"/>
              <a:cs typeface="Arial" panose="020B0604020202020204" pitchFamily="34" charset="0"/>
            </a:endParaRPr>
          </a:p>
        </p:txBody>
      </p:sp>
      <p:sp>
        <p:nvSpPr>
          <p:cNvPr id="50" name="Rectangle 49"/>
          <p:cNvSpPr/>
          <p:nvPr/>
        </p:nvSpPr>
        <p:spPr>
          <a:xfrm>
            <a:off x="6377229" y="2395505"/>
            <a:ext cx="4791557" cy="1439265"/>
          </a:xfrm>
          <a:prstGeom prst="rect">
            <a:avLst/>
          </a:prstGeom>
          <a:solidFill>
            <a:srgbClr val="CDE7ED"/>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文本框 4"/>
          <p:cNvSpPr txBox="1"/>
          <p:nvPr/>
        </p:nvSpPr>
        <p:spPr>
          <a:xfrm>
            <a:off x="1124482" y="2669842"/>
            <a:ext cx="4209516" cy="1007064"/>
          </a:xfrm>
          <a:prstGeom prst="rect">
            <a:avLst/>
          </a:prstGeom>
          <a:noFill/>
        </p:spPr>
        <p:txBody>
          <a:bodyPr wrap="square" rtlCol="0">
            <a:noAutofit/>
          </a:bodyPr>
          <a:lstStyle/>
          <a:p>
            <a:r>
              <a:rPr lang="en-US" altLang="zh-CN" sz="1400" dirty="0">
                <a:solidFill>
                  <a:schemeClr val="tx1">
                    <a:lumMod val="75000"/>
                    <a:lumOff val="25000"/>
                  </a:schemeClr>
                </a:solidFill>
                <a:latin typeface="Arial" panose="020B0604020202020204" pitchFamily="34" charset="0"/>
                <a:ea typeface="Roboto" charset="0"/>
                <a:cs typeface="Arial" panose="020B0604020202020204" pitchFamily="34" charset="0"/>
              </a:rPr>
              <a:t>Built-in 4K UHD camera delivers crystal-clear images and features advanced AI capabilities, including Auto</a:t>
            </a:r>
            <a:r>
              <a:rPr lang="zh-CN" altLang="en-US" sz="1400" dirty="0">
                <a:solidFill>
                  <a:schemeClr val="tx1">
                    <a:lumMod val="75000"/>
                    <a:lumOff val="25000"/>
                  </a:schemeClr>
                </a:solidFill>
                <a:latin typeface="Arial" panose="020B0604020202020204" pitchFamily="34" charset="0"/>
                <a:ea typeface="Roboto" charset="0"/>
                <a:cs typeface="Arial" panose="020B0604020202020204" pitchFamily="34" charset="0"/>
              </a:rPr>
              <a:t> </a:t>
            </a:r>
            <a:r>
              <a:rPr lang="en-US" altLang="zh-CN" sz="1400" dirty="0">
                <a:solidFill>
                  <a:schemeClr val="tx1">
                    <a:lumMod val="75000"/>
                    <a:lumOff val="25000"/>
                  </a:schemeClr>
                </a:solidFill>
                <a:latin typeface="Arial" panose="020B0604020202020204" pitchFamily="34" charset="0"/>
                <a:ea typeface="Roboto" charset="0"/>
                <a:cs typeface="Arial" panose="020B0604020202020204" pitchFamily="34" charset="0"/>
              </a:rPr>
              <a:t>Framing, Presenter Tracking, Speaker Tracking, and Individuals Gallery.</a:t>
            </a:r>
            <a:endParaRPr lang="en-US" sz="1400" dirty="0">
              <a:solidFill>
                <a:schemeClr val="tx1">
                  <a:lumMod val="75000"/>
                  <a:lumOff val="25000"/>
                </a:schemeClr>
              </a:solidFill>
              <a:latin typeface="Roboto" charset="0"/>
              <a:ea typeface="Roboto" charset="0"/>
              <a:cs typeface="Arial" panose="020B0604020202020204" pitchFamily="34" charset="0"/>
            </a:endParaRPr>
          </a:p>
        </p:txBody>
      </p:sp>
      <p:sp>
        <p:nvSpPr>
          <p:cNvPr id="53" name="Rectangle 52"/>
          <p:cNvSpPr/>
          <p:nvPr/>
        </p:nvSpPr>
        <p:spPr>
          <a:xfrm>
            <a:off x="6200774" y="2181791"/>
            <a:ext cx="3297556" cy="427428"/>
          </a:xfrm>
          <a:prstGeom prst="rect">
            <a:avLst/>
          </a:prstGeom>
          <a:solidFill>
            <a:srgbClr val="E1F1F3"/>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p:cNvSpPr/>
          <p:nvPr/>
        </p:nvSpPr>
        <p:spPr>
          <a:xfrm>
            <a:off x="764844" y="4105421"/>
            <a:ext cx="3451555" cy="427428"/>
          </a:xfrm>
          <a:prstGeom prst="rect">
            <a:avLst/>
          </a:prstGeom>
          <a:solidFill>
            <a:srgbClr val="E1F1F3"/>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文本框 4"/>
          <p:cNvSpPr txBox="1"/>
          <p:nvPr/>
        </p:nvSpPr>
        <p:spPr>
          <a:xfrm>
            <a:off x="916280" y="4143520"/>
            <a:ext cx="3202560" cy="323285"/>
          </a:xfrm>
          <a:prstGeom prst="rect">
            <a:avLst/>
          </a:prstGeom>
          <a:noFill/>
        </p:spPr>
        <p:txBody>
          <a:bodyPr wrap="square" rtlCol="0">
            <a:noAutofit/>
          </a:bodyPr>
          <a:lstStyle/>
          <a:p>
            <a:pPr fontAlgn="auto">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Expandable Audio Pickup</a:t>
            </a:r>
          </a:p>
        </p:txBody>
      </p:sp>
      <p:sp>
        <p:nvSpPr>
          <p:cNvPr id="58" name="文本框 4"/>
          <p:cNvSpPr txBox="1"/>
          <p:nvPr/>
        </p:nvSpPr>
        <p:spPr>
          <a:xfrm>
            <a:off x="1124482" y="4672993"/>
            <a:ext cx="4209517" cy="643724"/>
          </a:xfrm>
          <a:prstGeom prst="rect">
            <a:avLst/>
          </a:prstGeom>
          <a:noFill/>
        </p:spPr>
        <p:txBody>
          <a:bodyPr wrap="square" rtlCol="0">
            <a:noAutofit/>
          </a:bodyPr>
          <a:lstStyle/>
          <a:p>
            <a:r>
              <a:rPr lang="en-US" altLang="zh-CN" sz="1400" dirty="0">
                <a:solidFill>
                  <a:schemeClr val="tx1">
                    <a:lumMod val="75000"/>
                    <a:lumOff val="25000"/>
                  </a:schemeClr>
                </a:solidFill>
                <a:latin typeface="Arial" panose="020B0604020202020204" pitchFamily="34" charset="0"/>
                <a:ea typeface="Roboto" charset="0"/>
                <a:cs typeface="Arial" panose="020B0604020202020204" pitchFamily="34" charset="0"/>
              </a:rPr>
              <a:t>Supports easy expansion of microphone pickup coverage using APO-SKY-MIC through Ethernet cabling.</a:t>
            </a:r>
          </a:p>
        </p:txBody>
      </p:sp>
      <p:sp>
        <p:nvSpPr>
          <p:cNvPr id="2" name="文本框 4">
            <a:extLst>
              <a:ext uri="{FF2B5EF4-FFF2-40B4-BE49-F238E27FC236}">
                <a16:creationId xmlns:a16="http://schemas.microsoft.com/office/drawing/2014/main" id="{347ACCAE-A811-DDD0-91CB-C698CFF7C6D9}"/>
              </a:ext>
            </a:extLst>
          </p:cNvPr>
          <p:cNvSpPr txBox="1"/>
          <p:nvPr/>
        </p:nvSpPr>
        <p:spPr>
          <a:xfrm>
            <a:off x="6352210" y="2219890"/>
            <a:ext cx="3477590" cy="323285"/>
          </a:xfrm>
          <a:prstGeom prst="rect">
            <a:avLst/>
          </a:prstGeom>
          <a:noFill/>
        </p:spPr>
        <p:txBody>
          <a:bodyPr wrap="square" rtlCol="0">
            <a:noAutofit/>
          </a:bodyPr>
          <a:lstStyle/>
          <a:p>
            <a:pPr>
              <a:lnSpc>
                <a:spcPts val="2100"/>
              </a:lnSpc>
            </a:pPr>
            <a:r>
              <a:rPr lang="en-US" altLang="zh-CN" sz="1600" b="1" dirty="0">
                <a:solidFill>
                  <a:schemeClr val="tx1">
                    <a:lumMod val="75000"/>
                    <a:lumOff val="25000"/>
                  </a:schemeClr>
                </a:solidFill>
                <a:latin typeface="Roboto" charset="0"/>
                <a:ea typeface="Roboto" charset="0"/>
                <a:cs typeface="Arial" panose="020B0604020202020204" pitchFamily="34" charset="0"/>
              </a:rPr>
              <a:t>High-Fidelity Audio Performance</a:t>
            </a:r>
            <a:endParaRPr lang="en-US" sz="1600" b="1" dirty="0">
              <a:solidFill>
                <a:schemeClr val="tx1">
                  <a:lumMod val="75000"/>
                  <a:lumOff val="25000"/>
                </a:schemeClr>
              </a:solidFill>
              <a:latin typeface="Roboto" charset="0"/>
              <a:ea typeface="Roboto" charset="0"/>
              <a:cs typeface="Arial" panose="020B0604020202020204" pitchFamily="34" charset="0"/>
            </a:endParaRPr>
          </a:p>
        </p:txBody>
      </p:sp>
      <p:sp>
        <p:nvSpPr>
          <p:cNvPr id="3" name="文本框 4">
            <a:extLst>
              <a:ext uri="{FF2B5EF4-FFF2-40B4-BE49-F238E27FC236}">
                <a16:creationId xmlns:a16="http://schemas.microsoft.com/office/drawing/2014/main" id="{C9D57E3E-02A4-3F47-BDC5-885009CF95E9}"/>
              </a:ext>
            </a:extLst>
          </p:cNvPr>
          <p:cNvSpPr txBox="1"/>
          <p:nvPr/>
        </p:nvSpPr>
        <p:spPr>
          <a:xfrm>
            <a:off x="6531838" y="2796326"/>
            <a:ext cx="4288562" cy="1007064"/>
          </a:xfrm>
          <a:prstGeom prst="rect">
            <a:avLst/>
          </a:prstGeom>
          <a:noFill/>
        </p:spPr>
        <p:txBody>
          <a:bodyPr wrap="square" rtlCol="0">
            <a:noAutofit/>
          </a:bodyPr>
          <a:lstStyle/>
          <a:p>
            <a:pPr indent="0" fontAlgn="auto">
              <a:buFont typeface="Wingdings" panose="05000000000000000000" charset="0"/>
              <a:buNone/>
            </a:pPr>
            <a:r>
              <a:rPr lang="en-US" altLang="zh-CN" sz="1400" dirty="0">
                <a:solidFill>
                  <a:schemeClr val="tx1">
                    <a:lumMod val="75000"/>
                    <a:lumOff val="25000"/>
                  </a:schemeClr>
                </a:solidFill>
                <a:latin typeface="Arial" panose="020B0604020202020204" pitchFamily="34" charset="0"/>
                <a:ea typeface="Roboto" charset="0"/>
                <a:cs typeface="Arial" panose="020B0604020202020204" pitchFamily="34" charset="0"/>
              </a:rPr>
              <a:t>Dual 8W stereo speakers with bass enhancement and 8x beamforming microphone array ensure crystal-clear, natural sound — even in larger rooms.</a:t>
            </a:r>
            <a:endParaRPr lang="en-US" sz="1400" dirty="0">
              <a:solidFill>
                <a:schemeClr val="tx1">
                  <a:lumMod val="75000"/>
                  <a:lumOff val="25000"/>
                </a:schemeClr>
              </a:solidFill>
              <a:latin typeface="Arial" panose="020B0604020202020204" pitchFamily="34" charset="0"/>
              <a:ea typeface="Roboto" charset="0"/>
              <a:cs typeface="Arial" panose="020B0604020202020204" pitchFamily="34" charset="0"/>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3"/>
            </p:custDataLst>
          </p:nvPr>
        </p:nvSpPr>
        <p:spPr>
          <a:xfrm>
            <a:off x="457155" y="171451"/>
            <a:ext cx="11277689" cy="609600"/>
          </a:xfrm>
          <a:prstGeom prst="rect">
            <a:avLst/>
          </a:prstGeom>
          <a:noFill/>
        </p:spPr>
        <p:txBody>
          <a:bodyPr wrap="square" lIns="63500" tIns="25400" rIns="63500" bIns="25400" rtlCol="0" anchor="ctr" anchorCtr="0"/>
          <a:lstStyle/>
          <a:p>
            <a:pPr>
              <a:buSzPct val="100000"/>
            </a:pPr>
            <a:r>
              <a:rPr lang="en-US" sz="2400" b="1" dirty="0">
                <a:solidFill>
                  <a:schemeClr val="lt1"/>
                </a:solidFill>
                <a:uFillTx/>
                <a:latin typeface="Montserrat" pitchFamily="2" charset="0"/>
                <a:ea typeface="微软雅黑" panose="020B0503020204020204" pitchFamily="34" charset="-122"/>
                <a:sym typeface="Roboto"/>
              </a:rPr>
              <a:t>Why Choose Us:  </a:t>
            </a:r>
            <a:r>
              <a:rPr lang="en-US" sz="2400" b="1" dirty="0">
                <a:solidFill>
                  <a:schemeClr val="lt1"/>
                </a:solidFill>
                <a:latin typeface="Montserrat" pitchFamily="2" charset="0"/>
                <a:ea typeface="微软雅黑" panose="020B0503020204020204" pitchFamily="34" charset="-122"/>
                <a:sym typeface="Roboto"/>
              </a:rPr>
              <a:t>2. </a:t>
            </a:r>
            <a:r>
              <a:rPr lang="en-US" altLang="zh-CN" sz="2400" b="1" dirty="0">
                <a:solidFill>
                  <a:schemeClr val="lt1"/>
                </a:solidFill>
                <a:latin typeface="Montserrat" pitchFamily="2" charset="0"/>
                <a:ea typeface="微软雅黑" panose="020B0503020204020204" pitchFamily="34" charset="-122"/>
              </a:rPr>
              <a:t>Wireless Presentation and Conference in Bar </a:t>
            </a:r>
            <a:endParaRPr lang="en-US" sz="2400" b="1" dirty="0">
              <a:solidFill>
                <a:schemeClr val="lt1"/>
              </a:solidFill>
              <a:latin typeface="Montserrat" pitchFamily="2" charset="0"/>
              <a:ea typeface="微软雅黑" panose="020B0503020204020204" pitchFamily="34" charset="-122"/>
              <a:sym typeface="Roboto"/>
            </a:endParaRPr>
          </a:p>
        </p:txBody>
      </p:sp>
      <p:pic>
        <p:nvPicPr>
          <p:cNvPr id="4" name="Google Shape;82;p1"/>
          <p:cNvPicPr preferRelativeResize="0"/>
          <p:nvPr/>
        </p:nvPicPr>
        <p:blipFill>
          <a:blip r:embed="rId6"/>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p>
        </p:txBody>
      </p:sp>
      <p:sp>
        <p:nvSpPr>
          <p:cNvPr id="23" name="文本框 4"/>
          <p:cNvSpPr txBox="1"/>
          <p:nvPr/>
        </p:nvSpPr>
        <p:spPr>
          <a:xfrm>
            <a:off x="868657" y="1274686"/>
            <a:ext cx="10184154" cy="717264"/>
          </a:xfrm>
          <a:prstGeom prst="rect">
            <a:avLst/>
          </a:prstGeom>
          <a:noFill/>
        </p:spPr>
        <p:txBody>
          <a:bodyPr wrap="square" rtlCol="0">
            <a:noAutofit/>
          </a:bodyPr>
          <a:lstStyle/>
          <a:p>
            <a:pPr indent="0" fontAlgn="auto">
              <a:buFont typeface="Wingdings" panose="05000000000000000000" charset="0"/>
              <a:buNone/>
            </a:pPr>
            <a:r>
              <a:rPr lang="en-US" altLang="zh-CN" sz="2000" b="1" dirty="0">
                <a:solidFill>
                  <a:schemeClr val="tx1">
                    <a:lumMod val="75000"/>
                    <a:lumOff val="25000"/>
                  </a:schemeClr>
                </a:solidFill>
                <a:latin typeface="Roboto" charset="0"/>
                <a:ea typeface="Roboto" charset="0"/>
                <a:cs typeface="Arial" panose="020B0604020202020204" pitchFamily="34" charset="0"/>
              </a:rPr>
              <a:t>Empowers hybrid workspaces with versatile wired and wireless connectivity, designed for simplicity and high performance.</a:t>
            </a:r>
            <a:endParaRPr lang="en-US" sz="2000" b="1" dirty="0">
              <a:solidFill>
                <a:schemeClr val="tx1">
                  <a:lumMod val="75000"/>
                  <a:lumOff val="25000"/>
                </a:schemeClr>
              </a:solidFill>
              <a:latin typeface="Roboto" charset="0"/>
              <a:ea typeface="Roboto" charset="0"/>
              <a:cs typeface="Arial" panose="020B0604020202020204" pitchFamily="34" charset="0"/>
            </a:endParaRPr>
          </a:p>
        </p:txBody>
      </p:sp>
      <p:sp>
        <p:nvSpPr>
          <p:cNvPr id="24" name="Rectangle 23"/>
          <p:cNvSpPr/>
          <p:nvPr/>
        </p:nvSpPr>
        <p:spPr>
          <a:xfrm>
            <a:off x="932968" y="2381249"/>
            <a:ext cx="4791557" cy="1439265"/>
          </a:xfrm>
          <a:prstGeom prst="rect">
            <a:avLst/>
          </a:prstGeom>
          <a:solidFill>
            <a:srgbClr val="D0ECC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p:cNvSpPr/>
          <p:nvPr/>
        </p:nvSpPr>
        <p:spPr>
          <a:xfrm>
            <a:off x="932968" y="4283663"/>
            <a:ext cx="4791557" cy="1509585"/>
          </a:xfrm>
          <a:prstGeom prst="rect">
            <a:avLst/>
          </a:prstGeom>
          <a:solidFill>
            <a:srgbClr val="D0ECC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764845" y="2181791"/>
            <a:ext cx="2340305" cy="427428"/>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文本框 4"/>
          <p:cNvSpPr txBox="1"/>
          <p:nvPr/>
        </p:nvSpPr>
        <p:spPr>
          <a:xfrm>
            <a:off x="916280" y="2219890"/>
            <a:ext cx="2123254" cy="323285"/>
          </a:xfrm>
          <a:prstGeom prst="rect">
            <a:avLst/>
          </a:prstGeom>
          <a:noFill/>
        </p:spPr>
        <p:txBody>
          <a:bodyPr wrap="square" rtlCol="0">
            <a:noAutofit/>
          </a:bodyPr>
          <a:lstStyle/>
          <a:p>
            <a:pPr fontAlgn="auto">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Multi</a:t>
            </a:r>
            <a:r>
              <a:rPr lang="en-US" altLang="zh-CN" sz="1600" b="1" dirty="0">
                <a:solidFill>
                  <a:schemeClr val="tx1">
                    <a:lumMod val="75000"/>
                    <a:lumOff val="25000"/>
                  </a:schemeClr>
                </a:solidFill>
                <a:latin typeface="Roboto" charset="0"/>
                <a:ea typeface="Roboto" charset="0"/>
                <a:cs typeface="Arial" panose="020B0604020202020204" pitchFamily="34" charset="0"/>
              </a:rPr>
              <a:t>-Input</a:t>
            </a:r>
            <a:r>
              <a:rPr lang="zh-CN" altLang="en-US" sz="1600" b="1" dirty="0">
                <a:solidFill>
                  <a:schemeClr val="tx1">
                    <a:lumMod val="75000"/>
                    <a:lumOff val="25000"/>
                  </a:schemeClr>
                </a:solidFill>
                <a:latin typeface="Roboto" charset="0"/>
                <a:ea typeface="Roboto" charset="0"/>
                <a:cs typeface="Arial" panose="020B0604020202020204" pitchFamily="34" charset="0"/>
              </a:rPr>
              <a:t> </a:t>
            </a:r>
            <a:r>
              <a:rPr lang="en-US" altLang="zh-CN" sz="1600" b="1" dirty="0">
                <a:solidFill>
                  <a:schemeClr val="tx1">
                    <a:lumMod val="75000"/>
                    <a:lumOff val="25000"/>
                  </a:schemeClr>
                </a:solidFill>
                <a:latin typeface="Roboto" charset="0"/>
                <a:ea typeface="Roboto" charset="0"/>
                <a:cs typeface="Arial" panose="020B0604020202020204" pitchFamily="34" charset="0"/>
              </a:rPr>
              <a:t>Selection</a:t>
            </a:r>
            <a:endParaRPr lang="en-US" sz="1600" dirty="0">
              <a:solidFill>
                <a:schemeClr val="tx1">
                  <a:lumMod val="75000"/>
                  <a:lumOff val="25000"/>
                </a:schemeClr>
              </a:solidFill>
              <a:latin typeface="Roboto" charset="0"/>
              <a:ea typeface="Roboto" charset="0"/>
              <a:cs typeface="Arial" panose="020B0604020202020204" pitchFamily="34" charset="0"/>
            </a:endParaRPr>
          </a:p>
        </p:txBody>
      </p:sp>
      <p:sp>
        <p:nvSpPr>
          <p:cNvPr id="28" name="Rectangle 27"/>
          <p:cNvSpPr/>
          <p:nvPr/>
        </p:nvSpPr>
        <p:spPr>
          <a:xfrm>
            <a:off x="6377229" y="2395505"/>
            <a:ext cx="4791557" cy="1439265"/>
          </a:xfrm>
          <a:prstGeom prst="rect">
            <a:avLst/>
          </a:prstGeom>
          <a:solidFill>
            <a:srgbClr val="D0ECC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文本框 4"/>
          <p:cNvSpPr txBox="1"/>
          <p:nvPr/>
        </p:nvSpPr>
        <p:spPr>
          <a:xfrm>
            <a:off x="1124482" y="2735886"/>
            <a:ext cx="3983762" cy="1007064"/>
          </a:xfrm>
          <a:prstGeom prst="rect">
            <a:avLst/>
          </a:prstGeom>
          <a:noFill/>
        </p:spPr>
        <p:txBody>
          <a:bodyPr wrap="square" rtlCol="0">
            <a:noAutofit/>
          </a:bodyPr>
          <a:lstStyle/>
          <a:p>
            <a:pPr indent="0" fontAlgn="auto">
              <a:buFont typeface="Wingdings" panose="05000000000000000000" charset="0"/>
              <a:buNone/>
            </a:pPr>
            <a:r>
              <a:rPr lang="en-US" altLang="zh-CN" sz="1400" dirty="0">
                <a:solidFill>
                  <a:schemeClr val="tx1">
                    <a:lumMod val="75000"/>
                    <a:lumOff val="25000"/>
                  </a:schemeClr>
                </a:solidFill>
                <a:latin typeface="Arial" panose="020B0604020202020204" pitchFamily="34" charset="0"/>
                <a:ea typeface="Roboto" charset="0"/>
                <a:cs typeface="Arial" panose="020B0604020202020204" pitchFamily="34" charset="0"/>
              </a:rPr>
              <a:t>Equipped with</a:t>
            </a:r>
            <a:r>
              <a:rPr lang="zh-CN" altLang="en-US" sz="1400" dirty="0">
                <a:solidFill>
                  <a:schemeClr val="tx1">
                    <a:lumMod val="75000"/>
                    <a:lumOff val="25000"/>
                  </a:schemeClr>
                </a:solidFill>
                <a:latin typeface="Arial" panose="020B0604020202020204" pitchFamily="34" charset="0"/>
                <a:ea typeface="Roboto" charset="0"/>
                <a:cs typeface="Arial" panose="020B0604020202020204" pitchFamily="34" charset="0"/>
              </a:rPr>
              <a:t> </a:t>
            </a:r>
            <a:r>
              <a:rPr lang="en-US" altLang="zh-CN" sz="1400" dirty="0">
                <a:solidFill>
                  <a:schemeClr val="tx1">
                    <a:lumMod val="75000"/>
                    <a:lumOff val="25000"/>
                  </a:schemeClr>
                </a:solidFill>
                <a:latin typeface="Arial" panose="020B0604020202020204" pitchFamily="34" charset="0"/>
                <a:ea typeface="Roboto" charset="0"/>
                <a:cs typeface="Arial" panose="020B0604020202020204" pitchFamily="34" charset="0"/>
              </a:rPr>
              <a:t>both wired (HDMI, USB-C) and wireless (Dongle, </a:t>
            </a:r>
            <a:r>
              <a:rPr lang="en-US" altLang="zh-CN" sz="1400" dirty="0" err="1">
                <a:solidFill>
                  <a:schemeClr val="tx1">
                    <a:lumMod val="75000"/>
                    <a:lumOff val="25000"/>
                  </a:schemeClr>
                </a:solidFill>
                <a:latin typeface="Arial" panose="020B0604020202020204" pitchFamily="34" charset="0"/>
                <a:ea typeface="Roboto" charset="0"/>
                <a:cs typeface="Arial" panose="020B0604020202020204" pitchFamily="34" charset="0"/>
              </a:rPr>
              <a:t>AirPlay</a:t>
            </a:r>
            <a:r>
              <a:rPr lang="en-US" altLang="zh-CN" sz="1400" dirty="0">
                <a:solidFill>
                  <a:schemeClr val="tx1">
                    <a:lumMod val="75000"/>
                    <a:lumOff val="25000"/>
                  </a:schemeClr>
                </a:solidFill>
                <a:latin typeface="Arial" panose="020B0604020202020204" pitchFamily="34" charset="0"/>
                <a:ea typeface="Roboto" charset="0"/>
                <a:cs typeface="Arial" panose="020B0604020202020204" pitchFamily="34" charset="0"/>
              </a:rPr>
              <a:t>, Miracast) casting, allows effortless switching between laptops, media devices, and presentation inputs.</a:t>
            </a:r>
            <a:endParaRPr lang="en-US" sz="1400" dirty="0">
              <a:solidFill>
                <a:schemeClr val="tx1">
                  <a:lumMod val="75000"/>
                  <a:lumOff val="25000"/>
                </a:schemeClr>
              </a:solidFill>
              <a:latin typeface="Arial" panose="020B0604020202020204" pitchFamily="34" charset="0"/>
              <a:ea typeface="Roboto" charset="0"/>
              <a:cs typeface="Arial" panose="020B0604020202020204" pitchFamily="34" charset="0"/>
            </a:endParaRPr>
          </a:p>
        </p:txBody>
      </p:sp>
      <p:sp>
        <p:nvSpPr>
          <p:cNvPr id="31" name="Rectangle 30"/>
          <p:cNvSpPr/>
          <p:nvPr/>
        </p:nvSpPr>
        <p:spPr>
          <a:xfrm>
            <a:off x="6200774" y="2181791"/>
            <a:ext cx="3477590" cy="427428"/>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a:off x="764845" y="4105421"/>
            <a:ext cx="2892755" cy="427428"/>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文本框 4"/>
          <p:cNvSpPr txBox="1"/>
          <p:nvPr/>
        </p:nvSpPr>
        <p:spPr>
          <a:xfrm>
            <a:off x="916280" y="4143520"/>
            <a:ext cx="2741320" cy="323285"/>
          </a:xfrm>
          <a:prstGeom prst="rect">
            <a:avLst/>
          </a:prstGeom>
          <a:noFill/>
        </p:spPr>
        <p:txBody>
          <a:bodyPr wrap="square" rtlCol="0">
            <a:noAutofit/>
          </a:bodyPr>
          <a:lstStyle/>
          <a:p>
            <a:pPr>
              <a:lnSpc>
                <a:spcPts val="2100"/>
              </a:lnSpc>
            </a:pPr>
            <a:r>
              <a:rPr lang="en-US" altLang="zh-CN" sz="1600" b="1" dirty="0">
                <a:solidFill>
                  <a:schemeClr val="tx1">
                    <a:lumMod val="75000"/>
                    <a:lumOff val="25000"/>
                  </a:schemeClr>
                </a:solidFill>
                <a:latin typeface="Roboto" charset="0"/>
                <a:ea typeface="Roboto" charset="0"/>
                <a:cs typeface="Arial" panose="020B0604020202020204" pitchFamily="34" charset="0"/>
              </a:rPr>
              <a:t>One-Click Wireless Casting</a:t>
            </a:r>
            <a:endParaRPr lang="en-US" sz="1600" b="1" dirty="0">
              <a:solidFill>
                <a:schemeClr val="tx1">
                  <a:lumMod val="75000"/>
                  <a:lumOff val="25000"/>
                </a:schemeClr>
              </a:solidFill>
              <a:latin typeface="Roboto" charset="0"/>
              <a:ea typeface="Roboto" charset="0"/>
              <a:cs typeface="Arial" panose="020B0604020202020204" pitchFamily="34" charset="0"/>
            </a:endParaRPr>
          </a:p>
        </p:txBody>
      </p:sp>
      <p:sp>
        <p:nvSpPr>
          <p:cNvPr id="36" name="文本框 4"/>
          <p:cNvSpPr txBox="1"/>
          <p:nvPr/>
        </p:nvSpPr>
        <p:spPr>
          <a:xfrm>
            <a:off x="1124482" y="4739006"/>
            <a:ext cx="4209517" cy="1007064"/>
          </a:xfrm>
          <a:prstGeom prst="rect">
            <a:avLst/>
          </a:prstGeom>
          <a:noFill/>
        </p:spPr>
        <p:txBody>
          <a:bodyPr wrap="square" rtlCol="0">
            <a:noAutofit/>
          </a:bodyPr>
          <a:lstStyle/>
          <a:p>
            <a:pPr indent="0" fontAlgn="auto">
              <a:buFont typeface="Wingdings" panose="05000000000000000000" charset="0"/>
              <a:buNone/>
            </a:pPr>
            <a:r>
              <a:rPr lang="en-US" altLang="zh-CN" sz="1400" dirty="0">
                <a:solidFill>
                  <a:schemeClr val="tx1">
                    <a:lumMod val="75000"/>
                    <a:lumOff val="25000"/>
                  </a:schemeClr>
                </a:solidFill>
                <a:latin typeface="Arial" panose="020B0604020202020204" pitchFamily="34" charset="0"/>
                <a:ea typeface="Roboto" charset="0"/>
                <a:cs typeface="Arial" panose="020B0604020202020204" pitchFamily="34" charset="0"/>
              </a:rPr>
              <a:t>Compatible with </a:t>
            </a:r>
            <a:r>
              <a:rPr lang="en-US" altLang="zh-CN" sz="1400" dirty="0" err="1">
                <a:solidFill>
                  <a:schemeClr val="tx1">
                    <a:lumMod val="75000"/>
                    <a:lumOff val="25000"/>
                  </a:schemeClr>
                </a:solidFill>
                <a:latin typeface="Arial" panose="020B0604020202020204" pitchFamily="34" charset="0"/>
                <a:ea typeface="Roboto" charset="0"/>
                <a:cs typeface="Arial" panose="020B0604020202020204" pitchFamily="34" charset="0"/>
              </a:rPr>
              <a:t>WyreStorm</a:t>
            </a:r>
            <a:r>
              <a:rPr lang="en-US" altLang="zh-CN" sz="1400" dirty="0">
                <a:solidFill>
                  <a:schemeClr val="tx1">
                    <a:lumMod val="75000"/>
                    <a:lumOff val="25000"/>
                  </a:schemeClr>
                </a:solidFill>
                <a:latin typeface="Arial" panose="020B0604020202020204" pitchFamily="34" charset="0"/>
                <a:ea typeface="Roboto" charset="0"/>
                <a:cs typeface="Arial" panose="020B0604020202020204" pitchFamily="34" charset="0"/>
              </a:rPr>
              <a:t> APO-DG2/APO-DG2-PRO USB-C dongles for one-click wireless casting and wireless conferencing, eliminating connection delays and setup time.</a:t>
            </a:r>
            <a:endParaRPr lang="en-US" sz="1400" dirty="0">
              <a:solidFill>
                <a:schemeClr val="tx1">
                  <a:lumMod val="75000"/>
                  <a:lumOff val="25000"/>
                </a:schemeClr>
              </a:solidFill>
              <a:latin typeface="Arial" panose="020B0604020202020204" pitchFamily="34" charset="0"/>
              <a:ea typeface="Roboto" charset="0"/>
              <a:cs typeface="Arial" panose="020B0604020202020204" pitchFamily="34" charset="0"/>
            </a:endParaRPr>
          </a:p>
        </p:txBody>
      </p:sp>
      <p:sp>
        <p:nvSpPr>
          <p:cNvPr id="2" name="文本框 4">
            <a:extLst>
              <a:ext uri="{FF2B5EF4-FFF2-40B4-BE49-F238E27FC236}">
                <a16:creationId xmlns:a16="http://schemas.microsoft.com/office/drawing/2014/main" id="{E289B9AD-0CA5-E237-9D76-7A361AD42027}"/>
              </a:ext>
            </a:extLst>
          </p:cNvPr>
          <p:cNvSpPr txBox="1"/>
          <p:nvPr/>
        </p:nvSpPr>
        <p:spPr>
          <a:xfrm>
            <a:off x="6287849" y="2236721"/>
            <a:ext cx="2495457" cy="323285"/>
          </a:xfrm>
          <a:prstGeom prst="rect">
            <a:avLst/>
          </a:prstGeom>
          <a:noFill/>
        </p:spPr>
        <p:txBody>
          <a:bodyPr wrap="square" rtlCol="0">
            <a:noAutofit/>
          </a:bodyPr>
          <a:lstStyle/>
          <a:p>
            <a:pPr fontAlgn="auto">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Dual</a:t>
            </a:r>
            <a:r>
              <a:rPr lang="zh-CN" altLang="en-US" sz="1600" b="1" dirty="0">
                <a:solidFill>
                  <a:schemeClr val="tx1">
                    <a:lumMod val="75000"/>
                    <a:lumOff val="25000"/>
                  </a:schemeClr>
                </a:solidFill>
                <a:latin typeface="Roboto" charset="0"/>
                <a:ea typeface="Roboto" charset="0"/>
                <a:cs typeface="Arial" panose="020B0604020202020204" pitchFamily="34" charset="0"/>
              </a:rPr>
              <a:t> </a:t>
            </a:r>
            <a:r>
              <a:rPr lang="en-US" altLang="zh-CN" sz="1600" b="1" dirty="0">
                <a:solidFill>
                  <a:schemeClr val="tx1">
                    <a:lumMod val="75000"/>
                    <a:lumOff val="25000"/>
                  </a:schemeClr>
                </a:solidFill>
                <a:latin typeface="Roboto" charset="0"/>
                <a:ea typeface="Roboto" charset="0"/>
                <a:cs typeface="Arial" panose="020B0604020202020204" pitchFamily="34" charset="0"/>
              </a:rPr>
              <a:t>Output</a:t>
            </a:r>
            <a:r>
              <a:rPr lang="zh-CN" altLang="en-US" sz="1600" b="1" dirty="0">
                <a:solidFill>
                  <a:schemeClr val="tx1">
                    <a:lumMod val="75000"/>
                    <a:lumOff val="25000"/>
                  </a:schemeClr>
                </a:solidFill>
                <a:latin typeface="Roboto" charset="0"/>
                <a:ea typeface="Roboto" charset="0"/>
                <a:cs typeface="Arial" panose="020B0604020202020204" pitchFamily="34" charset="0"/>
              </a:rPr>
              <a:t> </a:t>
            </a:r>
            <a:r>
              <a:rPr lang="en-US" altLang="zh-CN" sz="1600" b="1" dirty="0">
                <a:solidFill>
                  <a:schemeClr val="tx1">
                    <a:lumMod val="75000"/>
                    <a:lumOff val="25000"/>
                  </a:schemeClr>
                </a:solidFill>
                <a:latin typeface="Roboto" charset="0"/>
                <a:ea typeface="Roboto" charset="0"/>
                <a:cs typeface="Arial" panose="020B0604020202020204" pitchFamily="34" charset="0"/>
              </a:rPr>
              <a:t>Connectivity</a:t>
            </a:r>
            <a:endParaRPr lang="en-US" sz="1600" dirty="0">
              <a:solidFill>
                <a:schemeClr val="tx1">
                  <a:lumMod val="75000"/>
                  <a:lumOff val="25000"/>
                </a:schemeClr>
              </a:solidFill>
              <a:latin typeface="Roboto" charset="0"/>
              <a:ea typeface="Roboto" charset="0"/>
              <a:cs typeface="Arial" panose="020B0604020202020204" pitchFamily="34" charset="0"/>
            </a:endParaRPr>
          </a:p>
        </p:txBody>
      </p:sp>
      <p:sp>
        <p:nvSpPr>
          <p:cNvPr id="3" name="文本框 4">
            <a:extLst>
              <a:ext uri="{FF2B5EF4-FFF2-40B4-BE49-F238E27FC236}">
                <a16:creationId xmlns:a16="http://schemas.microsoft.com/office/drawing/2014/main" id="{178CDB58-EEFD-2E5F-4C41-69EA1BD80FBB}"/>
              </a:ext>
            </a:extLst>
          </p:cNvPr>
          <p:cNvSpPr txBox="1"/>
          <p:nvPr/>
        </p:nvSpPr>
        <p:spPr>
          <a:xfrm>
            <a:off x="6467477" y="2679662"/>
            <a:ext cx="4520974" cy="1140852"/>
          </a:xfrm>
          <a:prstGeom prst="rect">
            <a:avLst/>
          </a:prstGeom>
          <a:noFill/>
        </p:spPr>
        <p:txBody>
          <a:bodyPr wrap="square" rtlCol="0">
            <a:noAutofit/>
          </a:bodyPr>
          <a:lstStyle/>
          <a:p>
            <a:r>
              <a:rPr lang="en-US" altLang="zh-CN" sz="1400" dirty="0">
                <a:solidFill>
                  <a:schemeClr val="tx1">
                    <a:lumMod val="75000"/>
                    <a:lumOff val="25000"/>
                  </a:schemeClr>
                </a:solidFill>
                <a:latin typeface="Arial" panose="020B0604020202020204" pitchFamily="34" charset="0"/>
                <a:ea typeface="Roboto" charset="0"/>
                <a:cs typeface="Arial" panose="020B0604020202020204" pitchFamily="34" charset="0"/>
              </a:rPr>
              <a:t>Supports dual 4K HDMI outputs,</a:t>
            </a:r>
            <a:r>
              <a:rPr lang="zh-CN" altLang="en-US" sz="1400" dirty="0">
                <a:solidFill>
                  <a:schemeClr val="tx1">
                    <a:lumMod val="75000"/>
                    <a:lumOff val="25000"/>
                  </a:schemeClr>
                </a:solidFill>
                <a:latin typeface="Arial" panose="020B0604020202020204" pitchFamily="34" charset="0"/>
                <a:ea typeface="Roboto" charset="0"/>
                <a:cs typeface="Arial" panose="020B0604020202020204" pitchFamily="34" charset="0"/>
              </a:rPr>
              <a:t> </a:t>
            </a:r>
            <a:r>
              <a:rPr lang="en-US" altLang="zh-CN" sz="1400" dirty="0">
                <a:solidFill>
                  <a:schemeClr val="tx1">
                    <a:lumMod val="75000"/>
                    <a:lumOff val="25000"/>
                  </a:schemeClr>
                </a:solidFill>
                <a:latin typeface="Arial" panose="020B0604020202020204" pitchFamily="34" charset="0"/>
                <a:ea typeface="Roboto" charset="0"/>
                <a:cs typeface="Arial" panose="020B0604020202020204" pitchFamily="34" charset="0"/>
              </a:rPr>
              <a:t>allowing</a:t>
            </a:r>
            <a:r>
              <a:rPr lang="zh-CN" altLang="en-US" sz="1400" dirty="0">
                <a:solidFill>
                  <a:schemeClr val="tx1">
                    <a:lumMod val="75000"/>
                    <a:lumOff val="25000"/>
                  </a:schemeClr>
                </a:solidFill>
                <a:latin typeface="Arial" panose="020B0604020202020204" pitchFamily="34" charset="0"/>
                <a:ea typeface="Roboto" charset="0"/>
                <a:cs typeface="Arial" panose="020B0604020202020204" pitchFamily="34" charset="0"/>
              </a:rPr>
              <a:t> </a:t>
            </a:r>
            <a:r>
              <a:rPr lang="en-US" altLang="zh-CN" sz="1400" dirty="0">
                <a:solidFill>
                  <a:schemeClr val="tx1">
                    <a:lumMod val="75000"/>
                    <a:lumOff val="25000"/>
                  </a:schemeClr>
                </a:solidFill>
                <a:latin typeface="Arial" panose="020B0604020202020204" pitchFamily="34" charset="0"/>
                <a:ea typeface="Roboto" charset="0"/>
                <a:cs typeface="Arial" panose="020B0604020202020204" pitchFamily="34" charset="0"/>
              </a:rPr>
              <a:t>different contents on two screens. On a single display, it enables dual views, giving users more information at a glance and enhancing collaboration.</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644464" y="1083565"/>
            <a:ext cx="7108885" cy="2627585"/>
          </a:xfrm>
          <a:prstGeom prst="rect">
            <a:avLst/>
          </a:prstGeom>
          <a:solidFill>
            <a:schemeClr val="bg1"/>
          </a:solidFill>
          <a:ln>
            <a:solidFill>
              <a:schemeClr val="bg2">
                <a:lumMod val="9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3"/>
            </p:custDataLst>
          </p:nvPr>
        </p:nvSpPr>
        <p:spPr>
          <a:xfrm>
            <a:off x="457155" y="17145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pitchFamily="34" charset="-122"/>
                <a:sym typeface="Roboto"/>
              </a:rPr>
              <a:t>Interface of the Product</a:t>
            </a:r>
          </a:p>
        </p:txBody>
      </p:sp>
      <p:sp>
        <p:nvSpPr>
          <p:cNvPr id="4" name="文本框 3"/>
          <p:cNvSpPr txBox="1"/>
          <p:nvPr/>
        </p:nvSpPr>
        <p:spPr>
          <a:xfrm>
            <a:off x="8207632" y="1949974"/>
            <a:ext cx="3400425" cy="4498833"/>
          </a:xfrm>
          <a:prstGeom prst="rect">
            <a:avLst/>
          </a:prstGeom>
          <a:noFill/>
        </p:spPr>
        <p:txBody>
          <a:bodyPr wrap="square" rtlCol="0">
            <a:noAutofit/>
          </a:bodyPr>
          <a:lstStyle/>
          <a:p>
            <a:r>
              <a:rPr lang="en-US" b="1"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Wireless</a:t>
            </a:r>
            <a:r>
              <a:rPr lang="zh-CN" altLang="en-US" b="1"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a:t>
            </a:r>
            <a:r>
              <a:rPr lang="en-US" altLang="zh-CN" b="1"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Casting</a:t>
            </a:r>
            <a:endParaRPr lang="en-US" sz="200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a:lnSpc>
                <a:spcPts val="1800"/>
              </a:lnSpc>
            </a:pPr>
            <a:r>
              <a:rPr lang="en-US" altLang="zh-CN" sz="160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When used</a:t>
            </a:r>
            <a:r>
              <a:rPr lang="zh-CN" altLang="en-US" sz="160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 </a:t>
            </a:r>
            <a:r>
              <a:rPr lang="en-US" altLang="zh-CN" sz="160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with APO-DG2/APO-DG2-PRO, users can perform wireless casting and wireless conferencing seamlessly.</a:t>
            </a:r>
          </a:p>
          <a:p>
            <a:pPr>
              <a:lnSpc>
                <a:spcPts val="1800"/>
              </a:lnSpc>
            </a:pPr>
            <a:endParaRPr lang="en-US" sz="160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a:lnSpc>
                <a:spcPts val="1800"/>
              </a:lnSpc>
            </a:pPr>
            <a:r>
              <a:rPr lang="en-US" sz="1600" b="1"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Dual 4K Output</a:t>
            </a:r>
          </a:p>
          <a:p>
            <a:pPr>
              <a:lnSpc>
                <a:spcPts val="1800"/>
              </a:lnSpc>
            </a:pPr>
            <a:r>
              <a:rPr lang="en-US" sz="160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Two HDMI</a:t>
            </a:r>
            <a:r>
              <a:rPr lang="zh-CN" altLang="en-US" sz="160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 </a:t>
            </a:r>
            <a:r>
              <a:rPr lang="en-US" altLang="zh-CN" sz="160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outputs, with HDMI out 1 supporting up to 4K@60Hz. Supports dual-view when using a single display.</a:t>
            </a:r>
            <a:endParaRPr lang="en-US" sz="160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endParaRPr>
          </a:p>
          <a:p>
            <a:pPr>
              <a:lnSpc>
                <a:spcPts val="1800"/>
              </a:lnSpc>
            </a:pPr>
            <a:endParaRPr lang="en-US" sz="115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p:txBody>
      </p:sp>
      <p:sp>
        <p:nvSpPr>
          <p:cNvPr id="9" name="文本框 8"/>
          <p:cNvSpPr txBox="1"/>
          <p:nvPr/>
        </p:nvSpPr>
        <p:spPr>
          <a:xfrm>
            <a:off x="6608762" y="1157767"/>
            <a:ext cx="1139168" cy="307777"/>
          </a:xfrm>
          <a:prstGeom prst="rect">
            <a:avLst/>
          </a:prstGeom>
          <a:noFill/>
        </p:spPr>
        <p:txBody>
          <a:bodyPr wrap="square" rtlCol="0">
            <a:spAutoFit/>
          </a:bodyPr>
          <a:lstStyle/>
          <a:p>
            <a:r>
              <a:rPr lang="en-US" altLang="zh-CN" sz="1400" b="1" dirty="0">
                <a:latin typeface="Roboto" charset="0"/>
                <a:cs typeface="Roboto" charset="0"/>
              </a:rPr>
              <a:t>Front Panel</a:t>
            </a:r>
          </a:p>
        </p:txBody>
      </p:sp>
      <p:sp>
        <p:nvSpPr>
          <p:cNvPr id="15" name="文本框 8"/>
          <p:cNvSpPr txBox="1"/>
          <p:nvPr/>
        </p:nvSpPr>
        <p:spPr>
          <a:xfrm>
            <a:off x="8207632" y="1227695"/>
            <a:ext cx="1986280" cy="460375"/>
          </a:xfrm>
          <a:prstGeom prst="rect">
            <a:avLst/>
          </a:prstGeom>
          <a:noFill/>
        </p:spPr>
        <p:txBody>
          <a:bodyPr wrap="square" rtlCol="0">
            <a:spAutoFit/>
          </a:bodyPr>
          <a:lstStyle/>
          <a:p>
            <a:r>
              <a:rPr lang="en-US" altLang="zh-CN" sz="2400" b="1" u="sng" dirty="0">
                <a:latin typeface="Roboto" charset="0"/>
                <a:cs typeface="Roboto" charset="0"/>
              </a:rPr>
              <a:t>Featuring:</a:t>
            </a:r>
          </a:p>
        </p:txBody>
      </p:sp>
      <p:pic>
        <p:nvPicPr>
          <p:cNvPr id="16" name="Google Shape;82;p1"/>
          <p:cNvPicPr preferRelativeResize="0"/>
          <p:nvPr/>
        </p:nvPicPr>
        <p:blipFill>
          <a:blip r:embed="rId6"/>
          <a:stretch>
            <a:fillRect/>
          </a:stretch>
        </p:blipFill>
        <p:spPr>
          <a:xfrm>
            <a:off x="9652104" y="6056488"/>
            <a:ext cx="2241019" cy="440200"/>
          </a:xfrm>
          <a:prstGeom prst="rect">
            <a:avLst/>
          </a:prstGeom>
          <a:noFill/>
          <a:ln>
            <a:noFill/>
          </a:ln>
        </p:spPr>
      </p:pic>
      <p:sp>
        <p:nvSpPr>
          <p:cNvPr id="17"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p>
        </p:txBody>
      </p:sp>
      <p:sp>
        <p:nvSpPr>
          <p:cNvPr id="5" name="Rectangle 4"/>
          <p:cNvSpPr/>
          <p:nvPr/>
        </p:nvSpPr>
        <p:spPr>
          <a:xfrm>
            <a:off x="644464" y="3868461"/>
            <a:ext cx="7108885" cy="2818087"/>
          </a:xfrm>
          <a:prstGeom prst="rect">
            <a:avLst/>
          </a:prstGeom>
          <a:solidFill>
            <a:schemeClr val="bg1"/>
          </a:solidFill>
          <a:ln>
            <a:solidFill>
              <a:schemeClr val="bg2">
                <a:lumMod val="9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文本框 9"/>
          <p:cNvSpPr txBox="1"/>
          <p:nvPr/>
        </p:nvSpPr>
        <p:spPr>
          <a:xfrm>
            <a:off x="6666547" y="3927899"/>
            <a:ext cx="1081383" cy="307777"/>
          </a:xfrm>
          <a:prstGeom prst="rect">
            <a:avLst/>
          </a:prstGeom>
          <a:noFill/>
        </p:spPr>
        <p:txBody>
          <a:bodyPr wrap="square" rtlCol="0" anchor="t">
            <a:spAutoFit/>
          </a:bodyPr>
          <a:lstStyle/>
          <a:p>
            <a:r>
              <a:rPr lang="en-US" altLang="zh-CN" sz="1400" b="1" dirty="0">
                <a:latin typeface="Roboto" charset="0"/>
                <a:cs typeface="Roboto" charset="0"/>
                <a:sym typeface="+mn-ea"/>
              </a:rPr>
              <a:t>Rear Panel</a:t>
            </a:r>
          </a:p>
        </p:txBody>
      </p:sp>
      <p:pic>
        <p:nvPicPr>
          <p:cNvPr id="8" name="图片 7">
            <a:extLst>
              <a:ext uri="{FF2B5EF4-FFF2-40B4-BE49-F238E27FC236}">
                <a16:creationId xmlns:a16="http://schemas.microsoft.com/office/drawing/2014/main" id="{8FC65D2C-7E63-6C3A-B701-44BA255D07F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14070" y="4386325"/>
            <a:ext cx="6933860" cy="1827276"/>
          </a:xfrm>
          <a:prstGeom prst="rect">
            <a:avLst/>
          </a:prstGeom>
        </p:spPr>
      </p:pic>
      <p:pic>
        <p:nvPicPr>
          <p:cNvPr id="12" name="图片 11">
            <a:extLst>
              <a:ext uri="{FF2B5EF4-FFF2-40B4-BE49-F238E27FC236}">
                <a16:creationId xmlns:a16="http://schemas.microsoft.com/office/drawing/2014/main" id="{F7458243-E78C-D11F-DBE7-89C55EDAD5DE}"/>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94254" y="1887014"/>
            <a:ext cx="6959083" cy="1743923"/>
          </a:xfrm>
          <a:prstGeom prst="rect">
            <a:avLst/>
          </a:prstGeom>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CA4F0-CC5C-677D-21AD-E587FF2EBE2A}"/>
            </a:ext>
          </a:extLst>
        </p:cNvPr>
        <p:cNvGrpSpPr/>
        <p:nvPr/>
      </p:nvGrpSpPr>
      <p:grpSpPr>
        <a:xfrm>
          <a:off x="0" y="0"/>
          <a:ext cx="0" cy="0"/>
          <a:chOff x="0" y="0"/>
          <a:chExt cx="0" cy="0"/>
        </a:xfrm>
      </p:grpSpPr>
      <p:sp>
        <p:nvSpPr>
          <p:cNvPr id="10" name="矩形 7">
            <a:extLst>
              <a:ext uri="{FF2B5EF4-FFF2-40B4-BE49-F238E27FC236}">
                <a16:creationId xmlns:a16="http://schemas.microsoft.com/office/drawing/2014/main" id="{CF07E346-84F5-6AB2-616B-9BFB456E4A8D}"/>
              </a:ext>
            </a:extLst>
          </p:cNvPr>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a:extLst>
              <a:ext uri="{FF2B5EF4-FFF2-40B4-BE49-F238E27FC236}">
                <a16:creationId xmlns:a16="http://schemas.microsoft.com/office/drawing/2014/main" id="{31A9C1A5-0BB0-2BD4-7059-C6B4D37BC07D}"/>
              </a:ext>
            </a:extLst>
          </p:cNvPr>
          <p:cNvSpPr txBox="1"/>
          <p:nvPr>
            <p:custDataLst>
              <p:tags r:id="rId3"/>
            </p:custDataLst>
          </p:nvPr>
        </p:nvSpPr>
        <p:spPr>
          <a:xfrm>
            <a:off x="457155" y="17145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pitchFamily="34" charset="-122"/>
                <a:sym typeface="Roboto"/>
              </a:rPr>
              <a:t>Specifications &amp; Packing List</a:t>
            </a:r>
          </a:p>
        </p:txBody>
      </p:sp>
      <p:sp>
        <p:nvSpPr>
          <p:cNvPr id="4" name="文本框 3">
            <a:extLst>
              <a:ext uri="{FF2B5EF4-FFF2-40B4-BE49-F238E27FC236}">
                <a16:creationId xmlns:a16="http://schemas.microsoft.com/office/drawing/2014/main" id="{07AC5C02-E4E3-1AD5-8677-FF732B6DCD1D}"/>
              </a:ext>
            </a:extLst>
          </p:cNvPr>
          <p:cNvSpPr txBox="1"/>
          <p:nvPr/>
        </p:nvSpPr>
        <p:spPr>
          <a:xfrm>
            <a:off x="7547810" y="1901190"/>
            <a:ext cx="4644189" cy="2899410"/>
          </a:xfrm>
          <a:prstGeom prst="rect">
            <a:avLst/>
          </a:prstGeom>
          <a:noFill/>
        </p:spPr>
        <p:txBody>
          <a:bodyPr wrap="square" rtlCol="0">
            <a:noAutofit/>
          </a:bodyPr>
          <a:lstStyle/>
          <a:p>
            <a:pPr algn="l"/>
            <a:r>
              <a:rPr lang="zh-CN" altLang="en-US" b="1" dirty="0">
                <a:latin typeface="Roboto" charset="0"/>
                <a:cs typeface="Arial" panose="020B0604020202020204" pitchFamily="34" charset="0"/>
              </a:rPr>
              <a:t>What’s in the Box?</a:t>
            </a:r>
          </a:p>
          <a:p>
            <a:pPr>
              <a:lnSpc>
                <a:spcPts val="900"/>
              </a:lnSpc>
            </a:pPr>
            <a:endParaRPr lang="zh-CN" altLang="en-US" sz="1600" dirty="0">
              <a:latin typeface="Roboto" charset="0"/>
              <a:cs typeface="Arial" panose="020B0604020202020204" pitchFamily="34" charset="0"/>
            </a:endParaRPr>
          </a:p>
          <a:p>
            <a:pPr marL="285750" indent="-285750">
              <a:buFont typeface="Wingdings" panose="05000000000000000000" charset="0"/>
              <a:buChar char="l"/>
            </a:pPr>
            <a:r>
              <a:rPr lang="en-US" altLang="zh-CN" sz="1600" dirty="0">
                <a:solidFill>
                  <a:schemeClr val="tx1">
                    <a:lumMod val="75000"/>
                    <a:lumOff val="25000"/>
                  </a:schemeClr>
                </a:solidFill>
                <a:latin typeface="Roboto" charset="0"/>
                <a:cs typeface="Arial" panose="020B0604020202020204" pitchFamily="34" charset="0"/>
              </a:rPr>
              <a:t>1x DC power adapter 20V/6A with US/UK/EU/AU</a:t>
            </a:r>
            <a:endParaRPr lang="zh-CN" altLang="en-US" sz="1600" dirty="0">
              <a:solidFill>
                <a:schemeClr val="tx1">
                  <a:lumMod val="75000"/>
                  <a:lumOff val="25000"/>
                </a:schemeClr>
              </a:solidFill>
              <a:latin typeface="Roboto" charset="0"/>
              <a:cs typeface="Arial" panose="020B0604020202020204" pitchFamily="34" charset="0"/>
            </a:endParaRPr>
          </a:p>
          <a:p>
            <a:pPr marL="285750" indent="-285750">
              <a:buFont typeface="Wingdings" panose="05000000000000000000" charset="0"/>
              <a:buChar char="l"/>
            </a:pPr>
            <a:r>
              <a:rPr lang="zh-CN" altLang="en-US" sz="1600" dirty="0">
                <a:solidFill>
                  <a:schemeClr val="tx1">
                    <a:lumMod val="75000"/>
                    <a:lumOff val="25000"/>
                  </a:schemeClr>
                </a:solidFill>
                <a:latin typeface="Roboto" charset="0"/>
                <a:cs typeface="Arial" panose="020B0604020202020204" pitchFamily="34" charset="0"/>
              </a:rPr>
              <a:t>1x </a:t>
            </a:r>
            <a:r>
              <a:rPr lang="en-US" altLang="zh-CN" sz="1600" dirty="0">
                <a:solidFill>
                  <a:schemeClr val="tx1">
                    <a:lumMod val="75000"/>
                    <a:lumOff val="25000"/>
                  </a:schemeClr>
                </a:solidFill>
                <a:latin typeface="Roboto" charset="0"/>
                <a:cs typeface="Arial" panose="020B0604020202020204" pitchFamily="34" charset="0"/>
              </a:rPr>
              <a:t>5m HDMI cable</a:t>
            </a:r>
          </a:p>
          <a:p>
            <a:pPr marL="285750" indent="-285750">
              <a:buFont typeface="Wingdings" panose="05000000000000000000" charset="0"/>
              <a:buChar char="l"/>
            </a:pPr>
            <a:r>
              <a:rPr lang="en-US" altLang="zh-CN" sz="1600" dirty="0">
                <a:solidFill>
                  <a:schemeClr val="tx1">
                    <a:lumMod val="75000"/>
                    <a:lumOff val="25000"/>
                  </a:schemeClr>
                </a:solidFill>
                <a:latin typeface="Roboto" charset="0"/>
                <a:cs typeface="Arial" panose="020B0604020202020204" pitchFamily="34" charset="0"/>
              </a:rPr>
              <a:t>1x 5m USB-A to USB-B cable</a:t>
            </a:r>
          </a:p>
          <a:p>
            <a:pPr marL="285750" indent="-285750">
              <a:buFont typeface="Wingdings" panose="05000000000000000000" charset="0"/>
              <a:buChar char="l"/>
            </a:pPr>
            <a:r>
              <a:rPr lang="en-US" altLang="zh-CN" sz="1600" dirty="0">
                <a:solidFill>
                  <a:schemeClr val="tx1">
                    <a:lumMod val="75000"/>
                    <a:lumOff val="25000"/>
                  </a:schemeClr>
                </a:solidFill>
                <a:latin typeface="Roboto" charset="0"/>
                <a:cs typeface="Arial" panose="020B0604020202020204" pitchFamily="34" charset="0"/>
              </a:rPr>
              <a:t>1x Remote controller</a:t>
            </a:r>
          </a:p>
          <a:p>
            <a:pPr marL="285750" indent="-285750">
              <a:buFont typeface="Wingdings" panose="05000000000000000000" charset="0"/>
              <a:buChar char="l"/>
            </a:pPr>
            <a:r>
              <a:rPr lang="en-US" altLang="zh-CN" sz="1600" dirty="0">
                <a:solidFill>
                  <a:schemeClr val="tx1">
                    <a:lumMod val="75000"/>
                    <a:lumOff val="25000"/>
                  </a:schemeClr>
                </a:solidFill>
                <a:latin typeface="Roboto" charset="0"/>
                <a:cs typeface="Arial" panose="020B0604020202020204" pitchFamily="34" charset="0"/>
              </a:rPr>
              <a:t>1x Magnetic lens cap</a:t>
            </a:r>
          </a:p>
          <a:p>
            <a:pPr marL="285750" indent="-285750">
              <a:buFont typeface="Wingdings" panose="05000000000000000000" charset="0"/>
              <a:buChar char="l"/>
            </a:pPr>
            <a:r>
              <a:rPr lang="en-US" altLang="zh-CN" sz="1600" dirty="0">
                <a:solidFill>
                  <a:schemeClr val="tx1">
                    <a:lumMod val="75000"/>
                    <a:lumOff val="25000"/>
                  </a:schemeClr>
                </a:solidFill>
                <a:latin typeface="Roboto" charset="0"/>
                <a:cs typeface="Arial" panose="020B0604020202020204" pitchFamily="34" charset="0"/>
              </a:rPr>
              <a:t>1x Wall Mounting Kit</a:t>
            </a:r>
          </a:p>
          <a:p>
            <a:pPr marL="285750" indent="-285750">
              <a:buFont typeface="Wingdings" panose="05000000000000000000" charset="0"/>
              <a:buChar char="l"/>
            </a:pPr>
            <a:r>
              <a:rPr lang="en-US" altLang="zh-CN" sz="1600" dirty="0">
                <a:solidFill>
                  <a:schemeClr val="tx1">
                    <a:lumMod val="75000"/>
                    <a:lumOff val="25000"/>
                  </a:schemeClr>
                </a:solidFill>
                <a:latin typeface="Roboto" charset="0"/>
                <a:cs typeface="Arial" panose="020B0604020202020204" pitchFamily="34" charset="0"/>
              </a:rPr>
              <a:t>1x Desktop stand</a:t>
            </a:r>
          </a:p>
          <a:p>
            <a:pPr marL="285750" indent="-285750">
              <a:buFont typeface="Wingdings" panose="05000000000000000000" charset="0"/>
              <a:buChar char="l"/>
            </a:pPr>
            <a:r>
              <a:rPr lang="en-US" altLang="zh-CN" sz="1600" dirty="0">
                <a:solidFill>
                  <a:schemeClr val="tx1">
                    <a:lumMod val="75000"/>
                    <a:lumOff val="25000"/>
                  </a:schemeClr>
                </a:solidFill>
                <a:latin typeface="Roboto" charset="0"/>
                <a:cs typeface="Arial" panose="020B0604020202020204" pitchFamily="34" charset="0"/>
              </a:rPr>
              <a:t>1x QSG</a:t>
            </a:r>
          </a:p>
          <a:p>
            <a:pPr marL="285750" indent="-285750">
              <a:buFont typeface="Wingdings" panose="05000000000000000000" charset="0"/>
              <a:buChar char="l"/>
            </a:pPr>
            <a:r>
              <a:rPr lang="en-US" altLang="zh-CN" sz="1600" dirty="0">
                <a:solidFill>
                  <a:schemeClr val="tx1">
                    <a:lumMod val="75000"/>
                    <a:lumOff val="25000"/>
                  </a:schemeClr>
                </a:solidFill>
                <a:latin typeface="Roboto" charset="0"/>
                <a:cs typeface="Arial" panose="020B0604020202020204" pitchFamily="34" charset="0"/>
              </a:rPr>
              <a:t>1x USB to RJ45 adapter(APO-MIC-EXT)</a:t>
            </a:r>
            <a:endParaRPr lang="zh-CN" altLang="en-US" sz="1600" dirty="0">
              <a:solidFill>
                <a:schemeClr val="tx1">
                  <a:lumMod val="75000"/>
                  <a:lumOff val="25000"/>
                </a:schemeClr>
              </a:solidFill>
              <a:latin typeface="Roboto" charset="0"/>
              <a:cs typeface="Arial" panose="020B0604020202020204" pitchFamily="34" charset="0"/>
            </a:endParaRPr>
          </a:p>
          <a:p>
            <a:pPr marL="285750" indent="-285750">
              <a:buFont typeface="Wingdings" panose="05000000000000000000" charset="0"/>
              <a:buChar char="l"/>
            </a:pPr>
            <a:endParaRPr lang="zh-CN" altLang="en-US" sz="1600" dirty="0">
              <a:solidFill>
                <a:schemeClr val="tx1">
                  <a:lumMod val="75000"/>
                  <a:lumOff val="25000"/>
                </a:schemeClr>
              </a:solidFill>
              <a:latin typeface="Roboto" charset="0"/>
              <a:cs typeface="Arial" panose="020B0604020202020204" pitchFamily="34" charset="0"/>
            </a:endParaRPr>
          </a:p>
        </p:txBody>
      </p:sp>
      <p:pic>
        <p:nvPicPr>
          <p:cNvPr id="6" name="Google Shape;82;p1">
            <a:extLst>
              <a:ext uri="{FF2B5EF4-FFF2-40B4-BE49-F238E27FC236}">
                <a16:creationId xmlns:a16="http://schemas.microsoft.com/office/drawing/2014/main" id="{9D5357F4-BE2C-BE96-FD95-CC16D08062BA}"/>
              </a:ext>
            </a:extLst>
          </p:cNvPr>
          <p:cNvPicPr preferRelativeResize="0"/>
          <p:nvPr/>
        </p:nvPicPr>
        <p:blipFill>
          <a:blip r:embed="rId6"/>
          <a:stretch>
            <a:fillRect/>
          </a:stretch>
        </p:blipFill>
        <p:spPr>
          <a:xfrm>
            <a:off x="9652104" y="6056488"/>
            <a:ext cx="2241019" cy="440200"/>
          </a:xfrm>
          <a:prstGeom prst="rect">
            <a:avLst/>
          </a:prstGeom>
          <a:noFill/>
          <a:ln>
            <a:noFill/>
          </a:ln>
        </p:spPr>
      </p:pic>
      <p:sp>
        <p:nvSpPr>
          <p:cNvPr id="9" name="文本框 1">
            <a:extLst>
              <a:ext uri="{FF2B5EF4-FFF2-40B4-BE49-F238E27FC236}">
                <a16:creationId xmlns:a16="http://schemas.microsoft.com/office/drawing/2014/main" id="{E9FFC366-CC91-9037-A55A-E584A676437B}"/>
              </a:ext>
            </a:extLst>
          </p:cNvPr>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p>
        </p:txBody>
      </p:sp>
      <p:graphicFrame>
        <p:nvGraphicFramePr>
          <p:cNvPr id="3" name="表格 2">
            <a:extLst>
              <a:ext uri="{FF2B5EF4-FFF2-40B4-BE49-F238E27FC236}">
                <a16:creationId xmlns:a16="http://schemas.microsoft.com/office/drawing/2014/main" id="{8EF83497-8774-294A-BDCB-48D56841AC26}"/>
              </a:ext>
            </a:extLst>
          </p:cNvPr>
          <p:cNvGraphicFramePr>
            <a:graphicFrameLocks noGrp="1"/>
          </p:cNvGraphicFramePr>
          <p:nvPr>
            <p:extLst>
              <p:ext uri="{D42A27DB-BD31-4B8C-83A1-F6EECF244321}">
                <p14:modId xmlns:p14="http://schemas.microsoft.com/office/powerpoint/2010/main" val="3181787988"/>
              </p:ext>
            </p:extLst>
          </p:nvPr>
        </p:nvGraphicFramePr>
        <p:xfrm>
          <a:off x="215811" y="952626"/>
          <a:ext cx="7166529" cy="5765626"/>
        </p:xfrm>
        <a:graphic>
          <a:graphicData uri="http://schemas.openxmlformats.org/drawingml/2006/table">
            <a:tbl>
              <a:tblPr firstRow="1" bandRow="1">
                <a:tableStyleId>{93296810-A885-4BE3-A3E7-6D5BEEA58F35}</a:tableStyleId>
              </a:tblPr>
              <a:tblGrid>
                <a:gridCol w="1351265">
                  <a:extLst>
                    <a:ext uri="{9D8B030D-6E8A-4147-A177-3AD203B41FA5}">
                      <a16:colId xmlns:a16="http://schemas.microsoft.com/office/drawing/2014/main" val="2541836169"/>
                    </a:ext>
                  </a:extLst>
                </a:gridCol>
                <a:gridCol w="1653167">
                  <a:extLst>
                    <a:ext uri="{9D8B030D-6E8A-4147-A177-3AD203B41FA5}">
                      <a16:colId xmlns:a16="http://schemas.microsoft.com/office/drawing/2014/main" val="249030404"/>
                    </a:ext>
                  </a:extLst>
                </a:gridCol>
                <a:gridCol w="4162097">
                  <a:extLst>
                    <a:ext uri="{9D8B030D-6E8A-4147-A177-3AD203B41FA5}">
                      <a16:colId xmlns:a16="http://schemas.microsoft.com/office/drawing/2014/main" val="2327140700"/>
                    </a:ext>
                  </a:extLst>
                </a:gridCol>
              </a:tblGrid>
              <a:tr h="278846">
                <a:tc gridSpan="3">
                  <a:txBody>
                    <a:bodyPr/>
                    <a:lstStyle/>
                    <a:p>
                      <a:r>
                        <a:rPr lang="en-US" altLang="zh-CN" sz="1400" dirty="0">
                          <a:latin typeface="Roboto" panose="02000000000000000000" pitchFamily="2" charset="0"/>
                        </a:rPr>
                        <a:t>Main</a:t>
                      </a:r>
                      <a:r>
                        <a:rPr lang="zh-CN" altLang="en-US" sz="1400" dirty="0">
                          <a:latin typeface="Roboto" panose="02000000000000000000" pitchFamily="2" charset="0"/>
                        </a:rPr>
                        <a:t> </a:t>
                      </a:r>
                      <a:r>
                        <a:rPr lang="en-US" altLang="zh-CN" sz="1400" dirty="0">
                          <a:latin typeface="Roboto" panose="02000000000000000000" pitchFamily="2" charset="0"/>
                        </a:rPr>
                        <a:t>Specifications</a:t>
                      </a:r>
                      <a:endParaRPr lang="zh-CN" altLang="en-US" sz="1400" dirty="0">
                        <a:latin typeface="Roboto" panose="02000000000000000000" pitchFamily="2" charset="0"/>
                      </a:endParaRPr>
                    </a:p>
                  </a:txBody>
                  <a:tcPr>
                    <a:solidFill>
                      <a:srgbClr val="0B7934"/>
                    </a:solidFill>
                  </a:tcPr>
                </a:tc>
                <a:tc hMerge="1">
                  <a:txBody>
                    <a:bodyPr/>
                    <a:lstStyle/>
                    <a:p>
                      <a:endParaRPr dirty="0"/>
                    </a:p>
                  </a:txBody>
                  <a:tcPr>
                    <a:solidFill>
                      <a:srgbClr val="0B7934"/>
                    </a:solidFill>
                  </a:tcPr>
                </a:tc>
                <a:tc hMerge="1">
                  <a:txBody>
                    <a:bodyPr/>
                    <a:lstStyle/>
                    <a:p>
                      <a:endParaRPr lang="zh-CN" altLang="en-US" sz="1100" dirty="0">
                        <a:latin typeface="Roboto" panose="02000000000000000000" pitchFamily="2" charset="0"/>
                      </a:endParaRPr>
                    </a:p>
                  </a:txBody>
                  <a:tcPr/>
                </a:tc>
                <a:extLst>
                  <a:ext uri="{0D108BD9-81ED-4DB2-BD59-A6C34878D82A}">
                    <a16:rowId xmlns:a16="http://schemas.microsoft.com/office/drawing/2014/main" val="2697746636"/>
                  </a:ext>
                </a:extLst>
              </a:tr>
              <a:tr h="250962">
                <a:tc rowSpan="5">
                  <a:txBody>
                    <a:bodyPr/>
                    <a:lstStyle/>
                    <a:p>
                      <a:pPr algn="ctr"/>
                      <a:r>
                        <a:rPr lang="en-US" altLang="zh-CN" sz="1200" kern="1200" dirty="0">
                          <a:solidFill>
                            <a:schemeClr val="dk1"/>
                          </a:solidFill>
                          <a:latin typeface="Roboto" panose="02000000000000000000" pitchFamily="2" charset="0"/>
                          <a:ea typeface="+mn-ea"/>
                          <a:cs typeface="+mn-cs"/>
                        </a:rPr>
                        <a:t>Camera</a:t>
                      </a:r>
                      <a:endParaRPr lang="zh-CN" altLang="en-US" sz="1200" kern="1200" dirty="0">
                        <a:solidFill>
                          <a:schemeClr val="dk1"/>
                        </a:solidFill>
                        <a:latin typeface="Roboto" panose="02000000000000000000" pitchFamily="2" charset="0"/>
                        <a:ea typeface="+mn-ea"/>
                        <a:cs typeface="+mn-cs"/>
                      </a:endParaRPr>
                    </a:p>
                  </a:txBody>
                  <a:tcPr anchor="ctr">
                    <a:solidFill>
                      <a:srgbClr val="D6E5D6"/>
                    </a:solidFill>
                  </a:tcPr>
                </a:tc>
                <a:tc>
                  <a:txBody>
                    <a:bodyPr/>
                    <a:lstStyle/>
                    <a:p>
                      <a:r>
                        <a:rPr lang="en-US" altLang="zh-CN" sz="1200" kern="1200" dirty="0">
                          <a:solidFill>
                            <a:schemeClr val="dk1"/>
                          </a:solidFill>
                          <a:latin typeface="Roboto" panose="02000000000000000000" pitchFamily="2" charset="0"/>
                          <a:ea typeface="+mn-ea"/>
                          <a:cs typeface="+mn-cs"/>
                        </a:rPr>
                        <a:t>Lens</a:t>
                      </a:r>
                      <a:endParaRPr lang="zh-CN" altLang="en-US" sz="1200" kern="1200" dirty="0">
                        <a:solidFill>
                          <a:schemeClr val="dk1"/>
                        </a:solidFill>
                        <a:latin typeface="Roboto" panose="02000000000000000000" pitchFamily="2" charset="0"/>
                        <a:ea typeface="+mn-ea"/>
                        <a:cs typeface="+mn-cs"/>
                      </a:endParaRPr>
                    </a:p>
                  </a:txBody>
                  <a:tcPr anchor="ctr">
                    <a:solidFill>
                      <a:srgbClr val="D6E5D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dk1"/>
                          </a:solidFill>
                          <a:latin typeface="Roboto" panose="02000000000000000000" pitchFamily="2" charset="0"/>
                          <a:ea typeface="+mn-ea"/>
                          <a:cs typeface="+mn-cs"/>
                        </a:rPr>
                        <a:t>Fixed Focus, DFOV 120°</a:t>
                      </a:r>
                    </a:p>
                  </a:txBody>
                  <a:tcPr anchor="ctr">
                    <a:solidFill>
                      <a:srgbClr val="D6E5D6"/>
                    </a:solidFill>
                  </a:tcPr>
                </a:tc>
                <a:extLst>
                  <a:ext uri="{0D108BD9-81ED-4DB2-BD59-A6C34878D82A}">
                    <a16:rowId xmlns:a16="http://schemas.microsoft.com/office/drawing/2014/main" val="1179107619"/>
                  </a:ext>
                </a:extLst>
              </a:tr>
              <a:tr h="250962">
                <a:tc vMerge="1">
                  <a:txBody>
                    <a:bodyPr/>
                    <a:lstStyle/>
                    <a:p>
                      <a:endParaRPr lang="zh-CN" altLang="en-US" sz="1200" dirty="0">
                        <a:latin typeface="Roboto" panose="02000000000000000000" pitchFamily="2" charset="0"/>
                      </a:endParaRPr>
                    </a:p>
                  </a:txBody>
                  <a:tcPr anchor="ctr"/>
                </a:tc>
                <a:tc>
                  <a:txBody>
                    <a:bodyPr/>
                    <a:lstStyle/>
                    <a:p>
                      <a:r>
                        <a:rPr lang="en-US" altLang="zh-CN" sz="1200" dirty="0">
                          <a:latin typeface="Roboto" panose="02000000000000000000" pitchFamily="2" charset="0"/>
                          <a:ea typeface="Roboto" panose="02000000000000000000" pitchFamily="2" charset="0"/>
                        </a:rPr>
                        <a:t>Sensor</a:t>
                      </a:r>
                      <a:endParaRPr lang="zh-CN" altLang="en-US" sz="1200" dirty="0">
                        <a:latin typeface="Roboto" panose="02000000000000000000" pitchFamily="2" charset="0"/>
                      </a:endParaRPr>
                    </a:p>
                  </a:txBody>
                  <a:tcPr anchor="ctr">
                    <a:solidFill>
                      <a:srgbClr val="E4F3E2"/>
                    </a:solidFill>
                  </a:tcPr>
                </a:tc>
                <a:tc>
                  <a:txBody>
                    <a:bodyPr/>
                    <a:lstStyle/>
                    <a:p>
                      <a:r>
                        <a:rPr lang="en-US" altLang="zh-CN" sz="1200" kern="1200" dirty="0">
                          <a:solidFill>
                            <a:schemeClr val="dk1"/>
                          </a:solidFill>
                          <a:latin typeface="Roboto" panose="02000000000000000000" pitchFamily="2" charset="0"/>
                          <a:ea typeface="Roboto" panose="02000000000000000000" pitchFamily="2" charset="0"/>
                          <a:cs typeface="+mn-cs"/>
                        </a:rPr>
                        <a:t>1/1.8’’, 8M effective </a:t>
                      </a:r>
                      <a:r>
                        <a:rPr lang="en-US" altLang="zh-CN" sz="1200" kern="1200" dirty="0">
                          <a:solidFill>
                            <a:schemeClr val="dk1"/>
                          </a:solidFill>
                          <a:latin typeface="Roboto" panose="02000000000000000000" pitchFamily="2" charset="0"/>
                          <a:ea typeface="+mn-ea"/>
                          <a:cs typeface="+mn-cs"/>
                        </a:rPr>
                        <a:t>pixels,</a:t>
                      </a:r>
                      <a:r>
                        <a:rPr lang="zh-CN" altLang="en-US" sz="1200" kern="1200" dirty="0">
                          <a:solidFill>
                            <a:schemeClr val="dk1"/>
                          </a:solidFill>
                          <a:latin typeface="Roboto" panose="02000000000000000000" pitchFamily="2" charset="0"/>
                          <a:ea typeface="+mn-ea"/>
                          <a:cs typeface="+mn-cs"/>
                        </a:rPr>
                        <a:t> </a:t>
                      </a:r>
                      <a:r>
                        <a:rPr lang="en-US" altLang="zh-CN" sz="1200" kern="1200" dirty="0">
                          <a:solidFill>
                            <a:schemeClr val="dk1"/>
                          </a:solidFill>
                          <a:latin typeface="Roboto" panose="02000000000000000000" pitchFamily="2" charset="0"/>
                          <a:ea typeface="+mn-ea"/>
                          <a:cs typeface="+mn-cs"/>
                        </a:rPr>
                        <a:t>Up to 4K@30fps</a:t>
                      </a:r>
                      <a:endParaRPr lang="zh-CN" altLang="en-US" sz="1200" kern="1200" dirty="0">
                        <a:solidFill>
                          <a:schemeClr val="dk1"/>
                        </a:solidFill>
                        <a:latin typeface="Roboto" panose="02000000000000000000" pitchFamily="2" charset="0"/>
                        <a:ea typeface="+mn-ea"/>
                        <a:cs typeface="+mn-cs"/>
                      </a:endParaRPr>
                    </a:p>
                  </a:txBody>
                  <a:tcPr anchor="ctr">
                    <a:solidFill>
                      <a:srgbClr val="E4F3E2"/>
                    </a:solidFill>
                  </a:tcPr>
                </a:tc>
                <a:extLst>
                  <a:ext uri="{0D108BD9-81ED-4DB2-BD59-A6C34878D82A}">
                    <a16:rowId xmlns:a16="http://schemas.microsoft.com/office/drawing/2014/main" val="2523906717"/>
                  </a:ext>
                </a:extLst>
              </a:tr>
              <a:tr h="250962">
                <a:tc vMerge="1">
                  <a:txBody>
                    <a:bodyPr/>
                    <a:lstStyle/>
                    <a:p>
                      <a:endParaRPr lang="zh-CN" altLang="en-US" sz="1200" kern="1200" dirty="0">
                        <a:solidFill>
                          <a:schemeClr val="dk1"/>
                        </a:solidFill>
                        <a:latin typeface="Roboto" panose="02000000000000000000" pitchFamily="2" charset="0"/>
                        <a:ea typeface="+mn-ea"/>
                        <a:cs typeface="+mn-cs"/>
                      </a:endParaRPr>
                    </a:p>
                  </a:txBody>
                  <a:tcPr anchor="ctr"/>
                </a:tc>
                <a:tc>
                  <a:txBody>
                    <a:bodyPr/>
                    <a:lstStyle/>
                    <a:p>
                      <a:r>
                        <a:rPr lang="en-US" altLang="zh-CN" sz="1200" kern="1200" dirty="0">
                          <a:solidFill>
                            <a:schemeClr val="dk1"/>
                          </a:solidFill>
                          <a:latin typeface="Roboto" panose="02000000000000000000" pitchFamily="2" charset="0"/>
                          <a:ea typeface="+mn-ea"/>
                          <a:cs typeface="+mn-cs"/>
                        </a:rPr>
                        <a:t>Output</a:t>
                      </a:r>
                      <a:r>
                        <a:rPr lang="zh-CN" altLang="en-US" sz="1200" kern="1200" dirty="0">
                          <a:solidFill>
                            <a:schemeClr val="dk1"/>
                          </a:solidFill>
                          <a:latin typeface="Roboto" panose="02000000000000000000" pitchFamily="2" charset="0"/>
                          <a:ea typeface="+mn-ea"/>
                          <a:cs typeface="+mn-cs"/>
                        </a:rPr>
                        <a:t> </a:t>
                      </a:r>
                      <a:r>
                        <a:rPr lang="en-US" altLang="zh-CN" sz="1200" kern="1200" dirty="0">
                          <a:solidFill>
                            <a:schemeClr val="dk1"/>
                          </a:solidFill>
                          <a:latin typeface="Roboto" panose="02000000000000000000" pitchFamily="2" charset="0"/>
                          <a:ea typeface="+mn-ea"/>
                          <a:cs typeface="+mn-cs"/>
                        </a:rPr>
                        <a:t>Encoding</a:t>
                      </a:r>
                      <a:endParaRPr lang="zh-CN" altLang="en-US" sz="1200" kern="1200" dirty="0">
                        <a:solidFill>
                          <a:schemeClr val="dk1"/>
                        </a:solidFill>
                        <a:latin typeface="Roboto" panose="02000000000000000000" pitchFamily="2" charset="0"/>
                        <a:ea typeface="+mn-ea"/>
                        <a:cs typeface="+mn-cs"/>
                      </a:endParaRPr>
                    </a:p>
                  </a:txBody>
                  <a:tcPr anchor="ctr">
                    <a:solidFill>
                      <a:srgbClr val="D6E5D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dk1"/>
                          </a:solidFill>
                          <a:latin typeface="Roboto" panose="02000000000000000000" pitchFamily="2" charset="0"/>
                          <a:ea typeface="+mn-ea"/>
                          <a:cs typeface="+mn-cs"/>
                        </a:rPr>
                        <a:t>MJPEG/YUY2/H.264/H.265 | UVC 1.1</a:t>
                      </a:r>
                    </a:p>
                  </a:txBody>
                  <a:tcPr anchor="ctr">
                    <a:solidFill>
                      <a:srgbClr val="D6E5D6"/>
                    </a:solidFill>
                  </a:tcPr>
                </a:tc>
                <a:extLst>
                  <a:ext uri="{0D108BD9-81ED-4DB2-BD59-A6C34878D82A}">
                    <a16:rowId xmlns:a16="http://schemas.microsoft.com/office/drawing/2014/main" val="2414629328"/>
                  </a:ext>
                </a:extLst>
              </a:tr>
              <a:tr h="250962">
                <a:tc vMerge="1">
                  <a:txBody>
                    <a:bodyPr/>
                    <a:lstStyle/>
                    <a:p>
                      <a:endParaRPr lang="zh-CN" altLang="en-US" sz="1200" kern="1200" dirty="0">
                        <a:solidFill>
                          <a:schemeClr val="dk1"/>
                        </a:solidFill>
                        <a:latin typeface="Roboto" panose="02000000000000000000" pitchFamily="2" charset="0"/>
                        <a:ea typeface="+mn-ea"/>
                        <a:cs typeface="+mn-cs"/>
                      </a:endParaRPr>
                    </a:p>
                  </a:txBody>
                  <a:tcPr anchor="ctr"/>
                </a:tc>
                <a:tc>
                  <a:txBody>
                    <a:bodyPr/>
                    <a:lstStyle/>
                    <a:p>
                      <a:r>
                        <a:rPr lang="en-US" altLang="zh-CN" sz="1200" kern="1200" dirty="0" err="1">
                          <a:solidFill>
                            <a:schemeClr val="dk1"/>
                          </a:solidFill>
                          <a:latin typeface="Roboto" panose="02000000000000000000" pitchFamily="2" charset="0"/>
                          <a:ea typeface="+mn-ea"/>
                          <a:cs typeface="+mn-cs"/>
                        </a:rPr>
                        <a:t>ePTZ</a:t>
                      </a:r>
                      <a:endParaRPr lang="zh-CN" altLang="en-US" sz="1200" kern="1200" dirty="0">
                        <a:solidFill>
                          <a:schemeClr val="dk1"/>
                        </a:solidFill>
                        <a:latin typeface="Roboto" panose="02000000000000000000" pitchFamily="2" charset="0"/>
                        <a:ea typeface="+mn-ea"/>
                        <a:cs typeface="+mn-cs"/>
                      </a:endParaRPr>
                    </a:p>
                  </a:txBody>
                  <a:tcPr anchor="ctr">
                    <a:solidFill>
                      <a:srgbClr val="E4F3E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dk1"/>
                          </a:solidFill>
                          <a:latin typeface="Roboto" panose="02000000000000000000" pitchFamily="2" charset="0"/>
                          <a:ea typeface="+mn-ea"/>
                          <a:cs typeface="+mn-cs"/>
                        </a:rPr>
                        <a:t>Supported, 5 x Digital Zoom</a:t>
                      </a:r>
                    </a:p>
                  </a:txBody>
                  <a:tcPr anchor="ctr">
                    <a:solidFill>
                      <a:srgbClr val="E4F3E2"/>
                    </a:solidFill>
                  </a:tcPr>
                </a:tc>
                <a:extLst>
                  <a:ext uri="{0D108BD9-81ED-4DB2-BD59-A6C34878D82A}">
                    <a16:rowId xmlns:a16="http://schemas.microsoft.com/office/drawing/2014/main" val="2094384148"/>
                  </a:ext>
                </a:extLst>
              </a:tr>
              <a:tr h="418269">
                <a:tc vMerge="1">
                  <a:txBody>
                    <a:bodyPr/>
                    <a:lstStyle/>
                    <a:p>
                      <a:endParaRPr lang="zh-CN" altLang="en-US" sz="1200" kern="1200" dirty="0">
                        <a:solidFill>
                          <a:schemeClr val="dk1"/>
                        </a:solidFill>
                        <a:latin typeface="Roboto" panose="02000000000000000000" pitchFamily="2" charset="0"/>
                        <a:ea typeface="+mn-ea"/>
                        <a:cs typeface="+mn-cs"/>
                      </a:endParaRPr>
                    </a:p>
                  </a:txBody>
                  <a:tcPr anchor="ctr"/>
                </a:tc>
                <a:tc>
                  <a:txBody>
                    <a:bodyPr/>
                    <a:lstStyle/>
                    <a:p>
                      <a:r>
                        <a:rPr lang="en-US" altLang="zh-CN" sz="1200" kern="1200" dirty="0">
                          <a:solidFill>
                            <a:schemeClr val="dk1"/>
                          </a:solidFill>
                          <a:latin typeface="Roboto" panose="02000000000000000000" pitchFamily="2" charset="0"/>
                          <a:ea typeface="+mn-ea"/>
                          <a:cs typeface="+mn-cs"/>
                        </a:rPr>
                        <a:t>AI</a:t>
                      </a:r>
                      <a:r>
                        <a:rPr lang="zh-CN" altLang="en-US" sz="1200" kern="1200" dirty="0">
                          <a:solidFill>
                            <a:schemeClr val="dk1"/>
                          </a:solidFill>
                          <a:latin typeface="Roboto" panose="02000000000000000000" pitchFamily="2" charset="0"/>
                          <a:ea typeface="+mn-ea"/>
                          <a:cs typeface="+mn-cs"/>
                        </a:rPr>
                        <a:t> </a:t>
                      </a:r>
                      <a:r>
                        <a:rPr lang="en-US" altLang="zh-CN" sz="1200" kern="1200" dirty="0">
                          <a:solidFill>
                            <a:schemeClr val="dk1"/>
                          </a:solidFill>
                          <a:latin typeface="Roboto" panose="02000000000000000000" pitchFamily="2" charset="0"/>
                          <a:ea typeface="+mn-ea"/>
                          <a:cs typeface="+mn-cs"/>
                        </a:rPr>
                        <a:t>Tracking</a:t>
                      </a:r>
                      <a:endParaRPr lang="zh-CN" altLang="en-US" sz="1200" kern="1200" dirty="0">
                        <a:solidFill>
                          <a:schemeClr val="dk1"/>
                        </a:solidFill>
                        <a:latin typeface="Roboto" panose="02000000000000000000" pitchFamily="2" charset="0"/>
                        <a:ea typeface="+mn-ea"/>
                        <a:cs typeface="+mn-cs"/>
                      </a:endParaRPr>
                    </a:p>
                  </a:txBody>
                  <a:tcPr anchor="ctr">
                    <a:solidFill>
                      <a:srgbClr val="D6E5D6"/>
                    </a:solidFill>
                  </a:tcPr>
                </a:tc>
                <a:tc>
                  <a:txBody>
                    <a:bodyPr/>
                    <a:lstStyle/>
                    <a:p>
                      <a:r>
                        <a:rPr lang="en-US" altLang="zh-CN" sz="1200" kern="1200" dirty="0">
                          <a:solidFill>
                            <a:schemeClr val="dk1"/>
                          </a:solidFill>
                          <a:latin typeface="Roboto" panose="02000000000000000000" pitchFamily="2" charset="0"/>
                          <a:ea typeface="+mn-ea"/>
                          <a:cs typeface="+mn-cs"/>
                        </a:rPr>
                        <a:t>Auto Framing / Speaker Tracking / Presenter Tracking /Individuals Gallery</a:t>
                      </a:r>
                    </a:p>
                  </a:txBody>
                  <a:tcPr anchor="ctr">
                    <a:solidFill>
                      <a:srgbClr val="D6E5D6"/>
                    </a:solidFill>
                  </a:tcPr>
                </a:tc>
                <a:extLst>
                  <a:ext uri="{0D108BD9-81ED-4DB2-BD59-A6C34878D82A}">
                    <a16:rowId xmlns:a16="http://schemas.microsoft.com/office/drawing/2014/main" val="2599261117"/>
                  </a:ext>
                </a:extLst>
              </a:tr>
              <a:tr h="418269">
                <a:tc rowSpan="3">
                  <a:txBody>
                    <a:bodyPr/>
                    <a:lstStyle/>
                    <a:p>
                      <a:pPr algn="ctr"/>
                      <a:r>
                        <a:rPr lang="en-US" altLang="zh-CN" sz="1200" dirty="0">
                          <a:latin typeface="Roboto" panose="02000000000000000000" pitchFamily="2" charset="0"/>
                        </a:rPr>
                        <a:t>Speakerphone</a:t>
                      </a:r>
                      <a:endParaRPr lang="zh-CN" altLang="en-US" sz="1200" dirty="0">
                        <a:latin typeface="Roboto" panose="02000000000000000000" pitchFamily="2" charset="0"/>
                      </a:endParaRPr>
                    </a:p>
                  </a:txBody>
                  <a:tcPr anchor="ctr">
                    <a:solidFill>
                      <a:srgbClr val="D6E5D6"/>
                    </a:solidFill>
                  </a:tcPr>
                </a:tc>
                <a:tc>
                  <a:txBody>
                    <a:bodyPr/>
                    <a:lstStyle/>
                    <a:p>
                      <a:r>
                        <a:rPr lang="en-US" altLang="zh-CN" sz="1200" dirty="0">
                          <a:latin typeface="Roboto" panose="02000000000000000000" pitchFamily="2" charset="0"/>
                          <a:ea typeface="Roboto" panose="02000000000000000000" pitchFamily="2" charset="0"/>
                        </a:rPr>
                        <a:t>Microphone</a:t>
                      </a:r>
                      <a:endParaRPr lang="zh-CN" altLang="en-US" sz="1200" dirty="0">
                        <a:latin typeface="Roboto" panose="02000000000000000000" pitchFamily="2" charset="0"/>
                      </a:endParaRPr>
                    </a:p>
                  </a:txBody>
                  <a:tcPr anchor="ctr">
                    <a:solidFill>
                      <a:srgbClr val="E4F3E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dk1"/>
                          </a:solidFill>
                          <a:effectLst/>
                          <a:latin typeface="Roboto" panose="02000000000000000000" pitchFamily="2" charset="0"/>
                          <a:ea typeface="Roboto" panose="02000000000000000000" pitchFamily="2" charset="0"/>
                          <a:cs typeface="+mn-cs"/>
                        </a:rPr>
                        <a:t>8 x Linear microphone arrays;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dk1"/>
                          </a:solidFill>
                          <a:effectLst/>
                          <a:latin typeface="Roboto" panose="02000000000000000000" pitchFamily="2" charset="0"/>
                          <a:ea typeface="Roboto" panose="02000000000000000000" pitchFamily="2" charset="0"/>
                          <a:cs typeface="+mn-cs"/>
                        </a:rPr>
                        <a:t>Pick-up</a:t>
                      </a:r>
                      <a:r>
                        <a:rPr lang="zh-CN" altLang="en-US" sz="1200" kern="1200" dirty="0">
                          <a:solidFill>
                            <a:schemeClr val="dk1"/>
                          </a:solidFill>
                          <a:effectLst/>
                          <a:latin typeface="Roboto" panose="02000000000000000000" pitchFamily="2" charset="0"/>
                          <a:ea typeface="+mn-ea"/>
                          <a:cs typeface="+mn-cs"/>
                        </a:rPr>
                        <a:t> </a:t>
                      </a:r>
                      <a:r>
                        <a:rPr lang="en-US" altLang="zh-CN" sz="1200" kern="1200" dirty="0">
                          <a:solidFill>
                            <a:schemeClr val="dk1"/>
                          </a:solidFill>
                          <a:effectLst/>
                          <a:latin typeface="Roboto" panose="02000000000000000000" pitchFamily="2" charset="0"/>
                          <a:ea typeface="Roboto" panose="02000000000000000000" pitchFamily="2" charset="0"/>
                          <a:cs typeface="+mn-cs"/>
                        </a:rPr>
                        <a:t>Range: 8m(Extendable with APO-SKY-MIC)</a:t>
                      </a:r>
                    </a:p>
                  </a:txBody>
                  <a:tcPr anchor="ctr">
                    <a:solidFill>
                      <a:srgbClr val="E4F3E2"/>
                    </a:solidFill>
                  </a:tcPr>
                </a:tc>
                <a:extLst>
                  <a:ext uri="{0D108BD9-81ED-4DB2-BD59-A6C34878D82A}">
                    <a16:rowId xmlns:a16="http://schemas.microsoft.com/office/drawing/2014/main" val="1784159210"/>
                  </a:ext>
                </a:extLst>
              </a:tr>
              <a:tr h="325239">
                <a:tc vMerge="1">
                  <a:txBody>
                    <a:bodyPr/>
                    <a:lstStyle/>
                    <a:p>
                      <a:endParaRPr lang="zh-CN" altLang="en-US" sz="1200" dirty="0">
                        <a:latin typeface="Roboto" panose="02000000000000000000" pitchFamily="2" charset="0"/>
                      </a:endParaRPr>
                    </a:p>
                  </a:txBody>
                  <a:tcPr anchor="ctr"/>
                </a:tc>
                <a:tc>
                  <a:txBody>
                    <a:bodyPr/>
                    <a:lstStyle/>
                    <a:p>
                      <a:r>
                        <a:rPr lang="en-US" altLang="zh-CN" sz="1200" dirty="0">
                          <a:latin typeface="Roboto" panose="02000000000000000000" pitchFamily="2" charset="0"/>
                          <a:ea typeface="Roboto" panose="02000000000000000000" pitchFamily="2" charset="0"/>
                        </a:rPr>
                        <a:t>Speaker</a:t>
                      </a:r>
                      <a:endParaRPr lang="zh-CN" altLang="en-US" sz="1200" dirty="0">
                        <a:latin typeface="Roboto" panose="02000000000000000000" pitchFamily="2" charset="0"/>
                      </a:endParaRPr>
                    </a:p>
                  </a:txBody>
                  <a:tcPr anchor="ctr">
                    <a:solidFill>
                      <a:srgbClr val="D6E5D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dk1"/>
                          </a:solidFill>
                          <a:effectLst/>
                          <a:latin typeface="Roboto" panose="02000000000000000000" pitchFamily="2" charset="0"/>
                          <a:ea typeface="Roboto" panose="02000000000000000000" pitchFamily="2" charset="0"/>
                          <a:cs typeface="+mn-cs"/>
                        </a:rPr>
                        <a:t>2 x 8 W</a:t>
                      </a:r>
                    </a:p>
                  </a:txBody>
                  <a:tcPr anchor="ctr">
                    <a:solidFill>
                      <a:srgbClr val="D6E5D6"/>
                    </a:solidFill>
                  </a:tcPr>
                </a:tc>
                <a:extLst>
                  <a:ext uri="{0D108BD9-81ED-4DB2-BD59-A6C34878D82A}">
                    <a16:rowId xmlns:a16="http://schemas.microsoft.com/office/drawing/2014/main" val="2729113481"/>
                  </a:ext>
                </a:extLst>
              </a:tr>
              <a:tr h="325239">
                <a:tc vMerge="1">
                  <a:txBody>
                    <a:bodyPr/>
                    <a:lstStyle/>
                    <a:p>
                      <a:endParaRPr lang="zh-CN" altLang="en-US" sz="1200" dirty="0">
                        <a:latin typeface="Roboto" panose="02000000000000000000" pitchFamily="2" charset="0"/>
                      </a:endParaRPr>
                    </a:p>
                  </a:txBody>
                  <a:tcPr anchor="ctr">
                    <a:solidFill>
                      <a:srgbClr val="D5E4CF"/>
                    </a:solidFill>
                  </a:tcPr>
                </a:tc>
                <a:tc>
                  <a:txBody>
                    <a:bodyPr/>
                    <a:lstStyle/>
                    <a:p>
                      <a:r>
                        <a:rPr lang="en-US" altLang="zh-CN" sz="1200" dirty="0">
                          <a:latin typeface="Roboto" panose="02000000000000000000" pitchFamily="2" charset="0"/>
                        </a:rPr>
                        <a:t>AI</a:t>
                      </a:r>
                      <a:r>
                        <a:rPr lang="zh-CN" altLang="en-US" sz="1200" dirty="0">
                          <a:latin typeface="Roboto" panose="02000000000000000000" pitchFamily="2" charset="0"/>
                        </a:rPr>
                        <a:t> </a:t>
                      </a:r>
                      <a:r>
                        <a:rPr lang="en-US" altLang="zh-CN" sz="1200" dirty="0">
                          <a:latin typeface="Roboto" panose="02000000000000000000" pitchFamily="2" charset="0"/>
                        </a:rPr>
                        <a:t>Technology</a:t>
                      </a:r>
                      <a:endParaRPr lang="zh-CN" altLang="en-US" sz="1200" dirty="0">
                        <a:latin typeface="Roboto" panose="02000000000000000000" pitchFamily="2" charset="0"/>
                      </a:endParaRPr>
                    </a:p>
                  </a:txBody>
                  <a:tcPr anchor="ctr">
                    <a:solidFill>
                      <a:srgbClr val="E4F3E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dk1"/>
                          </a:solidFill>
                          <a:effectLst/>
                          <a:latin typeface="Roboto" panose="02000000000000000000" pitchFamily="2" charset="0"/>
                          <a:ea typeface="Roboto" panose="02000000000000000000" pitchFamily="2" charset="0"/>
                          <a:cs typeface="+mn-cs"/>
                        </a:rPr>
                        <a:t>AGC, AEC, ANS</a:t>
                      </a:r>
                    </a:p>
                  </a:txBody>
                  <a:tcPr anchor="ctr">
                    <a:solidFill>
                      <a:srgbClr val="E4F3E2"/>
                    </a:solidFill>
                  </a:tcPr>
                </a:tc>
                <a:extLst>
                  <a:ext uri="{0D108BD9-81ED-4DB2-BD59-A6C34878D82A}">
                    <a16:rowId xmlns:a16="http://schemas.microsoft.com/office/drawing/2014/main" val="3559796208"/>
                  </a:ext>
                </a:extLst>
              </a:tr>
              <a:tr h="752885">
                <a:tc>
                  <a:txBody>
                    <a:bodyPr/>
                    <a:lstStyle/>
                    <a:p>
                      <a:pPr algn="ctr"/>
                      <a:r>
                        <a:rPr lang="en-US" altLang="zh-CN" sz="1200" dirty="0">
                          <a:latin typeface="Roboto" panose="02000000000000000000" pitchFamily="2" charset="0"/>
                        </a:rPr>
                        <a:t>Video</a:t>
                      </a:r>
                      <a:endParaRPr lang="zh-CN" altLang="en-US" sz="1200" dirty="0">
                        <a:latin typeface="Roboto" panose="02000000000000000000" pitchFamily="2" charset="0"/>
                      </a:endParaRPr>
                    </a:p>
                  </a:txBody>
                  <a:tcPr anchor="ctr">
                    <a:solidFill>
                      <a:srgbClr val="D6E5D6"/>
                    </a:solidFill>
                  </a:tcPr>
                </a:tc>
                <a:tc>
                  <a:txBody>
                    <a:bodyPr/>
                    <a:lstStyle/>
                    <a:p>
                      <a:r>
                        <a:rPr lang="en-US" altLang="zh-CN" sz="1200" dirty="0">
                          <a:latin typeface="Roboto" panose="02000000000000000000" pitchFamily="2" charset="0"/>
                          <a:ea typeface="Roboto" panose="02000000000000000000" pitchFamily="2" charset="0"/>
                        </a:rPr>
                        <a:t>Video</a:t>
                      </a:r>
                      <a:r>
                        <a:rPr lang="zh-CN" altLang="en-US" sz="1200" dirty="0">
                          <a:latin typeface="Roboto" panose="02000000000000000000" pitchFamily="2" charset="0"/>
                        </a:rPr>
                        <a:t> </a:t>
                      </a:r>
                      <a:r>
                        <a:rPr lang="en-US" altLang="zh-CN" sz="1200" dirty="0">
                          <a:latin typeface="Roboto" panose="02000000000000000000" pitchFamily="2" charset="0"/>
                          <a:ea typeface="Roboto" panose="02000000000000000000" pitchFamily="2" charset="0"/>
                        </a:rPr>
                        <a:t>Resolution</a:t>
                      </a:r>
                      <a:endParaRPr lang="zh-CN" altLang="en-US" sz="1200" dirty="0">
                        <a:latin typeface="Roboto" panose="02000000000000000000" pitchFamily="2" charset="0"/>
                      </a:endParaRPr>
                    </a:p>
                  </a:txBody>
                  <a:tcPr anchor="ctr">
                    <a:solidFill>
                      <a:srgbClr val="D6E5D6"/>
                    </a:solidFill>
                  </a:tcPr>
                </a:tc>
                <a:tc>
                  <a:txBody>
                    <a:bodyPr/>
                    <a:lstStyle/>
                    <a:p>
                      <a:r>
                        <a:rPr lang="en-US" altLang="zh-CN" sz="1200" kern="1200" dirty="0">
                          <a:solidFill>
                            <a:schemeClr val="dk1"/>
                          </a:solidFill>
                          <a:effectLst/>
                          <a:latin typeface="Roboto" panose="02000000000000000000" pitchFamily="2" charset="0"/>
                          <a:ea typeface="Roboto" panose="02000000000000000000" pitchFamily="2" charset="0"/>
                          <a:cs typeface="+mn-cs"/>
                        </a:rPr>
                        <a:t>USB-C IN: Up to 4K@30Hz;</a:t>
                      </a:r>
                    </a:p>
                    <a:p>
                      <a:r>
                        <a:rPr lang="en-US" altLang="zh-CN" sz="1200" kern="1200" dirty="0">
                          <a:solidFill>
                            <a:schemeClr val="dk1"/>
                          </a:solidFill>
                          <a:effectLst/>
                          <a:latin typeface="Roboto" panose="02000000000000000000" pitchFamily="2" charset="0"/>
                          <a:ea typeface="Roboto" panose="02000000000000000000" pitchFamily="2" charset="0"/>
                          <a:cs typeface="+mn-cs"/>
                        </a:rPr>
                        <a:t>HDMI IN: Up to 4K@30Hz, HDCP 1.4;</a:t>
                      </a:r>
                    </a:p>
                    <a:p>
                      <a:r>
                        <a:rPr lang="en-US" altLang="zh-CN" sz="1200" kern="1200" dirty="0">
                          <a:solidFill>
                            <a:schemeClr val="dk1"/>
                          </a:solidFill>
                          <a:effectLst/>
                          <a:latin typeface="Roboto" panose="02000000000000000000" pitchFamily="2" charset="0"/>
                          <a:ea typeface="Roboto" panose="02000000000000000000" pitchFamily="2" charset="0"/>
                          <a:cs typeface="+mn-cs"/>
                        </a:rPr>
                        <a:t>HDMI OUT 1: Up to 4K@60Hz, HDCP 2.3;</a:t>
                      </a:r>
                    </a:p>
                    <a:p>
                      <a:r>
                        <a:rPr lang="en-US" altLang="zh-CN" sz="1200" kern="1200" dirty="0">
                          <a:solidFill>
                            <a:schemeClr val="dk1"/>
                          </a:solidFill>
                          <a:effectLst/>
                          <a:latin typeface="Roboto" panose="02000000000000000000" pitchFamily="2" charset="0"/>
                          <a:ea typeface="Roboto" panose="02000000000000000000" pitchFamily="2" charset="0"/>
                          <a:cs typeface="+mn-cs"/>
                        </a:rPr>
                        <a:t>HDMI OUT 2: Up to 4K@30Hz, HDCP 2.2</a:t>
                      </a:r>
                    </a:p>
                  </a:txBody>
                  <a:tcPr anchor="ctr">
                    <a:solidFill>
                      <a:srgbClr val="D6E5D6"/>
                    </a:solidFill>
                  </a:tcPr>
                </a:tc>
                <a:extLst>
                  <a:ext uri="{0D108BD9-81ED-4DB2-BD59-A6C34878D82A}">
                    <a16:rowId xmlns:a16="http://schemas.microsoft.com/office/drawing/2014/main" val="2588385716"/>
                  </a:ext>
                </a:extLst>
              </a:tr>
              <a:tr h="329788">
                <a:tc rowSpan="2">
                  <a:txBody>
                    <a:bodyPr/>
                    <a:lstStyle/>
                    <a:p>
                      <a:pPr algn="ctr"/>
                      <a:r>
                        <a:rPr lang="en-US" altLang="zh-CN" sz="1200" dirty="0">
                          <a:latin typeface="Roboto" panose="02000000000000000000" pitchFamily="2" charset="0"/>
                        </a:rPr>
                        <a:t>Wireless</a:t>
                      </a:r>
                      <a:r>
                        <a:rPr lang="zh-CN" altLang="en-US" sz="1200" dirty="0">
                          <a:latin typeface="Roboto" panose="02000000000000000000" pitchFamily="2" charset="0"/>
                        </a:rPr>
                        <a:t> </a:t>
                      </a:r>
                      <a:r>
                        <a:rPr lang="en-US" altLang="zh-CN" sz="1200" dirty="0">
                          <a:latin typeface="Roboto" panose="02000000000000000000" pitchFamily="2" charset="0"/>
                        </a:rPr>
                        <a:t>Collaboration</a:t>
                      </a:r>
                      <a:endParaRPr lang="zh-CN" altLang="en-US" sz="1200" dirty="0">
                        <a:latin typeface="Roboto" panose="02000000000000000000" pitchFamily="2" charset="0"/>
                      </a:endParaRPr>
                    </a:p>
                  </a:txBody>
                  <a:tcPr anchor="ctr">
                    <a:solidFill>
                      <a:srgbClr val="D6E5D6"/>
                    </a:solidFill>
                  </a:tcPr>
                </a:tc>
                <a:tc>
                  <a:txBody>
                    <a:bodyPr/>
                    <a:lstStyle/>
                    <a:p>
                      <a:r>
                        <a:rPr lang="en-US" altLang="zh-CN" sz="1200" dirty="0">
                          <a:latin typeface="Roboto" panose="02000000000000000000" pitchFamily="2" charset="0"/>
                          <a:ea typeface="Roboto" panose="02000000000000000000" pitchFamily="2" charset="0"/>
                        </a:rPr>
                        <a:t>Wireless</a:t>
                      </a:r>
                      <a:r>
                        <a:rPr lang="zh-CN" altLang="en-US" sz="1200" dirty="0">
                          <a:latin typeface="Roboto" panose="02000000000000000000" pitchFamily="2" charset="0"/>
                        </a:rPr>
                        <a:t> </a:t>
                      </a:r>
                      <a:r>
                        <a:rPr lang="en-US" altLang="zh-CN" sz="1200" dirty="0">
                          <a:latin typeface="Roboto" panose="02000000000000000000" pitchFamily="2" charset="0"/>
                          <a:ea typeface="Roboto" panose="02000000000000000000" pitchFamily="2" charset="0"/>
                        </a:rPr>
                        <a:t>Casting</a:t>
                      </a:r>
                      <a:endParaRPr lang="zh-CN" altLang="en-US" sz="1200" dirty="0">
                        <a:latin typeface="Roboto" panose="02000000000000000000" pitchFamily="2" charset="0"/>
                      </a:endParaRPr>
                    </a:p>
                  </a:txBody>
                  <a:tcPr anchor="ctr">
                    <a:solidFill>
                      <a:srgbClr val="D6E5D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Roboto" panose="02000000000000000000" pitchFamily="2" charset="0"/>
                        </a:rPr>
                        <a:t>Miracast, </a:t>
                      </a:r>
                      <a:r>
                        <a:rPr lang="en-US" altLang="zh-CN" sz="1200" dirty="0" err="1">
                          <a:latin typeface="Roboto" panose="02000000000000000000" pitchFamily="2" charset="0"/>
                        </a:rPr>
                        <a:t>AirPlay</a:t>
                      </a:r>
                      <a:r>
                        <a:rPr lang="en-US" altLang="zh-CN" sz="1200" dirty="0">
                          <a:latin typeface="Roboto" panose="02000000000000000000" pitchFamily="2" charset="0"/>
                        </a:rPr>
                        <a:t>, APO-DG2/APO-DG2-PRO</a:t>
                      </a:r>
                      <a:endParaRPr lang="zh-CN" altLang="en-US" sz="1200" dirty="0">
                        <a:latin typeface="Roboto" panose="02000000000000000000" pitchFamily="2" charset="0"/>
                      </a:endParaRPr>
                    </a:p>
                  </a:txBody>
                  <a:tcPr anchor="ctr">
                    <a:solidFill>
                      <a:srgbClr val="D6E5D6"/>
                    </a:solidFill>
                  </a:tcPr>
                </a:tc>
                <a:extLst>
                  <a:ext uri="{0D108BD9-81ED-4DB2-BD59-A6C34878D82A}">
                    <a16:rowId xmlns:a16="http://schemas.microsoft.com/office/drawing/2014/main" val="179594772"/>
                  </a:ext>
                </a:extLst>
              </a:tr>
              <a:tr h="453012">
                <a:tc vMerge="1">
                  <a:txBody>
                    <a:bodyPr/>
                    <a:lstStyle/>
                    <a:p>
                      <a:endParaRPr lang="zh-CN" altLang="en-US" sz="1200" dirty="0">
                        <a:latin typeface="Roboto" panose="02000000000000000000" pitchFamily="2" charset="0"/>
                      </a:endParaRPr>
                    </a:p>
                  </a:txBody>
                  <a:tcPr anchor="ctr">
                    <a:solidFill>
                      <a:srgbClr val="D6E5D6"/>
                    </a:solidFill>
                  </a:tcPr>
                </a:tc>
                <a:tc>
                  <a:txBody>
                    <a:bodyPr/>
                    <a:lstStyle/>
                    <a:p>
                      <a:r>
                        <a:rPr lang="en-US" altLang="zh-CN" sz="1200" dirty="0">
                          <a:latin typeface="Roboto" panose="02000000000000000000" pitchFamily="2" charset="0"/>
                          <a:ea typeface="Roboto" panose="02000000000000000000" pitchFamily="2" charset="0"/>
                        </a:rPr>
                        <a:t>Wireless</a:t>
                      </a:r>
                      <a:r>
                        <a:rPr lang="zh-CN" altLang="en-US" sz="1200" dirty="0">
                          <a:latin typeface="Roboto" panose="02000000000000000000" pitchFamily="2" charset="0"/>
                        </a:rPr>
                        <a:t> </a:t>
                      </a:r>
                      <a:r>
                        <a:rPr lang="en-US" altLang="zh-CN" sz="1200" dirty="0">
                          <a:latin typeface="Roboto" panose="02000000000000000000" pitchFamily="2" charset="0"/>
                          <a:ea typeface="Roboto" panose="02000000000000000000" pitchFamily="2" charset="0"/>
                        </a:rPr>
                        <a:t>Conferencing</a:t>
                      </a:r>
                      <a:endParaRPr lang="zh-CN" altLang="en-US" sz="1200" dirty="0">
                        <a:latin typeface="Roboto" panose="02000000000000000000" pitchFamily="2" charset="0"/>
                      </a:endParaRPr>
                    </a:p>
                  </a:txBody>
                  <a:tcPr anchor="ctr">
                    <a:solidFill>
                      <a:srgbClr val="D6E5D6"/>
                    </a:solidFill>
                  </a:tcPr>
                </a:tc>
                <a:tc>
                  <a:txBody>
                    <a:bodyPr/>
                    <a:lstStyle/>
                    <a:p>
                      <a:r>
                        <a:rPr lang="en-US" altLang="zh-CN" sz="1200" dirty="0">
                          <a:latin typeface="Roboto" panose="02000000000000000000" pitchFamily="2" charset="0"/>
                        </a:rPr>
                        <a:t>APO-DG2/APO-DG2-PRO</a:t>
                      </a:r>
                      <a:endParaRPr lang="zh-CN" altLang="en-US" sz="1200" dirty="0">
                        <a:latin typeface="Roboto" panose="02000000000000000000" pitchFamily="2" charset="0"/>
                      </a:endParaRPr>
                    </a:p>
                  </a:txBody>
                  <a:tcPr anchor="ctr">
                    <a:solidFill>
                      <a:srgbClr val="D6E5D6"/>
                    </a:solidFill>
                  </a:tcPr>
                </a:tc>
                <a:extLst>
                  <a:ext uri="{0D108BD9-81ED-4DB2-BD59-A6C34878D82A}">
                    <a16:rowId xmlns:a16="http://schemas.microsoft.com/office/drawing/2014/main" val="2827644221"/>
                  </a:ext>
                </a:extLst>
              </a:tr>
              <a:tr h="585577">
                <a:tc>
                  <a:txBody>
                    <a:bodyPr/>
                    <a:lstStyle/>
                    <a:p>
                      <a:pPr algn="ctr"/>
                      <a:r>
                        <a:rPr lang="en-US" altLang="zh-CN" sz="1200" kern="1200" dirty="0">
                          <a:solidFill>
                            <a:schemeClr val="dk1"/>
                          </a:solidFill>
                          <a:latin typeface="Roboto" panose="02000000000000000000" pitchFamily="2" charset="0"/>
                          <a:ea typeface="+mn-ea"/>
                          <a:cs typeface="+mn-cs"/>
                        </a:rPr>
                        <a:t>USB</a:t>
                      </a:r>
                      <a:endParaRPr lang="zh-CN" altLang="en-US" sz="1200" kern="1200" dirty="0">
                        <a:solidFill>
                          <a:schemeClr val="dk1"/>
                        </a:solidFill>
                        <a:latin typeface="Roboto" panose="02000000000000000000" pitchFamily="2" charset="0"/>
                        <a:ea typeface="+mn-ea"/>
                        <a:cs typeface="+mn-cs"/>
                      </a:endParaRPr>
                    </a:p>
                  </a:txBody>
                  <a:tcPr anchor="ctr">
                    <a:solidFill>
                      <a:srgbClr val="D6E5D6"/>
                    </a:solidFill>
                  </a:tcPr>
                </a:tc>
                <a:tc>
                  <a:txBody>
                    <a:bodyPr/>
                    <a:lstStyle/>
                    <a:p>
                      <a:r>
                        <a:rPr lang="en-US" altLang="zh-CN" sz="1200" kern="1200" dirty="0">
                          <a:solidFill>
                            <a:schemeClr val="dk1"/>
                          </a:solidFill>
                          <a:latin typeface="Roboto" panose="02000000000000000000" pitchFamily="2" charset="0"/>
                          <a:ea typeface="+mn-ea"/>
                          <a:cs typeface="+mn-cs"/>
                        </a:rPr>
                        <a:t>USB</a:t>
                      </a:r>
                      <a:endParaRPr lang="zh-CN" altLang="en-US" sz="1200" kern="1200" dirty="0">
                        <a:solidFill>
                          <a:schemeClr val="dk1"/>
                        </a:solidFill>
                        <a:latin typeface="Roboto" panose="02000000000000000000" pitchFamily="2" charset="0"/>
                        <a:ea typeface="+mn-ea"/>
                        <a:cs typeface="+mn-cs"/>
                      </a:endParaRPr>
                    </a:p>
                  </a:txBody>
                  <a:tcPr anchor="ctr">
                    <a:solidFill>
                      <a:srgbClr val="E4F3E2"/>
                    </a:solidFill>
                  </a:tcPr>
                </a:tc>
                <a:tc>
                  <a:txBody>
                    <a:bodyPr/>
                    <a:lstStyle/>
                    <a:p>
                      <a:r>
                        <a:rPr lang="en-US" altLang="zh-CN" sz="1200" kern="1200" dirty="0">
                          <a:solidFill>
                            <a:schemeClr val="dk1"/>
                          </a:solidFill>
                          <a:latin typeface="Roboto" panose="02000000000000000000" pitchFamily="2" charset="0"/>
                          <a:ea typeface="+mn-ea"/>
                          <a:cs typeface="+mn-cs"/>
                        </a:rPr>
                        <a:t>USB-C 3.0 host (60W charging)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dk1"/>
                          </a:solidFill>
                          <a:latin typeface="Roboto" panose="02000000000000000000" pitchFamily="2" charset="0"/>
                          <a:ea typeface="+mn-ea"/>
                          <a:cs typeface="+mn-cs"/>
                        </a:rPr>
                        <a:t>USB-B 3.0 host</a:t>
                      </a:r>
                    </a:p>
                    <a:p>
                      <a:r>
                        <a:rPr lang="en-US" altLang="zh-CN" sz="1200" kern="1200" dirty="0">
                          <a:solidFill>
                            <a:schemeClr val="dk1"/>
                          </a:solidFill>
                          <a:latin typeface="Roboto" panose="02000000000000000000" pitchFamily="2" charset="0"/>
                          <a:ea typeface="+mn-ea"/>
                          <a:cs typeface="+mn-cs"/>
                        </a:rPr>
                        <a:t>USB-A 3.0 device (1.25A current output)</a:t>
                      </a:r>
                    </a:p>
                  </a:txBody>
                  <a:tcPr anchor="ctr">
                    <a:solidFill>
                      <a:srgbClr val="E4F3E2"/>
                    </a:solidFill>
                  </a:tcPr>
                </a:tc>
                <a:extLst>
                  <a:ext uri="{0D108BD9-81ED-4DB2-BD59-A6C34878D82A}">
                    <a16:rowId xmlns:a16="http://schemas.microsoft.com/office/drawing/2014/main" val="3145840606"/>
                  </a:ext>
                </a:extLst>
              </a:tr>
              <a:tr h="250962">
                <a:tc rowSpan="2">
                  <a:txBody>
                    <a:bodyPr/>
                    <a:lstStyle/>
                    <a:p>
                      <a:pPr algn="ctr"/>
                      <a:r>
                        <a:rPr lang="en-US" altLang="zh-CN" sz="1200" dirty="0">
                          <a:latin typeface="Roboto" panose="02000000000000000000" pitchFamily="2" charset="0"/>
                        </a:rPr>
                        <a:t>Communication &amp; Control</a:t>
                      </a:r>
                      <a:endParaRPr lang="zh-CN" altLang="en-US" sz="1200" dirty="0">
                        <a:latin typeface="Roboto" panose="02000000000000000000" pitchFamily="2" charset="0"/>
                      </a:endParaRPr>
                    </a:p>
                  </a:txBody>
                  <a:tcPr anchor="ctr">
                    <a:solidFill>
                      <a:srgbClr val="D6E5D6"/>
                    </a:solidFill>
                  </a:tcPr>
                </a:tc>
                <a:tc>
                  <a:txBody>
                    <a:bodyPr/>
                    <a:lstStyle/>
                    <a:p>
                      <a:r>
                        <a:rPr lang="en-US" altLang="zh-CN" sz="1200" dirty="0">
                          <a:latin typeface="Roboto" panose="02000000000000000000" pitchFamily="2" charset="0"/>
                          <a:ea typeface="Roboto" panose="02000000000000000000" pitchFamily="2" charset="0"/>
                        </a:rPr>
                        <a:t>Control</a:t>
                      </a:r>
                      <a:r>
                        <a:rPr lang="zh-CN" altLang="en-US" sz="1200" dirty="0">
                          <a:latin typeface="Roboto" panose="02000000000000000000" pitchFamily="2" charset="0"/>
                        </a:rPr>
                        <a:t> </a:t>
                      </a:r>
                      <a:r>
                        <a:rPr lang="en-US" altLang="zh-CN" sz="1200" dirty="0">
                          <a:latin typeface="Roboto" panose="02000000000000000000" pitchFamily="2" charset="0"/>
                          <a:ea typeface="Roboto" panose="02000000000000000000" pitchFamily="2" charset="0"/>
                        </a:rPr>
                        <a:t>Method</a:t>
                      </a:r>
                      <a:endParaRPr lang="zh-CN" altLang="en-US" sz="1200" dirty="0">
                        <a:latin typeface="Roboto" panose="02000000000000000000" pitchFamily="2" charset="0"/>
                      </a:endParaRPr>
                    </a:p>
                  </a:txBody>
                  <a:tcPr anchor="ctr">
                    <a:solidFill>
                      <a:srgbClr val="D6E5D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dk1"/>
                          </a:solidFill>
                          <a:effectLst/>
                          <a:latin typeface="Roboto" panose="02000000000000000000" pitchFamily="2" charset="0"/>
                          <a:ea typeface="Roboto" panose="02000000000000000000" pitchFamily="2" charset="0"/>
                          <a:cs typeface="+mn-cs"/>
                        </a:rPr>
                        <a:t>Web UI, API, Remote Controller</a:t>
                      </a:r>
                    </a:p>
                  </a:txBody>
                  <a:tcPr anchor="ctr">
                    <a:solidFill>
                      <a:srgbClr val="D6E5D6"/>
                    </a:solidFill>
                  </a:tcPr>
                </a:tc>
                <a:extLst>
                  <a:ext uri="{0D108BD9-81ED-4DB2-BD59-A6C34878D82A}">
                    <a16:rowId xmlns:a16="http://schemas.microsoft.com/office/drawing/2014/main" val="1551616531"/>
                  </a:ext>
                </a:extLst>
              </a:tr>
              <a:tr h="250962">
                <a:tc vMerge="1">
                  <a:txBody>
                    <a:bodyPr/>
                    <a:lstStyle/>
                    <a:p>
                      <a:endParaRPr lang="zh-CN" altLang="en-US" sz="1200" dirty="0">
                        <a:latin typeface="Roboto" panose="02000000000000000000" pitchFamily="2" charset="0"/>
                      </a:endParaRPr>
                    </a:p>
                  </a:txBody>
                  <a:tcPr anchor="ctr"/>
                </a:tc>
                <a:tc>
                  <a:txBody>
                    <a:bodyPr/>
                    <a:lstStyle/>
                    <a:p>
                      <a:r>
                        <a:rPr lang="en-US" altLang="zh-CN" sz="1200" dirty="0">
                          <a:latin typeface="Roboto" panose="02000000000000000000" pitchFamily="2" charset="0"/>
                          <a:ea typeface="Roboto" panose="02000000000000000000" pitchFamily="2" charset="0"/>
                        </a:rPr>
                        <a:t>Security</a:t>
                      </a:r>
                      <a:r>
                        <a:rPr lang="zh-CN" altLang="en-US" sz="1200" dirty="0">
                          <a:latin typeface="Roboto" panose="02000000000000000000" pitchFamily="2" charset="0"/>
                        </a:rPr>
                        <a:t> </a:t>
                      </a:r>
                      <a:r>
                        <a:rPr lang="en-US" altLang="zh-CN" sz="1200" dirty="0">
                          <a:latin typeface="Roboto" panose="02000000000000000000" pitchFamily="2" charset="0"/>
                          <a:ea typeface="Roboto" panose="02000000000000000000" pitchFamily="2" charset="0"/>
                        </a:rPr>
                        <a:t>Protocols</a:t>
                      </a:r>
                      <a:endParaRPr lang="zh-CN" altLang="en-US" sz="1200" dirty="0">
                        <a:latin typeface="Roboto" panose="02000000000000000000" pitchFamily="2" charset="0"/>
                      </a:endParaRPr>
                    </a:p>
                  </a:txBody>
                  <a:tcPr anchor="ctr">
                    <a:solidFill>
                      <a:srgbClr val="E4F3E2"/>
                    </a:solidFill>
                  </a:tcPr>
                </a:tc>
                <a:tc>
                  <a:txBody>
                    <a:bodyPr/>
                    <a:lstStyle/>
                    <a:p>
                      <a:r>
                        <a:rPr lang="en-US" altLang="zh-CN" sz="1200" dirty="0">
                          <a:latin typeface="Roboto" panose="02000000000000000000" pitchFamily="2" charset="0"/>
                        </a:rPr>
                        <a:t>HTTPS, SSH,</a:t>
                      </a:r>
                      <a:r>
                        <a:rPr lang="zh-CN" altLang="en-US" sz="1200" dirty="0">
                          <a:latin typeface="Roboto" panose="02000000000000000000" pitchFamily="2" charset="0"/>
                        </a:rPr>
                        <a:t> </a:t>
                      </a:r>
                      <a:r>
                        <a:rPr lang="en-US" altLang="zh-CN" sz="1200" dirty="0">
                          <a:latin typeface="Roboto" panose="02000000000000000000" pitchFamily="2" charset="0"/>
                        </a:rPr>
                        <a:t>802.1x</a:t>
                      </a:r>
                      <a:endParaRPr lang="zh-CN" altLang="en-US" sz="1200" dirty="0">
                        <a:latin typeface="Roboto" panose="02000000000000000000" pitchFamily="2" charset="0"/>
                      </a:endParaRPr>
                    </a:p>
                  </a:txBody>
                  <a:tcPr anchor="ctr">
                    <a:solidFill>
                      <a:srgbClr val="E4F3E2"/>
                    </a:solidFill>
                  </a:tcPr>
                </a:tc>
                <a:extLst>
                  <a:ext uri="{0D108BD9-81ED-4DB2-BD59-A6C34878D82A}">
                    <a16:rowId xmlns:a16="http://schemas.microsoft.com/office/drawing/2014/main" val="1780967562"/>
                  </a:ext>
                </a:extLst>
              </a:tr>
            </a:tbl>
          </a:graphicData>
        </a:graphic>
      </p:graphicFrame>
    </p:spTree>
    <p:custDataLst>
      <p:tags r:id="rId1"/>
    </p:custDataLst>
    <p:extLst>
      <p:ext uri="{BB962C8B-B14F-4D97-AF65-F5344CB8AC3E}">
        <p14:creationId xmlns:p14="http://schemas.microsoft.com/office/powerpoint/2010/main" val="2009957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3"/>
            </p:custDataLst>
          </p:nvPr>
        </p:nvSpPr>
        <p:spPr>
          <a:xfrm>
            <a:off x="457155" y="15621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pitchFamily="34" charset="-122"/>
                <a:sym typeface="Roboto"/>
              </a:rPr>
              <a:t>Typical Connection &amp; Applications</a:t>
            </a:r>
          </a:p>
        </p:txBody>
      </p:sp>
      <p:sp>
        <p:nvSpPr>
          <p:cNvPr id="14" name="Title 6"/>
          <p:cNvSpPr txBox="1"/>
          <p:nvPr>
            <p:custDataLst>
              <p:tags r:id="rId4"/>
            </p:custDataLst>
          </p:nvPr>
        </p:nvSpPr>
        <p:spPr>
          <a:xfrm>
            <a:off x="457155" y="921640"/>
            <a:ext cx="11290300" cy="758825"/>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285750" fontAlgn="ctr">
              <a:lnSpc>
                <a:spcPts val="1800"/>
              </a:lnSpc>
              <a:spcBef>
                <a:spcPts val="0"/>
              </a:spcBef>
              <a:spcAft>
                <a:spcPts val="800"/>
              </a:spcAft>
              <a:buSzPct val="100000"/>
            </a:pPr>
            <a:r>
              <a:rPr lang="zh-CN" altLang="en-US" sz="1350" spc="0" dirty="0">
                <a:ln w="3175">
                  <a:noFill/>
                  <a:prstDash val="dash"/>
                </a:ln>
                <a:solidFill>
                  <a:schemeClr val="dk1">
                    <a:lumMod val="75000"/>
                    <a:lumOff val="25000"/>
                  </a:schemeClr>
                </a:solidFill>
                <a:uFillTx/>
                <a:latin typeface="Roboto" charset="0"/>
                <a:ea typeface="微软雅黑" panose="020B0503020204020204" pitchFamily="34" charset="-122"/>
                <a:cs typeface="Arial" panose="020B0604020202020204" pitchFamily="34" charset="0"/>
                <a:sym typeface="+mn-ea"/>
              </a:rPr>
              <a:t>The </a:t>
            </a:r>
            <a:r>
              <a:rPr lang="en-US" altLang="zh-CN" sz="1350" spc="0" dirty="0">
                <a:ln w="3175">
                  <a:noFill/>
                  <a:prstDash val="dash"/>
                </a:ln>
                <a:solidFill>
                  <a:schemeClr val="dk1">
                    <a:lumMod val="75000"/>
                    <a:lumOff val="25000"/>
                  </a:schemeClr>
                </a:solidFill>
                <a:uFillTx/>
                <a:latin typeface="Roboto" charset="0"/>
                <a:ea typeface="微软雅黑" panose="020B0503020204020204" pitchFamily="34" charset="-122"/>
                <a:cs typeface="Arial" panose="020B0604020202020204" pitchFamily="34" charset="0"/>
                <a:sym typeface="+mn-ea"/>
              </a:rPr>
              <a:t>APO-</a:t>
            </a:r>
            <a:r>
              <a:rPr lang="en-US" altLang="zh-CN" sz="1350" spc="0" dirty="0">
                <a:ln w="3175">
                  <a:noFill/>
                  <a:prstDash val="dash"/>
                </a:ln>
                <a:solidFill>
                  <a:schemeClr val="dk1">
                    <a:lumMod val="75000"/>
                    <a:lumOff val="25000"/>
                  </a:schemeClr>
                </a:solidFill>
                <a:latin typeface="Roboto" charset="0"/>
                <a:ea typeface="微软雅黑" panose="020B0503020204020204" pitchFamily="34" charset="-122"/>
                <a:cs typeface="Arial" panose="020B0604020202020204" pitchFamily="34" charset="0"/>
                <a:sym typeface="+mn-ea"/>
              </a:rPr>
              <a:t>V</a:t>
            </a:r>
            <a:r>
              <a:rPr lang="en-US" altLang="zh-CN" sz="1350" spc="0" dirty="0">
                <a:ln w="3175">
                  <a:noFill/>
                  <a:prstDash val="dash"/>
                </a:ln>
                <a:solidFill>
                  <a:schemeClr val="dk1">
                    <a:lumMod val="75000"/>
                    <a:lumOff val="25000"/>
                  </a:schemeClr>
                </a:solidFill>
                <a:uFillTx/>
                <a:latin typeface="Roboto" charset="0"/>
                <a:ea typeface="微软雅黑" panose="020B0503020204020204" pitchFamily="34" charset="-122"/>
                <a:cs typeface="Arial" panose="020B0604020202020204" pitchFamily="34" charset="0"/>
                <a:sym typeface="+mn-ea"/>
              </a:rPr>
              <a:t>X20-UC</a:t>
            </a:r>
            <a:r>
              <a:rPr lang="zh-CN" altLang="en-US" sz="1350" spc="0" dirty="0">
                <a:ln w="3175">
                  <a:noFill/>
                  <a:prstDash val="dash"/>
                </a:ln>
                <a:solidFill>
                  <a:schemeClr val="dk1">
                    <a:lumMod val="75000"/>
                    <a:lumOff val="25000"/>
                  </a:schemeClr>
                </a:solidFill>
                <a:uFillTx/>
                <a:latin typeface="Roboto" charset="0"/>
                <a:ea typeface="微软雅黑" panose="020B0503020204020204" pitchFamily="34" charset="-122"/>
                <a:cs typeface="Arial" panose="020B0604020202020204" pitchFamily="34" charset="0"/>
                <a:sym typeface="+mn-ea"/>
              </a:rPr>
              <a:t> </a:t>
            </a:r>
            <a:r>
              <a:rPr lang="en-US" altLang="zh-CN" sz="1350" spc="0" dirty="0">
                <a:ln w="3175">
                  <a:noFill/>
                  <a:prstDash val="dash"/>
                </a:ln>
                <a:solidFill>
                  <a:schemeClr val="dk1">
                    <a:lumMod val="75000"/>
                    <a:lumOff val="25000"/>
                  </a:schemeClr>
                </a:solidFill>
                <a:latin typeface="Roboto" charset="0"/>
                <a:ea typeface="微软雅黑" panose="020B0503020204020204" pitchFamily="34" charset="-122"/>
                <a:cs typeface="Arial" panose="020B0604020202020204" pitchFamily="34" charset="0"/>
                <a:sym typeface="+mn-ea"/>
              </a:rPr>
              <a:t>v2</a:t>
            </a:r>
            <a:r>
              <a:rPr lang="zh-CN" altLang="en-US" sz="1350" spc="0" dirty="0">
                <a:ln w="3175">
                  <a:noFill/>
                  <a:prstDash val="dash"/>
                </a:ln>
                <a:solidFill>
                  <a:schemeClr val="dk1">
                    <a:lumMod val="75000"/>
                    <a:lumOff val="25000"/>
                  </a:schemeClr>
                </a:solidFill>
                <a:latin typeface="Roboto" charset="0"/>
                <a:ea typeface="微软雅黑" panose="020B0503020204020204" pitchFamily="34" charset="-122"/>
                <a:cs typeface="Arial" panose="020B0604020202020204" pitchFamily="34" charset="0"/>
                <a:sym typeface="+mn-ea"/>
              </a:rPr>
              <a:t> </a:t>
            </a:r>
            <a:r>
              <a:rPr lang="en-US" altLang="zh-CN" sz="1350" spc="0" dirty="0">
                <a:ln w="3175">
                  <a:noFill/>
                  <a:prstDash val="dash"/>
                </a:ln>
                <a:solidFill>
                  <a:schemeClr val="dk1">
                    <a:lumMod val="75000"/>
                    <a:lumOff val="25000"/>
                  </a:schemeClr>
                </a:solidFill>
                <a:latin typeface="Roboto" charset="0"/>
                <a:ea typeface="微软雅黑" panose="020B0503020204020204" pitchFamily="34" charset="-122"/>
                <a:cs typeface="Arial" panose="020B0604020202020204" pitchFamily="34" charset="0"/>
              </a:rPr>
              <a:t>is a premium conference video bar that integrates a video switcher, speakerphone, and camera into a single device</a:t>
            </a:r>
            <a:r>
              <a:rPr lang="zh-CN" altLang="en-US" sz="1350" spc="0" dirty="0">
                <a:ln w="3175">
                  <a:noFill/>
                  <a:prstDash val="dash"/>
                </a:ln>
                <a:solidFill>
                  <a:schemeClr val="dk1">
                    <a:lumMod val="75000"/>
                    <a:lumOff val="25000"/>
                  </a:schemeClr>
                </a:solidFill>
                <a:latin typeface="Roboto" charset="0"/>
                <a:ea typeface="微软雅黑" panose="020B0503020204020204" pitchFamily="34" charset="-122"/>
                <a:cs typeface="Arial" panose="020B0604020202020204" pitchFamily="34" charset="0"/>
                <a:sym typeface="+mn-ea"/>
              </a:rPr>
              <a:t>, </a:t>
            </a:r>
            <a:r>
              <a:rPr lang="en-US" altLang="zh-CN" sz="1350" spc="0" dirty="0">
                <a:ln w="3175">
                  <a:noFill/>
                  <a:prstDash val="dash"/>
                </a:ln>
                <a:solidFill>
                  <a:schemeClr val="dk1">
                    <a:lumMod val="75000"/>
                    <a:lumOff val="25000"/>
                  </a:schemeClr>
                </a:solidFill>
                <a:latin typeface="Roboto" charset="0"/>
                <a:ea typeface="微软雅黑" panose="020B0503020204020204" pitchFamily="34" charset="-122"/>
                <a:cs typeface="Arial" panose="020B0604020202020204" pitchFamily="34" charset="0"/>
                <a:sym typeface="+mn-ea"/>
              </a:rPr>
              <a:t>delivering everything you need </a:t>
            </a:r>
            <a:r>
              <a:rPr lang="zh-CN" altLang="en-US" sz="1350" spc="0" dirty="0">
                <a:ln w="3175">
                  <a:noFill/>
                  <a:prstDash val="dash"/>
                </a:ln>
                <a:solidFill>
                  <a:schemeClr val="dk1">
                    <a:lumMod val="75000"/>
                    <a:lumOff val="25000"/>
                  </a:schemeClr>
                </a:solidFill>
                <a:latin typeface="Roboto" charset="0"/>
                <a:ea typeface="微软雅黑" panose="020B0503020204020204" pitchFamily="34" charset="-122"/>
                <a:cs typeface="Arial" panose="020B0604020202020204" pitchFamily="34" charset="0"/>
                <a:sym typeface="+mn-ea"/>
              </a:rPr>
              <a:t>for video presentations and remote conferencing.</a:t>
            </a:r>
            <a:r>
              <a:rPr lang="en-US" altLang="zh-CN" sz="1350" spc="0" dirty="0">
                <a:ln w="3175">
                  <a:noFill/>
                  <a:prstDash val="dash"/>
                </a:ln>
                <a:solidFill>
                  <a:schemeClr val="dk1">
                    <a:lumMod val="75000"/>
                    <a:lumOff val="25000"/>
                  </a:schemeClr>
                </a:solidFill>
                <a:latin typeface="Roboto" charset="0"/>
                <a:ea typeface="微软雅黑" panose="020B0503020204020204" pitchFamily="34" charset="-122"/>
                <a:cs typeface="Arial" panose="020B0604020202020204" pitchFamily="34" charset="0"/>
                <a:sym typeface="+mn-ea"/>
              </a:rPr>
              <a:t> </a:t>
            </a:r>
            <a:r>
              <a:rPr lang="zh-CN" altLang="en-US" sz="1350" spc="0" dirty="0">
                <a:ln w="3175">
                  <a:noFill/>
                  <a:prstDash val="dash"/>
                </a:ln>
                <a:solidFill>
                  <a:schemeClr val="dk1">
                    <a:lumMod val="75000"/>
                    <a:lumOff val="25000"/>
                  </a:schemeClr>
                </a:solidFill>
                <a:latin typeface="Roboto" charset="0"/>
                <a:ea typeface="微软雅黑" panose="020B0503020204020204" pitchFamily="34" charset="-122"/>
                <a:cs typeface="Arial" panose="020B0604020202020204" pitchFamily="34" charset="0"/>
                <a:sym typeface="+mn-ea"/>
              </a:rPr>
              <a:t>Please refer to the typical connection diagram below</a:t>
            </a:r>
            <a:r>
              <a:rPr lang="zh-CN" altLang="en-US" sz="1350" spc="0" dirty="0">
                <a:ln w="3175">
                  <a:noFill/>
                  <a:prstDash val="dash"/>
                </a:ln>
                <a:solidFill>
                  <a:schemeClr val="dk1">
                    <a:lumMod val="75000"/>
                    <a:lumOff val="25000"/>
                  </a:schemeClr>
                </a:solidFill>
                <a:uFillTx/>
                <a:latin typeface="Roboto" charset="0"/>
                <a:ea typeface="微软雅黑" panose="020B0503020204020204" pitchFamily="34" charset="-122"/>
                <a:cs typeface="Arial" panose="020B0604020202020204" pitchFamily="34" charset="0"/>
                <a:sym typeface="+mn-ea"/>
              </a:rPr>
              <a:t>.</a:t>
            </a:r>
          </a:p>
        </p:txBody>
      </p:sp>
      <p:pic>
        <p:nvPicPr>
          <p:cNvPr id="2" name="图片 1">
            <a:extLst>
              <a:ext uri="{FF2B5EF4-FFF2-40B4-BE49-F238E27FC236}">
                <a16:creationId xmlns:a16="http://schemas.microsoft.com/office/drawing/2014/main" id="{4E3501C4-CD42-B4A6-627E-E704B5863E68}"/>
              </a:ext>
            </a:extLst>
          </p:cNvPr>
          <p:cNvPicPr>
            <a:picLocks noChangeAspect="1"/>
          </p:cNvPicPr>
          <p:nvPr/>
        </p:nvPicPr>
        <p:blipFill>
          <a:blip r:embed="rId7"/>
          <a:stretch>
            <a:fillRect/>
          </a:stretch>
        </p:blipFill>
        <p:spPr>
          <a:xfrm>
            <a:off x="3280409" y="1689991"/>
            <a:ext cx="4826093" cy="510489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6"/>
          <p:cNvSpPr txBox="1"/>
          <p:nvPr>
            <p:custDataLst>
              <p:tags r:id="rId2"/>
            </p:custDataLst>
          </p:nvPr>
        </p:nvSpPr>
        <p:spPr>
          <a:xfrm>
            <a:off x="292099" y="1066800"/>
            <a:ext cx="4745121" cy="5492750"/>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l" fontAlgn="ctr">
              <a:lnSpc>
                <a:spcPct val="100000"/>
              </a:lnSpc>
              <a:spcBef>
                <a:spcPts val="0"/>
              </a:spcBef>
              <a:spcAft>
                <a:spcPts val="800"/>
              </a:spcAft>
              <a:buSzPct val="100000"/>
              <a:buFont typeface="Wingdings" panose="05000000000000000000" charset="0"/>
              <a:buNone/>
            </a:pPr>
            <a:r>
              <a:rPr sz="1800" b="1" u="sng"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Application Scenario 1</a:t>
            </a:r>
            <a:r>
              <a:rPr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t>
            </a:r>
            <a:br>
              <a:rPr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br>
            <a:r>
              <a:rPr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Medium Conference Room</a:t>
            </a:r>
            <a:r>
              <a:rPr lang="zh-CN" altLang="en-US"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a:t>
            </a:r>
            <a:r>
              <a:rPr lang="en-US" altLang="zh-CN"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with</a:t>
            </a:r>
            <a:r>
              <a:rPr lang="zh-CN" altLang="en-US"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a:t>
            </a:r>
            <a:r>
              <a:rPr lang="en-US" altLang="zh-CN"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MTR</a:t>
            </a:r>
            <a:endParaRPr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indent="-285750" fontAlgn="ctr">
              <a:lnSpc>
                <a:spcPts val="1500"/>
              </a:lnSpc>
              <a:spcBef>
                <a:spcPts val="0"/>
              </a:spcBef>
              <a:spcAft>
                <a:spcPts val="800"/>
              </a:spcAft>
              <a:buSzPct val="100000"/>
            </a:pPr>
            <a:r>
              <a:rPr lang="en-US" altLang="zh-CN" sz="1200" spc="0" dirty="0">
                <a:ln w="3175">
                  <a:noFill/>
                  <a:prstDash val="dash"/>
                </a:ln>
                <a:solidFill>
                  <a:schemeClr val="dk1">
                    <a:lumMod val="75000"/>
                    <a:lumOff val="25000"/>
                  </a:schemeClr>
                </a:solidFill>
                <a:latin typeface="Roboto" charset="0"/>
                <a:ea typeface="Roboto" charset="0"/>
                <a:cs typeface="Arial" panose="020B0604020202020204" pitchFamily="34" charset="0"/>
              </a:rPr>
              <a:t>This solution integrates the APO-VX20-UC v2 with a Microsoft Teams Room (MTR) system, creating an efficient and intelligent meeting environment. The all-in-one video bar ensures high-fidelity audio, crystal-clear 4K video, and seamless USB-C connectivity for BYOD collaboration.</a:t>
            </a:r>
            <a:br>
              <a:rPr sz="1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br>
            <a:endParaRPr sz="1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marL="0" lvl="0" indent="-285750" algn="l" fontAlgn="ctr">
              <a:lnSpc>
                <a:spcPct val="100000"/>
              </a:lnSpc>
              <a:spcBef>
                <a:spcPts val="0"/>
              </a:spcBef>
              <a:spcAft>
                <a:spcPts val="800"/>
              </a:spcAft>
              <a:buSzPct val="100000"/>
              <a:buFont typeface="Wingdings" panose="05000000000000000000" charset="0"/>
              <a:buNone/>
            </a:pPr>
            <a:r>
              <a:rPr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Key Benefits </a:t>
            </a:r>
            <a:r>
              <a:rPr sz="18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I</a:t>
            </a:r>
            <a:r>
              <a:rPr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nclude:</a:t>
            </a:r>
            <a:endParaRPr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marL="287338" lvl="0" indent="-287338" algn="l" fontAlgn="ctr">
              <a:lnSpc>
                <a:spcPts val="1500"/>
              </a:lnSpc>
              <a:spcBef>
                <a:spcPts val="0"/>
              </a:spcBef>
              <a:spcAft>
                <a:spcPts val="800"/>
              </a:spcAft>
              <a:buSzPct val="100000"/>
              <a:buFont typeface="Wingdings" panose="05000000000000000000" charset="0"/>
              <a:buChar char="l"/>
            </a:pPr>
            <a:r>
              <a:rPr sz="1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Multiple Casting Methods:</a:t>
            </a:r>
            <a:r>
              <a:rPr sz="1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Simplifies presentations</a:t>
            </a:r>
            <a:r>
              <a:rPr lang="zh-CN" altLang="en-US" sz="12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 </a:t>
            </a:r>
            <a:r>
              <a:rPr sz="1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with various casting options.</a:t>
            </a:r>
            <a:endParaRPr lang="en-US" sz="12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endParaRPr>
          </a:p>
          <a:p>
            <a:pPr marL="287338" indent="-287338" fontAlgn="ctr">
              <a:lnSpc>
                <a:spcPts val="1500"/>
              </a:lnSpc>
              <a:spcBef>
                <a:spcPts val="0"/>
              </a:spcBef>
              <a:spcAft>
                <a:spcPts val="800"/>
              </a:spcAft>
              <a:buSzPct val="100000"/>
              <a:buFont typeface="Wingdings" panose="05000000000000000000" charset="0"/>
              <a:buChar char="l"/>
            </a:pPr>
            <a:r>
              <a:rPr lang="en-US" altLang="zh-CN" sz="1200" b="1" spc="0" dirty="0">
                <a:ln w="3175">
                  <a:noFill/>
                  <a:prstDash val="dash"/>
                </a:ln>
                <a:solidFill>
                  <a:schemeClr val="dk1">
                    <a:lumMod val="75000"/>
                    <a:lumOff val="25000"/>
                  </a:schemeClr>
                </a:solidFill>
                <a:latin typeface="Roboto" charset="0"/>
                <a:ea typeface="Roboto" charset="0"/>
                <a:cs typeface="Arial" panose="020B0604020202020204" pitchFamily="34" charset="0"/>
              </a:rPr>
              <a:t>All-In-One Design: </a:t>
            </a:r>
            <a:r>
              <a:rPr lang="en-US" altLang="zh-CN" sz="1200" spc="0" dirty="0">
                <a:ln w="3175">
                  <a:noFill/>
                  <a:prstDash val="dash"/>
                </a:ln>
                <a:solidFill>
                  <a:schemeClr val="dk1">
                    <a:lumMod val="75000"/>
                    <a:lumOff val="25000"/>
                  </a:schemeClr>
                </a:solidFill>
                <a:latin typeface="Roboto" charset="0"/>
                <a:ea typeface="Roboto" charset="0"/>
                <a:cs typeface="Arial" panose="020B0604020202020204" pitchFamily="34" charset="0"/>
              </a:rPr>
              <a:t>Combines camera, microphones, and speakers in one sleek unit.</a:t>
            </a:r>
          </a:p>
          <a:p>
            <a:pPr marL="287338" indent="-287338" fontAlgn="ctr">
              <a:lnSpc>
                <a:spcPts val="1500"/>
              </a:lnSpc>
              <a:spcBef>
                <a:spcPts val="0"/>
              </a:spcBef>
              <a:spcAft>
                <a:spcPts val="800"/>
              </a:spcAft>
              <a:buSzPct val="100000"/>
              <a:buFont typeface="Wingdings" panose="05000000000000000000" charset="0"/>
              <a:buChar char="l"/>
            </a:pPr>
            <a:r>
              <a:rPr lang="en-US" altLang="zh-CN" sz="1200" b="1" spc="0" dirty="0">
                <a:ln w="3175">
                  <a:noFill/>
                  <a:prstDash val="dash"/>
                </a:ln>
                <a:solidFill>
                  <a:schemeClr val="dk1">
                    <a:lumMod val="75000"/>
                    <a:lumOff val="25000"/>
                  </a:schemeClr>
                </a:solidFill>
                <a:latin typeface="Roboto" charset="0"/>
                <a:ea typeface="Roboto" charset="0"/>
                <a:cs typeface="Arial" panose="020B0604020202020204" pitchFamily="34" charset="0"/>
              </a:rPr>
              <a:t>Flexible Connectivity: </a:t>
            </a:r>
            <a:r>
              <a:rPr lang="en-US" altLang="zh-CN" sz="1200" spc="0" dirty="0">
                <a:ln w="3175">
                  <a:noFill/>
                  <a:prstDash val="dash"/>
                </a:ln>
                <a:solidFill>
                  <a:schemeClr val="dk1">
                    <a:lumMod val="75000"/>
                    <a:lumOff val="25000"/>
                  </a:schemeClr>
                </a:solidFill>
                <a:latin typeface="Roboto" charset="0"/>
                <a:ea typeface="Roboto" charset="0"/>
                <a:cs typeface="Arial" panose="020B0604020202020204" pitchFamily="34" charset="0"/>
              </a:rPr>
              <a:t>Supports USB-C and HDMI for versatile source connections.</a:t>
            </a:r>
          </a:p>
          <a:p>
            <a:pPr marL="287338" indent="-287338" fontAlgn="ctr">
              <a:lnSpc>
                <a:spcPts val="1500"/>
              </a:lnSpc>
              <a:spcBef>
                <a:spcPts val="0"/>
              </a:spcBef>
              <a:spcAft>
                <a:spcPts val="800"/>
              </a:spcAft>
              <a:buSzPct val="100000"/>
              <a:buFont typeface="Wingdings" panose="05000000000000000000" charset="0"/>
              <a:buChar char="l"/>
            </a:pPr>
            <a:r>
              <a:rPr lang="en-US" altLang="zh-CN" sz="1200" b="1" spc="0" dirty="0">
                <a:ln w="3175">
                  <a:noFill/>
                  <a:prstDash val="dash"/>
                </a:ln>
                <a:solidFill>
                  <a:schemeClr val="dk1">
                    <a:lumMod val="75000"/>
                    <a:lumOff val="25000"/>
                  </a:schemeClr>
                </a:solidFill>
                <a:latin typeface="Roboto" charset="0"/>
                <a:ea typeface="Roboto" charset="0"/>
                <a:cs typeface="Arial" panose="020B0604020202020204" pitchFamily="34" charset="0"/>
              </a:rPr>
              <a:t>Enhanced Audio Coverage: </a:t>
            </a:r>
            <a:r>
              <a:rPr lang="en-US" altLang="zh-CN" sz="1200" spc="0" dirty="0">
                <a:ln w="3175">
                  <a:noFill/>
                  <a:prstDash val="dash"/>
                </a:ln>
                <a:solidFill>
                  <a:schemeClr val="dk1">
                    <a:lumMod val="75000"/>
                    <a:lumOff val="25000"/>
                  </a:schemeClr>
                </a:solidFill>
                <a:latin typeface="Roboto" charset="0"/>
                <a:ea typeface="Roboto" charset="0"/>
                <a:cs typeface="Arial" panose="020B0604020202020204" pitchFamily="34" charset="0"/>
              </a:rPr>
              <a:t>Compatible with APO-MIC-EXT and APO-SKY-MIC for scalable microphone expansion.</a:t>
            </a:r>
          </a:p>
          <a:p>
            <a:pPr marL="287338" indent="-287338" fontAlgn="ctr">
              <a:lnSpc>
                <a:spcPts val="1500"/>
              </a:lnSpc>
              <a:spcBef>
                <a:spcPts val="0"/>
              </a:spcBef>
              <a:spcAft>
                <a:spcPts val="800"/>
              </a:spcAft>
              <a:buSzPct val="100000"/>
              <a:buFont typeface="Wingdings" panose="05000000000000000000" charset="0"/>
              <a:buChar char="l"/>
            </a:pPr>
            <a:r>
              <a:rPr lang="en-US" altLang="zh-CN" sz="1200" b="1" spc="0" dirty="0">
                <a:ln w="3175">
                  <a:noFill/>
                  <a:prstDash val="dash"/>
                </a:ln>
                <a:solidFill>
                  <a:schemeClr val="dk1">
                    <a:lumMod val="75000"/>
                    <a:lumOff val="25000"/>
                  </a:schemeClr>
                </a:solidFill>
                <a:latin typeface="Roboto" charset="0"/>
                <a:ea typeface="Roboto" charset="0"/>
                <a:cs typeface="Arial" panose="020B0604020202020204" pitchFamily="34" charset="0"/>
              </a:rPr>
              <a:t>Seamless Wireless Casting: </a:t>
            </a:r>
            <a:r>
              <a:rPr lang="en-US" altLang="zh-CN" sz="1200" spc="0" dirty="0">
                <a:ln w="3175">
                  <a:noFill/>
                  <a:prstDash val="dash"/>
                </a:ln>
                <a:solidFill>
                  <a:schemeClr val="dk1">
                    <a:lumMod val="75000"/>
                    <a:lumOff val="25000"/>
                  </a:schemeClr>
                </a:solidFill>
                <a:latin typeface="Roboto" charset="0"/>
                <a:ea typeface="Roboto" charset="0"/>
                <a:cs typeface="Arial" panose="020B0604020202020204" pitchFamily="34" charset="0"/>
              </a:rPr>
              <a:t>USB-C</a:t>
            </a:r>
            <a:r>
              <a:rPr lang="zh-CN" altLang="en-US" sz="1200" spc="0" dirty="0">
                <a:ln w="3175">
                  <a:noFill/>
                  <a:prstDash val="dash"/>
                </a:ln>
                <a:solidFill>
                  <a:schemeClr val="dk1">
                    <a:lumMod val="75000"/>
                    <a:lumOff val="25000"/>
                  </a:schemeClr>
                </a:solidFill>
                <a:latin typeface="Roboto" charset="0"/>
                <a:ea typeface="Roboto" charset="0"/>
                <a:cs typeface="Arial" panose="020B0604020202020204" pitchFamily="34" charset="0"/>
              </a:rPr>
              <a:t> </a:t>
            </a:r>
            <a:r>
              <a:rPr lang="en-US" altLang="zh-CN" sz="1200" spc="0" dirty="0">
                <a:ln w="3175">
                  <a:noFill/>
                  <a:prstDash val="dash"/>
                </a:ln>
                <a:solidFill>
                  <a:schemeClr val="dk1">
                    <a:lumMod val="75000"/>
                    <a:lumOff val="25000"/>
                  </a:schemeClr>
                </a:solidFill>
                <a:latin typeface="Roboto" charset="0"/>
                <a:ea typeface="Roboto" charset="0"/>
                <a:cs typeface="Arial" panose="020B0604020202020204" pitchFamily="34" charset="0"/>
              </a:rPr>
              <a:t>dongle plug-and-play connection for quick casting and conferencing.</a:t>
            </a:r>
            <a:endParaRPr sz="1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p:txBody>
      </p:sp>
      <p:sp>
        <p:nvSpPr>
          <p:cNvPr id="22" name="矩形 7"/>
          <p:cNvSpPr/>
          <p:nvPr>
            <p:custDataLst>
              <p:tags r:id="rId3"/>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19" name="文本框 6"/>
          <p:cNvSpPr txBox="1"/>
          <p:nvPr>
            <p:custDataLst>
              <p:tags r:id="rId4"/>
            </p:custDataLst>
          </p:nvPr>
        </p:nvSpPr>
        <p:spPr>
          <a:xfrm>
            <a:off x="457155" y="15621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pitchFamily="34" charset="-122"/>
                <a:sym typeface="Roboto"/>
              </a:rPr>
              <a:t>Typical Connection &amp; Applications</a:t>
            </a:r>
          </a:p>
        </p:txBody>
      </p:sp>
      <p:pic>
        <p:nvPicPr>
          <p:cNvPr id="3" name="图片 2">
            <a:extLst>
              <a:ext uri="{FF2B5EF4-FFF2-40B4-BE49-F238E27FC236}">
                <a16:creationId xmlns:a16="http://schemas.microsoft.com/office/drawing/2014/main" id="{4EC0729B-9B2F-F5CC-A8D6-37417943C719}"/>
              </a:ext>
            </a:extLst>
          </p:cNvPr>
          <p:cNvPicPr>
            <a:picLocks noChangeAspect="1"/>
          </p:cNvPicPr>
          <p:nvPr/>
        </p:nvPicPr>
        <p:blipFill>
          <a:blip r:embed="rId6"/>
          <a:stretch>
            <a:fillRect/>
          </a:stretch>
        </p:blipFill>
        <p:spPr>
          <a:xfrm>
            <a:off x="6420931" y="1140660"/>
            <a:ext cx="5112720" cy="54927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9" name="文本框 6"/>
          <p:cNvSpPr txBox="1"/>
          <p:nvPr>
            <p:custDataLst>
              <p:tags r:id="rId3"/>
            </p:custDataLst>
          </p:nvPr>
        </p:nvSpPr>
        <p:spPr>
          <a:xfrm>
            <a:off x="457155" y="15621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pitchFamily="34" charset="-122"/>
                <a:sym typeface="Roboto"/>
              </a:rPr>
              <a:t>Typical Connection &amp; Applications</a:t>
            </a:r>
          </a:p>
        </p:txBody>
      </p:sp>
      <p:sp>
        <p:nvSpPr>
          <p:cNvPr id="10" name="Title 6"/>
          <p:cNvSpPr txBox="1"/>
          <p:nvPr>
            <p:custDataLst>
              <p:tags r:id="rId4"/>
            </p:custDataLst>
          </p:nvPr>
        </p:nvSpPr>
        <p:spPr>
          <a:xfrm>
            <a:off x="293752" y="1155065"/>
            <a:ext cx="5176606" cy="4739005"/>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l" fontAlgn="ctr">
              <a:lnSpc>
                <a:spcPct val="100000"/>
              </a:lnSpc>
              <a:spcBef>
                <a:spcPts val="0"/>
              </a:spcBef>
              <a:spcAft>
                <a:spcPts val="800"/>
              </a:spcAft>
              <a:buSzPct val="100000"/>
              <a:buFont typeface="Wingdings" panose="05000000000000000000" charset="0"/>
              <a:buNone/>
            </a:pPr>
            <a:r>
              <a:rPr sz="1800" b="1" u="sng"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Application Scenario 2</a:t>
            </a:r>
            <a:r>
              <a:rPr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t>
            </a:r>
            <a:br>
              <a:rPr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br>
            <a:r>
              <a:rPr lang="en-US"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Medium</a:t>
            </a:r>
            <a:r>
              <a:rPr lang="zh-CN" altLang="en-US"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a:t>
            </a:r>
            <a:r>
              <a:rPr lang="en-US" altLang="zh-CN"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Meeting</a:t>
            </a:r>
            <a:r>
              <a:rPr lang="zh-CN" altLang="en-US"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a:t>
            </a:r>
            <a:r>
              <a:rPr lang="en-US" altLang="zh-CN"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Room</a:t>
            </a:r>
            <a:r>
              <a:rPr lang="zh-CN" altLang="en-US"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a:t>
            </a:r>
            <a:r>
              <a:rPr lang="en-US" altLang="zh-CN"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with</a:t>
            </a:r>
            <a:r>
              <a:rPr lang="zh-CN" altLang="en-US"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a:t>
            </a:r>
            <a:r>
              <a:rPr lang="en-US" altLang="zh-CN"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Touch</a:t>
            </a:r>
            <a:r>
              <a:rPr lang="zh-CN" altLang="en-US"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a:t>
            </a:r>
            <a:r>
              <a:rPr lang="en-US" altLang="zh-CN"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Screen</a:t>
            </a:r>
            <a:endParaRPr lang="en-US"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indent="-285750" fontAlgn="ctr">
              <a:lnSpc>
                <a:spcPct val="100000"/>
              </a:lnSpc>
              <a:spcBef>
                <a:spcPts val="0"/>
              </a:spcBef>
              <a:spcAft>
                <a:spcPts val="800"/>
              </a:spcAft>
              <a:buSzPct val="100000"/>
            </a:pPr>
            <a:r>
              <a:rPr lang="en-US" altLang="zh-CN" sz="1200" spc="0" dirty="0">
                <a:ln w="3175">
                  <a:noFill/>
                  <a:prstDash val="dash"/>
                </a:ln>
                <a:solidFill>
                  <a:schemeClr val="dk1">
                    <a:lumMod val="75000"/>
                    <a:lumOff val="25000"/>
                  </a:schemeClr>
                </a:solidFill>
                <a:latin typeface="Roboto" charset="0"/>
                <a:ea typeface="Roboto" charset="0"/>
                <a:cs typeface="Arial" panose="020B0604020202020204" pitchFamily="34" charset="0"/>
              </a:rPr>
              <a:t>This configuration combines the APO-VX20-UC v2 with an interactive touch display, providing a highly engaging and collaborative meeting experience. Participants</a:t>
            </a:r>
            <a:r>
              <a:rPr lang="zh-CN" altLang="en-US" sz="1200" spc="0" dirty="0">
                <a:ln w="3175">
                  <a:noFill/>
                  <a:prstDash val="dash"/>
                </a:ln>
                <a:solidFill>
                  <a:schemeClr val="dk1">
                    <a:lumMod val="75000"/>
                    <a:lumOff val="25000"/>
                  </a:schemeClr>
                </a:solidFill>
                <a:latin typeface="Roboto" charset="0"/>
                <a:ea typeface="Roboto" charset="0"/>
                <a:cs typeface="Arial" panose="020B0604020202020204" pitchFamily="34" charset="0"/>
              </a:rPr>
              <a:t> </a:t>
            </a:r>
            <a:r>
              <a:rPr lang="en-US" altLang="zh-CN" sz="1200" spc="0" dirty="0">
                <a:ln w="3175">
                  <a:noFill/>
                  <a:prstDash val="dash"/>
                </a:ln>
                <a:solidFill>
                  <a:schemeClr val="dk1">
                    <a:lumMod val="75000"/>
                    <a:lumOff val="25000"/>
                  </a:schemeClr>
                </a:solidFill>
                <a:latin typeface="Roboto" charset="0"/>
                <a:ea typeface="Roboto" charset="0"/>
                <a:cs typeface="Arial" panose="020B0604020202020204" pitchFamily="34" charset="0"/>
              </a:rPr>
              <a:t>can easily share content, control presentations, and connect their own devices for interactive collaboration.</a:t>
            </a:r>
            <a:br>
              <a:rPr lang="en-US" sz="1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br>
            <a:endParaRPr lang="en-US" sz="1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marL="0" lvl="0" indent="-285750" algn="l" fontAlgn="ctr">
              <a:lnSpc>
                <a:spcPct val="100000"/>
              </a:lnSpc>
              <a:spcBef>
                <a:spcPts val="0"/>
              </a:spcBef>
              <a:spcAft>
                <a:spcPts val="800"/>
              </a:spcAft>
              <a:buSzPct val="100000"/>
              <a:buFont typeface="Wingdings" panose="05000000000000000000" charset="0"/>
              <a:buNone/>
            </a:pPr>
            <a:r>
              <a:rPr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Key Benefits </a:t>
            </a:r>
            <a:r>
              <a:rPr sz="18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I</a:t>
            </a:r>
            <a:r>
              <a:rPr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nclude:</a:t>
            </a:r>
            <a:endParaRPr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marL="287338" lvl="0" indent="-287338" fontAlgn="ctr">
              <a:lnSpc>
                <a:spcPts val="1500"/>
              </a:lnSpc>
              <a:spcBef>
                <a:spcPts val="0"/>
              </a:spcBef>
              <a:spcAft>
                <a:spcPts val="800"/>
              </a:spcAft>
              <a:buSzPct val="100000"/>
              <a:buFont typeface="Wingdings" panose="05000000000000000000" charset="0"/>
              <a:buChar char="l"/>
            </a:pPr>
            <a:r>
              <a:rPr lang="en-US" altLang="zh-CN" sz="12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Multiple Casting Methods:</a:t>
            </a:r>
            <a:r>
              <a:rPr lang="en-US" altLang="zh-CN" sz="12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 Simplifies presentations with various casting options.</a:t>
            </a:r>
            <a:endParaRPr lang="en-US" altLang="zh-CN" sz="12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endParaRPr>
          </a:p>
          <a:p>
            <a:pPr marL="287338" indent="-287338" fontAlgn="ctr">
              <a:lnSpc>
                <a:spcPts val="1500"/>
              </a:lnSpc>
              <a:spcBef>
                <a:spcPts val="0"/>
              </a:spcBef>
              <a:spcAft>
                <a:spcPts val="800"/>
              </a:spcAft>
              <a:buSzPct val="100000"/>
              <a:buFont typeface="Wingdings" panose="05000000000000000000" charset="0"/>
              <a:buChar char="l"/>
            </a:pPr>
            <a:r>
              <a:rPr lang="en-US" altLang="zh-CN" sz="1200" b="1" spc="0" dirty="0">
                <a:ln w="3175">
                  <a:noFill/>
                  <a:prstDash val="dash"/>
                </a:ln>
                <a:solidFill>
                  <a:schemeClr val="dk1">
                    <a:lumMod val="75000"/>
                    <a:lumOff val="25000"/>
                  </a:schemeClr>
                </a:solidFill>
                <a:latin typeface="Roboto" charset="0"/>
                <a:ea typeface="Roboto" charset="0"/>
                <a:cs typeface="Arial" panose="020B0604020202020204" pitchFamily="34" charset="0"/>
              </a:rPr>
              <a:t>All-In-One Design: </a:t>
            </a:r>
            <a:r>
              <a:rPr lang="en-US" altLang="zh-CN" sz="1200" spc="0" dirty="0">
                <a:ln w="3175">
                  <a:noFill/>
                  <a:prstDash val="dash"/>
                </a:ln>
                <a:solidFill>
                  <a:schemeClr val="dk1">
                    <a:lumMod val="75000"/>
                    <a:lumOff val="25000"/>
                  </a:schemeClr>
                </a:solidFill>
                <a:latin typeface="Roboto" charset="0"/>
                <a:ea typeface="Roboto" charset="0"/>
                <a:cs typeface="Arial" panose="020B0604020202020204" pitchFamily="34" charset="0"/>
              </a:rPr>
              <a:t>Combines camera, microphones, and speakers in one sleek unit.</a:t>
            </a:r>
          </a:p>
          <a:p>
            <a:pPr marL="287338" indent="-287338" fontAlgn="ctr">
              <a:lnSpc>
                <a:spcPts val="1500"/>
              </a:lnSpc>
              <a:spcBef>
                <a:spcPts val="0"/>
              </a:spcBef>
              <a:spcAft>
                <a:spcPts val="800"/>
              </a:spcAft>
              <a:buSzPct val="100000"/>
              <a:buFont typeface="Wingdings" panose="05000000000000000000" charset="0"/>
              <a:buChar char="l"/>
            </a:pPr>
            <a:r>
              <a:rPr lang="en-US" altLang="zh-CN" sz="1200" b="1" spc="0" dirty="0">
                <a:ln w="3175">
                  <a:noFill/>
                  <a:prstDash val="dash"/>
                </a:ln>
                <a:solidFill>
                  <a:schemeClr val="dk1">
                    <a:lumMod val="75000"/>
                    <a:lumOff val="25000"/>
                  </a:schemeClr>
                </a:solidFill>
                <a:latin typeface="Roboto" charset="0"/>
                <a:ea typeface="Roboto" charset="0"/>
                <a:cs typeface="Arial" panose="020B0604020202020204" pitchFamily="34" charset="0"/>
              </a:rPr>
              <a:t>Flexible Connectivity: </a:t>
            </a:r>
            <a:r>
              <a:rPr lang="en-US" altLang="zh-CN" sz="1200" spc="0" dirty="0">
                <a:ln w="3175">
                  <a:noFill/>
                  <a:prstDash val="dash"/>
                </a:ln>
                <a:solidFill>
                  <a:schemeClr val="dk1">
                    <a:lumMod val="75000"/>
                    <a:lumOff val="25000"/>
                  </a:schemeClr>
                </a:solidFill>
                <a:latin typeface="Roboto" charset="0"/>
                <a:ea typeface="Roboto" charset="0"/>
                <a:cs typeface="Arial" panose="020B0604020202020204" pitchFamily="34" charset="0"/>
              </a:rPr>
              <a:t>Supports USB-C and HDMI for versatile source connections.</a:t>
            </a:r>
          </a:p>
          <a:p>
            <a:pPr marL="287338" indent="-287338" fontAlgn="ctr">
              <a:lnSpc>
                <a:spcPts val="1500"/>
              </a:lnSpc>
              <a:spcBef>
                <a:spcPts val="0"/>
              </a:spcBef>
              <a:spcAft>
                <a:spcPts val="800"/>
              </a:spcAft>
              <a:buSzPct val="100000"/>
              <a:buFont typeface="Wingdings" panose="05000000000000000000" charset="0"/>
              <a:buChar char="l"/>
            </a:pPr>
            <a:r>
              <a:rPr lang="en-US" altLang="zh-CN" sz="1200" b="1" spc="0" dirty="0">
                <a:ln w="3175">
                  <a:noFill/>
                  <a:prstDash val="dash"/>
                </a:ln>
                <a:solidFill>
                  <a:schemeClr val="dk1">
                    <a:lumMod val="75000"/>
                    <a:lumOff val="25000"/>
                  </a:schemeClr>
                </a:solidFill>
                <a:latin typeface="Roboto" charset="0"/>
                <a:ea typeface="Roboto" charset="0"/>
                <a:cs typeface="Arial" panose="020B0604020202020204" pitchFamily="34" charset="0"/>
              </a:rPr>
              <a:t>Enhanced Audio Coverage: </a:t>
            </a:r>
            <a:r>
              <a:rPr lang="en-US" altLang="zh-CN" sz="1200" spc="0" dirty="0">
                <a:ln w="3175">
                  <a:noFill/>
                  <a:prstDash val="dash"/>
                </a:ln>
                <a:solidFill>
                  <a:schemeClr val="dk1">
                    <a:lumMod val="75000"/>
                    <a:lumOff val="25000"/>
                  </a:schemeClr>
                </a:solidFill>
                <a:latin typeface="Roboto" charset="0"/>
                <a:ea typeface="Roboto" charset="0"/>
                <a:cs typeface="Arial" panose="020B0604020202020204" pitchFamily="34" charset="0"/>
              </a:rPr>
              <a:t>Compatible with APO-MIC-EXT and APO-SKY-MIC for scalable microphone expansion.</a:t>
            </a:r>
          </a:p>
          <a:p>
            <a:pPr marL="287338" indent="-287338" fontAlgn="ctr">
              <a:lnSpc>
                <a:spcPts val="1500"/>
              </a:lnSpc>
              <a:spcBef>
                <a:spcPts val="0"/>
              </a:spcBef>
              <a:spcAft>
                <a:spcPts val="800"/>
              </a:spcAft>
              <a:buSzPct val="100000"/>
              <a:buFont typeface="Wingdings" panose="05000000000000000000" charset="0"/>
              <a:buChar char="l"/>
            </a:pPr>
            <a:r>
              <a:rPr lang="en-US" altLang="zh-CN" sz="1200" b="1" spc="0" dirty="0">
                <a:ln w="3175">
                  <a:noFill/>
                  <a:prstDash val="dash"/>
                </a:ln>
                <a:solidFill>
                  <a:schemeClr val="dk1">
                    <a:lumMod val="75000"/>
                    <a:lumOff val="25000"/>
                  </a:schemeClr>
                </a:solidFill>
                <a:latin typeface="Roboto" charset="0"/>
                <a:ea typeface="Roboto" charset="0"/>
                <a:cs typeface="Arial" panose="020B0604020202020204" pitchFamily="34" charset="0"/>
              </a:rPr>
              <a:t>Seamless Wireless Casting: </a:t>
            </a:r>
            <a:r>
              <a:rPr lang="en-US" altLang="zh-CN" sz="1200" spc="0" dirty="0">
                <a:ln w="3175">
                  <a:noFill/>
                  <a:prstDash val="dash"/>
                </a:ln>
                <a:solidFill>
                  <a:schemeClr val="dk1">
                    <a:lumMod val="75000"/>
                    <a:lumOff val="25000"/>
                  </a:schemeClr>
                </a:solidFill>
                <a:latin typeface="Roboto" charset="0"/>
                <a:ea typeface="Roboto" charset="0"/>
                <a:cs typeface="Arial" panose="020B0604020202020204" pitchFamily="34" charset="0"/>
              </a:rPr>
              <a:t>USB-C</a:t>
            </a:r>
            <a:r>
              <a:rPr lang="zh-CN" altLang="en-US" sz="1200" spc="0" dirty="0">
                <a:ln w="3175">
                  <a:noFill/>
                  <a:prstDash val="dash"/>
                </a:ln>
                <a:solidFill>
                  <a:schemeClr val="dk1">
                    <a:lumMod val="75000"/>
                    <a:lumOff val="25000"/>
                  </a:schemeClr>
                </a:solidFill>
                <a:latin typeface="Roboto" charset="0"/>
                <a:ea typeface="Roboto" charset="0"/>
                <a:cs typeface="Arial" panose="020B0604020202020204" pitchFamily="34" charset="0"/>
              </a:rPr>
              <a:t> </a:t>
            </a:r>
            <a:r>
              <a:rPr lang="en-US" altLang="zh-CN" sz="1200" spc="0" dirty="0">
                <a:ln w="3175">
                  <a:noFill/>
                  <a:prstDash val="dash"/>
                </a:ln>
                <a:solidFill>
                  <a:schemeClr val="dk1">
                    <a:lumMod val="75000"/>
                    <a:lumOff val="25000"/>
                  </a:schemeClr>
                </a:solidFill>
                <a:latin typeface="Roboto" charset="0"/>
                <a:ea typeface="Roboto" charset="0"/>
                <a:cs typeface="Arial" panose="020B0604020202020204" pitchFamily="34" charset="0"/>
              </a:rPr>
              <a:t>dongle plug-and-play connection for quick casting and conferencing.</a:t>
            </a:r>
          </a:p>
        </p:txBody>
      </p:sp>
      <p:pic>
        <p:nvPicPr>
          <p:cNvPr id="2" name="图片 1">
            <a:extLst>
              <a:ext uri="{FF2B5EF4-FFF2-40B4-BE49-F238E27FC236}">
                <a16:creationId xmlns:a16="http://schemas.microsoft.com/office/drawing/2014/main" id="{EA233087-443B-EB4B-63E0-8B461E9124B8}"/>
              </a:ext>
            </a:extLst>
          </p:cNvPr>
          <p:cNvPicPr>
            <a:picLocks noChangeAspect="1"/>
          </p:cNvPicPr>
          <p:nvPr/>
        </p:nvPicPr>
        <p:blipFill>
          <a:blip r:embed="rId7"/>
          <a:stretch>
            <a:fillRect/>
          </a:stretch>
        </p:blipFill>
        <p:spPr>
          <a:xfrm>
            <a:off x="6292933" y="1155065"/>
            <a:ext cx="5080919" cy="550395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60" name="组合 72"/>
          <p:cNvGrpSpPr/>
          <p:nvPr/>
        </p:nvGrpSpPr>
        <p:grpSpPr>
          <a:xfrm rot="5400000">
            <a:off x="6070045" y="755352"/>
            <a:ext cx="55806" cy="12188102"/>
            <a:chOff x="5190378" y="0"/>
            <a:chExt cx="51682" cy="6858002"/>
          </a:xfrm>
        </p:grpSpPr>
        <p:sp>
          <p:nvSpPr>
            <p:cNvPr id="1461" name="Rectangle"/>
            <p:cNvSpPr/>
            <p:nvPr/>
          </p:nvSpPr>
          <p:spPr>
            <a:xfrm>
              <a:off x="5190378" y="0"/>
              <a:ext cx="51682" cy="2444743"/>
            </a:xfrm>
            <a:prstGeom prst="rect">
              <a:avLst/>
            </a:prstGeom>
            <a:solidFill>
              <a:srgbClr val="A8D973"/>
            </a:solidFill>
            <a:ln w="25400">
              <a:miter/>
            </a:ln>
          </p:spPr>
          <p:txBody>
            <a:bodyPr tIns="91439" bIns="91439"/>
            <a:lstStyle>
              <a:lvl1pPr marL="0" lvl="0" indent="0" algn="l" defTabSz="1828800">
                <a:lnSpc>
                  <a:spcPct val="80000"/>
                </a:lnSpc>
                <a:spcBef>
                  <a:spcPts val="0"/>
                </a:spcBef>
                <a:spcAft>
                  <a:spcPts val="0"/>
                </a:spcAft>
                <a:buClrTx/>
                <a:buSzTx/>
                <a:buFontTx/>
                <a:buNone/>
                <a:defRPr sz="2800" b="1" i="0" u="none" strike="noStrike" spc="0" baseline="0">
                  <a:ln>
                    <a:noFill/>
                  </a:ln>
                  <a:solidFill>
                    <a:srgbClr val="000000"/>
                  </a:solidFill>
                  <a:effectLst/>
                  <a:latin typeface="Roboto"/>
                  <a:ea typeface="Roboto"/>
                </a:defRPr>
              </a:lvl1pPr>
              <a:lvl2pPr marL="0" lvl="1" indent="457200" algn="l" defTabSz="1828800">
                <a:lnSpc>
                  <a:spcPct val="80000"/>
                </a:lnSpc>
                <a:spcBef>
                  <a:spcPts val="0"/>
                </a:spcBef>
                <a:spcAft>
                  <a:spcPts val="0"/>
                </a:spcAft>
                <a:buClrTx/>
                <a:buSzTx/>
                <a:buFontTx/>
                <a:buNone/>
                <a:defRPr sz="2800" b="1" i="0" u="none" strike="noStrike" spc="0" baseline="0">
                  <a:ln>
                    <a:noFill/>
                  </a:ln>
                  <a:solidFill>
                    <a:srgbClr val="000000"/>
                  </a:solidFill>
                  <a:effectLst/>
                  <a:latin typeface="Roboto"/>
                  <a:ea typeface="Roboto"/>
                </a:defRPr>
              </a:lvl2pPr>
              <a:lvl3pPr marL="0" lvl="2" indent="914400" algn="l" defTabSz="1828800">
                <a:lnSpc>
                  <a:spcPct val="80000"/>
                </a:lnSpc>
                <a:spcBef>
                  <a:spcPts val="0"/>
                </a:spcBef>
                <a:spcAft>
                  <a:spcPts val="0"/>
                </a:spcAft>
                <a:buClrTx/>
                <a:buSzTx/>
                <a:buFontTx/>
                <a:buNone/>
                <a:defRPr sz="2800" b="1" i="0" u="none" strike="noStrike" spc="0" baseline="0">
                  <a:ln>
                    <a:noFill/>
                  </a:ln>
                  <a:solidFill>
                    <a:srgbClr val="000000"/>
                  </a:solidFill>
                  <a:effectLst/>
                  <a:latin typeface="Roboto"/>
                  <a:ea typeface="Roboto"/>
                </a:defRPr>
              </a:lvl3pPr>
              <a:lvl4pPr marL="0" lvl="3" indent="1371600" algn="l" defTabSz="1828800">
                <a:lnSpc>
                  <a:spcPct val="80000"/>
                </a:lnSpc>
                <a:spcBef>
                  <a:spcPts val="0"/>
                </a:spcBef>
                <a:spcAft>
                  <a:spcPts val="0"/>
                </a:spcAft>
                <a:buClrTx/>
                <a:buSzTx/>
                <a:buFontTx/>
                <a:buNone/>
                <a:defRPr sz="2800" b="1" i="0" u="none" strike="noStrike" spc="0" baseline="0">
                  <a:ln>
                    <a:noFill/>
                  </a:ln>
                  <a:solidFill>
                    <a:srgbClr val="000000"/>
                  </a:solidFill>
                  <a:effectLst/>
                  <a:latin typeface="Roboto"/>
                  <a:ea typeface="Roboto"/>
                </a:defRPr>
              </a:lvl4pPr>
              <a:lvl5pPr marL="0" lvl="4" indent="1828800" algn="l" defTabSz="1828800">
                <a:lnSpc>
                  <a:spcPct val="80000"/>
                </a:lnSpc>
                <a:spcBef>
                  <a:spcPts val="0"/>
                </a:spcBef>
                <a:spcAft>
                  <a:spcPts val="0"/>
                </a:spcAft>
                <a:buClrTx/>
                <a:buSzTx/>
                <a:buFontTx/>
                <a:buNone/>
                <a:defRPr sz="2800" b="1" i="0" u="none" strike="noStrike" spc="0" baseline="0">
                  <a:ln>
                    <a:noFill/>
                  </a:ln>
                  <a:solidFill>
                    <a:srgbClr val="000000"/>
                  </a:solidFill>
                  <a:effectLst/>
                  <a:latin typeface="Roboto"/>
                  <a:ea typeface="Roboto"/>
                </a:defRPr>
              </a:lvl5pPr>
              <a:lvl6pPr marL="0" lvl="5" indent="2286000" algn="l" defTabSz="1828800">
                <a:lnSpc>
                  <a:spcPct val="80000"/>
                </a:lnSpc>
                <a:spcBef>
                  <a:spcPts val="0"/>
                </a:spcBef>
                <a:spcAft>
                  <a:spcPts val="0"/>
                </a:spcAft>
                <a:buClrTx/>
                <a:buSzTx/>
                <a:buFontTx/>
                <a:buNone/>
                <a:defRPr sz="2800" b="1" i="0" u="none" strike="noStrike" spc="0" baseline="0">
                  <a:ln>
                    <a:noFill/>
                  </a:ln>
                  <a:solidFill>
                    <a:srgbClr val="000000"/>
                  </a:solidFill>
                  <a:effectLst/>
                  <a:latin typeface="Roboto"/>
                  <a:ea typeface="Roboto"/>
                </a:defRPr>
              </a:lvl6pPr>
              <a:lvl7pPr marL="0" lvl="6" indent="2743200" algn="l" defTabSz="1828800">
                <a:lnSpc>
                  <a:spcPct val="80000"/>
                </a:lnSpc>
                <a:spcBef>
                  <a:spcPts val="0"/>
                </a:spcBef>
                <a:spcAft>
                  <a:spcPts val="0"/>
                </a:spcAft>
                <a:buClrTx/>
                <a:buSzTx/>
                <a:buFontTx/>
                <a:buNone/>
                <a:defRPr sz="2800" b="1" i="0" u="none" strike="noStrike" spc="0" baseline="0">
                  <a:ln>
                    <a:noFill/>
                  </a:ln>
                  <a:solidFill>
                    <a:srgbClr val="000000"/>
                  </a:solidFill>
                  <a:effectLst/>
                  <a:latin typeface="Roboto"/>
                  <a:ea typeface="Roboto"/>
                </a:defRPr>
              </a:lvl7pPr>
              <a:lvl8pPr marL="0" lvl="7" indent="3200400" algn="l" defTabSz="1828800">
                <a:lnSpc>
                  <a:spcPct val="80000"/>
                </a:lnSpc>
                <a:spcBef>
                  <a:spcPts val="0"/>
                </a:spcBef>
                <a:spcAft>
                  <a:spcPts val="0"/>
                </a:spcAft>
                <a:buClrTx/>
                <a:buSzTx/>
                <a:buFontTx/>
                <a:buNone/>
                <a:defRPr sz="2800" b="1" i="0" u="none" strike="noStrike" spc="0" baseline="0">
                  <a:ln>
                    <a:noFill/>
                  </a:ln>
                  <a:solidFill>
                    <a:srgbClr val="000000"/>
                  </a:solidFill>
                  <a:effectLst/>
                  <a:latin typeface="Roboto"/>
                  <a:ea typeface="Roboto"/>
                </a:defRPr>
              </a:lvl8pPr>
              <a:lvl9pPr marL="0" lvl="8" indent="3657600" algn="l" defTabSz="1828800">
                <a:lnSpc>
                  <a:spcPct val="80000"/>
                </a:lnSpc>
                <a:spcBef>
                  <a:spcPts val="0"/>
                </a:spcBef>
                <a:spcAft>
                  <a:spcPts val="0"/>
                </a:spcAft>
                <a:buClrTx/>
                <a:buSzTx/>
                <a:buFontTx/>
                <a:buNone/>
                <a:defRPr sz="2800" b="1" i="0" u="none" strike="noStrike" spc="0" baseline="0">
                  <a:ln>
                    <a:noFill/>
                  </a:ln>
                  <a:solidFill>
                    <a:srgbClr val="000000"/>
                  </a:solidFill>
                  <a:effectLst/>
                  <a:latin typeface="Roboto"/>
                  <a:ea typeface="Roboto"/>
                </a:defRPr>
              </a:lvl9pPr>
            </a:lstStyle>
            <a:p>
              <a:pPr marL="0" lvl="0" indent="0" algn="l" defTabSz="1828800">
                <a:lnSpc>
                  <a:spcPct val="100000"/>
                </a:lnSpc>
                <a:spcBef>
                  <a:spcPts val="0"/>
                </a:spcBef>
                <a:spcAft>
                  <a:spcPts val="0"/>
                </a:spcAft>
                <a:buClrTx/>
                <a:buSzTx/>
                <a:buFontTx/>
                <a:buNone/>
                <a:defRPr>
                  <a:solidFill>
                    <a:srgbClr val="DD2431"/>
                  </a:solidFill>
                </a:defRPr>
              </a:pPr>
              <a:endParaRPr sz="2800" b="1" i="0" u="none" strike="noStrike" kern="1200" spc="0" baseline="0">
                <a:ln>
                  <a:noFill/>
                </a:ln>
                <a:solidFill>
                  <a:srgbClr val="DD2431"/>
                </a:solidFill>
                <a:effectLst/>
                <a:latin typeface="等线" panose="02010600030101010101" charset="-122"/>
                <a:ea typeface="等线" panose="02010600030101010101" charset="-122"/>
              </a:endParaRPr>
            </a:p>
          </p:txBody>
        </p:sp>
        <p:sp>
          <p:nvSpPr>
            <p:cNvPr id="1462" name="Rectangle"/>
            <p:cNvSpPr/>
            <p:nvPr/>
          </p:nvSpPr>
          <p:spPr>
            <a:xfrm>
              <a:off x="5190378" y="2444744"/>
              <a:ext cx="51682" cy="4413258"/>
            </a:xfrm>
            <a:prstGeom prst="rect">
              <a:avLst/>
            </a:prstGeom>
            <a:solidFill>
              <a:srgbClr val="0E7B30"/>
            </a:solidFill>
            <a:ln w="25400">
              <a:miter/>
            </a:ln>
          </p:spPr>
          <p:txBody>
            <a:bodyPr tIns="91439" bIns="91439"/>
            <a:lstStyle>
              <a:lvl1pPr marL="0" lvl="0" indent="0" algn="l" defTabSz="1828800">
                <a:lnSpc>
                  <a:spcPct val="80000"/>
                </a:lnSpc>
                <a:spcBef>
                  <a:spcPts val="0"/>
                </a:spcBef>
                <a:spcAft>
                  <a:spcPts val="0"/>
                </a:spcAft>
                <a:buClrTx/>
                <a:buSzTx/>
                <a:buFontTx/>
                <a:buNone/>
                <a:defRPr sz="2800" b="1" i="0" u="none" strike="noStrike" spc="0" baseline="0">
                  <a:ln>
                    <a:noFill/>
                  </a:ln>
                  <a:solidFill>
                    <a:srgbClr val="000000"/>
                  </a:solidFill>
                  <a:effectLst/>
                  <a:latin typeface="Roboto"/>
                  <a:ea typeface="Roboto"/>
                </a:defRPr>
              </a:lvl1pPr>
              <a:lvl2pPr marL="0" lvl="1" indent="457200" algn="l" defTabSz="1828800">
                <a:lnSpc>
                  <a:spcPct val="80000"/>
                </a:lnSpc>
                <a:spcBef>
                  <a:spcPts val="0"/>
                </a:spcBef>
                <a:spcAft>
                  <a:spcPts val="0"/>
                </a:spcAft>
                <a:buClrTx/>
                <a:buSzTx/>
                <a:buFontTx/>
                <a:buNone/>
                <a:defRPr sz="2800" b="1" i="0" u="none" strike="noStrike" spc="0" baseline="0">
                  <a:ln>
                    <a:noFill/>
                  </a:ln>
                  <a:solidFill>
                    <a:srgbClr val="000000"/>
                  </a:solidFill>
                  <a:effectLst/>
                  <a:latin typeface="Roboto"/>
                  <a:ea typeface="Roboto"/>
                </a:defRPr>
              </a:lvl2pPr>
              <a:lvl3pPr marL="0" lvl="2" indent="914400" algn="l" defTabSz="1828800">
                <a:lnSpc>
                  <a:spcPct val="80000"/>
                </a:lnSpc>
                <a:spcBef>
                  <a:spcPts val="0"/>
                </a:spcBef>
                <a:spcAft>
                  <a:spcPts val="0"/>
                </a:spcAft>
                <a:buClrTx/>
                <a:buSzTx/>
                <a:buFontTx/>
                <a:buNone/>
                <a:defRPr sz="2800" b="1" i="0" u="none" strike="noStrike" spc="0" baseline="0">
                  <a:ln>
                    <a:noFill/>
                  </a:ln>
                  <a:solidFill>
                    <a:srgbClr val="000000"/>
                  </a:solidFill>
                  <a:effectLst/>
                  <a:latin typeface="Roboto"/>
                  <a:ea typeface="Roboto"/>
                </a:defRPr>
              </a:lvl3pPr>
              <a:lvl4pPr marL="0" lvl="3" indent="1371600" algn="l" defTabSz="1828800">
                <a:lnSpc>
                  <a:spcPct val="80000"/>
                </a:lnSpc>
                <a:spcBef>
                  <a:spcPts val="0"/>
                </a:spcBef>
                <a:spcAft>
                  <a:spcPts val="0"/>
                </a:spcAft>
                <a:buClrTx/>
                <a:buSzTx/>
                <a:buFontTx/>
                <a:buNone/>
                <a:defRPr sz="2800" b="1" i="0" u="none" strike="noStrike" spc="0" baseline="0">
                  <a:ln>
                    <a:noFill/>
                  </a:ln>
                  <a:solidFill>
                    <a:srgbClr val="000000"/>
                  </a:solidFill>
                  <a:effectLst/>
                  <a:latin typeface="Roboto"/>
                  <a:ea typeface="Roboto"/>
                </a:defRPr>
              </a:lvl4pPr>
              <a:lvl5pPr marL="0" lvl="4" indent="1828800" algn="l" defTabSz="1828800">
                <a:lnSpc>
                  <a:spcPct val="80000"/>
                </a:lnSpc>
                <a:spcBef>
                  <a:spcPts val="0"/>
                </a:spcBef>
                <a:spcAft>
                  <a:spcPts val="0"/>
                </a:spcAft>
                <a:buClrTx/>
                <a:buSzTx/>
                <a:buFontTx/>
                <a:buNone/>
                <a:defRPr sz="2800" b="1" i="0" u="none" strike="noStrike" spc="0" baseline="0">
                  <a:ln>
                    <a:noFill/>
                  </a:ln>
                  <a:solidFill>
                    <a:srgbClr val="000000"/>
                  </a:solidFill>
                  <a:effectLst/>
                  <a:latin typeface="Roboto"/>
                  <a:ea typeface="Roboto"/>
                </a:defRPr>
              </a:lvl5pPr>
              <a:lvl6pPr marL="0" lvl="5" indent="2286000" algn="l" defTabSz="1828800">
                <a:lnSpc>
                  <a:spcPct val="80000"/>
                </a:lnSpc>
                <a:spcBef>
                  <a:spcPts val="0"/>
                </a:spcBef>
                <a:spcAft>
                  <a:spcPts val="0"/>
                </a:spcAft>
                <a:buClrTx/>
                <a:buSzTx/>
                <a:buFontTx/>
                <a:buNone/>
                <a:defRPr sz="2800" b="1" i="0" u="none" strike="noStrike" spc="0" baseline="0">
                  <a:ln>
                    <a:noFill/>
                  </a:ln>
                  <a:solidFill>
                    <a:srgbClr val="000000"/>
                  </a:solidFill>
                  <a:effectLst/>
                  <a:latin typeface="Roboto"/>
                  <a:ea typeface="Roboto"/>
                </a:defRPr>
              </a:lvl6pPr>
              <a:lvl7pPr marL="0" lvl="6" indent="2743200" algn="l" defTabSz="1828800">
                <a:lnSpc>
                  <a:spcPct val="80000"/>
                </a:lnSpc>
                <a:spcBef>
                  <a:spcPts val="0"/>
                </a:spcBef>
                <a:spcAft>
                  <a:spcPts val="0"/>
                </a:spcAft>
                <a:buClrTx/>
                <a:buSzTx/>
                <a:buFontTx/>
                <a:buNone/>
                <a:defRPr sz="2800" b="1" i="0" u="none" strike="noStrike" spc="0" baseline="0">
                  <a:ln>
                    <a:noFill/>
                  </a:ln>
                  <a:solidFill>
                    <a:srgbClr val="000000"/>
                  </a:solidFill>
                  <a:effectLst/>
                  <a:latin typeface="Roboto"/>
                  <a:ea typeface="Roboto"/>
                </a:defRPr>
              </a:lvl7pPr>
              <a:lvl8pPr marL="0" lvl="7" indent="3200400" algn="l" defTabSz="1828800">
                <a:lnSpc>
                  <a:spcPct val="80000"/>
                </a:lnSpc>
                <a:spcBef>
                  <a:spcPts val="0"/>
                </a:spcBef>
                <a:spcAft>
                  <a:spcPts val="0"/>
                </a:spcAft>
                <a:buClrTx/>
                <a:buSzTx/>
                <a:buFontTx/>
                <a:buNone/>
                <a:defRPr sz="2800" b="1" i="0" u="none" strike="noStrike" spc="0" baseline="0">
                  <a:ln>
                    <a:noFill/>
                  </a:ln>
                  <a:solidFill>
                    <a:srgbClr val="000000"/>
                  </a:solidFill>
                  <a:effectLst/>
                  <a:latin typeface="Roboto"/>
                  <a:ea typeface="Roboto"/>
                </a:defRPr>
              </a:lvl8pPr>
              <a:lvl9pPr marL="0" lvl="8" indent="3657600" algn="l" defTabSz="1828800">
                <a:lnSpc>
                  <a:spcPct val="80000"/>
                </a:lnSpc>
                <a:spcBef>
                  <a:spcPts val="0"/>
                </a:spcBef>
                <a:spcAft>
                  <a:spcPts val="0"/>
                </a:spcAft>
                <a:buClrTx/>
                <a:buSzTx/>
                <a:buFontTx/>
                <a:buNone/>
                <a:defRPr sz="2800" b="1" i="0" u="none" strike="noStrike" spc="0" baseline="0">
                  <a:ln>
                    <a:noFill/>
                  </a:ln>
                  <a:solidFill>
                    <a:srgbClr val="000000"/>
                  </a:solidFill>
                  <a:effectLst/>
                  <a:latin typeface="Roboto"/>
                  <a:ea typeface="Roboto"/>
                </a:defRPr>
              </a:lvl9pPr>
            </a:lstStyle>
            <a:p>
              <a:pPr marL="0" lvl="0" indent="0" algn="l" defTabSz="1828800">
                <a:lnSpc>
                  <a:spcPct val="100000"/>
                </a:lnSpc>
                <a:spcBef>
                  <a:spcPts val="0"/>
                </a:spcBef>
                <a:spcAft>
                  <a:spcPts val="0"/>
                </a:spcAft>
                <a:buClrTx/>
                <a:buSzTx/>
                <a:buFontTx/>
                <a:buNone/>
                <a:defRPr>
                  <a:solidFill>
                    <a:srgbClr val="DD2431"/>
                  </a:solidFill>
                </a:defRPr>
              </a:pPr>
              <a:endParaRPr sz="2800" b="1" i="0" u="none" strike="noStrike" kern="1200" spc="0" baseline="0">
                <a:ln>
                  <a:noFill/>
                </a:ln>
                <a:solidFill>
                  <a:srgbClr val="DD2431"/>
                </a:solidFill>
                <a:effectLst/>
                <a:latin typeface="等线" panose="02010600030101010101" charset="-122"/>
                <a:ea typeface="等线" panose="02010600030101010101" charset="-122"/>
              </a:endParaRPr>
            </a:p>
          </p:txBody>
        </p:sp>
      </p:grpSp>
      <p:sp>
        <p:nvSpPr>
          <p:cNvPr id="4" name="矩形 7">
            <a:extLst>
              <a:ext uri="{FF2B5EF4-FFF2-40B4-BE49-F238E27FC236}">
                <a16:creationId xmlns:a16="http://schemas.microsoft.com/office/drawing/2014/main" id="{88BE36CF-7F31-A2A9-23EC-8DB1E5F3FDCD}"/>
              </a:ext>
            </a:extLst>
          </p:cNvPr>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5" name="文本框 4">
            <a:extLst>
              <a:ext uri="{FF2B5EF4-FFF2-40B4-BE49-F238E27FC236}">
                <a16:creationId xmlns:a16="http://schemas.microsoft.com/office/drawing/2014/main" id="{A1BDAD87-F8CD-066D-303A-84F63CF85E97}"/>
              </a:ext>
            </a:extLst>
          </p:cNvPr>
          <p:cNvSpPr txBox="1"/>
          <p:nvPr>
            <p:custDataLst>
              <p:tags r:id="rId2"/>
            </p:custDataLst>
          </p:nvPr>
        </p:nvSpPr>
        <p:spPr>
          <a:xfrm>
            <a:off x="457155" y="161926"/>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dirty="0" err="1">
                <a:solidFill>
                  <a:schemeClr val="lt1"/>
                </a:solidFill>
                <a:uFillTx/>
                <a:latin typeface="Montserrat" pitchFamily="2" charset="0"/>
                <a:ea typeface="微软雅黑" panose="020B0503020204020204" pitchFamily="34" charset="-122"/>
                <a:sym typeface="Roboto"/>
              </a:rPr>
              <a:t>WyreStorm</a:t>
            </a:r>
            <a:r>
              <a:rPr lang="zh-CN" altLang="en-US" sz="3200" b="1" dirty="0">
                <a:solidFill>
                  <a:schemeClr val="lt1"/>
                </a:solidFill>
                <a:uFillTx/>
                <a:latin typeface="Montserrat" pitchFamily="2" charset="0"/>
                <a:ea typeface="微软雅黑" panose="020B0503020204020204" pitchFamily="34" charset="-122"/>
                <a:sym typeface="Roboto"/>
              </a:rPr>
              <a:t> </a:t>
            </a:r>
            <a:r>
              <a:rPr lang="en-US" altLang="zh-CN" sz="3200" b="1" dirty="0">
                <a:solidFill>
                  <a:schemeClr val="lt1"/>
                </a:solidFill>
                <a:uFillTx/>
                <a:latin typeface="Montserrat" pitchFamily="2" charset="0"/>
                <a:ea typeface="微软雅黑" panose="020B0503020204020204" pitchFamily="34" charset="-122"/>
                <a:sym typeface="Roboto"/>
              </a:rPr>
              <a:t>Video</a:t>
            </a:r>
            <a:r>
              <a:rPr lang="zh-CN" altLang="en-US" sz="3200" b="1" dirty="0">
                <a:solidFill>
                  <a:schemeClr val="lt1"/>
                </a:solidFill>
                <a:uFillTx/>
                <a:latin typeface="Montserrat" pitchFamily="2" charset="0"/>
                <a:ea typeface="微软雅黑" panose="020B0503020204020204" pitchFamily="34" charset="-122"/>
                <a:sym typeface="Roboto"/>
              </a:rPr>
              <a:t> </a:t>
            </a:r>
            <a:r>
              <a:rPr lang="en-US" altLang="zh-CN" sz="3200" b="1" dirty="0">
                <a:solidFill>
                  <a:schemeClr val="lt1"/>
                </a:solidFill>
                <a:uFillTx/>
                <a:latin typeface="Montserrat" pitchFamily="2" charset="0"/>
                <a:ea typeface="微软雅黑" panose="020B0503020204020204" pitchFamily="34" charset="-122"/>
                <a:sym typeface="Roboto"/>
              </a:rPr>
              <a:t>Bars</a:t>
            </a:r>
            <a:r>
              <a:rPr lang="zh-CN" altLang="en-US" sz="3200" b="1" dirty="0">
                <a:solidFill>
                  <a:schemeClr val="lt1"/>
                </a:solidFill>
                <a:uFillTx/>
                <a:latin typeface="Montserrat" pitchFamily="2" charset="0"/>
                <a:ea typeface="微软雅黑" panose="020B0503020204020204" pitchFamily="34" charset="-122"/>
                <a:sym typeface="Roboto"/>
              </a:rPr>
              <a:t> </a:t>
            </a:r>
            <a:r>
              <a:rPr lang="en-US" altLang="zh-CN" sz="3200" b="1" dirty="0">
                <a:solidFill>
                  <a:schemeClr val="lt1"/>
                </a:solidFill>
                <a:uFillTx/>
                <a:latin typeface="Montserrat" pitchFamily="2" charset="0"/>
                <a:ea typeface="微软雅黑" panose="020B0503020204020204" pitchFamily="34" charset="-122"/>
                <a:sym typeface="Roboto"/>
              </a:rPr>
              <a:t>Comparison</a:t>
            </a:r>
            <a:endParaRPr lang="en-US" sz="3200" b="1" dirty="0">
              <a:solidFill>
                <a:schemeClr val="lt1"/>
              </a:solidFill>
              <a:uFillTx/>
              <a:latin typeface="Montserrat" pitchFamily="2" charset="0"/>
              <a:ea typeface="微软雅黑" panose="020B0503020204020204" pitchFamily="34" charset="-122"/>
              <a:sym typeface="Roboto"/>
            </a:endParaRPr>
          </a:p>
        </p:txBody>
      </p:sp>
      <p:graphicFrame>
        <p:nvGraphicFramePr>
          <p:cNvPr id="2" name="表格 1">
            <a:extLst>
              <a:ext uri="{FF2B5EF4-FFF2-40B4-BE49-F238E27FC236}">
                <a16:creationId xmlns:a16="http://schemas.microsoft.com/office/drawing/2014/main" id="{8B210C71-4B38-FD73-F04B-70F480F5C70A}"/>
              </a:ext>
            </a:extLst>
          </p:cNvPr>
          <p:cNvGraphicFramePr>
            <a:graphicFrameLocks noGrp="1"/>
          </p:cNvGraphicFramePr>
          <p:nvPr>
            <p:extLst>
              <p:ext uri="{D42A27DB-BD31-4B8C-83A1-F6EECF244321}">
                <p14:modId xmlns:p14="http://schemas.microsoft.com/office/powerpoint/2010/main" val="1898136510"/>
              </p:ext>
            </p:extLst>
          </p:nvPr>
        </p:nvGraphicFramePr>
        <p:xfrm>
          <a:off x="838201" y="1206192"/>
          <a:ext cx="10515599" cy="5217761"/>
        </p:xfrm>
        <a:graphic>
          <a:graphicData uri="http://schemas.openxmlformats.org/drawingml/2006/table">
            <a:tbl>
              <a:tblPr/>
              <a:tblGrid>
                <a:gridCol w="1013749">
                  <a:extLst>
                    <a:ext uri="{9D8B030D-6E8A-4147-A177-3AD203B41FA5}">
                      <a16:colId xmlns:a16="http://schemas.microsoft.com/office/drawing/2014/main" val="4251065292"/>
                    </a:ext>
                  </a:extLst>
                </a:gridCol>
                <a:gridCol w="1701479">
                  <a:extLst>
                    <a:ext uri="{9D8B030D-6E8A-4147-A177-3AD203B41FA5}">
                      <a16:colId xmlns:a16="http://schemas.microsoft.com/office/drawing/2014/main" val="3688139715"/>
                    </a:ext>
                  </a:extLst>
                </a:gridCol>
                <a:gridCol w="3261746">
                  <a:extLst>
                    <a:ext uri="{9D8B030D-6E8A-4147-A177-3AD203B41FA5}">
                      <a16:colId xmlns:a16="http://schemas.microsoft.com/office/drawing/2014/main" val="4255498062"/>
                    </a:ext>
                  </a:extLst>
                </a:gridCol>
                <a:gridCol w="2302849">
                  <a:extLst>
                    <a:ext uri="{9D8B030D-6E8A-4147-A177-3AD203B41FA5}">
                      <a16:colId xmlns:a16="http://schemas.microsoft.com/office/drawing/2014/main" val="1719631002"/>
                    </a:ext>
                  </a:extLst>
                </a:gridCol>
                <a:gridCol w="2235776">
                  <a:extLst>
                    <a:ext uri="{9D8B030D-6E8A-4147-A177-3AD203B41FA5}">
                      <a16:colId xmlns:a16="http://schemas.microsoft.com/office/drawing/2014/main" val="3937371102"/>
                    </a:ext>
                  </a:extLst>
                </a:gridCol>
              </a:tblGrid>
              <a:tr h="268172">
                <a:tc gridSpan="2">
                  <a:txBody>
                    <a:bodyPr/>
                    <a:lstStyle/>
                    <a:p>
                      <a:pPr algn="ctr" fontAlgn="base">
                        <a:lnSpc>
                          <a:spcPts val="1350"/>
                        </a:lnSpc>
                        <a:buNone/>
                      </a:pPr>
                      <a:r>
                        <a:rPr lang="en-US" sz="1000" b="1" i="0" dirty="0">
                          <a:solidFill>
                            <a:schemeClr val="bg1"/>
                          </a:solidFill>
                          <a:effectLst/>
                          <a:latin typeface="Roboto" panose="02000000000000000000" pitchFamily="2" charset="0"/>
                          <a:ea typeface="Roboto" panose="02000000000000000000" pitchFamily="2" charset="0"/>
                        </a:rPr>
                        <a:t>Features​</a:t>
                      </a:r>
                    </a:p>
                  </a:txBody>
                  <a:tcPr marL="71545" marR="71545" marT="35772" marB="35772">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0B7934"/>
                    </a:solidFill>
                  </a:tcPr>
                </a:tc>
                <a:tc hMerge="1">
                  <a:txBody>
                    <a:bodyPr/>
                    <a:lstStyle/>
                    <a:p>
                      <a:endParaRPr lang="zh-CN" altLang="en-US"/>
                    </a:p>
                  </a:txBody>
                  <a:tcPr/>
                </a:tc>
                <a:tc>
                  <a:txBody>
                    <a:bodyPr/>
                    <a:lstStyle/>
                    <a:p>
                      <a:pPr algn="ctr" fontAlgn="base">
                        <a:lnSpc>
                          <a:spcPts val="1350"/>
                        </a:lnSpc>
                        <a:buNone/>
                      </a:pPr>
                      <a:r>
                        <a:rPr lang="en-US" sz="1000" b="1" i="0" dirty="0">
                          <a:solidFill>
                            <a:schemeClr val="bg1"/>
                          </a:solidFill>
                          <a:effectLst/>
                          <a:latin typeface="Roboto" panose="02000000000000000000" pitchFamily="2" charset="0"/>
                          <a:ea typeface="Roboto" panose="02000000000000000000" pitchFamily="2" charset="0"/>
                        </a:rPr>
                        <a:t>APO-VX20-UC v2​</a:t>
                      </a:r>
                    </a:p>
                  </a:txBody>
                  <a:tcPr marL="71545" marR="71545" marT="35772" marB="35772">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0B7934"/>
                    </a:solidFill>
                  </a:tcPr>
                </a:tc>
                <a:tc>
                  <a:txBody>
                    <a:bodyPr/>
                    <a:lstStyle/>
                    <a:p>
                      <a:pPr algn="ctr" fontAlgn="base">
                        <a:lnSpc>
                          <a:spcPts val="1350"/>
                        </a:lnSpc>
                        <a:buNone/>
                      </a:pPr>
                      <a:r>
                        <a:rPr lang="en-US" sz="1000" b="1" i="0" dirty="0">
                          <a:solidFill>
                            <a:schemeClr val="bg1"/>
                          </a:solidFill>
                          <a:effectLst/>
                          <a:latin typeface="Roboto" panose="02000000000000000000" pitchFamily="2" charset="0"/>
                          <a:ea typeface="Roboto" panose="02000000000000000000" pitchFamily="2" charset="0"/>
                        </a:rPr>
                        <a:t>APO-VX20-UC​</a:t>
                      </a:r>
                    </a:p>
                  </a:txBody>
                  <a:tcPr marL="71545" marR="71545" marT="35772" marB="35772">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0B7934"/>
                    </a:solidFill>
                  </a:tcPr>
                </a:tc>
                <a:tc>
                  <a:txBody>
                    <a:bodyPr/>
                    <a:lstStyle/>
                    <a:p>
                      <a:pPr algn="ctr" fontAlgn="base">
                        <a:lnSpc>
                          <a:spcPts val="1350"/>
                        </a:lnSpc>
                        <a:buNone/>
                      </a:pPr>
                      <a:r>
                        <a:rPr lang="en-US" sz="1000" b="1" i="0" dirty="0">
                          <a:solidFill>
                            <a:schemeClr val="bg1"/>
                          </a:solidFill>
                          <a:effectLst/>
                          <a:latin typeface="Roboto" panose="02000000000000000000" pitchFamily="2" charset="0"/>
                          <a:ea typeface="Roboto" panose="02000000000000000000" pitchFamily="2" charset="0"/>
                        </a:rPr>
                        <a:t>HALO-VX10 v2​</a:t>
                      </a:r>
                    </a:p>
                  </a:txBody>
                  <a:tcPr marL="71545" marR="71545" marT="35772" marB="35772">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0B7934"/>
                    </a:solidFill>
                  </a:tcPr>
                </a:tc>
                <a:extLst>
                  <a:ext uri="{0D108BD9-81ED-4DB2-BD59-A6C34878D82A}">
                    <a16:rowId xmlns:a16="http://schemas.microsoft.com/office/drawing/2014/main" val="2542461026"/>
                  </a:ext>
                </a:extLst>
              </a:tr>
              <a:tr h="257378">
                <a:tc rowSpan="5">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Camera​</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l"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Sensor​</a:t>
                      </a:r>
                    </a:p>
                  </a:txBody>
                  <a:tcPr marL="71545" marR="71545" marT="35772" marB="35772">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ctr" fontAlgn="base">
                        <a:lnSpc>
                          <a:spcPts val="1275"/>
                        </a:lnSpc>
                        <a:buNone/>
                      </a:pPr>
                      <a:r>
                        <a:rPr lang="en-US" sz="1000" b="0" i="0" u="none" strike="noStrike" dirty="0">
                          <a:solidFill>
                            <a:srgbClr val="000000"/>
                          </a:solidFill>
                          <a:effectLst/>
                          <a:latin typeface="Roboto" panose="02000000000000000000" pitchFamily="2" charset="0"/>
                          <a:ea typeface="Roboto" panose="02000000000000000000" pitchFamily="2" charset="0"/>
                        </a:rPr>
                        <a:t>1/1.8'' | CMOS | 8M</a:t>
                      </a:r>
                      <a:r>
                        <a:rPr lang="en-US" sz="1000" b="0" i="0" dirty="0">
                          <a:solidFill>
                            <a:srgbClr val="000000"/>
                          </a:solidFill>
                          <a:effectLst/>
                          <a:latin typeface="Roboto" panose="02000000000000000000" pitchFamily="2" charset="0"/>
                          <a:ea typeface="Roboto" panose="02000000000000000000" pitchFamily="2" charset="0"/>
                        </a:rPr>
                        <a:t>​</a:t>
                      </a:r>
                    </a:p>
                  </a:txBody>
                  <a:tcPr marL="71545" marR="71545" marT="35772" marB="35772">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E4F3E2"/>
                    </a:solidFill>
                  </a:tcPr>
                </a:tc>
                <a:tc>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1/2.5'' | CMOS | 8M​</a:t>
                      </a:r>
                    </a:p>
                  </a:txBody>
                  <a:tcPr marL="71545" marR="71545" marT="35772" marB="35772">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1/2.7'' | CMOS | 8M​</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E4F3E2"/>
                    </a:solidFill>
                  </a:tcPr>
                </a:tc>
                <a:extLst>
                  <a:ext uri="{0D108BD9-81ED-4DB2-BD59-A6C34878D82A}">
                    <a16:rowId xmlns:a16="http://schemas.microsoft.com/office/drawing/2014/main" val="456266325"/>
                  </a:ext>
                </a:extLst>
              </a:tr>
              <a:tr h="257378">
                <a:tc vMerge="1">
                  <a:txBody>
                    <a:bodyPr/>
                    <a:lstStyle/>
                    <a:p>
                      <a:endParaRPr lang="zh-CN" altLang="en-US"/>
                    </a:p>
                  </a:txBody>
                  <a:tcPr/>
                </a:tc>
                <a:tc>
                  <a:txBody>
                    <a:bodyPr/>
                    <a:lstStyle/>
                    <a:p>
                      <a:pPr algn="l"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DFOV​</a:t>
                      </a:r>
                    </a:p>
                  </a:txBody>
                  <a:tcPr marL="71545" marR="71545" marT="35772" marB="35772">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120</a:t>
                      </a:r>
                      <a:r>
                        <a:rPr lang="en-US" sz="1000" b="0" i="0" u="none" strike="noStrike" dirty="0">
                          <a:solidFill>
                            <a:srgbClr val="000000"/>
                          </a:solidFill>
                          <a:effectLst/>
                          <a:latin typeface="Roboto" panose="02000000000000000000" pitchFamily="2" charset="0"/>
                          <a:ea typeface="Roboto" panose="02000000000000000000" pitchFamily="2" charset="0"/>
                        </a:rPr>
                        <a:t>°</a:t>
                      </a:r>
                      <a:r>
                        <a:rPr lang="en-US" sz="1000" b="0" i="0" dirty="0">
                          <a:solidFill>
                            <a:srgbClr val="000000"/>
                          </a:solidFill>
                          <a:effectLst/>
                          <a:latin typeface="Roboto" panose="02000000000000000000" pitchFamily="2" charset="0"/>
                          <a:ea typeface="Roboto" panose="02000000000000000000" pitchFamily="2" charset="0"/>
                        </a:rPr>
                        <a:t>​</a:t>
                      </a:r>
                    </a:p>
                  </a:txBody>
                  <a:tcPr marL="71545" marR="71545" marT="35772" marB="35772">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E4F3E2"/>
                    </a:solidFill>
                  </a:tcPr>
                </a:tc>
                <a:tc>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120°​</a:t>
                      </a:r>
                    </a:p>
                  </a:txBody>
                  <a:tcPr marL="71545" marR="71545" marT="35772" marB="35772">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120°​</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E4F3E2"/>
                    </a:solidFill>
                  </a:tcPr>
                </a:tc>
                <a:extLst>
                  <a:ext uri="{0D108BD9-81ED-4DB2-BD59-A6C34878D82A}">
                    <a16:rowId xmlns:a16="http://schemas.microsoft.com/office/drawing/2014/main" val="1261189988"/>
                  </a:ext>
                </a:extLst>
              </a:tr>
              <a:tr h="257378">
                <a:tc vMerge="1">
                  <a:txBody>
                    <a:bodyPr/>
                    <a:lstStyle/>
                    <a:p>
                      <a:endParaRPr lang="zh-CN" altLang="en-US"/>
                    </a:p>
                  </a:txBody>
                  <a:tcPr/>
                </a:tc>
                <a:tc>
                  <a:txBody>
                    <a:bodyPr/>
                    <a:lstStyle/>
                    <a:p>
                      <a:pPr algn="l"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Digital Zoom​</a:t>
                      </a:r>
                    </a:p>
                  </a:txBody>
                  <a:tcPr marL="71545" marR="71545" marT="35772" marB="35772">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ctr" fontAlgn="base">
                        <a:lnSpc>
                          <a:spcPts val="1275"/>
                        </a:lnSpc>
                        <a:buNone/>
                      </a:pPr>
                      <a:r>
                        <a:rPr lang="en-US" sz="1000" b="0" i="0" u="none" strike="noStrike" dirty="0">
                          <a:solidFill>
                            <a:srgbClr val="000000"/>
                          </a:solidFill>
                          <a:effectLst/>
                          <a:latin typeface="Roboto" panose="02000000000000000000" pitchFamily="2" charset="0"/>
                          <a:ea typeface="Roboto" panose="02000000000000000000" pitchFamily="2" charset="0"/>
                        </a:rPr>
                        <a:t>5x</a:t>
                      </a:r>
                      <a:r>
                        <a:rPr lang="en-US" sz="1000" b="0" i="0" dirty="0">
                          <a:solidFill>
                            <a:srgbClr val="000000"/>
                          </a:solidFill>
                          <a:effectLst/>
                          <a:latin typeface="Roboto" panose="02000000000000000000" pitchFamily="2" charset="0"/>
                          <a:ea typeface="Roboto" panose="02000000000000000000" pitchFamily="2" charset="0"/>
                        </a:rPr>
                        <a:t>​</a:t>
                      </a:r>
                    </a:p>
                  </a:txBody>
                  <a:tcPr marL="71545" marR="71545" marT="35772" marB="35772">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E4F3E2"/>
                    </a:solidFill>
                  </a:tcPr>
                </a:tc>
                <a:tc>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5x​</a:t>
                      </a:r>
                    </a:p>
                  </a:txBody>
                  <a:tcPr marL="71545" marR="71545" marT="35772" marB="35772">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ctr" fontAlgn="base">
                        <a:lnSpc>
                          <a:spcPts val="1275"/>
                        </a:lnSpc>
                        <a:buNone/>
                      </a:pPr>
                      <a:r>
                        <a:rPr lang="en-US" sz="1000" b="0" i="0">
                          <a:solidFill>
                            <a:srgbClr val="000000"/>
                          </a:solidFill>
                          <a:effectLst/>
                          <a:latin typeface="Roboto" panose="02000000000000000000" pitchFamily="2" charset="0"/>
                          <a:ea typeface="Roboto" panose="02000000000000000000" pitchFamily="2" charset="0"/>
                        </a:rPr>
                        <a:t>5x​</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E4F3E2"/>
                    </a:solidFill>
                  </a:tcPr>
                </a:tc>
                <a:extLst>
                  <a:ext uri="{0D108BD9-81ED-4DB2-BD59-A6C34878D82A}">
                    <a16:rowId xmlns:a16="http://schemas.microsoft.com/office/drawing/2014/main" val="1656524543"/>
                  </a:ext>
                </a:extLst>
              </a:tr>
              <a:tr h="257378">
                <a:tc vMerge="1">
                  <a:txBody>
                    <a:bodyPr/>
                    <a:lstStyle/>
                    <a:p>
                      <a:endParaRPr lang="zh-CN" altLang="en-US"/>
                    </a:p>
                  </a:txBody>
                  <a:tcPr/>
                </a:tc>
                <a:tc>
                  <a:txBody>
                    <a:bodyPr/>
                    <a:lstStyle/>
                    <a:p>
                      <a:pPr algn="l"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Max. Camera Resolution​</a:t>
                      </a:r>
                    </a:p>
                  </a:txBody>
                  <a:tcPr marL="71545" marR="71545" marT="35772" marB="35772">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ctr" fontAlgn="base">
                        <a:lnSpc>
                          <a:spcPts val="1275"/>
                        </a:lnSpc>
                        <a:buNone/>
                      </a:pPr>
                      <a:r>
                        <a:rPr lang="en-US" sz="1000" b="0" i="0" u="none" strike="noStrike" dirty="0">
                          <a:solidFill>
                            <a:srgbClr val="000000"/>
                          </a:solidFill>
                          <a:effectLst/>
                          <a:latin typeface="Roboto" panose="02000000000000000000" pitchFamily="2" charset="0"/>
                          <a:ea typeface="Roboto" panose="02000000000000000000" pitchFamily="2" charset="0"/>
                        </a:rPr>
                        <a:t>4K@30fps</a:t>
                      </a:r>
                      <a:r>
                        <a:rPr lang="en-US" altLang="zh-CN" sz="1000" b="0" i="0" dirty="0">
                          <a:solidFill>
                            <a:srgbClr val="000000"/>
                          </a:solidFill>
                          <a:effectLst/>
                          <a:latin typeface="Roboto" panose="02000000000000000000" pitchFamily="2" charset="0"/>
                          <a:ea typeface="Roboto" panose="02000000000000000000" pitchFamily="2" charset="0"/>
                        </a:rPr>
                        <a:t>​</a:t>
                      </a:r>
                    </a:p>
                  </a:txBody>
                  <a:tcPr marL="71545" marR="71545" marT="35772" marB="35772">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E4F3E2"/>
                    </a:solidFill>
                  </a:tcPr>
                </a:tc>
                <a:tc>
                  <a:txBody>
                    <a:bodyPr/>
                    <a:lstStyle/>
                    <a:p>
                      <a:pPr algn="ctr" fontAlgn="base">
                        <a:lnSpc>
                          <a:spcPts val="1275"/>
                        </a:lnSpc>
                        <a:buNone/>
                      </a:pPr>
                      <a:r>
                        <a:rPr lang="en-US" sz="1000" b="0" i="0" u="none" strike="noStrike" dirty="0">
                          <a:solidFill>
                            <a:srgbClr val="000000"/>
                          </a:solidFill>
                          <a:effectLst/>
                          <a:latin typeface="Roboto" panose="02000000000000000000" pitchFamily="2" charset="0"/>
                          <a:ea typeface="Roboto" panose="02000000000000000000" pitchFamily="2" charset="0"/>
                        </a:rPr>
                        <a:t>4K</a:t>
                      </a:r>
                      <a:r>
                        <a:rPr lang="en-US" sz="1000" b="0" i="0" dirty="0">
                          <a:solidFill>
                            <a:srgbClr val="000000"/>
                          </a:solidFill>
                          <a:effectLst/>
                          <a:latin typeface="Roboto" panose="02000000000000000000" pitchFamily="2" charset="0"/>
                          <a:ea typeface="Roboto" panose="02000000000000000000" pitchFamily="2" charset="0"/>
                        </a:rPr>
                        <a:t>@30fps​</a:t>
                      </a:r>
                    </a:p>
                  </a:txBody>
                  <a:tcPr marL="71545" marR="71545" marT="35772" marB="35772">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ctr" fontAlgn="base">
                        <a:lnSpc>
                          <a:spcPts val="1275"/>
                        </a:lnSpc>
                        <a:buNone/>
                      </a:pPr>
                      <a:r>
                        <a:rPr lang="en-US" sz="1000" b="0" i="0" u="none" strike="noStrike" dirty="0">
                          <a:solidFill>
                            <a:srgbClr val="000000"/>
                          </a:solidFill>
                          <a:effectLst/>
                          <a:latin typeface="Roboto" panose="02000000000000000000" pitchFamily="2" charset="0"/>
                          <a:ea typeface="Roboto" panose="02000000000000000000" pitchFamily="2" charset="0"/>
                        </a:rPr>
                        <a:t>4K@30fps</a:t>
                      </a:r>
                      <a:r>
                        <a:rPr lang="en-US" sz="1000" b="0" i="0" dirty="0">
                          <a:solidFill>
                            <a:srgbClr val="000000"/>
                          </a:solidFill>
                          <a:effectLst/>
                          <a:latin typeface="Roboto" panose="02000000000000000000" pitchFamily="2" charset="0"/>
                          <a:ea typeface="Roboto" panose="02000000000000000000" pitchFamily="2" charset="0"/>
                        </a:rPr>
                        <a:t>​</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E4F3E2"/>
                    </a:solidFill>
                  </a:tcPr>
                </a:tc>
                <a:extLst>
                  <a:ext uri="{0D108BD9-81ED-4DB2-BD59-A6C34878D82A}">
                    <a16:rowId xmlns:a16="http://schemas.microsoft.com/office/drawing/2014/main" val="2448504658"/>
                  </a:ext>
                </a:extLst>
              </a:tr>
              <a:tr h="444473">
                <a:tc vMerge="1">
                  <a:txBody>
                    <a:bodyPr/>
                    <a:lstStyle/>
                    <a:p>
                      <a:endParaRPr lang="zh-CN" altLang="en-US"/>
                    </a:p>
                  </a:txBody>
                  <a:tcPr/>
                </a:tc>
                <a:tc>
                  <a:txBody>
                    <a:bodyPr/>
                    <a:lstStyle/>
                    <a:p>
                      <a:pPr algn="l"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AI Tracking Functions​</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ctr" fontAlgn="base">
                        <a:lnSpc>
                          <a:spcPts val="1275"/>
                        </a:lnSpc>
                        <a:buNone/>
                      </a:pPr>
                      <a:r>
                        <a:rPr lang="en-US" sz="1000" b="0" i="0" u="none" strike="noStrike" dirty="0">
                          <a:solidFill>
                            <a:srgbClr val="000000"/>
                          </a:solidFill>
                          <a:effectLst/>
                          <a:latin typeface="Roboto" panose="02000000000000000000" pitchFamily="2" charset="0"/>
                          <a:ea typeface="Roboto" panose="02000000000000000000" pitchFamily="2" charset="0"/>
                        </a:rPr>
                        <a:t>Auto Framing, Speaker Tracking, Presenter Tracking, Individuals Gallery</a:t>
                      </a:r>
                      <a:r>
                        <a:rPr lang="en-US" altLang="zh-CN" sz="1000" b="0" i="0" dirty="0">
                          <a:solidFill>
                            <a:srgbClr val="000000"/>
                          </a:solidFill>
                          <a:effectLst/>
                          <a:latin typeface="Roboto" panose="02000000000000000000" pitchFamily="2" charset="0"/>
                          <a:ea typeface="Roboto" panose="02000000000000000000" pitchFamily="2" charset="0"/>
                        </a:rPr>
                        <a:t>​</a:t>
                      </a:r>
                    </a:p>
                  </a:txBody>
                  <a:tcPr marL="71545" marR="71545" marT="35772" marB="35772">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E4F3E2"/>
                    </a:solidFill>
                  </a:tcPr>
                </a:tc>
                <a:tc>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Auto Framing, Speaker Tracking, Presenter Tracking​</a:t>
                      </a:r>
                    </a:p>
                  </a:txBody>
                  <a:tcPr marL="71545" marR="71545" marT="35772" marB="35772">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Auto Framing, Speaker Tracking, Presenter Tracking​</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E4F3E2"/>
                    </a:solidFill>
                  </a:tcPr>
                </a:tc>
                <a:extLst>
                  <a:ext uri="{0D108BD9-81ED-4DB2-BD59-A6C34878D82A}">
                    <a16:rowId xmlns:a16="http://schemas.microsoft.com/office/drawing/2014/main" val="3609139470"/>
                  </a:ext>
                </a:extLst>
              </a:tr>
              <a:tr h="444473">
                <a:tc rowSpan="6">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Video​</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l"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Max. Video Output Resolution​</a:t>
                      </a:r>
                    </a:p>
                  </a:txBody>
                  <a:tcPr marL="71545" marR="71545" marT="35772" marB="35772">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ctr" fontAlgn="base">
                        <a:lnSpc>
                          <a:spcPts val="1275"/>
                        </a:lnSpc>
                        <a:buNone/>
                      </a:pPr>
                      <a:r>
                        <a:rPr lang="en-US" sz="1000" b="0" i="0" u="none" strike="noStrike" dirty="0">
                          <a:solidFill>
                            <a:srgbClr val="000000"/>
                          </a:solidFill>
                          <a:effectLst/>
                          <a:latin typeface="Roboto" panose="02000000000000000000" pitchFamily="2" charset="0"/>
                          <a:ea typeface="Roboto" panose="02000000000000000000" pitchFamily="2" charset="0"/>
                        </a:rPr>
                        <a:t>4K@60Hz 4:4:4</a:t>
                      </a:r>
                      <a:r>
                        <a:rPr lang="en-US" altLang="zh-CN" sz="1000" b="0" i="0" dirty="0">
                          <a:solidFill>
                            <a:srgbClr val="000000"/>
                          </a:solidFill>
                          <a:effectLst/>
                          <a:latin typeface="Roboto" panose="02000000000000000000" pitchFamily="2" charset="0"/>
                          <a:ea typeface="Roboto" panose="02000000000000000000" pitchFamily="2" charset="0"/>
                        </a:rPr>
                        <a:t>​</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E4F3E2"/>
                    </a:solidFill>
                  </a:tcPr>
                </a:tc>
                <a:tc>
                  <a:txBody>
                    <a:bodyPr/>
                    <a:lstStyle/>
                    <a:p>
                      <a:pPr algn="ctr" fontAlgn="base">
                        <a:lnSpc>
                          <a:spcPts val="1275"/>
                        </a:lnSpc>
                        <a:buNone/>
                      </a:pPr>
                      <a:r>
                        <a:rPr lang="en-US" sz="1000" b="0" i="0" u="none" strike="noStrike" dirty="0">
                          <a:solidFill>
                            <a:srgbClr val="000000"/>
                          </a:solidFill>
                          <a:effectLst/>
                          <a:latin typeface="Roboto" panose="02000000000000000000" pitchFamily="2" charset="0"/>
                          <a:ea typeface="Roboto" panose="02000000000000000000" pitchFamily="2" charset="0"/>
                        </a:rPr>
                        <a:t>4K@30Hz 4:4:4</a:t>
                      </a:r>
                      <a:r>
                        <a:rPr lang="en-US" sz="1000" b="0" i="0" dirty="0">
                          <a:solidFill>
                            <a:srgbClr val="000000"/>
                          </a:solidFill>
                          <a:effectLst/>
                          <a:latin typeface="Roboto" panose="02000000000000000000" pitchFamily="2" charset="0"/>
                          <a:ea typeface="Roboto" panose="02000000000000000000" pitchFamily="2" charset="0"/>
                        </a:rPr>
                        <a:t>​</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No​</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E4F3E2"/>
                    </a:solidFill>
                  </a:tcPr>
                </a:tc>
                <a:extLst>
                  <a:ext uri="{0D108BD9-81ED-4DB2-BD59-A6C34878D82A}">
                    <a16:rowId xmlns:a16="http://schemas.microsoft.com/office/drawing/2014/main" val="484896875"/>
                  </a:ext>
                </a:extLst>
              </a:tr>
              <a:tr h="257378">
                <a:tc vMerge="1">
                  <a:txBody>
                    <a:bodyPr/>
                    <a:lstStyle/>
                    <a:p>
                      <a:endParaRPr lang="zh-CN" altLang="en-US"/>
                    </a:p>
                  </a:txBody>
                  <a:tcPr/>
                </a:tc>
                <a:tc>
                  <a:txBody>
                    <a:bodyPr/>
                    <a:lstStyle/>
                    <a:p>
                      <a:pPr algn="l"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Video Inputs​</a:t>
                      </a:r>
                    </a:p>
                  </a:txBody>
                  <a:tcPr marL="71545" marR="71545" marT="35772" marB="35772">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ctr" fontAlgn="base">
                        <a:lnSpc>
                          <a:spcPts val="1275"/>
                        </a:lnSpc>
                        <a:buNone/>
                      </a:pPr>
                      <a:r>
                        <a:rPr lang="en-US" sz="1000" b="0" i="0" u="none" strike="noStrike" dirty="0">
                          <a:solidFill>
                            <a:srgbClr val="000000"/>
                          </a:solidFill>
                          <a:effectLst/>
                          <a:latin typeface="Roboto" panose="02000000000000000000" pitchFamily="2" charset="0"/>
                          <a:ea typeface="Roboto" panose="02000000000000000000" pitchFamily="2" charset="0"/>
                        </a:rPr>
                        <a:t>1x USB-C &amp; 1x HDMI</a:t>
                      </a:r>
                      <a:r>
                        <a:rPr lang="en-US" sz="1000" b="0" i="0" dirty="0">
                          <a:solidFill>
                            <a:srgbClr val="000000"/>
                          </a:solidFill>
                          <a:effectLst/>
                          <a:latin typeface="Roboto" panose="02000000000000000000" pitchFamily="2" charset="0"/>
                          <a:ea typeface="Roboto" panose="02000000000000000000" pitchFamily="2" charset="0"/>
                        </a:rPr>
                        <a:t>​</a:t>
                      </a:r>
                    </a:p>
                  </a:txBody>
                  <a:tcPr marL="71545" marR="71545" marT="35772" marB="35772">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E4F3E2"/>
                    </a:solidFill>
                  </a:tcPr>
                </a:tc>
                <a:tc>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1x USB-C &amp; 1x HDMI​</a:t>
                      </a:r>
                    </a:p>
                  </a:txBody>
                  <a:tcPr marL="71545" marR="71545" marT="35772" marB="35772">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No​</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E4F3E2"/>
                    </a:solidFill>
                  </a:tcPr>
                </a:tc>
                <a:extLst>
                  <a:ext uri="{0D108BD9-81ED-4DB2-BD59-A6C34878D82A}">
                    <a16:rowId xmlns:a16="http://schemas.microsoft.com/office/drawing/2014/main" val="2286412831"/>
                  </a:ext>
                </a:extLst>
              </a:tr>
              <a:tr h="257378">
                <a:tc vMerge="1">
                  <a:txBody>
                    <a:bodyPr/>
                    <a:lstStyle/>
                    <a:p>
                      <a:endParaRPr lang="zh-CN" altLang="en-US"/>
                    </a:p>
                  </a:txBody>
                  <a:tcPr/>
                </a:tc>
                <a:tc>
                  <a:txBody>
                    <a:bodyPr/>
                    <a:lstStyle/>
                    <a:p>
                      <a:pPr algn="l"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Video Outputs​</a:t>
                      </a:r>
                    </a:p>
                  </a:txBody>
                  <a:tcPr marL="71545" marR="71545" marT="35772" marB="35772">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ctr" fontAlgn="base">
                        <a:lnSpc>
                          <a:spcPts val="1275"/>
                        </a:lnSpc>
                        <a:buNone/>
                      </a:pPr>
                      <a:r>
                        <a:rPr lang="en-US" sz="1000" b="0" i="0" u="none" strike="noStrike" dirty="0">
                          <a:solidFill>
                            <a:srgbClr val="000000"/>
                          </a:solidFill>
                          <a:effectLst/>
                          <a:latin typeface="Roboto" panose="02000000000000000000" pitchFamily="2" charset="0"/>
                          <a:ea typeface="Roboto" panose="02000000000000000000" pitchFamily="2" charset="0"/>
                        </a:rPr>
                        <a:t>2x HDMI</a:t>
                      </a:r>
                      <a:r>
                        <a:rPr lang="en-US" sz="1000" b="0" i="0" dirty="0">
                          <a:solidFill>
                            <a:srgbClr val="000000"/>
                          </a:solidFill>
                          <a:effectLst/>
                          <a:latin typeface="Roboto" panose="02000000000000000000" pitchFamily="2" charset="0"/>
                          <a:ea typeface="Roboto" panose="02000000000000000000" pitchFamily="2" charset="0"/>
                        </a:rPr>
                        <a:t>​</a:t>
                      </a:r>
                    </a:p>
                  </a:txBody>
                  <a:tcPr marL="71545" marR="71545" marT="35772" marB="35772">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E4F3E2"/>
                    </a:solidFill>
                  </a:tcPr>
                </a:tc>
                <a:tc>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1x HDMI​</a:t>
                      </a:r>
                    </a:p>
                  </a:txBody>
                  <a:tcPr marL="71545" marR="71545" marT="35772" marB="35772">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No​</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E4F3E2"/>
                    </a:solidFill>
                  </a:tcPr>
                </a:tc>
                <a:extLst>
                  <a:ext uri="{0D108BD9-81ED-4DB2-BD59-A6C34878D82A}">
                    <a16:rowId xmlns:a16="http://schemas.microsoft.com/office/drawing/2014/main" val="2207319826"/>
                  </a:ext>
                </a:extLst>
              </a:tr>
              <a:tr h="257378">
                <a:tc vMerge="1">
                  <a:txBody>
                    <a:bodyPr/>
                    <a:lstStyle/>
                    <a:p>
                      <a:endParaRPr lang="zh-CN" altLang="en-US"/>
                    </a:p>
                  </a:txBody>
                  <a:tcPr/>
                </a:tc>
                <a:tc>
                  <a:txBody>
                    <a:bodyPr/>
                    <a:lstStyle/>
                    <a:p>
                      <a:pPr algn="l"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Wireless Casting​</a:t>
                      </a:r>
                    </a:p>
                  </a:txBody>
                  <a:tcPr marL="71545" marR="71545" marT="35772" marB="35772">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ctr" fontAlgn="base">
                        <a:lnSpc>
                          <a:spcPts val="1275"/>
                        </a:lnSpc>
                        <a:buNone/>
                      </a:pPr>
                      <a:r>
                        <a:rPr lang="en-US" sz="1000" b="0" i="0" u="none" strike="noStrike" dirty="0">
                          <a:solidFill>
                            <a:srgbClr val="000000"/>
                          </a:solidFill>
                          <a:effectLst/>
                          <a:latin typeface="Roboto" panose="02000000000000000000" pitchFamily="2" charset="0"/>
                          <a:ea typeface="Roboto" panose="02000000000000000000" pitchFamily="2" charset="0"/>
                        </a:rPr>
                        <a:t>Airplay &amp; Miracast &amp; APO-DG2/APO-DG2-PRO</a:t>
                      </a:r>
                      <a:r>
                        <a:rPr lang="en-US" altLang="zh-CN" sz="1000" b="0" i="0" dirty="0">
                          <a:solidFill>
                            <a:srgbClr val="000000"/>
                          </a:solidFill>
                          <a:effectLst/>
                          <a:latin typeface="Roboto" panose="02000000000000000000" pitchFamily="2" charset="0"/>
                          <a:ea typeface="Roboto" panose="02000000000000000000" pitchFamily="2" charset="0"/>
                        </a:rPr>
                        <a:t>​</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E4F3E2"/>
                    </a:solidFill>
                  </a:tcPr>
                </a:tc>
                <a:tc>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Airplay &amp; Miracast &amp; APO-DG1​</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No​</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E4F3E2"/>
                    </a:solidFill>
                  </a:tcPr>
                </a:tc>
                <a:extLst>
                  <a:ext uri="{0D108BD9-81ED-4DB2-BD59-A6C34878D82A}">
                    <a16:rowId xmlns:a16="http://schemas.microsoft.com/office/drawing/2014/main" val="4082686666"/>
                  </a:ext>
                </a:extLst>
              </a:tr>
              <a:tr h="257378">
                <a:tc vMerge="1">
                  <a:txBody>
                    <a:bodyPr/>
                    <a:lstStyle/>
                    <a:p>
                      <a:endParaRPr lang="zh-CN" altLang="en-US"/>
                    </a:p>
                  </a:txBody>
                  <a:tcPr/>
                </a:tc>
                <a:tc>
                  <a:txBody>
                    <a:bodyPr/>
                    <a:lstStyle/>
                    <a:p>
                      <a:pPr algn="l"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Wireless Conferencing​</a:t>
                      </a:r>
                    </a:p>
                  </a:txBody>
                  <a:tcPr marL="71545" marR="71545" marT="35772" marB="35772">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ctr" fontAlgn="base">
                        <a:lnSpc>
                          <a:spcPts val="1275"/>
                        </a:lnSpc>
                        <a:buNone/>
                      </a:pPr>
                      <a:r>
                        <a:rPr lang="en-US" sz="1000" b="0" i="0" u="none" strike="noStrike" dirty="0">
                          <a:solidFill>
                            <a:srgbClr val="000000"/>
                          </a:solidFill>
                          <a:effectLst/>
                          <a:latin typeface="Roboto" panose="02000000000000000000" pitchFamily="2" charset="0"/>
                          <a:ea typeface="Roboto" panose="02000000000000000000" pitchFamily="2" charset="0"/>
                        </a:rPr>
                        <a:t>Yes, with APO-DG2/APO-DG2-PRO</a:t>
                      </a:r>
                      <a:r>
                        <a:rPr lang="en-US" sz="1000" b="0" i="0" dirty="0">
                          <a:solidFill>
                            <a:srgbClr val="000000"/>
                          </a:solidFill>
                          <a:effectLst/>
                          <a:latin typeface="Roboto" panose="02000000000000000000" pitchFamily="2" charset="0"/>
                          <a:ea typeface="Roboto" panose="02000000000000000000" pitchFamily="2" charset="0"/>
                        </a:rPr>
                        <a:t>​</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E4F3E2"/>
                    </a:solidFill>
                  </a:tcPr>
                </a:tc>
                <a:tc>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No​</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ctr" fontAlgn="base">
                        <a:lnSpc>
                          <a:spcPts val="1275"/>
                        </a:lnSpc>
                        <a:buNone/>
                      </a:pPr>
                      <a:r>
                        <a:rPr lang="en-US" sz="1000" b="0" i="0">
                          <a:solidFill>
                            <a:srgbClr val="000000"/>
                          </a:solidFill>
                          <a:effectLst/>
                          <a:latin typeface="Roboto" panose="02000000000000000000" pitchFamily="2" charset="0"/>
                          <a:ea typeface="Roboto" panose="02000000000000000000" pitchFamily="2" charset="0"/>
                        </a:rPr>
                        <a:t>No​</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E4F3E2"/>
                    </a:solidFill>
                  </a:tcPr>
                </a:tc>
                <a:extLst>
                  <a:ext uri="{0D108BD9-81ED-4DB2-BD59-A6C34878D82A}">
                    <a16:rowId xmlns:a16="http://schemas.microsoft.com/office/drawing/2014/main" val="3058534253"/>
                  </a:ext>
                </a:extLst>
              </a:tr>
              <a:tr h="257378">
                <a:tc vMerge="1">
                  <a:txBody>
                    <a:bodyPr/>
                    <a:lstStyle/>
                    <a:p>
                      <a:endParaRPr lang="zh-CN" altLang="en-US"/>
                    </a:p>
                  </a:txBody>
                  <a:tcPr/>
                </a:tc>
                <a:tc>
                  <a:txBody>
                    <a:bodyPr/>
                    <a:lstStyle/>
                    <a:p>
                      <a:pPr algn="l"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Dual View​</a:t>
                      </a:r>
                    </a:p>
                  </a:txBody>
                  <a:tcPr marL="71545" marR="71545" marT="35772" marB="35772">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Yes​</a:t>
                      </a:r>
                    </a:p>
                  </a:txBody>
                  <a:tcPr marL="71545" marR="71545" marT="35772" marB="35772">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E4F3E2"/>
                    </a:solidFill>
                  </a:tcPr>
                </a:tc>
                <a:tc>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Yes​</a:t>
                      </a:r>
                    </a:p>
                  </a:txBody>
                  <a:tcPr marL="71545" marR="71545" marT="35772" marB="35772">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No​</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E4F3E2"/>
                    </a:solidFill>
                  </a:tcPr>
                </a:tc>
                <a:extLst>
                  <a:ext uri="{0D108BD9-81ED-4DB2-BD59-A6C34878D82A}">
                    <a16:rowId xmlns:a16="http://schemas.microsoft.com/office/drawing/2014/main" val="815716703"/>
                  </a:ext>
                </a:extLst>
              </a:tr>
              <a:tr h="444473">
                <a:tc rowSpan="4">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Audio​</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l"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Voice Picking up Distance​</a:t>
                      </a:r>
                    </a:p>
                    <a:p>
                      <a:pPr algn="l"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(Without extension mics)​</a:t>
                      </a:r>
                    </a:p>
                  </a:txBody>
                  <a:tcPr marL="71545" marR="71545" marT="35772" marB="35772">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up to 8m​</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E4F3E2"/>
                    </a:solidFill>
                  </a:tcPr>
                </a:tc>
                <a:tc>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up to 5m​</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up to 5m​</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E4F3E2"/>
                    </a:solidFill>
                  </a:tcPr>
                </a:tc>
                <a:extLst>
                  <a:ext uri="{0D108BD9-81ED-4DB2-BD59-A6C34878D82A}">
                    <a16:rowId xmlns:a16="http://schemas.microsoft.com/office/drawing/2014/main" val="1574352330"/>
                  </a:ext>
                </a:extLst>
              </a:tr>
              <a:tr h="257378">
                <a:tc vMerge="1">
                  <a:txBody>
                    <a:bodyPr/>
                    <a:lstStyle/>
                    <a:p>
                      <a:endParaRPr lang="zh-CN" altLang="en-US"/>
                    </a:p>
                  </a:txBody>
                  <a:tcPr/>
                </a:tc>
                <a:tc>
                  <a:txBody>
                    <a:bodyPr/>
                    <a:lstStyle/>
                    <a:p>
                      <a:pPr algn="l"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Speaker ​</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2x 8W​</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E4F3E2"/>
                    </a:solidFill>
                  </a:tcPr>
                </a:tc>
                <a:tc>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2x 8W​</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2x 3W​</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E4F3E2"/>
                    </a:solidFill>
                  </a:tcPr>
                </a:tc>
                <a:extLst>
                  <a:ext uri="{0D108BD9-81ED-4DB2-BD59-A6C34878D82A}">
                    <a16:rowId xmlns:a16="http://schemas.microsoft.com/office/drawing/2014/main" val="4231419552"/>
                  </a:ext>
                </a:extLst>
              </a:tr>
              <a:tr h="270256">
                <a:tc vMerge="1">
                  <a:txBody>
                    <a:bodyPr/>
                    <a:lstStyle/>
                    <a:p>
                      <a:endParaRPr lang="zh-CN" altLang="en-US"/>
                    </a:p>
                  </a:txBody>
                  <a:tcPr/>
                </a:tc>
                <a:tc>
                  <a:txBody>
                    <a:bodyPr/>
                    <a:lstStyle/>
                    <a:p>
                      <a:pPr algn="l"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Extension Microphones ​</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5x APO-SKY-MIC​</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E4F3E2"/>
                    </a:solidFill>
                  </a:tcPr>
                </a:tc>
                <a:tc>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5x APO-SKY-MIC​</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3x HALO-COM-MIC​</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E4F3E2"/>
                    </a:solidFill>
                  </a:tcPr>
                </a:tc>
                <a:extLst>
                  <a:ext uri="{0D108BD9-81ED-4DB2-BD59-A6C34878D82A}">
                    <a16:rowId xmlns:a16="http://schemas.microsoft.com/office/drawing/2014/main" val="2618674024"/>
                  </a:ext>
                </a:extLst>
              </a:tr>
              <a:tr h="257378">
                <a:tc vMerge="1">
                  <a:txBody>
                    <a:bodyPr/>
                    <a:lstStyle/>
                    <a:p>
                      <a:endParaRPr lang="zh-CN" altLang="en-US"/>
                    </a:p>
                  </a:txBody>
                  <a:tcPr/>
                </a:tc>
                <a:tc>
                  <a:txBody>
                    <a:bodyPr/>
                    <a:lstStyle/>
                    <a:p>
                      <a:pPr algn="l"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3.5mm Analog Audio Out​</a:t>
                      </a:r>
                    </a:p>
                  </a:txBody>
                  <a:tcPr marL="71545" marR="71545" marT="35772" marB="35772">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No​</a:t>
                      </a:r>
                    </a:p>
                  </a:txBody>
                  <a:tcPr marL="71545" marR="71545" marT="35772" marB="35772">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E4F3E2"/>
                    </a:solidFill>
                  </a:tcPr>
                </a:tc>
                <a:tc>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No​</a:t>
                      </a:r>
                    </a:p>
                  </a:txBody>
                  <a:tcPr marL="71545" marR="71545" marT="35772" marB="35772">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Yes​</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E4F3E2"/>
                    </a:solidFill>
                  </a:tcPr>
                </a:tc>
                <a:extLst>
                  <a:ext uri="{0D108BD9-81ED-4DB2-BD59-A6C34878D82A}">
                    <a16:rowId xmlns:a16="http://schemas.microsoft.com/office/drawing/2014/main" val="3520324850"/>
                  </a:ext>
                </a:extLst>
              </a:tr>
              <a:tr h="257378">
                <a:tc rowSpan="2">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Others​</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l"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USB 3.0​</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Yes​</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E4F3E2"/>
                    </a:solidFill>
                  </a:tcPr>
                </a:tc>
                <a:tc>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Yes​</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Yes​</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E4F3E2"/>
                    </a:solidFill>
                  </a:tcPr>
                </a:tc>
                <a:extLst>
                  <a:ext uri="{0D108BD9-81ED-4DB2-BD59-A6C34878D82A}">
                    <a16:rowId xmlns:a16="http://schemas.microsoft.com/office/drawing/2014/main" val="4019124876"/>
                  </a:ext>
                </a:extLst>
              </a:tr>
              <a:tr h="257378">
                <a:tc vMerge="1">
                  <a:txBody>
                    <a:bodyPr/>
                    <a:lstStyle/>
                    <a:p>
                      <a:endParaRPr lang="zh-CN" altLang="en-US"/>
                    </a:p>
                  </a:txBody>
                  <a:tcPr/>
                </a:tc>
                <a:tc>
                  <a:txBody>
                    <a:bodyPr/>
                    <a:lstStyle/>
                    <a:p>
                      <a:pPr algn="l"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Remote Control​</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Yes​</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E4F3E2"/>
                    </a:solidFill>
                  </a:tcPr>
                </a:tc>
                <a:tc>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Yes​</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D6E5D6"/>
                    </a:solidFill>
                  </a:tcPr>
                </a:tc>
                <a:tc>
                  <a:txBody>
                    <a:bodyPr/>
                    <a:lstStyle/>
                    <a:p>
                      <a:pPr algn="ctr" fontAlgn="base">
                        <a:lnSpc>
                          <a:spcPts val="1275"/>
                        </a:lnSpc>
                        <a:buNone/>
                      </a:pPr>
                      <a:r>
                        <a:rPr lang="en-US" sz="1000" b="0" i="0" dirty="0">
                          <a:solidFill>
                            <a:srgbClr val="000000"/>
                          </a:solidFill>
                          <a:effectLst/>
                          <a:latin typeface="Roboto" panose="02000000000000000000" pitchFamily="2" charset="0"/>
                          <a:ea typeface="Roboto" panose="02000000000000000000" pitchFamily="2" charset="0"/>
                        </a:rPr>
                        <a:t>No​</a:t>
                      </a:r>
                    </a:p>
                  </a:txBody>
                  <a:tcPr marL="71545" marR="71545" marT="35772" marB="35772" anchor="ctr">
                    <a:lnL w="17297" cap="flat" cmpd="sng" algn="ctr">
                      <a:solidFill>
                        <a:srgbClr val="FFFFFF"/>
                      </a:solidFill>
                      <a:prstDash val="solid"/>
                      <a:round/>
                      <a:headEnd type="none" w="med" len="med"/>
                      <a:tailEnd type="none" w="med" len="med"/>
                    </a:lnL>
                    <a:lnR w="17297" cap="flat" cmpd="sng" algn="ctr">
                      <a:solidFill>
                        <a:srgbClr val="FFFFFF"/>
                      </a:solidFill>
                      <a:prstDash val="solid"/>
                      <a:round/>
                      <a:headEnd type="none" w="med" len="med"/>
                      <a:tailEnd type="none" w="med" len="med"/>
                    </a:lnR>
                    <a:lnT w="17297" cap="flat" cmpd="sng" algn="ctr">
                      <a:solidFill>
                        <a:srgbClr val="FFFFFF"/>
                      </a:solidFill>
                      <a:prstDash val="solid"/>
                      <a:round/>
                      <a:headEnd type="none" w="med" len="med"/>
                      <a:tailEnd type="none" w="med" len="med"/>
                    </a:lnT>
                    <a:lnB w="17297" cap="flat" cmpd="sng" algn="ctr">
                      <a:solidFill>
                        <a:srgbClr val="FFFFFF"/>
                      </a:solidFill>
                      <a:prstDash val="solid"/>
                      <a:round/>
                      <a:headEnd type="none" w="med" len="med"/>
                      <a:tailEnd type="none" w="med" len="med"/>
                    </a:lnB>
                    <a:solidFill>
                      <a:srgbClr val="E4F3E2"/>
                    </a:solidFill>
                  </a:tcPr>
                </a:tc>
                <a:extLst>
                  <a:ext uri="{0D108BD9-81ED-4DB2-BD59-A6C34878D82A}">
                    <a16:rowId xmlns:a16="http://schemas.microsoft.com/office/drawing/2014/main" val="295453252"/>
                  </a:ext>
                </a:extLst>
              </a:tr>
            </a:tbl>
          </a:graphicData>
        </a:graphic>
      </p:graphicFrame>
      <p:sp>
        <p:nvSpPr>
          <p:cNvPr id="3" name="Rectangle 1">
            <a:extLst>
              <a:ext uri="{FF2B5EF4-FFF2-40B4-BE49-F238E27FC236}">
                <a16:creationId xmlns:a16="http://schemas.microsoft.com/office/drawing/2014/main" id="{5EBE7104-0DD4-F497-85E4-BD2BC0DD8906}"/>
              </a:ext>
            </a:extLst>
          </p:cNvPr>
          <p:cNvSpPr>
            <a:spLocks noChangeArrowheads="1"/>
          </p:cNvSpPr>
          <p:nvPr/>
        </p:nvSpPr>
        <p:spPr bwMode="auto">
          <a:xfrm>
            <a:off x="838200" y="18208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Arial" panose="020B0604020202020204" pitchFamily="34" charset="0"/>
                <a:ea typeface="PingFang SC"/>
              </a:rPr>
              <a:t> </a:t>
            </a:r>
            <a:endParaRPr kumimoji="0" lang="zh-CN" altLang="zh-CN"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表格 9"/>
          <p:cNvGraphicFramePr/>
          <p:nvPr>
            <p:custDataLst>
              <p:tags r:id="rId1"/>
            </p:custDataLst>
            <p:extLst>
              <p:ext uri="{D42A27DB-BD31-4B8C-83A1-F6EECF244321}">
                <p14:modId xmlns:p14="http://schemas.microsoft.com/office/powerpoint/2010/main" val="1618801134"/>
              </p:ext>
            </p:extLst>
          </p:nvPr>
        </p:nvGraphicFramePr>
        <p:xfrm>
          <a:off x="457155" y="1081662"/>
          <a:ext cx="11107394" cy="5134697"/>
        </p:xfrm>
        <a:graphic>
          <a:graphicData uri="http://schemas.openxmlformats.org/drawingml/2006/table">
            <a:tbl>
              <a:tblPr firstRow="1" bandRow="1">
                <a:solidFill>
                  <a:srgbClr val="D6E5D6"/>
                </a:solidFill>
                <a:effectLst>
                  <a:outerShdw blurRad="50800" dist="38100" dir="5400000" algn="t" rotWithShape="0">
                    <a:prstClr val="black">
                      <a:alpha val="40000"/>
                    </a:prstClr>
                  </a:outerShdw>
                </a:effectLst>
                <a:tableStyleId>{5C22544A-7EE6-4342-B048-85BDC9FD1C3A}</a:tableStyleId>
              </a:tblPr>
              <a:tblGrid>
                <a:gridCol w="1090496">
                  <a:extLst>
                    <a:ext uri="{9D8B030D-6E8A-4147-A177-3AD203B41FA5}">
                      <a16:colId xmlns:a16="http://schemas.microsoft.com/office/drawing/2014/main" val="2687312678"/>
                    </a:ext>
                  </a:extLst>
                </a:gridCol>
                <a:gridCol w="1764970">
                  <a:extLst>
                    <a:ext uri="{9D8B030D-6E8A-4147-A177-3AD203B41FA5}">
                      <a16:colId xmlns:a16="http://schemas.microsoft.com/office/drawing/2014/main" val="20000"/>
                    </a:ext>
                  </a:extLst>
                </a:gridCol>
                <a:gridCol w="2254726">
                  <a:extLst>
                    <a:ext uri="{9D8B030D-6E8A-4147-A177-3AD203B41FA5}">
                      <a16:colId xmlns:a16="http://schemas.microsoft.com/office/drawing/2014/main" val="20001"/>
                    </a:ext>
                  </a:extLst>
                </a:gridCol>
                <a:gridCol w="2014469">
                  <a:extLst>
                    <a:ext uri="{9D8B030D-6E8A-4147-A177-3AD203B41FA5}">
                      <a16:colId xmlns:a16="http://schemas.microsoft.com/office/drawing/2014/main" val="20002"/>
                    </a:ext>
                  </a:extLst>
                </a:gridCol>
                <a:gridCol w="1820414">
                  <a:extLst>
                    <a:ext uri="{9D8B030D-6E8A-4147-A177-3AD203B41FA5}">
                      <a16:colId xmlns:a16="http://schemas.microsoft.com/office/drawing/2014/main" val="20003"/>
                    </a:ext>
                  </a:extLst>
                </a:gridCol>
                <a:gridCol w="2162319">
                  <a:extLst>
                    <a:ext uri="{9D8B030D-6E8A-4147-A177-3AD203B41FA5}">
                      <a16:colId xmlns:a16="http://schemas.microsoft.com/office/drawing/2014/main" val="20004"/>
                    </a:ext>
                  </a:extLst>
                </a:gridCol>
              </a:tblGrid>
              <a:tr h="387879">
                <a:tc gridSpan="2">
                  <a:txBody>
                    <a:bodyPr/>
                    <a:lstStyle/>
                    <a:p>
                      <a:pPr algn="ctr">
                        <a:buNone/>
                      </a:pPr>
                      <a:r>
                        <a:rPr lang="en-US" altLang="zh-CN" sz="1000" dirty="0">
                          <a:latin typeface="Roboto" charset="0"/>
                          <a:ea typeface="Roboto" charset="0"/>
                          <a:cs typeface="Arial" panose="020B0604020202020204" pitchFamily="34" charset="0"/>
                        </a:rPr>
                        <a:t>Features</a:t>
                      </a:r>
                    </a:p>
                  </a:txBody>
                  <a:tcPr anchor="ctr">
                    <a:solidFill>
                      <a:srgbClr val="0B7935"/>
                    </a:solidFill>
                  </a:tcPr>
                </a:tc>
                <a:tc hMerge="1">
                  <a:txBody>
                    <a:bodyPr/>
                    <a:lstStyle/>
                    <a:p>
                      <a:pPr algn="ctr">
                        <a:buNone/>
                      </a:pPr>
                      <a:endParaRPr lang="en-US" altLang="zh-CN" sz="1000" dirty="0">
                        <a:latin typeface="Roboto" charset="0"/>
                        <a:ea typeface="Roboto" charset="0"/>
                        <a:cs typeface="Arial" panose="020B0604020202020204" pitchFamily="34" charset="0"/>
                      </a:endParaRPr>
                    </a:p>
                  </a:txBody>
                  <a:tcPr>
                    <a:solidFill>
                      <a:srgbClr val="0B7935"/>
                    </a:solidFill>
                  </a:tcPr>
                </a:tc>
                <a:tc>
                  <a:txBody>
                    <a:bodyPr/>
                    <a:lstStyle/>
                    <a:p>
                      <a:pPr algn="ctr">
                        <a:buNone/>
                      </a:pPr>
                      <a:r>
                        <a:rPr lang="en-US" altLang="zh-CN" sz="1000" dirty="0" err="1">
                          <a:latin typeface="Roboto" charset="0"/>
                          <a:ea typeface="Roboto" charset="0"/>
                          <a:cs typeface="Arial" panose="020B0604020202020204" pitchFamily="34" charset="0"/>
                        </a:rPr>
                        <a:t>Wyrestorm</a:t>
                      </a:r>
                      <a:endParaRPr lang="en-US" altLang="zh-CN" sz="1000" dirty="0">
                        <a:latin typeface="Roboto" charset="0"/>
                        <a:ea typeface="Roboto" charset="0"/>
                        <a:cs typeface="Arial" panose="020B0604020202020204" pitchFamily="34" charset="0"/>
                      </a:endParaRPr>
                    </a:p>
                    <a:p>
                      <a:pPr algn="ctr">
                        <a:buNone/>
                      </a:pPr>
                      <a:r>
                        <a:rPr lang="en-US" altLang="zh-CN" sz="1000" dirty="0">
                          <a:latin typeface="Roboto" charset="0"/>
                          <a:ea typeface="Roboto" charset="0"/>
                          <a:cs typeface="Arial" panose="020B0604020202020204" pitchFamily="34" charset="0"/>
                        </a:rPr>
                        <a:t>APO-VX20-UC</a:t>
                      </a:r>
                      <a:r>
                        <a:rPr lang="zh-CN" altLang="en-US" sz="1000" dirty="0">
                          <a:latin typeface="Roboto" charset="0"/>
                          <a:ea typeface="Roboto" charset="0"/>
                          <a:cs typeface="Arial" panose="020B0604020202020204" pitchFamily="34" charset="0"/>
                        </a:rPr>
                        <a:t> </a:t>
                      </a:r>
                      <a:r>
                        <a:rPr lang="en-US" altLang="zh-CN" sz="1000" dirty="0">
                          <a:latin typeface="Roboto" charset="0"/>
                          <a:ea typeface="Roboto" charset="0"/>
                          <a:cs typeface="Arial" panose="020B0604020202020204" pitchFamily="34" charset="0"/>
                        </a:rPr>
                        <a:t>v2</a:t>
                      </a:r>
                    </a:p>
                  </a:txBody>
                  <a:tcPr>
                    <a:solidFill>
                      <a:srgbClr val="0B7935"/>
                    </a:solidFill>
                  </a:tcPr>
                </a:tc>
                <a:tc>
                  <a:txBody>
                    <a:bodyPr/>
                    <a:lstStyle/>
                    <a:p>
                      <a:pPr algn="ctr">
                        <a:buNone/>
                      </a:pPr>
                      <a:r>
                        <a:rPr lang="en-US" altLang="zh-CN" sz="1000" dirty="0">
                          <a:latin typeface="Roboto" charset="0"/>
                          <a:ea typeface="Roboto" charset="0"/>
                          <a:cs typeface="Arial" panose="020B0604020202020204" pitchFamily="34" charset="0"/>
                        </a:rPr>
                        <a:t>Barco</a:t>
                      </a:r>
                    </a:p>
                    <a:p>
                      <a:pPr algn="ctr">
                        <a:buNone/>
                      </a:pPr>
                      <a:r>
                        <a:rPr lang="en-US" altLang="zh-CN" sz="1000" dirty="0" err="1">
                          <a:latin typeface="Roboto" charset="0"/>
                          <a:ea typeface="Roboto" charset="0"/>
                          <a:cs typeface="Arial" panose="020B0604020202020204" pitchFamily="34" charset="0"/>
                        </a:rPr>
                        <a:t>ClickShare</a:t>
                      </a:r>
                      <a:r>
                        <a:rPr lang="zh-CN" altLang="en-US" sz="1000" dirty="0">
                          <a:latin typeface="Roboto" charset="0"/>
                          <a:ea typeface="Roboto" charset="0"/>
                          <a:cs typeface="Arial" panose="020B0604020202020204" pitchFamily="34" charset="0"/>
                        </a:rPr>
                        <a:t> </a:t>
                      </a:r>
                      <a:r>
                        <a:rPr lang="en-US" altLang="zh-CN" sz="1000" dirty="0">
                          <a:latin typeface="Roboto" charset="0"/>
                          <a:ea typeface="Roboto" charset="0"/>
                          <a:cs typeface="Arial" panose="020B0604020202020204" pitchFamily="34" charset="0"/>
                        </a:rPr>
                        <a:t>Bar</a:t>
                      </a:r>
                      <a:r>
                        <a:rPr lang="zh-CN" altLang="en-US" sz="1000" dirty="0">
                          <a:latin typeface="Roboto" charset="0"/>
                          <a:ea typeface="Roboto" charset="0"/>
                          <a:cs typeface="Arial" panose="020B0604020202020204" pitchFamily="34" charset="0"/>
                        </a:rPr>
                        <a:t> </a:t>
                      </a:r>
                      <a:r>
                        <a:rPr lang="en-US" altLang="zh-CN" sz="1000" dirty="0">
                          <a:latin typeface="Roboto" charset="0"/>
                          <a:ea typeface="Roboto" charset="0"/>
                          <a:cs typeface="Arial" panose="020B0604020202020204" pitchFamily="34" charset="0"/>
                        </a:rPr>
                        <a:t>Pro</a:t>
                      </a:r>
                    </a:p>
                  </a:txBody>
                  <a:tcPr>
                    <a:solidFill>
                      <a:srgbClr val="0B7935"/>
                    </a:solidFill>
                  </a:tcPr>
                </a:tc>
                <a:tc>
                  <a:txBody>
                    <a:bodyPr/>
                    <a:lstStyle/>
                    <a:p>
                      <a:pPr algn="ctr">
                        <a:buNone/>
                      </a:pPr>
                      <a:r>
                        <a:rPr lang="en-US" altLang="zh-CN" sz="1000" dirty="0">
                          <a:latin typeface="Roboto" charset="0"/>
                          <a:ea typeface="Roboto" charset="0"/>
                          <a:cs typeface="Arial" panose="020B0604020202020204" pitchFamily="34" charset="0"/>
                        </a:rPr>
                        <a:t>Yealink</a:t>
                      </a:r>
                    </a:p>
                    <a:p>
                      <a:pPr algn="ctr">
                        <a:buNone/>
                      </a:pPr>
                      <a:r>
                        <a:rPr lang="en-US" altLang="zh-CN" sz="1000" dirty="0">
                          <a:latin typeface="Roboto" charset="0"/>
                          <a:ea typeface="Roboto" charset="0"/>
                          <a:cs typeface="Arial" panose="020B0604020202020204" pitchFamily="34" charset="0"/>
                        </a:rPr>
                        <a:t>A40</a:t>
                      </a:r>
                    </a:p>
                  </a:txBody>
                  <a:tcPr>
                    <a:solidFill>
                      <a:srgbClr val="0B7935"/>
                    </a:solidFill>
                  </a:tcPr>
                </a:tc>
                <a:tc>
                  <a:txBody>
                    <a:bodyPr/>
                    <a:lstStyle/>
                    <a:p>
                      <a:pPr algn="ctr">
                        <a:buNone/>
                      </a:pPr>
                      <a:r>
                        <a:rPr lang="en-US" altLang="zh-CN" sz="1000" dirty="0">
                          <a:latin typeface="Roboto" charset="0"/>
                          <a:ea typeface="Roboto" charset="0"/>
                          <a:cs typeface="Arial" panose="020B0604020202020204" pitchFamily="34" charset="0"/>
                        </a:rPr>
                        <a:t>Neat</a:t>
                      </a:r>
                    </a:p>
                    <a:p>
                      <a:pPr algn="ctr">
                        <a:buNone/>
                      </a:pPr>
                      <a:r>
                        <a:rPr lang="en-US" altLang="zh-CN" sz="1000" dirty="0">
                          <a:latin typeface="Roboto" charset="0"/>
                          <a:ea typeface="Roboto" charset="0"/>
                          <a:cs typeface="Arial" panose="020B0604020202020204" pitchFamily="34" charset="0"/>
                        </a:rPr>
                        <a:t>Neat Bar Pro</a:t>
                      </a:r>
                    </a:p>
                  </a:txBody>
                  <a:tcPr>
                    <a:solidFill>
                      <a:srgbClr val="0B7935"/>
                    </a:solidFill>
                  </a:tcPr>
                </a:tc>
                <a:extLst>
                  <a:ext uri="{0D108BD9-81ED-4DB2-BD59-A6C34878D82A}">
                    <a16:rowId xmlns:a16="http://schemas.microsoft.com/office/drawing/2014/main" val="10000"/>
                  </a:ext>
                </a:extLst>
              </a:tr>
              <a:tr h="286504">
                <a:tc rowSpan="3">
                  <a:txBody>
                    <a:bodyPr/>
                    <a:lstStyle/>
                    <a:p>
                      <a:pPr algn="ctr"/>
                      <a:r>
                        <a:rPr lang="en-US" altLang="zh-CN" sz="1000" kern="1200" dirty="0">
                          <a:solidFill>
                            <a:schemeClr val="dk1"/>
                          </a:solidFill>
                          <a:latin typeface="Roboto" panose="02000000000000000000" pitchFamily="2" charset="0"/>
                          <a:ea typeface="+mn-ea"/>
                          <a:cs typeface="+mn-cs"/>
                        </a:rPr>
                        <a:t>Camera</a:t>
                      </a:r>
                      <a:endParaRPr lang="zh-CN" altLang="en-US" sz="1000" kern="1200" dirty="0">
                        <a:solidFill>
                          <a:schemeClr val="dk1"/>
                        </a:solidFill>
                        <a:latin typeface="Roboto" panose="02000000000000000000" pitchFamily="2" charset="0"/>
                        <a:ea typeface="+mn-ea"/>
                        <a:cs typeface="+mn-cs"/>
                      </a:endParaRPr>
                    </a:p>
                  </a:txBody>
                  <a:tcPr anchor="ctr">
                    <a:solidFill>
                      <a:srgbClr val="D6E5D5"/>
                    </a:solidFill>
                  </a:tcPr>
                </a:tc>
                <a:tc>
                  <a:txBody>
                    <a:bodyPr/>
                    <a:lstStyle/>
                    <a:p>
                      <a:pPr algn="l"/>
                      <a:r>
                        <a:rPr lang="en-US" altLang="zh-CN" sz="1000" kern="1200" dirty="0">
                          <a:solidFill>
                            <a:schemeClr val="dk1"/>
                          </a:solidFill>
                          <a:latin typeface="Roboto" panose="02000000000000000000" pitchFamily="2" charset="0"/>
                          <a:ea typeface="+mn-ea"/>
                          <a:cs typeface="+mn-cs"/>
                        </a:rPr>
                        <a:t>Max. Camera</a:t>
                      </a:r>
                      <a:r>
                        <a:rPr lang="zh-CN" altLang="en-US" sz="1000" kern="1200" dirty="0">
                          <a:solidFill>
                            <a:schemeClr val="dk1"/>
                          </a:solidFill>
                          <a:latin typeface="Roboto" panose="02000000000000000000" pitchFamily="2" charset="0"/>
                          <a:ea typeface="+mn-ea"/>
                          <a:cs typeface="+mn-cs"/>
                        </a:rPr>
                        <a:t> </a:t>
                      </a:r>
                      <a:r>
                        <a:rPr lang="en-US" altLang="zh-CN" sz="1000" kern="1200" dirty="0">
                          <a:solidFill>
                            <a:schemeClr val="dk1"/>
                          </a:solidFill>
                          <a:latin typeface="Roboto" panose="02000000000000000000" pitchFamily="2" charset="0"/>
                          <a:ea typeface="+mn-ea"/>
                          <a:cs typeface="+mn-cs"/>
                        </a:rPr>
                        <a:t>Resolution</a:t>
                      </a:r>
                      <a:endParaRPr lang="zh-CN" altLang="en-US" sz="1000" kern="1200" dirty="0">
                        <a:solidFill>
                          <a:schemeClr val="dk1"/>
                        </a:solidFill>
                        <a:latin typeface="Roboto" panose="02000000000000000000" pitchFamily="2" charset="0"/>
                        <a:ea typeface="+mn-ea"/>
                        <a:cs typeface="+mn-cs"/>
                      </a:endParaRPr>
                    </a:p>
                  </a:txBody>
                  <a:tcPr anchor="ctr">
                    <a:solidFill>
                      <a:srgbClr val="D6E5D5"/>
                    </a:solidFill>
                  </a:tcPr>
                </a:tc>
                <a:tc>
                  <a:txBody>
                    <a:bodyPr/>
                    <a:lstStyle/>
                    <a:p>
                      <a:pPr algn="ctr">
                        <a:buNone/>
                      </a:pPr>
                      <a:r>
                        <a:rPr lang="en-US" altLang="zh-CN" sz="1000" b="0" kern="1200" dirty="0">
                          <a:solidFill>
                            <a:schemeClr val="tx1"/>
                          </a:solidFill>
                          <a:latin typeface="Roboto" charset="0"/>
                          <a:ea typeface="Roboto" charset="0"/>
                          <a:cs typeface="Arial" panose="020B0604020202020204" pitchFamily="34" charset="0"/>
                        </a:rPr>
                        <a:t>4K@30fps</a:t>
                      </a:r>
                    </a:p>
                  </a:txBody>
                  <a:tcPr anchor="ctr">
                    <a:solidFill>
                      <a:srgbClr val="D6E5D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0" kern="1200" dirty="0">
                          <a:solidFill>
                            <a:schemeClr val="tx1"/>
                          </a:solidFill>
                          <a:latin typeface="Roboto" charset="0"/>
                          <a:ea typeface="Roboto" charset="0"/>
                          <a:cs typeface="Arial" panose="020B0604020202020204" pitchFamily="34" charset="0"/>
                        </a:rPr>
                        <a:t>4K@30fps</a:t>
                      </a:r>
                    </a:p>
                  </a:txBody>
                  <a:tcPr anchor="ctr">
                    <a:solidFill>
                      <a:srgbClr val="D6E5D5"/>
                    </a:solidFill>
                  </a:tcPr>
                </a:tc>
                <a:tc>
                  <a:txBody>
                    <a:bodyPr/>
                    <a:lstStyle/>
                    <a:p>
                      <a:pPr algn="ctr">
                        <a:buNone/>
                      </a:pPr>
                      <a:r>
                        <a:rPr lang="en-US" altLang="zh-CN" sz="1000" dirty="0">
                          <a:latin typeface="Roboto" charset="0"/>
                          <a:ea typeface="Roboto" charset="0"/>
                          <a:cs typeface="Arial" panose="020B0604020202020204" pitchFamily="34" charset="0"/>
                        </a:rPr>
                        <a:t>4K@30fps</a:t>
                      </a:r>
                    </a:p>
                  </a:txBody>
                  <a:tcPr anchor="ctr">
                    <a:solidFill>
                      <a:srgbClr val="D6E5D5"/>
                    </a:solidFill>
                  </a:tcPr>
                </a:tc>
                <a:tc>
                  <a:txBody>
                    <a:bodyPr/>
                    <a:lstStyle/>
                    <a:p>
                      <a:pPr algn="ctr">
                        <a:buNone/>
                      </a:pPr>
                      <a:r>
                        <a:rPr lang="en-US" altLang="zh-CN" sz="1000" dirty="0">
                          <a:latin typeface="Roboto" charset="0"/>
                          <a:ea typeface="Roboto" charset="0"/>
                          <a:cs typeface="Arial" panose="020B0604020202020204" pitchFamily="34" charset="0"/>
                        </a:rPr>
                        <a:t>1080p</a:t>
                      </a:r>
                    </a:p>
                  </a:txBody>
                  <a:tcPr anchor="ctr">
                    <a:solidFill>
                      <a:srgbClr val="D6E5D5"/>
                    </a:solidFill>
                  </a:tcPr>
                </a:tc>
                <a:extLst>
                  <a:ext uri="{0D108BD9-81ED-4DB2-BD59-A6C34878D82A}">
                    <a16:rowId xmlns:a16="http://schemas.microsoft.com/office/drawing/2014/main" val="10001"/>
                  </a:ext>
                </a:extLst>
              </a:tr>
              <a:tr h="238695">
                <a:tc vMerge="1">
                  <a:txBody>
                    <a:bodyPr/>
                    <a:lstStyle/>
                    <a:p>
                      <a:pPr algn="ctr"/>
                      <a:endParaRPr lang="zh-CN" altLang="en-US" sz="1200" dirty="0">
                        <a:latin typeface="Roboto" panose="02000000000000000000" pitchFamily="2" charset="0"/>
                      </a:endParaRPr>
                    </a:p>
                  </a:txBody>
                  <a:tcPr anchor="ctr">
                    <a:solidFill>
                      <a:srgbClr val="E3F2E2"/>
                    </a:solidFill>
                  </a:tcPr>
                </a:tc>
                <a:tc>
                  <a:txBody>
                    <a:bodyPr/>
                    <a:lstStyle/>
                    <a:p>
                      <a:pPr algn="l"/>
                      <a:r>
                        <a:rPr lang="en-US" altLang="zh-CN" sz="1000" dirty="0">
                          <a:latin typeface="Roboto" panose="02000000000000000000" pitchFamily="2" charset="0"/>
                        </a:rPr>
                        <a:t>DFOV</a:t>
                      </a:r>
                      <a:endParaRPr lang="zh-CN" altLang="en-US" sz="1000" dirty="0">
                        <a:latin typeface="Roboto" panose="02000000000000000000" pitchFamily="2" charset="0"/>
                      </a:endParaRPr>
                    </a:p>
                  </a:txBody>
                  <a:tcPr anchor="ctr">
                    <a:solidFill>
                      <a:srgbClr val="E3F2E2"/>
                    </a:solidFill>
                  </a:tcPr>
                </a:tc>
                <a:tc>
                  <a:txBody>
                    <a:bodyPr/>
                    <a:lstStyle/>
                    <a:p>
                      <a:pPr algn="ctr">
                        <a:buClrTx/>
                        <a:buSzTx/>
                        <a:buFontTx/>
                        <a:buNone/>
                      </a:pPr>
                      <a:r>
                        <a:rPr lang="en-US" sz="1000" b="0" dirty="0">
                          <a:solidFill>
                            <a:schemeClr val="tx1"/>
                          </a:solidFill>
                          <a:latin typeface="Roboto" charset="0"/>
                          <a:ea typeface="Roboto" charset="0"/>
                          <a:cs typeface="Arial" panose="020B0604020202020204" pitchFamily="34" charset="0"/>
                        </a:rPr>
                        <a:t>120°</a:t>
                      </a:r>
                    </a:p>
                  </a:txBody>
                  <a:tcPr anchor="ctr">
                    <a:solidFill>
                      <a:srgbClr val="E3F2E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0" dirty="0">
                          <a:solidFill>
                            <a:schemeClr val="tx1"/>
                          </a:solidFill>
                          <a:latin typeface="Roboto" charset="0"/>
                          <a:ea typeface="Roboto" charset="0"/>
                          <a:cs typeface="Arial" panose="020B0604020202020204" pitchFamily="34" charset="0"/>
                        </a:rPr>
                        <a:t>120°</a:t>
                      </a:r>
                    </a:p>
                  </a:txBody>
                  <a:tcPr anchor="ctr">
                    <a:solidFill>
                      <a:srgbClr val="E3F2E2"/>
                    </a:solidFill>
                  </a:tcPr>
                </a:tc>
                <a:tc>
                  <a:txBody>
                    <a:bodyPr/>
                    <a:lstStyle/>
                    <a:p>
                      <a:pPr algn="ctr">
                        <a:buNone/>
                      </a:pPr>
                      <a:r>
                        <a:rPr lang="en-US" altLang="zh-CN" sz="1000" dirty="0">
                          <a:latin typeface="Roboto" charset="0"/>
                          <a:ea typeface="Roboto" charset="0"/>
                          <a:cs typeface="Arial" panose="020B0604020202020204" pitchFamily="34" charset="0"/>
                        </a:rPr>
                        <a:t>120</a:t>
                      </a:r>
                      <a:r>
                        <a:rPr lang="en-US" altLang="zh-CN" sz="1000" b="0" dirty="0">
                          <a:solidFill>
                            <a:schemeClr val="tx1"/>
                          </a:solidFill>
                          <a:latin typeface="Roboto" charset="0"/>
                          <a:ea typeface="Roboto" charset="0"/>
                          <a:cs typeface="Arial" panose="020B0604020202020204" pitchFamily="34" charset="0"/>
                        </a:rPr>
                        <a:t>°</a:t>
                      </a:r>
                      <a:endParaRPr lang="en-US" altLang="zh-CN" sz="1000" dirty="0">
                        <a:latin typeface="Roboto" charset="0"/>
                        <a:ea typeface="Roboto" charset="0"/>
                        <a:cs typeface="Arial" panose="020B0604020202020204" pitchFamily="34" charset="0"/>
                      </a:endParaRPr>
                    </a:p>
                  </a:txBody>
                  <a:tcPr anchor="ctr">
                    <a:solidFill>
                      <a:srgbClr val="E3F2E2"/>
                    </a:solidFill>
                  </a:tcPr>
                </a:tc>
                <a:tc>
                  <a:txBody>
                    <a:bodyPr/>
                    <a:lstStyle/>
                    <a:p>
                      <a:pPr algn="ctr">
                        <a:buNone/>
                      </a:pPr>
                      <a:r>
                        <a:rPr lang="en-US" altLang="zh-CN" sz="1000" dirty="0">
                          <a:latin typeface="Roboto" charset="0"/>
                          <a:ea typeface="Roboto" charset="0"/>
                          <a:cs typeface="Arial" panose="020B0604020202020204" pitchFamily="34" charset="0"/>
                        </a:rPr>
                        <a:t>120</a:t>
                      </a:r>
                      <a:r>
                        <a:rPr lang="en-US" altLang="zh-CN" sz="1000" b="0" dirty="0">
                          <a:solidFill>
                            <a:schemeClr val="tx1"/>
                          </a:solidFill>
                          <a:latin typeface="Roboto" charset="0"/>
                          <a:ea typeface="Roboto" charset="0"/>
                          <a:cs typeface="Arial" panose="020B0604020202020204" pitchFamily="34" charset="0"/>
                        </a:rPr>
                        <a:t>°</a:t>
                      </a:r>
                      <a:endParaRPr lang="en-US" altLang="zh-CN" sz="1000" dirty="0">
                        <a:latin typeface="Roboto" charset="0"/>
                        <a:ea typeface="Roboto" charset="0"/>
                        <a:cs typeface="Arial" panose="020B0604020202020204" pitchFamily="34" charset="0"/>
                      </a:endParaRPr>
                    </a:p>
                  </a:txBody>
                  <a:tcPr anchor="ctr">
                    <a:solidFill>
                      <a:srgbClr val="E3F2E2"/>
                    </a:solidFill>
                  </a:tcPr>
                </a:tc>
                <a:extLst>
                  <a:ext uri="{0D108BD9-81ED-4DB2-BD59-A6C34878D82A}">
                    <a16:rowId xmlns:a16="http://schemas.microsoft.com/office/drawing/2014/main" val="10002"/>
                  </a:ext>
                </a:extLst>
              </a:tr>
              <a:tr h="686247">
                <a:tc vMerge="1">
                  <a:txBody>
                    <a:bodyPr/>
                    <a:lstStyle/>
                    <a:p>
                      <a:pPr algn="ctr"/>
                      <a:endParaRPr lang="zh-CN" altLang="en-US" sz="1200" kern="1200" dirty="0">
                        <a:solidFill>
                          <a:schemeClr val="dk1"/>
                        </a:solidFill>
                        <a:latin typeface="Roboto" panose="02000000000000000000" pitchFamily="2" charset="0"/>
                        <a:ea typeface="+mn-ea"/>
                        <a:cs typeface="+mn-cs"/>
                      </a:endParaRPr>
                    </a:p>
                  </a:txBody>
                  <a:tcPr anchor="ctr">
                    <a:solidFill>
                      <a:srgbClr val="D6E5D5"/>
                    </a:solidFill>
                  </a:tcPr>
                </a:tc>
                <a:tc>
                  <a:txBody>
                    <a:bodyPr/>
                    <a:lstStyle/>
                    <a:p>
                      <a:pPr algn="l"/>
                      <a:r>
                        <a:rPr lang="en-US" altLang="zh-CN" sz="1000" kern="1200" dirty="0">
                          <a:solidFill>
                            <a:schemeClr val="dk1"/>
                          </a:solidFill>
                          <a:latin typeface="Roboto" panose="02000000000000000000" pitchFamily="2" charset="0"/>
                          <a:ea typeface="+mn-ea"/>
                          <a:cs typeface="+mn-cs"/>
                        </a:rPr>
                        <a:t>AI</a:t>
                      </a:r>
                      <a:r>
                        <a:rPr lang="zh-CN" altLang="en-US" sz="1000" kern="1200" dirty="0">
                          <a:solidFill>
                            <a:schemeClr val="dk1"/>
                          </a:solidFill>
                          <a:latin typeface="Roboto" panose="02000000000000000000" pitchFamily="2" charset="0"/>
                          <a:ea typeface="+mn-ea"/>
                          <a:cs typeface="+mn-cs"/>
                        </a:rPr>
                        <a:t> </a:t>
                      </a:r>
                      <a:r>
                        <a:rPr lang="en-US" altLang="zh-CN" sz="1000" kern="1200" dirty="0">
                          <a:solidFill>
                            <a:schemeClr val="dk1"/>
                          </a:solidFill>
                          <a:latin typeface="Roboto" panose="02000000000000000000" pitchFamily="2" charset="0"/>
                          <a:ea typeface="+mn-ea"/>
                          <a:cs typeface="+mn-cs"/>
                        </a:rPr>
                        <a:t>Tracking</a:t>
                      </a:r>
                      <a:endParaRPr lang="zh-CN" altLang="en-US" sz="1000" kern="1200" dirty="0">
                        <a:solidFill>
                          <a:schemeClr val="dk1"/>
                        </a:solidFill>
                        <a:latin typeface="Roboto" panose="02000000000000000000" pitchFamily="2" charset="0"/>
                        <a:ea typeface="+mn-ea"/>
                        <a:cs typeface="+mn-cs"/>
                      </a:endParaRPr>
                    </a:p>
                  </a:txBody>
                  <a:tcPr anchor="ctr">
                    <a:solidFill>
                      <a:srgbClr val="D6E5D5"/>
                    </a:solidFill>
                  </a:tcPr>
                </a:tc>
                <a:tc>
                  <a:txBody>
                    <a:bodyPr/>
                    <a:lstStyle/>
                    <a:p>
                      <a:pPr marL="0" algn="ctr" defTabSz="914400" rtl="0" eaLnBrk="1" fontAlgn="ctr" latinLnBrk="0" hangingPunct="1">
                        <a:buNone/>
                      </a:pPr>
                      <a:r>
                        <a:rPr lang="en-US" sz="1000" kern="1200" dirty="0">
                          <a:solidFill>
                            <a:schemeClr val="dk1"/>
                          </a:solidFill>
                          <a:latin typeface="Roboto" panose="02000000000000000000" pitchFamily="2" charset="0"/>
                          <a:ea typeface="+mn-ea"/>
                          <a:cs typeface="+mn-cs"/>
                        </a:rPr>
                        <a:t>Auto Framing</a:t>
                      </a:r>
                      <a:br>
                        <a:rPr lang="en-US" sz="1000" kern="1200" dirty="0">
                          <a:solidFill>
                            <a:schemeClr val="dk1"/>
                          </a:solidFill>
                          <a:latin typeface="Roboto" panose="02000000000000000000" pitchFamily="2" charset="0"/>
                          <a:ea typeface="+mn-ea"/>
                          <a:cs typeface="+mn-cs"/>
                        </a:rPr>
                      </a:br>
                      <a:r>
                        <a:rPr lang="en-US" sz="1000" kern="1200" dirty="0">
                          <a:solidFill>
                            <a:schemeClr val="dk1"/>
                          </a:solidFill>
                          <a:latin typeface="Roboto" panose="02000000000000000000" pitchFamily="2" charset="0"/>
                          <a:ea typeface="+mn-ea"/>
                          <a:cs typeface="+mn-cs"/>
                        </a:rPr>
                        <a:t>Speaker Tracking</a:t>
                      </a:r>
                      <a:br>
                        <a:rPr lang="en-US" sz="1000" kern="1200" dirty="0">
                          <a:solidFill>
                            <a:schemeClr val="dk1"/>
                          </a:solidFill>
                          <a:latin typeface="Roboto" panose="02000000000000000000" pitchFamily="2" charset="0"/>
                          <a:ea typeface="+mn-ea"/>
                          <a:cs typeface="+mn-cs"/>
                        </a:rPr>
                      </a:br>
                      <a:r>
                        <a:rPr lang="en-US" sz="1000" kern="1200" dirty="0">
                          <a:solidFill>
                            <a:schemeClr val="dk1"/>
                          </a:solidFill>
                          <a:latin typeface="Roboto" panose="02000000000000000000" pitchFamily="2" charset="0"/>
                          <a:ea typeface="+mn-ea"/>
                          <a:cs typeface="+mn-cs"/>
                        </a:rPr>
                        <a:t>Presenter Tracking </a:t>
                      </a:r>
                      <a:br>
                        <a:rPr lang="en-US" sz="1000" kern="1200" dirty="0">
                          <a:solidFill>
                            <a:schemeClr val="dk1"/>
                          </a:solidFill>
                          <a:latin typeface="Roboto" panose="02000000000000000000" pitchFamily="2" charset="0"/>
                          <a:ea typeface="+mn-ea"/>
                          <a:cs typeface="+mn-cs"/>
                        </a:rPr>
                      </a:br>
                      <a:r>
                        <a:rPr lang="en-US" sz="1000" kern="1200" dirty="0">
                          <a:solidFill>
                            <a:schemeClr val="dk1"/>
                          </a:solidFill>
                          <a:latin typeface="Roboto" panose="02000000000000000000" pitchFamily="2" charset="0"/>
                          <a:ea typeface="+mn-ea"/>
                          <a:cs typeface="+mn-cs"/>
                        </a:rPr>
                        <a:t>Individuals Gallery</a:t>
                      </a:r>
                    </a:p>
                  </a:txBody>
                  <a:tcPr marL="9525" marR="9525" marT="9525" marB="0" anchor="ctr">
                    <a:solidFill>
                      <a:srgbClr val="D6E5D5"/>
                    </a:solidFill>
                  </a:tcPr>
                </a:tc>
                <a:tc>
                  <a:txBody>
                    <a:bodyPr/>
                    <a:lstStyle/>
                    <a:p>
                      <a:pPr marL="0" algn="ctr" defTabSz="914400" rtl="0" eaLnBrk="1" fontAlgn="ctr" latinLnBrk="0" hangingPunct="1">
                        <a:buNone/>
                      </a:pPr>
                      <a:r>
                        <a:rPr lang="en-US" sz="1000" kern="1200" dirty="0">
                          <a:solidFill>
                            <a:schemeClr val="dk1"/>
                          </a:solidFill>
                          <a:latin typeface="Roboto" panose="02000000000000000000" pitchFamily="2" charset="0"/>
                          <a:ea typeface="+mn-ea"/>
                          <a:cs typeface="+mn-cs"/>
                        </a:rPr>
                        <a:t>Auto Framing</a:t>
                      </a:r>
                      <a:br>
                        <a:rPr lang="en-US" sz="1000" kern="1200" dirty="0">
                          <a:solidFill>
                            <a:schemeClr val="dk1"/>
                          </a:solidFill>
                          <a:latin typeface="Roboto" panose="02000000000000000000" pitchFamily="2" charset="0"/>
                          <a:ea typeface="+mn-ea"/>
                          <a:cs typeface="+mn-cs"/>
                        </a:rPr>
                      </a:br>
                      <a:r>
                        <a:rPr lang="en-US" sz="1000" kern="1200" dirty="0">
                          <a:solidFill>
                            <a:schemeClr val="dk1"/>
                          </a:solidFill>
                          <a:latin typeface="Roboto" panose="02000000000000000000" pitchFamily="2" charset="0"/>
                          <a:ea typeface="+mn-ea"/>
                          <a:cs typeface="+mn-cs"/>
                        </a:rPr>
                        <a:t>Speaker Tracking</a:t>
                      </a:r>
                      <a:br>
                        <a:rPr lang="en-US" sz="1000" kern="1200" dirty="0">
                          <a:solidFill>
                            <a:schemeClr val="dk1"/>
                          </a:solidFill>
                          <a:latin typeface="Roboto" panose="02000000000000000000" pitchFamily="2" charset="0"/>
                          <a:ea typeface="+mn-ea"/>
                          <a:cs typeface="+mn-cs"/>
                        </a:rPr>
                      </a:br>
                      <a:r>
                        <a:rPr lang="en-US" sz="1000" kern="1200" dirty="0">
                          <a:solidFill>
                            <a:schemeClr val="dk1"/>
                          </a:solidFill>
                          <a:latin typeface="Roboto" panose="02000000000000000000" pitchFamily="2" charset="0"/>
                          <a:ea typeface="+mn-ea"/>
                          <a:cs typeface="+mn-cs"/>
                        </a:rPr>
                        <a:t>Composition Mode</a:t>
                      </a:r>
                    </a:p>
                  </a:txBody>
                  <a:tcPr marL="9525" marR="9525" marT="9525" marB="0" anchor="ctr">
                    <a:solidFill>
                      <a:srgbClr val="D6E5D5"/>
                    </a:solidFill>
                  </a:tcPr>
                </a:tc>
                <a:tc>
                  <a:txBody>
                    <a:bodyPr/>
                    <a:lstStyle/>
                    <a:p>
                      <a:pPr algn="ctr">
                        <a:buNone/>
                      </a:pPr>
                      <a:r>
                        <a:rPr lang="en-US" altLang="zh-CN" sz="1000" dirty="0" err="1">
                          <a:latin typeface="Roboto" charset="0"/>
                          <a:ea typeface="Roboto" charset="0"/>
                          <a:cs typeface="Arial" panose="020B0604020202020204" pitchFamily="34" charset="0"/>
                        </a:rPr>
                        <a:t>IntelliFocus</a:t>
                      </a:r>
                      <a:endParaRPr lang="en-US" altLang="zh-CN" sz="1000" dirty="0">
                        <a:latin typeface="Roboto" charset="0"/>
                        <a:ea typeface="Roboto" charset="0"/>
                        <a:cs typeface="Arial" panose="020B0604020202020204" pitchFamily="34" charset="0"/>
                      </a:endParaRPr>
                    </a:p>
                    <a:p>
                      <a:pPr algn="ctr">
                        <a:buNone/>
                      </a:pPr>
                      <a:r>
                        <a:rPr lang="en-US" altLang="zh-CN" sz="1000" dirty="0">
                          <a:latin typeface="Roboto" charset="0"/>
                          <a:ea typeface="Roboto" charset="0"/>
                          <a:cs typeface="Arial" panose="020B0604020202020204" pitchFamily="34" charset="0"/>
                        </a:rPr>
                        <a:t>Auto Framing</a:t>
                      </a:r>
                    </a:p>
                    <a:p>
                      <a:pPr algn="ctr">
                        <a:buNone/>
                      </a:pPr>
                      <a:r>
                        <a:rPr lang="en-US" altLang="zh-CN" sz="1000" dirty="0">
                          <a:latin typeface="Roboto" charset="0"/>
                          <a:ea typeface="Roboto" charset="0"/>
                          <a:cs typeface="Arial" panose="020B0604020202020204" pitchFamily="34" charset="0"/>
                        </a:rPr>
                        <a:t>Speaker Tracking</a:t>
                      </a:r>
                    </a:p>
                    <a:p>
                      <a:pPr algn="ctr">
                        <a:buNone/>
                      </a:pPr>
                      <a:r>
                        <a:rPr lang="en-US" altLang="zh-CN" sz="1000" dirty="0">
                          <a:latin typeface="Roboto" charset="0"/>
                          <a:ea typeface="Roboto" charset="0"/>
                          <a:cs typeface="Arial" panose="020B0604020202020204" pitchFamily="34" charset="0"/>
                        </a:rPr>
                        <a:t>Smart Gallery (Zoom only)</a:t>
                      </a:r>
                    </a:p>
                  </a:txBody>
                  <a:tcPr anchor="ctr">
                    <a:solidFill>
                      <a:srgbClr val="D6E5D5"/>
                    </a:solidFill>
                  </a:tcPr>
                </a:tc>
                <a:tc>
                  <a:txBody>
                    <a:bodyPr/>
                    <a:lstStyle/>
                    <a:p>
                      <a:pPr algn="ctr">
                        <a:buNone/>
                      </a:pPr>
                      <a:r>
                        <a:rPr lang="en-US" altLang="zh-CN" sz="1000" dirty="0">
                          <a:latin typeface="Roboto" charset="0"/>
                          <a:ea typeface="Roboto" charset="0"/>
                          <a:cs typeface="Arial" panose="020B0604020202020204" pitchFamily="34" charset="0"/>
                        </a:rPr>
                        <a:t>Adaptive</a:t>
                      </a:r>
                      <a:r>
                        <a:rPr lang="zh-CN" altLang="en-US" sz="1000" dirty="0">
                          <a:latin typeface="Roboto" charset="0"/>
                          <a:ea typeface="Roboto" charset="0"/>
                          <a:cs typeface="Arial" panose="020B0604020202020204" pitchFamily="34" charset="0"/>
                        </a:rPr>
                        <a:t> </a:t>
                      </a:r>
                      <a:r>
                        <a:rPr lang="en-US" altLang="zh-CN" sz="1000" dirty="0">
                          <a:latin typeface="Roboto" charset="0"/>
                          <a:ea typeface="Roboto" charset="0"/>
                          <a:cs typeface="Arial" panose="020B0604020202020204" pitchFamily="34" charset="0"/>
                        </a:rPr>
                        <a:t>Group</a:t>
                      </a:r>
                      <a:r>
                        <a:rPr lang="zh-CN" altLang="en-US" sz="1000" dirty="0">
                          <a:latin typeface="Roboto" charset="0"/>
                          <a:ea typeface="Roboto" charset="0"/>
                          <a:cs typeface="Arial" panose="020B0604020202020204" pitchFamily="34" charset="0"/>
                        </a:rPr>
                        <a:t> </a:t>
                      </a:r>
                      <a:r>
                        <a:rPr lang="en-US" altLang="zh-CN" sz="1000" dirty="0">
                          <a:latin typeface="Roboto" charset="0"/>
                          <a:ea typeface="Roboto" charset="0"/>
                          <a:cs typeface="Arial" panose="020B0604020202020204" pitchFamily="34" charset="0"/>
                        </a:rPr>
                        <a:t>Framing</a:t>
                      </a:r>
                    </a:p>
                    <a:p>
                      <a:pPr algn="ctr">
                        <a:buNone/>
                      </a:pPr>
                      <a:r>
                        <a:rPr lang="en-US" altLang="zh-CN" sz="1000" dirty="0">
                          <a:latin typeface="Roboto" charset="0"/>
                          <a:ea typeface="Roboto" charset="0"/>
                          <a:cs typeface="Arial" panose="020B0604020202020204" pitchFamily="34" charset="0"/>
                        </a:rPr>
                        <a:t>Dynamic</a:t>
                      </a:r>
                      <a:r>
                        <a:rPr lang="zh-CN" altLang="en-US" sz="1000" dirty="0">
                          <a:latin typeface="Roboto" charset="0"/>
                          <a:ea typeface="Roboto" charset="0"/>
                          <a:cs typeface="Arial" panose="020B0604020202020204" pitchFamily="34" charset="0"/>
                        </a:rPr>
                        <a:t> </a:t>
                      </a:r>
                      <a:r>
                        <a:rPr lang="en-US" altLang="zh-CN" sz="1000" dirty="0">
                          <a:latin typeface="Roboto" charset="0"/>
                          <a:ea typeface="Roboto" charset="0"/>
                          <a:cs typeface="Arial" panose="020B0604020202020204" pitchFamily="34" charset="0"/>
                        </a:rPr>
                        <a:t>Individual</a:t>
                      </a:r>
                      <a:r>
                        <a:rPr lang="zh-CN" altLang="en-US" sz="1000" dirty="0">
                          <a:latin typeface="Roboto" charset="0"/>
                          <a:ea typeface="Roboto" charset="0"/>
                          <a:cs typeface="Arial" panose="020B0604020202020204" pitchFamily="34" charset="0"/>
                        </a:rPr>
                        <a:t> </a:t>
                      </a:r>
                      <a:r>
                        <a:rPr lang="en-US" altLang="zh-CN" sz="1000" dirty="0">
                          <a:latin typeface="Roboto" charset="0"/>
                          <a:ea typeface="Roboto" charset="0"/>
                          <a:cs typeface="Arial" panose="020B0604020202020204" pitchFamily="34" charset="0"/>
                        </a:rPr>
                        <a:t>Framing</a:t>
                      </a:r>
                    </a:p>
                    <a:p>
                      <a:pPr algn="ctr">
                        <a:buNone/>
                      </a:pPr>
                      <a:r>
                        <a:rPr lang="en-US" altLang="zh-CN" sz="1000" dirty="0">
                          <a:latin typeface="Roboto" charset="0"/>
                          <a:ea typeface="Roboto" charset="0"/>
                          <a:cs typeface="Arial" panose="020B0604020202020204" pitchFamily="34" charset="0"/>
                        </a:rPr>
                        <a:t>Dynamic</a:t>
                      </a:r>
                      <a:r>
                        <a:rPr lang="zh-CN" altLang="en-US" sz="1000" dirty="0">
                          <a:latin typeface="Roboto" charset="0"/>
                          <a:ea typeface="Roboto" charset="0"/>
                          <a:cs typeface="Arial" panose="020B0604020202020204" pitchFamily="34" charset="0"/>
                        </a:rPr>
                        <a:t> </a:t>
                      </a:r>
                      <a:r>
                        <a:rPr lang="en-US" altLang="zh-CN" sz="1000" dirty="0">
                          <a:latin typeface="Roboto" charset="0"/>
                          <a:ea typeface="Roboto" charset="0"/>
                          <a:cs typeface="Arial" panose="020B0604020202020204" pitchFamily="34" charset="0"/>
                        </a:rPr>
                        <a:t>Speaker</a:t>
                      </a:r>
                      <a:r>
                        <a:rPr lang="zh-CN" altLang="en-US" sz="1000" dirty="0">
                          <a:latin typeface="Roboto" charset="0"/>
                          <a:ea typeface="Roboto" charset="0"/>
                          <a:cs typeface="Arial" panose="020B0604020202020204" pitchFamily="34" charset="0"/>
                        </a:rPr>
                        <a:t> </a:t>
                      </a:r>
                      <a:r>
                        <a:rPr lang="en-US" altLang="zh-CN" sz="1000" dirty="0">
                          <a:latin typeface="Roboto" charset="0"/>
                          <a:ea typeface="Roboto" charset="0"/>
                          <a:cs typeface="Arial" panose="020B0604020202020204" pitchFamily="34" charset="0"/>
                        </a:rPr>
                        <a:t>Focus</a:t>
                      </a:r>
                    </a:p>
                  </a:txBody>
                  <a:tcPr anchor="ctr">
                    <a:solidFill>
                      <a:srgbClr val="D6E5D5"/>
                    </a:solidFill>
                  </a:tcPr>
                </a:tc>
                <a:extLst>
                  <a:ext uri="{0D108BD9-81ED-4DB2-BD59-A6C34878D82A}">
                    <a16:rowId xmlns:a16="http://schemas.microsoft.com/office/drawing/2014/main" val="10003"/>
                  </a:ext>
                </a:extLst>
              </a:tr>
              <a:tr h="387879">
                <a:tc rowSpan="4">
                  <a:txBody>
                    <a:bodyPr/>
                    <a:lstStyle/>
                    <a:p>
                      <a:pPr marL="0" algn="ctr" defTabSz="914400" rtl="0" eaLnBrk="1" latinLnBrk="0" hangingPunct="1"/>
                      <a:r>
                        <a:rPr lang="en-US" altLang="zh-CN" sz="1000" kern="1200" dirty="0">
                          <a:solidFill>
                            <a:schemeClr val="dk1"/>
                          </a:solidFill>
                          <a:latin typeface="Roboto" panose="02000000000000000000" pitchFamily="2" charset="0"/>
                          <a:ea typeface="+mn-ea"/>
                          <a:cs typeface="+mn-cs"/>
                        </a:rPr>
                        <a:t>Video</a:t>
                      </a:r>
                      <a:endParaRPr lang="zh-CN" altLang="en-US" sz="1000" kern="1200" dirty="0">
                        <a:solidFill>
                          <a:schemeClr val="dk1"/>
                        </a:solidFill>
                        <a:latin typeface="Roboto" panose="02000000000000000000" pitchFamily="2" charset="0"/>
                        <a:ea typeface="+mn-ea"/>
                        <a:cs typeface="+mn-cs"/>
                      </a:endParaRPr>
                    </a:p>
                  </a:txBody>
                  <a:tcPr anchor="ctr">
                    <a:solidFill>
                      <a:srgbClr val="E3F2E2"/>
                    </a:solidFill>
                  </a:tcPr>
                </a:tc>
                <a:tc>
                  <a:txBody>
                    <a:bodyPr/>
                    <a:lstStyle/>
                    <a:p>
                      <a:pPr marL="0" algn="l" defTabSz="914400" rtl="0" eaLnBrk="1" latinLnBrk="0" hangingPunct="1">
                        <a:buClrTx/>
                        <a:buSzTx/>
                        <a:buFontTx/>
                        <a:buNone/>
                      </a:pPr>
                      <a:r>
                        <a:rPr lang="en-US" altLang="zh-CN" sz="1000" kern="1200" dirty="0">
                          <a:solidFill>
                            <a:schemeClr val="dk1"/>
                          </a:solidFill>
                          <a:latin typeface="Roboto" panose="02000000000000000000" pitchFamily="2" charset="0"/>
                          <a:ea typeface="+mn-ea"/>
                          <a:cs typeface="+mn-cs"/>
                        </a:rPr>
                        <a:t>Video</a:t>
                      </a:r>
                      <a:r>
                        <a:rPr lang="zh-CN" altLang="en-US" sz="1000" kern="1200" dirty="0">
                          <a:solidFill>
                            <a:schemeClr val="dk1"/>
                          </a:solidFill>
                          <a:latin typeface="Roboto" panose="02000000000000000000" pitchFamily="2" charset="0"/>
                          <a:ea typeface="+mn-ea"/>
                          <a:cs typeface="+mn-cs"/>
                        </a:rPr>
                        <a:t> </a:t>
                      </a:r>
                      <a:r>
                        <a:rPr lang="en-US" altLang="zh-CN" sz="1000" kern="1200" dirty="0">
                          <a:solidFill>
                            <a:schemeClr val="dk1"/>
                          </a:solidFill>
                          <a:latin typeface="Roboto" panose="02000000000000000000" pitchFamily="2" charset="0"/>
                          <a:ea typeface="+mn-ea"/>
                          <a:cs typeface="+mn-cs"/>
                        </a:rPr>
                        <a:t>Input</a:t>
                      </a:r>
                      <a:endParaRPr lang="zh-CN" altLang="en-US" sz="1000" kern="1200" dirty="0">
                        <a:solidFill>
                          <a:schemeClr val="dk1"/>
                        </a:solidFill>
                        <a:latin typeface="Roboto" panose="02000000000000000000" pitchFamily="2" charset="0"/>
                        <a:ea typeface="+mn-ea"/>
                        <a:cs typeface="+mn-cs"/>
                      </a:endParaRPr>
                    </a:p>
                  </a:txBody>
                  <a:tcPr anchor="ctr">
                    <a:solidFill>
                      <a:srgbClr val="E3F2E2"/>
                    </a:solidFill>
                  </a:tcPr>
                </a:tc>
                <a:tc>
                  <a:txBody>
                    <a:bodyPr/>
                    <a:lstStyle/>
                    <a:p>
                      <a:pPr marL="0" algn="ctr" defTabSz="914400" rtl="0" eaLnBrk="1" latinLnBrk="0" hangingPunct="1">
                        <a:buClrTx/>
                        <a:buSzTx/>
                        <a:buFontTx/>
                        <a:buNone/>
                      </a:pPr>
                      <a:r>
                        <a:rPr lang="en-US" sz="1000" kern="1200" dirty="0">
                          <a:solidFill>
                            <a:schemeClr val="dk1"/>
                          </a:solidFill>
                          <a:latin typeface="Roboto" panose="02000000000000000000" pitchFamily="2" charset="0"/>
                          <a:ea typeface="+mn-ea"/>
                          <a:cs typeface="+mn-cs"/>
                        </a:rPr>
                        <a:t>1x HMDI</a:t>
                      </a:r>
                      <a:endParaRPr lang="en-US" altLang="zh-CN" sz="1000" kern="1200" dirty="0">
                        <a:solidFill>
                          <a:schemeClr val="dk1"/>
                        </a:solidFill>
                        <a:latin typeface="Roboto" panose="02000000000000000000" pitchFamily="2" charset="0"/>
                        <a:ea typeface="+mn-ea"/>
                        <a:cs typeface="+mn-cs"/>
                      </a:endParaRPr>
                    </a:p>
                    <a:p>
                      <a:pPr marL="0" algn="ctr" defTabSz="914400" rtl="0" eaLnBrk="1" latinLnBrk="0" hangingPunct="1">
                        <a:buClrTx/>
                        <a:buSzTx/>
                        <a:buFontTx/>
                        <a:buNone/>
                      </a:pPr>
                      <a:r>
                        <a:rPr lang="en-US" sz="1000" kern="1200" dirty="0">
                          <a:solidFill>
                            <a:srgbClr val="0B7934"/>
                          </a:solidFill>
                          <a:latin typeface="Roboto" panose="02000000000000000000" pitchFamily="2" charset="0"/>
                          <a:ea typeface="+mn-ea"/>
                          <a:cs typeface="+mn-cs"/>
                        </a:rPr>
                        <a:t>1x USB-C</a:t>
                      </a:r>
                      <a:r>
                        <a:rPr lang="en-US" altLang="zh-CN" sz="1000" kern="1200" dirty="0">
                          <a:solidFill>
                            <a:srgbClr val="0B7934"/>
                          </a:solidFill>
                          <a:latin typeface="Roboto" panose="02000000000000000000" pitchFamily="2" charset="0"/>
                          <a:ea typeface="+mn-ea"/>
                          <a:cs typeface="+mn-cs"/>
                        </a:rPr>
                        <a:t>(60W charging)</a:t>
                      </a:r>
                      <a:endParaRPr lang="en-US" sz="1000" kern="1200" dirty="0">
                        <a:solidFill>
                          <a:srgbClr val="0B7934"/>
                        </a:solidFill>
                        <a:latin typeface="Roboto" panose="02000000000000000000" pitchFamily="2" charset="0"/>
                        <a:ea typeface="+mn-ea"/>
                        <a:cs typeface="+mn-cs"/>
                      </a:endParaRPr>
                    </a:p>
                  </a:txBody>
                  <a:tcPr anchor="ctr">
                    <a:solidFill>
                      <a:srgbClr val="E3F2E2"/>
                    </a:solidFill>
                  </a:tcPr>
                </a:tc>
                <a:tc>
                  <a:txBody>
                    <a:bodyPr/>
                    <a:lstStyle/>
                    <a:p>
                      <a:pPr marL="0" algn="ctr" defTabSz="914400" rtl="0" eaLnBrk="1" latinLnBrk="0" hangingPunct="1">
                        <a:buNone/>
                      </a:pPr>
                      <a:r>
                        <a:rPr lang="en-US" altLang="zh-CN" sz="1000" kern="1200" dirty="0">
                          <a:solidFill>
                            <a:schemeClr val="dk1"/>
                          </a:solidFill>
                          <a:latin typeface="Roboto" panose="02000000000000000000" pitchFamily="2" charset="0"/>
                          <a:ea typeface="+mn-ea"/>
                          <a:cs typeface="+mn-cs"/>
                        </a:rPr>
                        <a:t>1x USB-C</a:t>
                      </a:r>
                    </a:p>
                  </a:txBody>
                  <a:tcPr anchor="ctr">
                    <a:solidFill>
                      <a:srgbClr val="E3F2E2"/>
                    </a:solidFill>
                  </a:tcPr>
                </a:tc>
                <a:tc>
                  <a:txBody>
                    <a:bodyPr/>
                    <a:lstStyle/>
                    <a:p>
                      <a:pPr algn="ctr">
                        <a:buNone/>
                      </a:pPr>
                      <a:r>
                        <a:rPr lang="en-US" altLang="zh-CN" sz="1000" dirty="0">
                          <a:latin typeface="Roboto" charset="0"/>
                          <a:ea typeface="Roboto" charset="0"/>
                          <a:cs typeface="Arial" panose="020B0604020202020204" pitchFamily="34" charset="0"/>
                        </a:rPr>
                        <a:t>2x USB-C</a:t>
                      </a:r>
                    </a:p>
                  </a:txBody>
                  <a:tcPr anchor="ctr">
                    <a:solidFill>
                      <a:srgbClr val="E3F2E2"/>
                    </a:solidFill>
                  </a:tcPr>
                </a:tc>
                <a:tc>
                  <a:txBody>
                    <a:bodyPr/>
                    <a:lstStyle/>
                    <a:p>
                      <a:pPr algn="ctr">
                        <a:buNone/>
                      </a:pPr>
                      <a:r>
                        <a:rPr lang="en-US" altLang="zh-CN" sz="1000" dirty="0">
                          <a:latin typeface="Roboto" charset="0"/>
                          <a:ea typeface="Roboto" charset="0"/>
                          <a:cs typeface="Arial" panose="020B0604020202020204" pitchFamily="34" charset="0"/>
                        </a:rPr>
                        <a:t>1x HDMI</a:t>
                      </a:r>
                    </a:p>
                    <a:p>
                      <a:pPr algn="ctr">
                        <a:buNone/>
                      </a:pPr>
                      <a:r>
                        <a:rPr lang="en-US" altLang="zh-CN" sz="1000" dirty="0">
                          <a:latin typeface="Roboto" charset="0"/>
                          <a:ea typeface="Roboto" charset="0"/>
                          <a:cs typeface="Arial" panose="020B0604020202020204" pitchFamily="34" charset="0"/>
                        </a:rPr>
                        <a:t>1x USB-C</a:t>
                      </a:r>
                    </a:p>
                  </a:txBody>
                  <a:tcPr anchor="ctr">
                    <a:solidFill>
                      <a:srgbClr val="E3F2E2"/>
                    </a:solidFill>
                  </a:tcPr>
                </a:tc>
                <a:extLst>
                  <a:ext uri="{0D108BD9-81ED-4DB2-BD59-A6C34878D82A}">
                    <a16:rowId xmlns:a16="http://schemas.microsoft.com/office/drawing/2014/main" val="10004"/>
                  </a:ext>
                </a:extLst>
              </a:tr>
              <a:tr h="291999">
                <a:tc vMerge="1">
                  <a:txBody>
                    <a:bodyPr/>
                    <a:lstStyle/>
                    <a:p>
                      <a:endParaRPr lang="zh-CN" altLang="en-US"/>
                    </a:p>
                  </a:txBody>
                  <a:tcPr/>
                </a:tc>
                <a:tc>
                  <a:txBody>
                    <a:bodyPr/>
                    <a:lstStyle/>
                    <a:p>
                      <a:pPr marL="0" algn="l" defTabSz="914400" rtl="0" eaLnBrk="1" latinLnBrk="0" hangingPunct="1">
                        <a:buClrTx/>
                        <a:buSzTx/>
                        <a:buFontTx/>
                        <a:buNone/>
                      </a:pPr>
                      <a:r>
                        <a:rPr lang="en-US" altLang="zh-CN" sz="1000" kern="1200" dirty="0">
                          <a:solidFill>
                            <a:schemeClr val="dk1"/>
                          </a:solidFill>
                          <a:latin typeface="Roboto" panose="02000000000000000000" pitchFamily="2" charset="0"/>
                          <a:ea typeface="+mn-ea"/>
                          <a:cs typeface="+mn-cs"/>
                        </a:rPr>
                        <a:t>Max. Input Resolution</a:t>
                      </a:r>
                      <a:endParaRPr lang="zh-CN" altLang="en-US" sz="1000" kern="1200" dirty="0">
                        <a:solidFill>
                          <a:schemeClr val="dk1"/>
                        </a:solidFill>
                        <a:latin typeface="Roboto" panose="02000000000000000000" pitchFamily="2" charset="0"/>
                        <a:ea typeface="+mn-ea"/>
                        <a:cs typeface="+mn-cs"/>
                      </a:endParaRPr>
                    </a:p>
                  </a:txBody>
                  <a:tcPr anchor="ctr">
                    <a:solidFill>
                      <a:srgbClr val="D6E5D6"/>
                    </a:solidFill>
                  </a:tcPr>
                </a:tc>
                <a:tc>
                  <a:txBody>
                    <a:bodyPr/>
                    <a:lstStyle/>
                    <a:p>
                      <a:pPr marL="0" algn="ctr" defTabSz="914400" rtl="0" eaLnBrk="1" latinLnBrk="0" hangingPunct="1">
                        <a:buClrTx/>
                        <a:buSzTx/>
                        <a:buFontTx/>
                        <a:buNone/>
                      </a:pPr>
                      <a:r>
                        <a:rPr lang="en-US" sz="1000" kern="1200" dirty="0">
                          <a:solidFill>
                            <a:schemeClr val="dk1"/>
                          </a:solidFill>
                          <a:latin typeface="Roboto" panose="02000000000000000000" pitchFamily="2" charset="0"/>
                          <a:ea typeface="+mn-ea"/>
                          <a:cs typeface="+mn-cs"/>
                        </a:rPr>
                        <a:t>4K@30Hz</a:t>
                      </a:r>
                    </a:p>
                  </a:txBody>
                  <a:tcPr anchor="ctr">
                    <a:solidFill>
                      <a:srgbClr val="D6E5D6"/>
                    </a:solidFill>
                  </a:tcPr>
                </a:tc>
                <a:tc>
                  <a:txBody>
                    <a:bodyPr/>
                    <a:lstStyle/>
                    <a:p>
                      <a:pPr marL="0" algn="ctr" defTabSz="914400" rtl="0" eaLnBrk="1" latinLnBrk="0" hangingPunct="1">
                        <a:buNone/>
                      </a:pPr>
                      <a:r>
                        <a:rPr lang="en-US" altLang="zh-CN" sz="1000" kern="1200" dirty="0">
                          <a:solidFill>
                            <a:schemeClr val="dk1"/>
                          </a:solidFill>
                          <a:latin typeface="Roboto" panose="02000000000000000000" pitchFamily="2" charset="0"/>
                          <a:ea typeface="+mn-ea"/>
                          <a:cs typeface="+mn-cs"/>
                        </a:rPr>
                        <a:t>4K@30Hz</a:t>
                      </a:r>
                    </a:p>
                  </a:txBody>
                  <a:tcPr anchor="ctr">
                    <a:solidFill>
                      <a:srgbClr val="D6E5D6"/>
                    </a:solidFill>
                  </a:tcPr>
                </a:tc>
                <a:tc>
                  <a:txBody>
                    <a:bodyPr/>
                    <a:lstStyle/>
                    <a:p>
                      <a:pPr algn="ctr">
                        <a:buNone/>
                      </a:pPr>
                      <a:r>
                        <a:rPr lang="en-US" altLang="zh-CN" sz="1000" dirty="0">
                          <a:latin typeface="Roboto" charset="0"/>
                          <a:ea typeface="Roboto" charset="0"/>
                          <a:cs typeface="Arial" panose="020B0604020202020204" pitchFamily="34" charset="0"/>
                        </a:rPr>
                        <a:t>4K@30Hz</a:t>
                      </a:r>
                    </a:p>
                  </a:txBody>
                  <a:tcPr anchor="ctr">
                    <a:solidFill>
                      <a:srgbClr val="D6E5D6"/>
                    </a:solidFill>
                  </a:tcPr>
                </a:tc>
                <a:tc>
                  <a:txBody>
                    <a:bodyPr/>
                    <a:lstStyle/>
                    <a:p>
                      <a:pPr algn="ctr">
                        <a:buNone/>
                      </a:pPr>
                      <a:r>
                        <a:rPr lang="en-US" altLang="zh-CN" sz="1000" dirty="0">
                          <a:latin typeface="Roboto" charset="0"/>
                          <a:ea typeface="Roboto" charset="0"/>
                          <a:cs typeface="Arial" panose="020B0604020202020204" pitchFamily="34" charset="0"/>
                        </a:rPr>
                        <a:t>4K</a:t>
                      </a:r>
                    </a:p>
                  </a:txBody>
                  <a:tcPr anchor="ctr">
                    <a:solidFill>
                      <a:srgbClr val="D6E5D6"/>
                    </a:solidFill>
                  </a:tcPr>
                </a:tc>
                <a:extLst>
                  <a:ext uri="{0D108BD9-81ED-4DB2-BD59-A6C34878D82A}">
                    <a16:rowId xmlns:a16="http://schemas.microsoft.com/office/drawing/2014/main" val="2503812581"/>
                  </a:ext>
                </a:extLst>
              </a:tr>
              <a:tr h="354878">
                <a:tc vMerge="1">
                  <a:txBody>
                    <a:bodyPr/>
                    <a:lstStyle/>
                    <a:p>
                      <a:pPr algn="ctr"/>
                      <a:endParaRPr lang="zh-CN" altLang="en-US" sz="1200" kern="1200" dirty="0">
                        <a:solidFill>
                          <a:schemeClr val="dk1"/>
                        </a:solidFill>
                        <a:latin typeface="Roboto" panose="02000000000000000000" pitchFamily="2" charset="0"/>
                        <a:ea typeface="+mn-ea"/>
                        <a:cs typeface="+mn-cs"/>
                      </a:endParaRPr>
                    </a:p>
                  </a:txBody>
                  <a:tcPr anchor="ctr">
                    <a:solidFill>
                      <a:srgbClr val="D6E5D5"/>
                    </a:solidFill>
                  </a:tcPr>
                </a:tc>
                <a:tc>
                  <a:txBody>
                    <a:bodyPr/>
                    <a:lstStyle/>
                    <a:p>
                      <a:pPr marL="0" algn="l" defTabSz="914400" rtl="0" eaLnBrk="1" latinLnBrk="0" hangingPunct="1">
                        <a:buClrTx/>
                        <a:buSzTx/>
                        <a:buFontTx/>
                        <a:buNone/>
                      </a:pPr>
                      <a:r>
                        <a:rPr lang="en-US" altLang="zh-CN" sz="1000" kern="1200" dirty="0">
                          <a:solidFill>
                            <a:schemeClr val="dk1"/>
                          </a:solidFill>
                          <a:latin typeface="Roboto" panose="02000000000000000000" pitchFamily="2" charset="0"/>
                          <a:ea typeface="+mn-ea"/>
                          <a:cs typeface="+mn-cs"/>
                        </a:rPr>
                        <a:t>Video</a:t>
                      </a:r>
                      <a:r>
                        <a:rPr lang="zh-CN" altLang="en-US" sz="1000" kern="1200" dirty="0">
                          <a:solidFill>
                            <a:schemeClr val="dk1"/>
                          </a:solidFill>
                          <a:latin typeface="Roboto" panose="02000000000000000000" pitchFamily="2" charset="0"/>
                          <a:ea typeface="+mn-ea"/>
                          <a:cs typeface="+mn-cs"/>
                        </a:rPr>
                        <a:t> </a:t>
                      </a:r>
                      <a:r>
                        <a:rPr lang="en-US" altLang="zh-CN" sz="1000" kern="1200" dirty="0">
                          <a:solidFill>
                            <a:schemeClr val="dk1"/>
                          </a:solidFill>
                          <a:latin typeface="Roboto" panose="02000000000000000000" pitchFamily="2" charset="0"/>
                          <a:ea typeface="+mn-ea"/>
                          <a:cs typeface="+mn-cs"/>
                        </a:rPr>
                        <a:t>Output</a:t>
                      </a:r>
                      <a:endParaRPr lang="zh-CN" altLang="en-US" sz="1000" kern="1200" dirty="0">
                        <a:solidFill>
                          <a:schemeClr val="dk1"/>
                        </a:solidFill>
                        <a:latin typeface="Roboto" panose="02000000000000000000" pitchFamily="2" charset="0"/>
                        <a:ea typeface="+mn-ea"/>
                        <a:cs typeface="+mn-cs"/>
                      </a:endParaRPr>
                    </a:p>
                  </a:txBody>
                  <a:tcPr anchor="ctr">
                    <a:solidFill>
                      <a:srgbClr val="E4F3E2"/>
                    </a:solidFill>
                  </a:tcPr>
                </a:tc>
                <a:tc>
                  <a:txBody>
                    <a:bodyPr/>
                    <a:lstStyle/>
                    <a:p>
                      <a:pPr marL="0" algn="ctr" defTabSz="914400" rtl="0" eaLnBrk="1" latinLnBrk="0" hangingPunct="1">
                        <a:buClrTx/>
                        <a:buSzTx/>
                        <a:buFontTx/>
                        <a:buNone/>
                      </a:pPr>
                      <a:r>
                        <a:rPr lang="en-US" sz="1000" kern="1200" dirty="0">
                          <a:solidFill>
                            <a:schemeClr val="dk1"/>
                          </a:solidFill>
                          <a:latin typeface="Roboto" panose="02000000000000000000" pitchFamily="2" charset="0"/>
                          <a:ea typeface="+mn-ea"/>
                          <a:cs typeface="+mn-cs"/>
                        </a:rPr>
                        <a:t>2x HDMI</a:t>
                      </a:r>
                    </a:p>
                  </a:txBody>
                  <a:tcPr anchor="ctr">
                    <a:solidFill>
                      <a:srgbClr val="E4F3E2"/>
                    </a:solidFill>
                  </a:tcPr>
                </a:tc>
                <a:tc>
                  <a:txBody>
                    <a:bodyPr/>
                    <a:lstStyle/>
                    <a:p>
                      <a:pPr algn="ctr">
                        <a:buNone/>
                      </a:pPr>
                      <a:r>
                        <a:rPr lang="en-US" altLang="zh-CN" sz="1000" kern="1200" dirty="0">
                          <a:solidFill>
                            <a:schemeClr val="dk1"/>
                          </a:solidFill>
                          <a:latin typeface="Roboto" panose="02000000000000000000" pitchFamily="2" charset="0"/>
                          <a:ea typeface="+mn-ea"/>
                          <a:cs typeface="+mn-cs"/>
                        </a:rPr>
                        <a:t>1x HDMI &amp; 1x USB-C</a:t>
                      </a:r>
                    </a:p>
                  </a:txBody>
                  <a:tcPr anchor="ctr">
                    <a:solidFill>
                      <a:srgbClr val="E4F3E2"/>
                    </a:solidFill>
                  </a:tcPr>
                </a:tc>
                <a:tc>
                  <a:txBody>
                    <a:bodyPr/>
                    <a:lstStyle/>
                    <a:p>
                      <a:pPr algn="ctr">
                        <a:buNone/>
                      </a:pPr>
                      <a:r>
                        <a:rPr lang="en-US" altLang="zh-CN" sz="1000" dirty="0">
                          <a:latin typeface="Roboto" charset="0"/>
                          <a:ea typeface="Roboto" charset="0"/>
                          <a:cs typeface="Arial" panose="020B0604020202020204" pitchFamily="34" charset="0"/>
                        </a:rPr>
                        <a:t>2x HDMI</a:t>
                      </a:r>
                    </a:p>
                  </a:txBody>
                  <a:tcPr anchor="ctr">
                    <a:solidFill>
                      <a:srgbClr val="E4F3E2"/>
                    </a:solidFill>
                  </a:tcPr>
                </a:tc>
                <a:tc>
                  <a:txBody>
                    <a:bodyPr/>
                    <a:lstStyle/>
                    <a:p>
                      <a:pPr algn="ctr">
                        <a:buNone/>
                      </a:pPr>
                      <a:r>
                        <a:rPr lang="en-US" altLang="zh-CN" sz="1000" dirty="0">
                          <a:latin typeface="Roboto" charset="0"/>
                          <a:ea typeface="Roboto" charset="0"/>
                          <a:cs typeface="Arial" panose="020B0604020202020204" pitchFamily="34" charset="0"/>
                        </a:rPr>
                        <a:t>3x HDMI</a:t>
                      </a:r>
                    </a:p>
                  </a:txBody>
                  <a:tcPr anchor="ctr">
                    <a:solidFill>
                      <a:srgbClr val="E4F3E2"/>
                    </a:solidFill>
                  </a:tcPr>
                </a:tc>
                <a:extLst>
                  <a:ext uri="{0D108BD9-81ED-4DB2-BD59-A6C34878D82A}">
                    <a16:rowId xmlns:a16="http://schemas.microsoft.com/office/drawing/2014/main" val="10005"/>
                  </a:ext>
                </a:extLst>
              </a:tr>
              <a:tr h="291999">
                <a:tc vMerge="1">
                  <a:txBody>
                    <a:bodyPr/>
                    <a:lstStyle/>
                    <a:p>
                      <a:pPr marL="0" algn="ctr" defTabSz="914400" rtl="0" eaLnBrk="1" latinLnBrk="0" hangingPunct="1"/>
                      <a:endParaRPr lang="zh-CN" altLang="en-US" sz="1000" kern="1200" dirty="0">
                        <a:solidFill>
                          <a:schemeClr val="dk1"/>
                        </a:solidFill>
                        <a:latin typeface="Roboto" panose="02000000000000000000" pitchFamily="2" charset="0"/>
                        <a:ea typeface="+mn-ea"/>
                        <a:cs typeface="+mn-cs"/>
                      </a:endParaRPr>
                    </a:p>
                  </a:txBody>
                  <a:tcPr anchor="ctr">
                    <a:solidFill>
                      <a:srgbClr val="E3F2E2"/>
                    </a:solidFill>
                  </a:tcPr>
                </a:tc>
                <a:tc>
                  <a:txBody>
                    <a:bodyPr/>
                    <a:lstStyle/>
                    <a:p>
                      <a:pPr marL="0" algn="l" defTabSz="914400" rtl="0" eaLnBrk="1" latinLnBrk="0" hangingPunct="1">
                        <a:buClrTx/>
                        <a:buSzTx/>
                        <a:buFontTx/>
                        <a:buNone/>
                      </a:pPr>
                      <a:r>
                        <a:rPr lang="en-US" altLang="zh-CN" sz="1000" kern="1200" dirty="0">
                          <a:solidFill>
                            <a:schemeClr val="dk1"/>
                          </a:solidFill>
                          <a:latin typeface="Roboto" panose="02000000000000000000" pitchFamily="2" charset="0"/>
                          <a:ea typeface="+mn-ea"/>
                          <a:cs typeface="+mn-cs"/>
                        </a:rPr>
                        <a:t>Max. Output Resolution</a:t>
                      </a:r>
                      <a:endParaRPr lang="zh-CN" altLang="en-US" sz="1000" kern="1200" dirty="0">
                        <a:solidFill>
                          <a:schemeClr val="dk1"/>
                        </a:solidFill>
                        <a:latin typeface="Roboto" panose="02000000000000000000" pitchFamily="2" charset="0"/>
                        <a:ea typeface="+mn-ea"/>
                        <a:cs typeface="+mn-cs"/>
                      </a:endParaRPr>
                    </a:p>
                  </a:txBody>
                  <a:tcPr anchor="ctr">
                    <a:solidFill>
                      <a:srgbClr val="D6E5D6"/>
                    </a:solidFill>
                  </a:tcPr>
                </a:tc>
                <a:tc>
                  <a:txBody>
                    <a:bodyPr/>
                    <a:lstStyle/>
                    <a:p>
                      <a:pPr marL="0" algn="ctr" defTabSz="914400" rtl="0" eaLnBrk="1" latinLnBrk="0" hangingPunct="1">
                        <a:buClrTx/>
                        <a:buSzTx/>
                        <a:buFontTx/>
                        <a:buNone/>
                      </a:pPr>
                      <a:r>
                        <a:rPr lang="en-US" sz="1000" kern="1200" dirty="0">
                          <a:solidFill>
                            <a:srgbClr val="0B7934"/>
                          </a:solidFill>
                          <a:latin typeface="Roboto" panose="02000000000000000000" pitchFamily="2" charset="0"/>
                          <a:ea typeface="+mn-ea"/>
                          <a:cs typeface="+mn-cs"/>
                        </a:rPr>
                        <a:t>4K@60Hz</a:t>
                      </a:r>
                    </a:p>
                  </a:txBody>
                  <a:tcPr anchor="ctr">
                    <a:solidFill>
                      <a:srgbClr val="D6E5D6"/>
                    </a:solidFill>
                  </a:tcPr>
                </a:tc>
                <a:tc>
                  <a:txBody>
                    <a:bodyPr/>
                    <a:lstStyle/>
                    <a:p>
                      <a:pPr algn="ctr">
                        <a:buNone/>
                      </a:pPr>
                      <a:r>
                        <a:rPr lang="en-US" altLang="zh-CN" sz="1000" kern="1200" dirty="0">
                          <a:solidFill>
                            <a:schemeClr val="dk1"/>
                          </a:solidFill>
                          <a:latin typeface="Roboto" panose="02000000000000000000" pitchFamily="2" charset="0"/>
                          <a:ea typeface="+mn-ea"/>
                          <a:cs typeface="+mn-cs"/>
                        </a:rPr>
                        <a:t>4K@30Hz</a:t>
                      </a:r>
                    </a:p>
                  </a:txBody>
                  <a:tcPr anchor="ctr">
                    <a:solidFill>
                      <a:srgbClr val="D6E5D6"/>
                    </a:solidFill>
                  </a:tcPr>
                </a:tc>
                <a:tc>
                  <a:txBody>
                    <a:bodyPr/>
                    <a:lstStyle/>
                    <a:p>
                      <a:pPr algn="ctr">
                        <a:buNone/>
                      </a:pPr>
                      <a:r>
                        <a:rPr lang="en-US" altLang="zh-CN" sz="1000" dirty="0">
                          <a:latin typeface="Roboto" charset="0"/>
                          <a:ea typeface="Roboto" charset="0"/>
                          <a:cs typeface="Arial" panose="020B0604020202020204" pitchFamily="34" charset="0"/>
                        </a:rPr>
                        <a:t>4K@30Hz</a:t>
                      </a:r>
                    </a:p>
                  </a:txBody>
                  <a:tcPr anchor="ctr">
                    <a:solidFill>
                      <a:srgbClr val="D6E5D6"/>
                    </a:solidFill>
                  </a:tcPr>
                </a:tc>
                <a:tc>
                  <a:txBody>
                    <a:bodyPr/>
                    <a:lstStyle/>
                    <a:p>
                      <a:pPr algn="ctr">
                        <a:buNone/>
                      </a:pPr>
                      <a:r>
                        <a:rPr lang="en-US" altLang="zh-CN" sz="1000" dirty="0">
                          <a:latin typeface="Roboto" charset="0"/>
                          <a:ea typeface="Roboto" charset="0"/>
                          <a:cs typeface="Arial" panose="020B0604020202020204" pitchFamily="34" charset="0"/>
                        </a:rPr>
                        <a:t>4K</a:t>
                      </a:r>
                    </a:p>
                  </a:txBody>
                  <a:tcPr anchor="ctr">
                    <a:solidFill>
                      <a:srgbClr val="D6E5D6"/>
                    </a:solidFill>
                  </a:tcPr>
                </a:tc>
                <a:extLst>
                  <a:ext uri="{0D108BD9-81ED-4DB2-BD59-A6C34878D82A}">
                    <a16:rowId xmlns:a16="http://schemas.microsoft.com/office/drawing/2014/main" val="1710379570"/>
                  </a:ext>
                </a:extLst>
              </a:tr>
              <a:tr h="265946">
                <a:tc rowSpan="3">
                  <a:txBody>
                    <a:bodyPr/>
                    <a:lstStyle/>
                    <a:p>
                      <a:pPr marL="0" algn="ctr" defTabSz="914400" rtl="0" eaLnBrk="1" latinLnBrk="0" hangingPunct="1">
                        <a:buNone/>
                      </a:pPr>
                      <a:r>
                        <a:rPr lang="en-US" altLang="zh-CN" sz="1000" kern="1200" dirty="0">
                          <a:solidFill>
                            <a:schemeClr val="dk1"/>
                          </a:solidFill>
                          <a:latin typeface="Roboto" panose="02000000000000000000" pitchFamily="2" charset="0"/>
                          <a:ea typeface="+mn-ea"/>
                          <a:cs typeface="+mn-cs"/>
                        </a:rPr>
                        <a:t>Audio</a:t>
                      </a:r>
                    </a:p>
                  </a:txBody>
                  <a:tcPr anchor="ctr">
                    <a:solidFill>
                      <a:srgbClr val="D6E5D6"/>
                    </a:solidFill>
                  </a:tcPr>
                </a:tc>
                <a:tc>
                  <a:txBody>
                    <a:bodyPr/>
                    <a:lstStyle/>
                    <a:p>
                      <a:pPr marL="0" algn="l" defTabSz="914400" rtl="0" eaLnBrk="1" latinLnBrk="0" hangingPunct="1">
                        <a:buClrTx/>
                        <a:buSzTx/>
                        <a:buFontTx/>
                        <a:buNone/>
                      </a:pPr>
                      <a:r>
                        <a:rPr lang="en-US" altLang="zh-CN" sz="1000" kern="1200" dirty="0">
                          <a:solidFill>
                            <a:schemeClr val="dk1"/>
                          </a:solidFill>
                          <a:latin typeface="Roboto" panose="02000000000000000000" pitchFamily="2" charset="0"/>
                          <a:ea typeface="+mn-ea"/>
                          <a:cs typeface="+mn-cs"/>
                        </a:rPr>
                        <a:t>Mics Array</a:t>
                      </a:r>
                    </a:p>
                  </a:txBody>
                  <a:tcPr anchor="ctr">
                    <a:solidFill>
                      <a:srgbClr val="E4F3E2"/>
                    </a:solidFill>
                  </a:tcPr>
                </a:tc>
                <a:tc>
                  <a:txBody>
                    <a:bodyPr/>
                    <a:lstStyle/>
                    <a:p>
                      <a:pPr marL="0" algn="ctr" defTabSz="914400" rtl="0" eaLnBrk="1" fontAlgn="ctr" latinLnBrk="0" hangingPunct="1">
                        <a:buClrTx/>
                        <a:buSzTx/>
                        <a:buFontTx/>
                        <a:buNone/>
                      </a:pPr>
                      <a:r>
                        <a:rPr lang="en-US" sz="1000" kern="1200" dirty="0">
                          <a:solidFill>
                            <a:schemeClr val="dk1"/>
                          </a:solidFill>
                          <a:latin typeface="Roboto" panose="02000000000000000000" pitchFamily="2" charset="0"/>
                          <a:ea typeface="+mn-ea"/>
                          <a:cs typeface="+mn-cs"/>
                        </a:rPr>
                        <a:t>8x MEMS mics</a:t>
                      </a:r>
                    </a:p>
                  </a:txBody>
                  <a:tcPr marL="9525" marR="9525" marT="9525" marB="0" anchor="ctr">
                    <a:solidFill>
                      <a:srgbClr val="E4F3E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dirty="0">
                          <a:solidFill>
                            <a:schemeClr val="dk1"/>
                          </a:solidFill>
                          <a:latin typeface="Roboto" panose="02000000000000000000" pitchFamily="2" charset="0"/>
                          <a:ea typeface="+mn-ea"/>
                          <a:cs typeface="+mn-cs"/>
                        </a:rPr>
                        <a:t>6x MEMS mics</a:t>
                      </a:r>
                    </a:p>
                  </a:txBody>
                  <a:tcPr anchor="ctr">
                    <a:solidFill>
                      <a:srgbClr val="E4F3E2"/>
                    </a:solidFill>
                  </a:tcPr>
                </a:tc>
                <a:tc>
                  <a:txBody>
                    <a:bodyPr/>
                    <a:lstStyle/>
                    <a:p>
                      <a:pPr algn="ctr">
                        <a:buNone/>
                      </a:pPr>
                      <a:r>
                        <a:rPr lang="en-US" altLang="zh-CN" sz="1000" dirty="0">
                          <a:latin typeface="Roboto" charset="0"/>
                          <a:ea typeface="Roboto" charset="0"/>
                          <a:cs typeface="Arial" panose="020B0604020202020204" pitchFamily="34" charset="0"/>
                        </a:rPr>
                        <a:t>8x MEMS mics</a:t>
                      </a:r>
                    </a:p>
                  </a:txBody>
                  <a:tcPr anchor="ctr">
                    <a:solidFill>
                      <a:srgbClr val="E4F3E2"/>
                    </a:solidFill>
                  </a:tcPr>
                </a:tc>
                <a:tc>
                  <a:txBody>
                    <a:bodyPr/>
                    <a:lstStyle/>
                    <a:p>
                      <a:pPr algn="ctr">
                        <a:buNone/>
                      </a:pPr>
                      <a:r>
                        <a:rPr lang="en-US" altLang="zh-CN" sz="1000" dirty="0">
                          <a:latin typeface="Roboto" charset="0"/>
                          <a:ea typeface="Roboto" charset="0"/>
                          <a:cs typeface="Arial" panose="020B0604020202020204" pitchFamily="34" charset="0"/>
                        </a:rPr>
                        <a:t>16x MEMS mics</a:t>
                      </a:r>
                    </a:p>
                  </a:txBody>
                  <a:tcPr anchor="ctr">
                    <a:solidFill>
                      <a:srgbClr val="E4F3E2"/>
                    </a:solidFill>
                  </a:tcPr>
                </a:tc>
                <a:extLst>
                  <a:ext uri="{0D108BD9-81ED-4DB2-BD59-A6C34878D82A}">
                    <a16:rowId xmlns:a16="http://schemas.microsoft.com/office/drawing/2014/main" val="10007"/>
                  </a:ext>
                </a:extLst>
              </a:tr>
              <a:tr h="545315">
                <a:tc vMerge="1">
                  <a:txBody>
                    <a:bodyPr/>
                    <a:lstStyle/>
                    <a:p>
                      <a:endParaRPr lang="zh-CN" altLang="en-US"/>
                    </a:p>
                  </a:txBody>
                  <a:tcPr/>
                </a:tc>
                <a:tc>
                  <a:txBody>
                    <a:bodyPr/>
                    <a:lstStyle/>
                    <a:p>
                      <a:pPr marL="0" algn="l" defTabSz="914400" rtl="0" eaLnBrk="1" latinLnBrk="0" hangingPunct="1">
                        <a:buClrTx/>
                        <a:buSzTx/>
                        <a:buFontTx/>
                        <a:buNone/>
                      </a:pPr>
                      <a:r>
                        <a:rPr lang="en-US" altLang="zh-CN" sz="1000" kern="1200" dirty="0">
                          <a:solidFill>
                            <a:schemeClr val="dk1"/>
                          </a:solidFill>
                          <a:latin typeface="Roboto" panose="02000000000000000000" pitchFamily="2" charset="0"/>
                          <a:ea typeface="+mn-ea"/>
                          <a:cs typeface="+mn-cs"/>
                        </a:rPr>
                        <a:t>Audio</a:t>
                      </a:r>
                      <a:r>
                        <a:rPr lang="zh-CN" altLang="en-US" sz="1000" kern="1200" dirty="0">
                          <a:solidFill>
                            <a:schemeClr val="dk1"/>
                          </a:solidFill>
                          <a:latin typeface="Roboto" panose="02000000000000000000" pitchFamily="2" charset="0"/>
                          <a:ea typeface="+mn-ea"/>
                          <a:cs typeface="+mn-cs"/>
                        </a:rPr>
                        <a:t> </a:t>
                      </a:r>
                      <a:r>
                        <a:rPr lang="en-US" altLang="zh-CN" sz="1000" kern="1200" dirty="0">
                          <a:solidFill>
                            <a:schemeClr val="dk1"/>
                          </a:solidFill>
                          <a:latin typeface="Roboto" panose="02000000000000000000" pitchFamily="2" charset="0"/>
                          <a:ea typeface="+mn-ea"/>
                          <a:cs typeface="+mn-cs"/>
                        </a:rPr>
                        <a:t>Pickup</a:t>
                      </a:r>
                    </a:p>
                  </a:txBody>
                  <a:tcPr anchor="ctr">
                    <a:solidFill>
                      <a:srgbClr val="D6E5D6"/>
                    </a:solidFill>
                  </a:tcPr>
                </a:tc>
                <a:tc>
                  <a:txBody>
                    <a:bodyPr/>
                    <a:lstStyle/>
                    <a:p>
                      <a:pPr marL="0" algn="ctr" defTabSz="914400" rtl="0" eaLnBrk="1" fontAlgn="ctr" latinLnBrk="0" hangingPunct="1">
                        <a:buClrTx/>
                        <a:buSzTx/>
                        <a:buFontTx/>
                        <a:buNone/>
                      </a:pPr>
                      <a:r>
                        <a:rPr lang="en-US" sz="1000" kern="1200" dirty="0">
                          <a:solidFill>
                            <a:srgbClr val="0B7934"/>
                          </a:solidFill>
                          <a:latin typeface="Roboto" panose="02000000000000000000" pitchFamily="2" charset="0"/>
                          <a:ea typeface="+mn-ea"/>
                          <a:cs typeface="+mn-cs"/>
                        </a:rPr>
                        <a:t>Up</a:t>
                      </a:r>
                      <a:r>
                        <a:rPr lang="zh-CN" altLang="en-US" sz="1000" kern="1200" dirty="0">
                          <a:solidFill>
                            <a:srgbClr val="0B7934"/>
                          </a:solidFill>
                          <a:latin typeface="Roboto" panose="02000000000000000000" pitchFamily="2" charset="0"/>
                          <a:ea typeface="+mn-ea"/>
                          <a:cs typeface="+mn-cs"/>
                        </a:rPr>
                        <a:t> </a:t>
                      </a:r>
                      <a:r>
                        <a:rPr lang="en-US" altLang="zh-CN" sz="1000" kern="1200" dirty="0">
                          <a:solidFill>
                            <a:srgbClr val="0B7934"/>
                          </a:solidFill>
                          <a:latin typeface="Roboto" panose="02000000000000000000" pitchFamily="2" charset="0"/>
                          <a:ea typeface="+mn-ea"/>
                          <a:cs typeface="+mn-cs"/>
                        </a:rPr>
                        <a:t>to</a:t>
                      </a:r>
                      <a:r>
                        <a:rPr lang="zh-CN" altLang="en-US" sz="1000" kern="1200" dirty="0">
                          <a:solidFill>
                            <a:srgbClr val="0B7934"/>
                          </a:solidFill>
                          <a:latin typeface="Roboto" panose="02000000000000000000" pitchFamily="2" charset="0"/>
                          <a:ea typeface="+mn-ea"/>
                          <a:cs typeface="+mn-cs"/>
                        </a:rPr>
                        <a:t> </a:t>
                      </a:r>
                      <a:r>
                        <a:rPr lang="en-US" altLang="zh-CN" sz="1000" kern="1200" dirty="0">
                          <a:solidFill>
                            <a:srgbClr val="0B7934"/>
                          </a:solidFill>
                          <a:latin typeface="Roboto" panose="02000000000000000000" pitchFamily="2" charset="0"/>
                          <a:ea typeface="+mn-ea"/>
                          <a:cs typeface="+mn-cs"/>
                        </a:rPr>
                        <a:t>8m</a:t>
                      </a:r>
                    </a:p>
                    <a:p>
                      <a:pPr marL="0" algn="ctr" defTabSz="914400" rtl="0" eaLnBrk="1" fontAlgn="ctr" latinLnBrk="0" hangingPunct="1">
                        <a:buClrTx/>
                        <a:buSzTx/>
                        <a:buFontTx/>
                        <a:buNone/>
                      </a:pPr>
                      <a:r>
                        <a:rPr lang="en-US" sz="1000" kern="1200" dirty="0">
                          <a:solidFill>
                            <a:srgbClr val="0B7934"/>
                          </a:solidFill>
                          <a:latin typeface="Roboto" panose="02000000000000000000" pitchFamily="2" charset="0"/>
                          <a:ea typeface="+mn-ea"/>
                          <a:cs typeface="+mn-cs"/>
                        </a:rPr>
                        <a:t>(Expandable up to </a:t>
                      </a:r>
                      <a:r>
                        <a:rPr lang="en-US" altLang="zh-CN" sz="1000" kern="1200" dirty="0">
                          <a:solidFill>
                            <a:srgbClr val="0B7934"/>
                          </a:solidFill>
                          <a:latin typeface="Roboto" panose="02000000000000000000" pitchFamily="2" charset="0"/>
                          <a:ea typeface="+mn-ea"/>
                          <a:cs typeface="+mn-cs"/>
                        </a:rPr>
                        <a:t>5</a:t>
                      </a:r>
                      <a:endParaRPr lang="en-US" sz="1000" kern="1200" dirty="0">
                        <a:solidFill>
                          <a:srgbClr val="0B7934"/>
                        </a:solidFill>
                        <a:latin typeface="Roboto" panose="02000000000000000000" pitchFamily="2" charset="0"/>
                        <a:ea typeface="+mn-ea"/>
                        <a:cs typeface="+mn-cs"/>
                      </a:endParaRPr>
                    </a:p>
                    <a:p>
                      <a:pPr marL="0" algn="ctr" defTabSz="914400" rtl="0" eaLnBrk="1" fontAlgn="ctr" latinLnBrk="0" hangingPunct="1">
                        <a:buClrTx/>
                        <a:buSzTx/>
                        <a:buFontTx/>
                        <a:buNone/>
                      </a:pPr>
                      <a:r>
                        <a:rPr lang="en-US" sz="1000" kern="1200" dirty="0">
                          <a:solidFill>
                            <a:srgbClr val="0B7934"/>
                          </a:solidFill>
                          <a:latin typeface="Roboto" panose="02000000000000000000" pitchFamily="2" charset="0"/>
                          <a:ea typeface="+mn-ea"/>
                          <a:cs typeface="+mn-cs"/>
                        </a:rPr>
                        <a:t>APO-SKY-MIC)</a:t>
                      </a:r>
                    </a:p>
                  </a:txBody>
                  <a:tcPr marL="9525" marR="9525" marT="9525" marB="0" anchor="ctr">
                    <a:solidFill>
                      <a:srgbClr val="D6E5D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dirty="0">
                          <a:solidFill>
                            <a:schemeClr val="dk1"/>
                          </a:solidFill>
                          <a:latin typeface="Roboto" panose="02000000000000000000" pitchFamily="2" charset="0"/>
                          <a:ea typeface="+mn-ea"/>
                          <a:cs typeface="+mn-cs"/>
                        </a:rPr>
                        <a:t>Up to 4m</a:t>
                      </a:r>
                    </a:p>
                  </a:txBody>
                  <a:tcPr anchor="ctr">
                    <a:solidFill>
                      <a:srgbClr val="D6E5D6"/>
                    </a:solidFill>
                  </a:tcPr>
                </a:tc>
                <a:tc>
                  <a:txBody>
                    <a:bodyPr/>
                    <a:lstStyle/>
                    <a:p>
                      <a:pPr algn="ctr">
                        <a:buNone/>
                      </a:pPr>
                      <a:r>
                        <a:rPr lang="en-US" altLang="zh-CN" sz="1000" dirty="0">
                          <a:latin typeface="Roboto" charset="0"/>
                          <a:ea typeface="Roboto" charset="0"/>
                          <a:cs typeface="Arial" panose="020B0604020202020204" pitchFamily="34" charset="0"/>
                        </a:rPr>
                        <a:t>Up to 6m</a:t>
                      </a:r>
                    </a:p>
                  </a:txBody>
                  <a:tcPr anchor="ctr">
                    <a:solidFill>
                      <a:srgbClr val="D6E5D6"/>
                    </a:solidFill>
                  </a:tcPr>
                </a:tc>
                <a:tc>
                  <a:txBody>
                    <a:bodyPr/>
                    <a:lstStyle/>
                    <a:p>
                      <a:pPr algn="ctr">
                        <a:buNone/>
                      </a:pPr>
                      <a:r>
                        <a:rPr lang="en-US" altLang="zh-CN" sz="1000" dirty="0">
                          <a:latin typeface="Roboto" charset="0"/>
                          <a:ea typeface="Roboto" charset="0"/>
                          <a:cs typeface="Arial" panose="020B0604020202020204" pitchFamily="34" charset="0"/>
                        </a:rPr>
                        <a:t>Not Given</a:t>
                      </a:r>
                    </a:p>
                    <a:p>
                      <a:pPr algn="ctr">
                        <a:buNone/>
                      </a:pPr>
                      <a:r>
                        <a:rPr lang="en-US" altLang="zh-CN" sz="1000" dirty="0">
                          <a:latin typeface="Roboto" charset="0"/>
                          <a:ea typeface="Roboto" charset="0"/>
                          <a:cs typeface="Arial" panose="020B0604020202020204" pitchFamily="34" charset="0"/>
                        </a:rPr>
                        <a:t>(Support mic extension)</a:t>
                      </a:r>
                    </a:p>
                  </a:txBody>
                  <a:tcPr anchor="ctr">
                    <a:solidFill>
                      <a:srgbClr val="D6E5D6"/>
                    </a:solidFill>
                  </a:tcPr>
                </a:tc>
                <a:extLst>
                  <a:ext uri="{0D108BD9-81ED-4DB2-BD59-A6C34878D82A}">
                    <a16:rowId xmlns:a16="http://schemas.microsoft.com/office/drawing/2014/main" val="1931046406"/>
                  </a:ext>
                </a:extLst>
              </a:tr>
              <a:tr h="288053">
                <a:tc vMerge="1">
                  <a:txBody>
                    <a:bodyPr/>
                    <a:lstStyle/>
                    <a:p>
                      <a:pPr algn="ctr">
                        <a:buNone/>
                      </a:pPr>
                      <a:endParaRPr lang="zh-CN" altLang="en-US" sz="1000" dirty="0">
                        <a:solidFill>
                          <a:schemeClr val="tx1"/>
                        </a:solidFill>
                        <a:latin typeface="Roboto" charset="0"/>
                        <a:cs typeface="Arial" panose="020B0604020202020204" pitchFamily="34" charset="0"/>
                      </a:endParaRPr>
                    </a:p>
                  </a:txBody>
                  <a:tcPr anchor="ctr">
                    <a:solidFill>
                      <a:srgbClr val="E3F2E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kern="1200" dirty="0">
                          <a:solidFill>
                            <a:schemeClr val="dk1"/>
                          </a:solidFill>
                          <a:latin typeface="Roboto" panose="02000000000000000000" pitchFamily="2" charset="0"/>
                          <a:ea typeface="+mn-ea"/>
                          <a:cs typeface="+mn-cs"/>
                        </a:rPr>
                        <a:t>Speaker</a:t>
                      </a:r>
                      <a:endParaRPr lang="zh-CN" altLang="en-US" sz="1000" kern="1200" dirty="0">
                        <a:solidFill>
                          <a:schemeClr val="dk1"/>
                        </a:solidFill>
                        <a:latin typeface="Roboto" panose="02000000000000000000" pitchFamily="2" charset="0"/>
                        <a:ea typeface="+mn-ea"/>
                        <a:cs typeface="+mn-cs"/>
                      </a:endParaRPr>
                    </a:p>
                  </a:txBody>
                  <a:tcPr anchor="ctr">
                    <a:solidFill>
                      <a:srgbClr val="E4F3E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kern="1200" dirty="0">
                          <a:solidFill>
                            <a:schemeClr val="dk1"/>
                          </a:solidFill>
                          <a:latin typeface="Roboto" panose="02000000000000000000" pitchFamily="2" charset="0"/>
                          <a:ea typeface="+mn-ea"/>
                          <a:cs typeface="+mn-cs"/>
                        </a:rPr>
                        <a:t>2x 8W</a:t>
                      </a:r>
                    </a:p>
                  </a:txBody>
                  <a:tcPr marL="9525" marR="9525" marT="9525" marB="0" anchor="ctr">
                    <a:solidFill>
                      <a:srgbClr val="E4F3E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dirty="0">
                          <a:solidFill>
                            <a:schemeClr val="dk1"/>
                          </a:solidFill>
                          <a:latin typeface="Roboto" panose="02000000000000000000" pitchFamily="2" charset="0"/>
                          <a:ea typeface="+mn-ea"/>
                          <a:cs typeface="+mn-cs"/>
                        </a:rPr>
                        <a:t>2x 10W</a:t>
                      </a:r>
                    </a:p>
                  </a:txBody>
                  <a:tcPr anchor="ctr">
                    <a:solidFill>
                      <a:srgbClr val="E4F3E2"/>
                    </a:solidFill>
                  </a:tcPr>
                </a:tc>
                <a:tc>
                  <a:txBody>
                    <a:bodyPr/>
                    <a:lstStyle/>
                    <a:p>
                      <a:pPr algn="ctr">
                        <a:buNone/>
                      </a:pPr>
                      <a:r>
                        <a:rPr lang="en-US" altLang="zh-CN" sz="1000" dirty="0">
                          <a:latin typeface="Roboto" charset="0"/>
                          <a:ea typeface="Roboto" charset="0"/>
                          <a:cs typeface="Arial" panose="020B0604020202020204" pitchFamily="34" charset="0"/>
                        </a:rPr>
                        <a:t>2x 10w</a:t>
                      </a:r>
                    </a:p>
                  </a:txBody>
                  <a:tcPr anchor="ctr">
                    <a:solidFill>
                      <a:srgbClr val="E4F3E2"/>
                    </a:solidFill>
                  </a:tcPr>
                </a:tc>
                <a:tc>
                  <a:txBody>
                    <a:bodyPr/>
                    <a:lstStyle/>
                    <a:p>
                      <a:pPr algn="ctr">
                        <a:buNone/>
                      </a:pPr>
                      <a:r>
                        <a:rPr lang="en-US" altLang="zh-CN" sz="1000" dirty="0">
                          <a:latin typeface="Roboto" charset="0"/>
                          <a:ea typeface="Roboto" charset="0"/>
                          <a:cs typeface="Arial" panose="020B0604020202020204" pitchFamily="34" charset="0"/>
                        </a:rPr>
                        <a:t>3x</a:t>
                      </a:r>
                      <a:r>
                        <a:rPr lang="zh-CN" altLang="en-US" sz="1000" dirty="0">
                          <a:latin typeface="Roboto" charset="0"/>
                          <a:ea typeface="Roboto" charset="0"/>
                          <a:cs typeface="Arial" panose="020B0604020202020204" pitchFamily="34" charset="0"/>
                        </a:rPr>
                        <a:t> </a:t>
                      </a:r>
                      <a:r>
                        <a:rPr lang="en-US" altLang="zh-CN" sz="1000" dirty="0">
                          <a:latin typeface="Roboto" charset="0"/>
                          <a:ea typeface="Roboto" charset="0"/>
                          <a:cs typeface="Arial" panose="020B0604020202020204" pitchFamily="34" charset="0"/>
                        </a:rPr>
                        <a:t>speakers</a:t>
                      </a:r>
                    </a:p>
                  </a:txBody>
                  <a:tcPr anchor="ctr">
                    <a:solidFill>
                      <a:srgbClr val="E4F3E2"/>
                    </a:solidFill>
                  </a:tcPr>
                </a:tc>
                <a:extLst>
                  <a:ext uri="{0D108BD9-81ED-4DB2-BD59-A6C34878D82A}">
                    <a16:rowId xmlns:a16="http://schemas.microsoft.com/office/drawing/2014/main" val="10008"/>
                  </a:ext>
                </a:extLst>
              </a:tr>
              <a:tr h="432563">
                <a:tc rowSpan="3">
                  <a:txBody>
                    <a:bodyPr/>
                    <a:lstStyle/>
                    <a:p>
                      <a:pPr marL="0" algn="ctr" defTabSz="914400" rtl="0" eaLnBrk="1" latinLnBrk="0" hangingPunct="1">
                        <a:buNone/>
                      </a:pPr>
                      <a:r>
                        <a:rPr lang="en-US" altLang="zh-CN" sz="1000" kern="1200" dirty="0">
                          <a:solidFill>
                            <a:schemeClr val="dk1"/>
                          </a:solidFill>
                          <a:latin typeface="Roboto" panose="02000000000000000000" pitchFamily="2" charset="0"/>
                          <a:ea typeface="+mn-ea"/>
                          <a:cs typeface="+mn-cs"/>
                        </a:rPr>
                        <a:t>Wireless Collaboration</a:t>
                      </a:r>
                      <a:endParaRPr lang="zh-CN" altLang="en-US" sz="1000" kern="1200" dirty="0">
                        <a:solidFill>
                          <a:schemeClr val="dk1"/>
                        </a:solidFill>
                        <a:latin typeface="Roboto" panose="02000000000000000000" pitchFamily="2" charset="0"/>
                        <a:ea typeface="+mn-ea"/>
                        <a:cs typeface="+mn-cs"/>
                      </a:endParaRPr>
                    </a:p>
                  </a:txBody>
                  <a:tcPr anchor="ctr">
                    <a:solidFill>
                      <a:srgbClr val="E4F3E2"/>
                    </a:solidFill>
                  </a:tcPr>
                </a:tc>
                <a:tc>
                  <a:txBody>
                    <a:bodyPr/>
                    <a:lstStyle/>
                    <a:p>
                      <a:pPr marL="0" algn="l" defTabSz="914400" rtl="0" eaLnBrk="1" latinLnBrk="0" hangingPunct="1">
                        <a:buClrTx/>
                        <a:buSzTx/>
                        <a:buFontTx/>
                        <a:buNone/>
                      </a:pPr>
                      <a:r>
                        <a:rPr lang="en-US" altLang="zh-CN" sz="1000" kern="1200" dirty="0">
                          <a:solidFill>
                            <a:schemeClr val="dk1"/>
                          </a:solidFill>
                          <a:latin typeface="Roboto" panose="02000000000000000000" pitchFamily="2" charset="0"/>
                          <a:ea typeface="+mn-ea"/>
                          <a:cs typeface="+mn-cs"/>
                        </a:rPr>
                        <a:t>Wireless Casting</a:t>
                      </a:r>
                      <a:endParaRPr lang="zh-CN" altLang="en-US" sz="1000" kern="1200" dirty="0">
                        <a:solidFill>
                          <a:schemeClr val="dk1"/>
                        </a:solidFill>
                        <a:latin typeface="Roboto" panose="02000000000000000000" pitchFamily="2" charset="0"/>
                        <a:ea typeface="+mn-ea"/>
                        <a:cs typeface="+mn-cs"/>
                      </a:endParaRPr>
                    </a:p>
                  </a:txBody>
                  <a:tcPr anchor="ctr">
                    <a:solidFill>
                      <a:srgbClr val="D6E5D6"/>
                    </a:solidFill>
                  </a:tcPr>
                </a:tc>
                <a:tc>
                  <a:txBody>
                    <a:bodyPr/>
                    <a:lstStyle/>
                    <a:p>
                      <a:pPr marL="0" algn="ctr" defTabSz="914400" rtl="0" eaLnBrk="1" latinLnBrk="0" hangingPunct="1">
                        <a:buClrTx/>
                        <a:buSzTx/>
                        <a:buFontTx/>
                        <a:buNone/>
                      </a:pPr>
                      <a:r>
                        <a:rPr lang="en-US" altLang="zh-CN" sz="1000" kern="1200" dirty="0">
                          <a:solidFill>
                            <a:schemeClr val="dk1"/>
                          </a:solidFill>
                          <a:latin typeface="Roboto" panose="02000000000000000000" pitchFamily="2" charset="0"/>
                          <a:ea typeface="+mn-ea"/>
                          <a:cs typeface="+mn-cs"/>
                        </a:rPr>
                        <a:t>Miracast, Airplay, Dongle</a:t>
                      </a:r>
                    </a:p>
                  </a:txBody>
                  <a:tcPr anchor="ctr">
                    <a:solidFill>
                      <a:srgbClr val="D6E5D6"/>
                    </a:solidFill>
                  </a:tcPr>
                </a:tc>
                <a:tc>
                  <a:txBody>
                    <a:bodyPr/>
                    <a:lstStyle/>
                    <a:p>
                      <a:pPr marL="0" algn="ctr" defTabSz="914400" rtl="0" eaLnBrk="1" latinLnBrk="0" hangingPunct="1">
                        <a:buClrTx/>
                        <a:buSzTx/>
                        <a:buFontTx/>
                        <a:buNone/>
                      </a:pPr>
                      <a:r>
                        <a:rPr lang="en-US" altLang="zh-CN" sz="1000" kern="1200" dirty="0">
                          <a:solidFill>
                            <a:schemeClr val="dk1"/>
                          </a:solidFill>
                          <a:latin typeface="Roboto" panose="02000000000000000000" pitchFamily="2" charset="0"/>
                          <a:ea typeface="+mn-ea"/>
                          <a:cs typeface="+mn-cs"/>
                        </a:rPr>
                        <a:t>Miracast, Airplay, Google Cast, Dongle</a:t>
                      </a:r>
                    </a:p>
                  </a:txBody>
                  <a:tcPr anchor="ctr">
                    <a:solidFill>
                      <a:srgbClr val="D6E5D6"/>
                    </a:solidFill>
                  </a:tcPr>
                </a:tc>
                <a:tc>
                  <a:txBody>
                    <a:bodyPr/>
                    <a:lstStyle/>
                    <a:p>
                      <a:pPr algn="ctr">
                        <a:buNone/>
                      </a:pPr>
                      <a:r>
                        <a:rPr lang="en-US" altLang="zh-CN" sz="1000" dirty="0">
                          <a:latin typeface="Roboto" charset="0"/>
                          <a:cs typeface="Arial" panose="020B0604020202020204" pitchFamily="34" charset="0"/>
                        </a:rPr>
                        <a:t>No</a:t>
                      </a:r>
                      <a:endParaRPr lang="zh-CN" altLang="en-US" sz="1000" dirty="0">
                        <a:latin typeface="Roboto" charset="0"/>
                        <a:cs typeface="Arial" panose="020B0604020202020204" pitchFamily="34" charset="0"/>
                      </a:endParaRPr>
                    </a:p>
                  </a:txBody>
                  <a:tcPr anchor="ctr">
                    <a:solidFill>
                      <a:srgbClr val="D6E5D6"/>
                    </a:solidFill>
                  </a:tcPr>
                </a:tc>
                <a:tc>
                  <a:txBody>
                    <a:bodyPr/>
                    <a:lstStyle/>
                    <a:p>
                      <a:pPr algn="ctr">
                        <a:buNone/>
                      </a:pPr>
                      <a:r>
                        <a:rPr lang="en-US" altLang="zh-CN" sz="1000" dirty="0">
                          <a:latin typeface="Roboto" charset="0"/>
                          <a:cs typeface="Arial" panose="020B0604020202020204" pitchFamily="34" charset="0"/>
                        </a:rPr>
                        <a:t>No</a:t>
                      </a:r>
                      <a:endParaRPr lang="zh-CN" altLang="en-US" sz="1000" dirty="0">
                        <a:latin typeface="Roboto" charset="0"/>
                        <a:cs typeface="Arial" panose="020B0604020202020204" pitchFamily="34" charset="0"/>
                      </a:endParaRPr>
                    </a:p>
                  </a:txBody>
                  <a:tcPr anchor="ctr">
                    <a:solidFill>
                      <a:srgbClr val="D6E5D6"/>
                    </a:solidFill>
                  </a:tcPr>
                </a:tc>
                <a:extLst>
                  <a:ext uri="{0D108BD9-81ED-4DB2-BD59-A6C34878D82A}">
                    <a16:rowId xmlns:a16="http://schemas.microsoft.com/office/drawing/2014/main" val="10009"/>
                  </a:ext>
                </a:extLst>
              </a:tr>
              <a:tr h="238695">
                <a:tc vMerge="1">
                  <a:txBody>
                    <a:bodyPr/>
                    <a:lstStyle/>
                    <a:p>
                      <a:pPr algn="ctr">
                        <a:buNone/>
                      </a:pPr>
                      <a:endParaRPr lang="zh-CN" altLang="en-US" sz="1000" dirty="0">
                        <a:solidFill>
                          <a:schemeClr val="tx1"/>
                        </a:solidFill>
                        <a:latin typeface="Roboto" charset="0"/>
                        <a:cs typeface="Arial" panose="020B0604020202020204" pitchFamily="34" charset="0"/>
                      </a:endParaRPr>
                    </a:p>
                  </a:txBody>
                  <a:tcPr anchor="ctr">
                    <a:solidFill>
                      <a:srgbClr val="E3F2E2"/>
                    </a:solidFill>
                  </a:tcPr>
                </a:tc>
                <a:tc>
                  <a:txBody>
                    <a:bodyPr/>
                    <a:lstStyle/>
                    <a:p>
                      <a:pPr marL="0" algn="l" defTabSz="914400" rtl="0" eaLnBrk="1" latinLnBrk="0" hangingPunct="1">
                        <a:buNone/>
                      </a:pPr>
                      <a:r>
                        <a:rPr lang="en-US" altLang="zh-CN" sz="1000" kern="1200" dirty="0">
                          <a:solidFill>
                            <a:schemeClr val="dk1"/>
                          </a:solidFill>
                          <a:latin typeface="Roboto" panose="02000000000000000000" pitchFamily="2" charset="0"/>
                          <a:ea typeface="+mn-ea"/>
                          <a:cs typeface="+mn-cs"/>
                        </a:rPr>
                        <a:t>Wireless Conferencing</a:t>
                      </a:r>
                      <a:endParaRPr lang="zh-CN" altLang="en-US" sz="1000" kern="1200" dirty="0">
                        <a:solidFill>
                          <a:schemeClr val="dk1"/>
                        </a:solidFill>
                        <a:latin typeface="Roboto" panose="02000000000000000000" pitchFamily="2" charset="0"/>
                        <a:ea typeface="+mn-ea"/>
                        <a:cs typeface="+mn-cs"/>
                      </a:endParaRPr>
                    </a:p>
                  </a:txBody>
                  <a:tcPr anchor="ctr">
                    <a:solidFill>
                      <a:srgbClr val="E4F3E2"/>
                    </a:solidFill>
                  </a:tcPr>
                </a:tc>
                <a:tc>
                  <a:txBody>
                    <a:bodyPr/>
                    <a:lstStyle/>
                    <a:p>
                      <a:pPr algn="ctr">
                        <a:buNone/>
                      </a:pPr>
                      <a:r>
                        <a:rPr lang="en-US" altLang="zh-CN" sz="1000" kern="1200" dirty="0">
                          <a:solidFill>
                            <a:srgbClr val="0B7934"/>
                          </a:solidFill>
                          <a:latin typeface="Roboto" panose="02000000000000000000" pitchFamily="2" charset="0"/>
                          <a:ea typeface="+mn-ea"/>
                          <a:cs typeface="+mn-cs"/>
                        </a:rPr>
                        <a:t>APO-GD2/APO-DG2-PRO</a:t>
                      </a:r>
                      <a:endParaRPr lang="zh-CN" altLang="en-US" sz="1000" kern="1200" dirty="0">
                        <a:solidFill>
                          <a:srgbClr val="0B7934"/>
                        </a:solidFill>
                        <a:latin typeface="Roboto" panose="02000000000000000000" pitchFamily="2" charset="0"/>
                        <a:ea typeface="+mn-ea"/>
                        <a:cs typeface="+mn-cs"/>
                      </a:endParaRPr>
                    </a:p>
                  </a:txBody>
                  <a:tcPr anchor="ctr">
                    <a:solidFill>
                      <a:srgbClr val="E4F3E2"/>
                    </a:solidFill>
                  </a:tcPr>
                </a:tc>
                <a:tc>
                  <a:txBody>
                    <a:bodyPr/>
                    <a:lstStyle/>
                    <a:p>
                      <a:pPr algn="ctr">
                        <a:buNone/>
                      </a:pPr>
                      <a:r>
                        <a:rPr lang="en-US" altLang="zh-CN" sz="1000" kern="1200" dirty="0">
                          <a:solidFill>
                            <a:schemeClr val="dk1"/>
                          </a:solidFill>
                          <a:latin typeface="Roboto" panose="02000000000000000000" pitchFamily="2" charset="0"/>
                          <a:ea typeface="+mn-ea"/>
                          <a:cs typeface="+mn-cs"/>
                        </a:rPr>
                        <a:t>Dongle</a:t>
                      </a:r>
                      <a:r>
                        <a:rPr lang="zh-CN" altLang="en-US" sz="1000" kern="1200" dirty="0">
                          <a:solidFill>
                            <a:schemeClr val="dk1"/>
                          </a:solidFill>
                          <a:latin typeface="Roboto" panose="02000000000000000000" pitchFamily="2" charset="0"/>
                          <a:ea typeface="+mn-ea"/>
                          <a:cs typeface="+mn-cs"/>
                        </a:rPr>
                        <a:t> </a:t>
                      </a:r>
                      <a:r>
                        <a:rPr lang="en-US" altLang="zh-CN" sz="1000" kern="1200" dirty="0">
                          <a:solidFill>
                            <a:schemeClr val="dk1"/>
                          </a:solidFill>
                          <a:latin typeface="Roboto" panose="02000000000000000000" pitchFamily="2" charset="0"/>
                          <a:ea typeface="+mn-ea"/>
                          <a:cs typeface="+mn-cs"/>
                        </a:rPr>
                        <a:t>or</a:t>
                      </a:r>
                      <a:r>
                        <a:rPr lang="zh-CN" altLang="en-US" sz="1000" kern="1200" dirty="0">
                          <a:solidFill>
                            <a:schemeClr val="dk1"/>
                          </a:solidFill>
                          <a:latin typeface="Roboto" panose="02000000000000000000" pitchFamily="2" charset="0"/>
                          <a:ea typeface="+mn-ea"/>
                          <a:cs typeface="+mn-cs"/>
                        </a:rPr>
                        <a:t> </a:t>
                      </a:r>
                      <a:r>
                        <a:rPr lang="en-US" altLang="zh-CN" sz="1000" kern="1200" dirty="0">
                          <a:solidFill>
                            <a:schemeClr val="dk1"/>
                          </a:solidFill>
                          <a:latin typeface="Roboto" panose="02000000000000000000" pitchFamily="2" charset="0"/>
                          <a:ea typeface="+mn-ea"/>
                          <a:cs typeface="+mn-cs"/>
                        </a:rPr>
                        <a:t>App</a:t>
                      </a:r>
                    </a:p>
                  </a:txBody>
                  <a:tcPr anchor="ctr">
                    <a:solidFill>
                      <a:srgbClr val="E4F3E2"/>
                    </a:solidFill>
                  </a:tcPr>
                </a:tc>
                <a:tc>
                  <a:txBody>
                    <a:bodyPr/>
                    <a:lstStyle/>
                    <a:p>
                      <a:pPr algn="ctr">
                        <a:buNone/>
                      </a:pPr>
                      <a:r>
                        <a:rPr lang="en-US" altLang="zh-CN" sz="1000" dirty="0">
                          <a:latin typeface="Roboto" charset="0"/>
                          <a:ea typeface="Roboto" charset="0"/>
                          <a:cs typeface="Arial" panose="020B0604020202020204" pitchFamily="34" charset="0"/>
                        </a:rPr>
                        <a:t>No</a:t>
                      </a:r>
                    </a:p>
                  </a:txBody>
                  <a:tcPr anchor="ctr">
                    <a:solidFill>
                      <a:srgbClr val="E4F3E2"/>
                    </a:solidFill>
                  </a:tcPr>
                </a:tc>
                <a:tc>
                  <a:txBody>
                    <a:bodyPr/>
                    <a:lstStyle/>
                    <a:p>
                      <a:pPr algn="ctr">
                        <a:buNone/>
                      </a:pPr>
                      <a:r>
                        <a:rPr lang="en-US" altLang="zh-CN" sz="1000" dirty="0">
                          <a:latin typeface="Roboto" charset="0"/>
                          <a:ea typeface="Roboto" charset="0"/>
                          <a:cs typeface="Arial" panose="020B0604020202020204" pitchFamily="34" charset="0"/>
                        </a:rPr>
                        <a:t>No</a:t>
                      </a:r>
                    </a:p>
                  </a:txBody>
                  <a:tcPr anchor="ctr">
                    <a:solidFill>
                      <a:srgbClr val="E4F3E2"/>
                    </a:solidFill>
                  </a:tcPr>
                </a:tc>
                <a:extLst>
                  <a:ext uri="{0D108BD9-81ED-4DB2-BD59-A6C34878D82A}">
                    <a16:rowId xmlns:a16="http://schemas.microsoft.com/office/drawing/2014/main" val="10010"/>
                  </a:ext>
                </a:extLst>
              </a:tr>
              <a:tr h="387879">
                <a:tc vMerge="1">
                  <a:txBody>
                    <a:bodyPr/>
                    <a:lstStyle/>
                    <a:p>
                      <a:endParaRPr lang="zh-CN" altLang="en-US"/>
                    </a:p>
                  </a:txBody>
                  <a:tcPr/>
                </a:tc>
                <a:tc>
                  <a:txBody>
                    <a:bodyPr/>
                    <a:lstStyle/>
                    <a:p>
                      <a:pPr marL="0" algn="l" defTabSz="914400" rtl="0" eaLnBrk="1" latinLnBrk="0" hangingPunct="1">
                        <a:buNone/>
                      </a:pPr>
                      <a:r>
                        <a:rPr lang="en-US" altLang="zh-CN" sz="1000" kern="1200" dirty="0">
                          <a:solidFill>
                            <a:schemeClr val="dk1"/>
                          </a:solidFill>
                          <a:latin typeface="Roboto" panose="02000000000000000000" pitchFamily="2" charset="0"/>
                          <a:ea typeface="+mn-ea"/>
                          <a:cs typeface="+mn-cs"/>
                        </a:rPr>
                        <a:t>Max. Wireless</a:t>
                      </a:r>
                      <a:r>
                        <a:rPr lang="zh-CN" altLang="en-US" sz="1000" kern="1200" dirty="0">
                          <a:solidFill>
                            <a:schemeClr val="dk1"/>
                          </a:solidFill>
                          <a:latin typeface="Roboto" panose="02000000000000000000" pitchFamily="2" charset="0"/>
                          <a:ea typeface="+mn-ea"/>
                          <a:cs typeface="+mn-cs"/>
                        </a:rPr>
                        <a:t> </a:t>
                      </a:r>
                      <a:r>
                        <a:rPr lang="en-US" altLang="zh-CN" sz="1000" kern="1200" dirty="0">
                          <a:solidFill>
                            <a:schemeClr val="dk1"/>
                          </a:solidFill>
                          <a:latin typeface="Roboto" panose="02000000000000000000" pitchFamily="2" charset="0"/>
                          <a:ea typeface="+mn-ea"/>
                          <a:cs typeface="+mn-cs"/>
                        </a:rPr>
                        <a:t>Conferencing</a:t>
                      </a:r>
                      <a:r>
                        <a:rPr lang="zh-CN" altLang="en-US" sz="1000" kern="1200" dirty="0">
                          <a:solidFill>
                            <a:schemeClr val="dk1"/>
                          </a:solidFill>
                          <a:latin typeface="Roboto" panose="02000000000000000000" pitchFamily="2" charset="0"/>
                          <a:ea typeface="+mn-ea"/>
                          <a:cs typeface="+mn-cs"/>
                        </a:rPr>
                        <a:t> </a:t>
                      </a:r>
                      <a:r>
                        <a:rPr lang="en-US" altLang="zh-CN" sz="1000" kern="1200" dirty="0">
                          <a:solidFill>
                            <a:schemeClr val="dk1"/>
                          </a:solidFill>
                          <a:latin typeface="Roboto" panose="02000000000000000000" pitchFamily="2" charset="0"/>
                          <a:ea typeface="+mn-ea"/>
                          <a:cs typeface="+mn-cs"/>
                        </a:rPr>
                        <a:t>Resolution</a:t>
                      </a:r>
                      <a:endParaRPr lang="zh-CN" altLang="en-US" sz="1000" kern="1200" dirty="0">
                        <a:solidFill>
                          <a:schemeClr val="dk1"/>
                        </a:solidFill>
                        <a:latin typeface="Roboto" panose="02000000000000000000" pitchFamily="2" charset="0"/>
                        <a:ea typeface="+mn-ea"/>
                        <a:cs typeface="+mn-cs"/>
                      </a:endParaRPr>
                    </a:p>
                  </a:txBody>
                  <a:tcPr anchor="ctr">
                    <a:solidFill>
                      <a:srgbClr val="D6E5D6"/>
                    </a:solidFill>
                  </a:tcPr>
                </a:tc>
                <a:tc>
                  <a:txBody>
                    <a:bodyPr/>
                    <a:lstStyle/>
                    <a:p>
                      <a:pPr algn="ctr">
                        <a:buNone/>
                      </a:pPr>
                      <a:r>
                        <a:rPr lang="en-US" altLang="zh-CN" sz="1000" kern="1200" dirty="0">
                          <a:solidFill>
                            <a:srgbClr val="0B7934"/>
                          </a:solidFill>
                          <a:latin typeface="Roboto" panose="02000000000000000000" pitchFamily="2" charset="0"/>
                          <a:ea typeface="+mn-ea"/>
                          <a:cs typeface="+mn-cs"/>
                        </a:rPr>
                        <a:t>1080P30Hz</a:t>
                      </a:r>
                      <a:endParaRPr lang="zh-CN" altLang="en-US" sz="1000" kern="1200" dirty="0">
                        <a:solidFill>
                          <a:srgbClr val="0B7934"/>
                        </a:solidFill>
                        <a:latin typeface="Roboto" panose="02000000000000000000" pitchFamily="2" charset="0"/>
                        <a:ea typeface="+mn-ea"/>
                        <a:cs typeface="+mn-cs"/>
                      </a:endParaRPr>
                    </a:p>
                  </a:txBody>
                  <a:tcPr anchor="ctr">
                    <a:solidFill>
                      <a:srgbClr val="D6E5D6"/>
                    </a:solidFill>
                  </a:tcPr>
                </a:tc>
                <a:tc>
                  <a:txBody>
                    <a:bodyPr/>
                    <a:lstStyle/>
                    <a:p>
                      <a:pPr algn="ctr">
                        <a:buNone/>
                      </a:pPr>
                      <a:r>
                        <a:rPr lang="en-US" altLang="zh-CN" sz="1000" kern="1200" dirty="0">
                          <a:solidFill>
                            <a:schemeClr val="dk1"/>
                          </a:solidFill>
                          <a:latin typeface="Roboto" panose="02000000000000000000" pitchFamily="2" charset="0"/>
                          <a:ea typeface="+mn-ea"/>
                          <a:cs typeface="+mn-cs"/>
                        </a:rPr>
                        <a:t>720P15Hz</a:t>
                      </a:r>
                    </a:p>
                  </a:txBody>
                  <a:tcPr anchor="ctr">
                    <a:solidFill>
                      <a:srgbClr val="D6E5D6"/>
                    </a:solidFill>
                  </a:tcPr>
                </a:tc>
                <a:tc>
                  <a:txBody>
                    <a:bodyPr/>
                    <a:lstStyle/>
                    <a:p>
                      <a:pPr algn="ctr">
                        <a:buNone/>
                      </a:pPr>
                      <a:r>
                        <a:rPr lang="en-US" altLang="zh-CN" sz="1000" dirty="0">
                          <a:latin typeface="Roboto" charset="0"/>
                          <a:ea typeface="Roboto" charset="0"/>
                          <a:cs typeface="Arial" panose="020B0604020202020204" pitchFamily="34" charset="0"/>
                        </a:rPr>
                        <a:t>No</a:t>
                      </a:r>
                    </a:p>
                  </a:txBody>
                  <a:tcPr anchor="ctr">
                    <a:solidFill>
                      <a:srgbClr val="D6E5D6"/>
                    </a:solidFill>
                  </a:tcPr>
                </a:tc>
                <a:tc>
                  <a:txBody>
                    <a:bodyPr/>
                    <a:lstStyle/>
                    <a:p>
                      <a:pPr algn="ctr">
                        <a:buNone/>
                      </a:pPr>
                      <a:r>
                        <a:rPr lang="en-US" altLang="zh-CN" sz="1000" dirty="0">
                          <a:latin typeface="Roboto" charset="0"/>
                          <a:ea typeface="Roboto" charset="0"/>
                          <a:cs typeface="Arial" panose="020B0604020202020204" pitchFamily="34" charset="0"/>
                        </a:rPr>
                        <a:t>No</a:t>
                      </a:r>
                    </a:p>
                  </a:txBody>
                  <a:tcPr anchor="ctr">
                    <a:solidFill>
                      <a:srgbClr val="D6E5D6"/>
                    </a:solidFill>
                  </a:tcPr>
                </a:tc>
                <a:extLst>
                  <a:ext uri="{0D108BD9-81ED-4DB2-BD59-A6C34878D82A}">
                    <a16:rowId xmlns:a16="http://schemas.microsoft.com/office/drawing/2014/main" val="3313125931"/>
                  </a:ext>
                </a:extLst>
              </a:tr>
            </a:tbl>
          </a:graphicData>
        </a:graphic>
      </p:graphicFrame>
      <p:sp>
        <p:nvSpPr>
          <p:cNvPr id="7" name="矩形 7"/>
          <p:cNvSpPr/>
          <p:nvPr>
            <p:custDataLst>
              <p:tags r:id="rId2"/>
            </p:custDataLst>
          </p:nvPr>
        </p:nvSpPr>
        <p:spPr>
          <a:xfrm>
            <a:off x="0" y="0"/>
            <a:ext cx="12192000" cy="912114"/>
          </a:xfrm>
          <a:prstGeom prst="rect">
            <a:avLst/>
          </a:prstGeom>
          <a:solidFill>
            <a:srgbClr val="0B7935"/>
          </a:solidFill>
          <a:ln w="12700" cap="flat" cmpd="sng" algn="ctr">
            <a:solidFill>
              <a:schemeClr val="accent6"/>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8" name="文本框 6"/>
          <p:cNvSpPr txBox="1"/>
          <p:nvPr>
            <p:custDataLst>
              <p:tags r:id="rId3"/>
            </p:custDataLst>
          </p:nvPr>
        </p:nvSpPr>
        <p:spPr>
          <a:xfrm>
            <a:off x="457155" y="169546"/>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pitchFamily="34" charset="-122"/>
                <a:sym typeface="Roboto"/>
              </a:rPr>
              <a:t>Comparison with Other Competitors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3"/>
            </p:custDataLst>
          </p:nvPr>
        </p:nvSpPr>
        <p:spPr>
          <a:xfrm>
            <a:off x="457155" y="16002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pitchFamily="34" charset="-122"/>
                <a:sym typeface="Roboto"/>
              </a:rPr>
              <a:t>Quick Installation Guide</a:t>
            </a:r>
          </a:p>
        </p:txBody>
      </p:sp>
      <p:sp>
        <p:nvSpPr>
          <p:cNvPr id="14" name="Title 6"/>
          <p:cNvSpPr txBox="1"/>
          <p:nvPr>
            <p:custDataLst>
              <p:tags r:id="rId4"/>
            </p:custDataLst>
          </p:nvPr>
        </p:nvSpPr>
        <p:spPr>
          <a:xfrm>
            <a:off x="546065" y="912115"/>
            <a:ext cx="6298865" cy="5945886"/>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90513" indent="-290513" fontAlgn="ctr">
              <a:lnSpc>
                <a:spcPct val="150000"/>
              </a:lnSpc>
              <a:spcBef>
                <a:spcPts val="0"/>
              </a:spcBef>
              <a:spcAft>
                <a:spcPts val="800"/>
              </a:spcAft>
              <a:buSzPct val="100000"/>
              <a:buFont typeface="Wingdings" panose="05000000000000000000" charset="0"/>
              <a:buChar char="l"/>
            </a:pPr>
            <a:r>
              <a:rPr lang="en-US" altLang="zh-CN" sz="1400" b="1" spc="0" dirty="0">
                <a:ln w="3175">
                  <a:noFill/>
                  <a:prstDash val="dash"/>
                </a:ln>
                <a:solidFill>
                  <a:schemeClr val="dk1">
                    <a:lumMod val="75000"/>
                    <a:lumOff val="25000"/>
                  </a:schemeClr>
                </a:solidFill>
                <a:latin typeface="Roboto" panose="02000000000000000000" pitchFamily="2" charset="0"/>
                <a:ea typeface="Roboto" panose="02000000000000000000" pitchFamily="2" charset="0"/>
                <a:cs typeface="Arial" panose="020B0604020202020204" pitchFamily="34" charset="0"/>
              </a:rPr>
              <a:t>Connect and Power up</a:t>
            </a:r>
            <a:r>
              <a:rPr lang="en-US" altLang="zh-CN" sz="1400" spc="0" dirty="0">
                <a:ln w="3175">
                  <a:noFill/>
                  <a:prstDash val="dash"/>
                </a:ln>
                <a:solidFill>
                  <a:schemeClr val="dk1">
                    <a:lumMod val="75000"/>
                    <a:lumOff val="25000"/>
                  </a:schemeClr>
                </a:solidFill>
                <a:latin typeface="Roboto" panose="02000000000000000000" pitchFamily="2" charset="0"/>
                <a:ea typeface="Roboto" panose="02000000000000000000" pitchFamily="2" charset="0"/>
                <a:cs typeface="Arial" panose="020B0604020202020204" pitchFamily="34" charset="0"/>
              </a:rPr>
              <a:t>: </a:t>
            </a:r>
            <a:r>
              <a:rPr lang="en-US" altLang="zh-CN" sz="1400" spc="0" dirty="0">
                <a:ln w="3175">
                  <a:noFill/>
                  <a:prstDash val="dash"/>
                </a:ln>
                <a:solidFill>
                  <a:schemeClr val="dk1">
                    <a:lumMod val="75000"/>
                    <a:lumOff val="25000"/>
                  </a:schemeClr>
                </a:solidFill>
                <a:latin typeface="Roboto" charset="0"/>
                <a:ea typeface="Roboto" charset="0"/>
                <a:cs typeface="Arial" panose="020B0604020202020204" pitchFamily="34" charset="0"/>
              </a:rPr>
              <a:t>Connect the power supply and other cables, then turn on the video bar.</a:t>
            </a:r>
            <a:endParaRPr lang="en-US" sz="1400" spc="0" dirty="0">
              <a:ln w="3175">
                <a:noFill/>
                <a:prstDash val="dash"/>
              </a:ln>
              <a:solidFill>
                <a:schemeClr val="dk1">
                  <a:lumMod val="75000"/>
                  <a:lumOff val="25000"/>
                </a:schemeClr>
              </a:solidFill>
              <a:latin typeface="Roboto" charset="0"/>
              <a:ea typeface="Roboto" charset="0"/>
              <a:cs typeface="Arial" panose="020B0604020202020204" pitchFamily="34" charset="0"/>
            </a:endParaRPr>
          </a:p>
          <a:p>
            <a:pPr marL="290513" indent="-290513" fontAlgn="ctr">
              <a:lnSpc>
                <a:spcPct val="150000"/>
              </a:lnSpc>
              <a:spcBef>
                <a:spcPts val="0"/>
              </a:spcBef>
              <a:spcAft>
                <a:spcPts val="800"/>
              </a:spcAft>
              <a:buSzPct val="100000"/>
              <a:buFont typeface="Wingdings" panose="05000000000000000000" charset="0"/>
              <a:buChar char="l"/>
            </a:pPr>
            <a:r>
              <a:rPr lang="en-US" sz="1400" b="1" spc="0" dirty="0">
                <a:ln w="3175">
                  <a:noFill/>
                  <a:prstDash val="dash"/>
                </a:ln>
                <a:solidFill>
                  <a:schemeClr val="dk1">
                    <a:lumMod val="75000"/>
                    <a:lumOff val="25000"/>
                  </a:schemeClr>
                </a:solidFill>
                <a:latin typeface="Roboto" panose="02000000000000000000" pitchFamily="2" charset="0"/>
                <a:ea typeface="Roboto" panose="02000000000000000000" pitchFamily="2" charset="0"/>
                <a:cs typeface="Arial" panose="020B0604020202020204" pitchFamily="34" charset="0"/>
              </a:rPr>
              <a:t>Choose Your Installation Method</a:t>
            </a:r>
            <a:r>
              <a:rPr lang="en-US" sz="1400" spc="0" dirty="0">
                <a:ln w="3175">
                  <a:noFill/>
                  <a:prstDash val="dash"/>
                </a:ln>
                <a:solidFill>
                  <a:schemeClr val="dk1">
                    <a:lumMod val="75000"/>
                    <a:lumOff val="25000"/>
                  </a:schemeClr>
                </a:solidFill>
                <a:uFillTx/>
                <a:latin typeface="Roboto" panose="02000000000000000000" pitchFamily="2" charset="0"/>
                <a:ea typeface="Roboto" panose="02000000000000000000" pitchFamily="2" charset="0"/>
                <a:cs typeface="Arial" panose="020B0604020202020204" pitchFamily="34" charset="0"/>
              </a:rPr>
              <a:t>: </a:t>
            </a:r>
            <a:r>
              <a:rPr lang="en-US" altLang="zh-CN" sz="1400" spc="0" dirty="0">
                <a:ln w="3175">
                  <a:noFill/>
                  <a:prstDash val="dash"/>
                </a:ln>
                <a:solidFill>
                  <a:schemeClr val="dk1">
                    <a:lumMod val="75000"/>
                    <a:lumOff val="25000"/>
                  </a:schemeClr>
                </a:solidFill>
                <a:latin typeface="Roboto" charset="0"/>
                <a:ea typeface="Roboto" charset="0"/>
                <a:cs typeface="Arial" panose="020B0604020202020204" pitchFamily="34" charset="0"/>
              </a:rPr>
              <a:t>Select a suitable installation method: table-top, on-display, or wall mount. For wall mounting, use the included brackets and ensure the video bar is securely and properly leveled. The bar can be mounted above or below the display as required.</a:t>
            </a:r>
            <a:endParaRPr lang="en-US" sz="1400" spc="0" dirty="0">
              <a:ln w="3175">
                <a:noFill/>
                <a:prstDash val="dash"/>
              </a:ln>
              <a:solidFill>
                <a:schemeClr val="dk1">
                  <a:lumMod val="75000"/>
                  <a:lumOff val="25000"/>
                </a:schemeClr>
              </a:solidFill>
              <a:latin typeface="Roboto" charset="0"/>
              <a:ea typeface="Roboto" charset="0"/>
              <a:cs typeface="Arial" panose="020B0604020202020204" pitchFamily="34" charset="0"/>
            </a:endParaRPr>
          </a:p>
          <a:p>
            <a:pPr marL="290513" indent="-290513" fontAlgn="ctr">
              <a:lnSpc>
                <a:spcPct val="150000"/>
              </a:lnSpc>
              <a:spcBef>
                <a:spcPts val="0"/>
              </a:spcBef>
              <a:spcAft>
                <a:spcPts val="800"/>
              </a:spcAft>
              <a:buSzPct val="100000"/>
              <a:buFont typeface="Wingdings" panose="05000000000000000000" charset="0"/>
              <a:buChar char="l"/>
            </a:pPr>
            <a:r>
              <a:rPr lang="en-US" sz="1400" b="1" spc="0" dirty="0">
                <a:ln w="3175">
                  <a:noFill/>
                  <a:prstDash val="dash"/>
                </a:ln>
                <a:solidFill>
                  <a:schemeClr val="dk1">
                    <a:lumMod val="75000"/>
                    <a:lumOff val="25000"/>
                  </a:schemeClr>
                </a:solidFill>
                <a:uFillTx/>
                <a:latin typeface="Roboto" panose="02000000000000000000" pitchFamily="2" charset="0"/>
                <a:ea typeface="Roboto" panose="02000000000000000000" pitchFamily="2" charset="0"/>
                <a:cs typeface="Arial" panose="020B0604020202020204" pitchFamily="34" charset="0"/>
              </a:rPr>
              <a:t>Wired </a:t>
            </a:r>
            <a:r>
              <a:rPr lang="en-US" sz="1400" b="1" spc="0" dirty="0">
                <a:ln w="3175">
                  <a:noFill/>
                  <a:prstDash val="dash"/>
                </a:ln>
                <a:solidFill>
                  <a:schemeClr val="dk1">
                    <a:lumMod val="75000"/>
                    <a:lumOff val="25000"/>
                  </a:schemeClr>
                </a:solidFill>
                <a:latin typeface="Roboto" panose="02000000000000000000" pitchFamily="2" charset="0"/>
                <a:ea typeface="Roboto" panose="02000000000000000000" pitchFamily="2" charset="0"/>
                <a:cs typeface="Arial" panose="020B0604020202020204" pitchFamily="34" charset="0"/>
              </a:rPr>
              <a:t>Connection</a:t>
            </a:r>
            <a:r>
              <a:rPr lang="en-US" sz="1400" b="1" spc="0" dirty="0">
                <a:ln w="3175">
                  <a:noFill/>
                  <a:prstDash val="dash"/>
                </a:ln>
                <a:solidFill>
                  <a:schemeClr val="dk1">
                    <a:lumMod val="75000"/>
                    <a:lumOff val="25000"/>
                  </a:schemeClr>
                </a:solidFill>
                <a:uFillTx/>
                <a:latin typeface="Roboto" panose="02000000000000000000" pitchFamily="2" charset="0"/>
                <a:ea typeface="Roboto" panose="02000000000000000000" pitchFamily="2" charset="0"/>
                <a:cs typeface="Arial" panose="020B0604020202020204" pitchFamily="34" charset="0"/>
              </a:rPr>
              <a:t>: </a:t>
            </a:r>
            <a:r>
              <a:rPr lang="en-US" altLang="zh-CN" sz="1400" spc="0" dirty="0">
                <a:ln w="3175">
                  <a:noFill/>
                  <a:prstDash val="dash"/>
                </a:ln>
                <a:solidFill>
                  <a:schemeClr val="dk1">
                    <a:lumMod val="75000"/>
                    <a:lumOff val="25000"/>
                  </a:schemeClr>
                </a:solidFill>
                <a:latin typeface="Roboto" charset="0"/>
                <a:ea typeface="Roboto" charset="0"/>
                <a:cs typeface="Arial" panose="020B0604020202020204" pitchFamily="34" charset="0"/>
              </a:rPr>
              <a:t>For wired conferencing and screen sharing, connect your laptop using USB-C, or HDMI with USB, to access video, audio, camera, and USB peripherals.</a:t>
            </a:r>
            <a:r>
              <a:rPr lang="en-US" sz="1400" spc="0" dirty="0">
                <a:ln w="3175">
                  <a:noFill/>
                  <a:prstDash val="dash"/>
                </a:ln>
                <a:solidFill>
                  <a:schemeClr val="dk1">
                    <a:lumMod val="75000"/>
                    <a:lumOff val="25000"/>
                  </a:schemeClr>
                </a:solidFill>
                <a:latin typeface="Roboto" charset="0"/>
                <a:ea typeface="Roboto" charset="0"/>
                <a:cs typeface="Arial" panose="020B0604020202020204" pitchFamily="34" charset="0"/>
              </a:rPr>
              <a:t> </a:t>
            </a:r>
          </a:p>
          <a:p>
            <a:pPr marL="290513" indent="-290513" fontAlgn="ctr">
              <a:lnSpc>
                <a:spcPct val="150000"/>
              </a:lnSpc>
              <a:spcBef>
                <a:spcPts val="0"/>
              </a:spcBef>
              <a:spcAft>
                <a:spcPts val="800"/>
              </a:spcAft>
              <a:buSzPct val="100000"/>
              <a:buFont typeface="Wingdings" panose="05000000000000000000" charset="0"/>
              <a:buChar char="l"/>
            </a:pPr>
            <a:r>
              <a:rPr lang="en-US" sz="1400" b="1" spc="0" dirty="0">
                <a:ln w="3175">
                  <a:noFill/>
                  <a:prstDash val="dash"/>
                </a:ln>
                <a:solidFill>
                  <a:schemeClr val="dk1">
                    <a:lumMod val="75000"/>
                    <a:lumOff val="25000"/>
                  </a:schemeClr>
                </a:solidFill>
                <a:uFillTx/>
                <a:latin typeface="Roboto" panose="02000000000000000000" pitchFamily="2" charset="0"/>
                <a:ea typeface="Roboto" panose="02000000000000000000" pitchFamily="2" charset="0"/>
                <a:cs typeface="Arial" panose="020B0604020202020204" pitchFamily="34" charset="0"/>
              </a:rPr>
              <a:t>Wireless Casting &amp; Dongle Pairing:</a:t>
            </a:r>
            <a:r>
              <a:rPr lang="en-US" sz="1400" b="1" spc="0" dirty="0">
                <a:ln w="3175">
                  <a:noFill/>
                  <a:prstDash val="dash"/>
                </a:ln>
                <a:solidFill>
                  <a:schemeClr val="dk1">
                    <a:lumMod val="75000"/>
                    <a:lumOff val="25000"/>
                  </a:schemeClr>
                </a:solidFill>
                <a:latin typeface="Roboto" panose="02000000000000000000" pitchFamily="2" charset="0"/>
                <a:ea typeface="Roboto" panose="02000000000000000000" pitchFamily="2" charset="0"/>
                <a:cs typeface="Arial" panose="020B0604020202020204" pitchFamily="34" charset="0"/>
              </a:rPr>
              <a:t> </a:t>
            </a:r>
            <a:r>
              <a:rPr lang="en-US" sz="1400" spc="0" dirty="0">
                <a:ln w="3175">
                  <a:noFill/>
                  <a:prstDash val="dash"/>
                </a:ln>
                <a:solidFill>
                  <a:schemeClr val="dk1">
                    <a:lumMod val="75000"/>
                    <a:lumOff val="25000"/>
                  </a:schemeClr>
                </a:solidFill>
                <a:latin typeface="Roboto" panose="02000000000000000000" pitchFamily="2" charset="0"/>
                <a:ea typeface="Roboto" panose="02000000000000000000" pitchFamily="2" charset="0"/>
                <a:cs typeface="Arial" panose="020B0604020202020204" pitchFamily="34" charset="0"/>
              </a:rPr>
              <a:t>Wirelessly cast content </a:t>
            </a:r>
            <a:r>
              <a:rPr lang="en-US" sz="1400" spc="0" dirty="0">
                <a:ln w="3175">
                  <a:noFill/>
                  <a:prstDash val="dash"/>
                </a:ln>
                <a:solidFill>
                  <a:schemeClr val="dk1">
                    <a:lumMod val="75000"/>
                    <a:lumOff val="25000"/>
                  </a:schemeClr>
                </a:solidFill>
                <a:latin typeface="Roboto" charset="0"/>
                <a:ea typeface="Roboto" charset="0"/>
                <a:cs typeface="Arial" panose="020B0604020202020204" pitchFamily="34" charset="0"/>
              </a:rPr>
              <a:t>using</a:t>
            </a:r>
            <a:r>
              <a:rPr lang="en-US" altLang="zh-CN" sz="1400" spc="0" dirty="0">
                <a:ln w="3175">
                  <a:noFill/>
                  <a:prstDash val="dash"/>
                </a:ln>
                <a:solidFill>
                  <a:schemeClr val="dk1">
                    <a:lumMod val="75000"/>
                    <a:lumOff val="25000"/>
                  </a:schemeClr>
                </a:solidFill>
                <a:latin typeface="Roboto" charset="0"/>
                <a:ea typeface="Roboto" charset="0"/>
                <a:cs typeface="Arial" panose="020B0604020202020204" pitchFamily="34" charset="0"/>
              </a:rPr>
              <a:t> built-in </a:t>
            </a:r>
            <a:r>
              <a:rPr lang="en-US" altLang="zh-CN" sz="1400" spc="0" dirty="0" err="1">
                <a:ln w="3175">
                  <a:noFill/>
                  <a:prstDash val="dash"/>
                </a:ln>
                <a:solidFill>
                  <a:schemeClr val="dk1">
                    <a:lumMod val="75000"/>
                    <a:lumOff val="25000"/>
                  </a:schemeClr>
                </a:solidFill>
                <a:latin typeface="Roboto" charset="0"/>
                <a:ea typeface="Roboto" charset="0"/>
                <a:cs typeface="Arial" panose="020B0604020202020204" pitchFamily="34" charset="0"/>
              </a:rPr>
              <a:t>AirPlay</a:t>
            </a:r>
            <a:r>
              <a:rPr lang="en-US" altLang="zh-CN" sz="1400" spc="0" dirty="0">
                <a:ln w="3175">
                  <a:noFill/>
                  <a:prstDash val="dash"/>
                </a:ln>
                <a:solidFill>
                  <a:schemeClr val="dk1">
                    <a:lumMod val="75000"/>
                    <a:lumOff val="25000"/>
                  </a:schemeClr>
                </a:solidFill>
                <a:latin typeface="Roboto" charset="0"/>
                <a:ea typeface="Roboto" charset="0"/>
                <a:cs typeface="Arial" panose="020B0604020202020204" pitchFamily="34" charset="0"/>
              </a:rPr>
              <a:t> or Miracast, or pair the optional APO-DG2 / APO-DG2-PRO USB-C dongle. Insert the dongle into the VX20 v2 USB-C port to pair, then plug it into your laptop and press the button to start wireless casting</a:t>
            </a:r>
            <a:endParaRPr lang="en-US" sz="1400" spc="0" dirty="0">
              <a:ln w="3175">
                <a:noFill/>
                <a:prstDash val="dash"/>
              </a:ln>
              <a:solidFill>
                <a:schemeClr val="dk1">
                  <a:lumMod val="75000"/>
                  <a:lumOff val="25000"/>
                </a:schemeClr>
              </a:solidFill>
              <a:latin typeface="Roboto" charset="0"/>
              <a:ea typeface="Roboto" charset="0"/>
              <a:cs typeface="Arial" panose="020B0604020202020204" pitchFamily="34" charset="0"/>
            </a:endParaRPr>
          </a:p>
          <a:p>
            <a:pPr lvl="0" indent="0" algn="l" fontAlgn="ctr">
              <a:lnSpc>
                <a:spcPct val="100000"/>
              </a:lnSpc>
              <a:spcBef>
                <a:spcPts val="0"/>
              </a:spcBef>
              <a:spcAft>
                <a:spcPts val="800"/>
              </a:spcAft>
              <a:buSzPct val="100000"/>
              <a:buFont typeface="Wingdings" panose="05000000000000000000" charset="0"/>
            </a:pPr>
            <a:endParaRPr lang="en-US" sz="1400" i="1" spc="0" dirty="0">
              <a:ln w="3175">
                <a:noFill/>
                <a:prstDash val="dash"/>
              </a:ln>
              <a:solidFill>
                <a:schemeClr val="dk1">
                  <a:lumMod val="75000"/>
                  <a:lumOff val="25000"/>
                </a:schemeClr>
              </a:solidFill>
              <a:uFillTx/>
              <a:latin typeface="Roboto" charset="0"/>
              <a:ea typeface="Roboto" charset="0"/>
              <a:cs typeface="Arial" panose="020B0604020202020204" pitchFamily="34" charset="0"/>
            </a:endParaRPr>
          </a:p>
        </p:txBody>
      </p:sp>
      <p:pic>
        <p:nvPicPr>
          <p:cNvPr id="4" name="Google Shape;82;p1"/>
          <p:cNvPicPr preferRelativeResize="0"/>
          <p:nvPr/>
        </p:nvPicPr>
        <p:blipFill>
          <a:blip r:embed="rId7"/>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p>
        </p:txBody>
      </p:sp>
      <p:pic>
        <p:nvPicPr>
          <p:cNvPr id="22" name="图片 4"/>
          <p:cNvPicPr/>
          <p:nvPr/>
        </p:nvPicPr>
        <p:blipFill>
          <a:blip r:embed="rId8"/>
          <a:stretch>
            <a:fillRect/>
          </a:stretch>
        </p:blipFill>
        <p:spPr>
          <a:xfrm>
            <a:off x="7010400" y="2364740"/>
            <a:ext cx="4882723" cy="3068005"/>
          </a:xfrm>
          <a:prstGeom prst="rect">
            <a:avLst/>
          </a:prstGeom>
          <a:effectLst>
            <a:outerShdw blurRad="50800" dist="38100" dir="5400000" algn="t" rotWithShape="0">
              <a:prstClr val="black">
                <a:alpha val="40000"/>
              </a:prstClr>
            </a:outerShdw>
          </a:effectLst>
        </p:spPr>
      </p:pic>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3"/>
            </p:custDataLst>
          </p:nvPr>
        </p:nvSpPr>
        <p:spPr>
          <a:xfrm>
            <a:off x="457155" y="16002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pitchFamily="34" charset="-122"/>
                <a:sym typeface="Roboto"/>
              </a:rPr>
              <a:t>Introduction of Web Configuration Interface</a:t>
            </a:r>
          </a:p>
        </p:txBody>
      </p:sp>
      <p:sp>
        <p:nvSpPr>
          <p:cNvPr id="14" name="Title 6"/>
          <p:cNvSpPr txBox="1"/>
          <p:nvPr>
            <p:custDataLst>
              <p:tags r:id="rId4"/>
            </p:custDataLst>
          </p:nvPr>
        </p:nvSpPr>
        <p:spPr>
          <a:xfrm>
            <a:off x="457155" y="2200552"/>
            <a:ext cx="6496304" cy="2916450"/>
          </a:xfrm>
          <a:prstGeom prst="rect">
            <a:avLst/>
          </a:prstGeom>
          <a:noFill/>
          <a:ln w="3175">
            <a:noFill/>
            <a:prstDash val="dash"/>
          </a:ln>
        </p:spPr>
        <p:txBody>
          <a:bodyPr wrap="square" lIns="63500" tIns="25400" rIns="63500" bIns="25400" anchor="t"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171450" indent="-171450" fontAlgn="ctr">
              <a:lnSpc>
                <a:spcPct val="150000"/>
              </a:lnSpc>
              <a:spcBef>
                <a:spcPts val="0"/>
              </a:spcBef>
              <a:spcAft>
                <a:spcPts val="800"/>
              </a:spcAft>
              <a:buSzPct val="100000"/>
              <a:buFont typeface="Wingdings" panose="05000000000000000000" charset="0"/>
              <a:buChar char="l"/>
            </a:pPr>
            <a:r>
              <a:rPr lang="en-US" altLang="zh-CN" sz="1400" b="1" spc="0" dirty="0">
                <a:ln w="3175">
                  <a:noFill/>
                  <a:prstDash val="dash"/>
                </a:ln>
                <a:solidFill>
                  <a:schemeClr val="dk1">
                    <a:lumMod val="75000"/>
                    <a:lumOff val="25000"/>
                  </a:schemeClr>
                </a:solidFill>
                <a:latin typeface="Roboto" charset="0"/>
                <a:ea typeface="Roboto" charset="0"/>
                <a:cs typeface="Arial" panose="020B0604020202020204" pitchFamily="34" charset="0"/>
              </a:rPr>
              <a:t>Camera &amp; Tracking</a:t>
            </a:r>
            <a:r>
              <a:rPr lang="zh-CN" altLang="en-US" sz="1400" b="1" spc="0" dirty="0">
                <a:ln w="3175">
                  <a:noFill/>
                  <a:prstDash val="dash"/>
                </a:ln>
                <a:solidFill>
                  <a:schemeClr val="dk1">
                    <a:lumMod val="75000"/>
                    <a:lumOff val="25000"/>
                  </a:schemeClr>
                </a:solidFill>
                <a:latin typeface="Roboto" charset="0"/>
                <a:ea typeface="Roboto" charset="0"/>
                <a:cs typeface="Arial" panose="020B0604020202020204" pitchFamily="34" charset="0"/>
              </a:rPr>
              <a:t> </a:t>
            </a:r>
            <a:r>
              <a:rPr lang="en-US" altLang="zh-CN" sz="1400" b="1" spc="0" dirty="0">
                <a:ln w="3175">
                  <a:noFill/>
                  <a:prstDash val="dash"/>
                </a:ln>
                <a:solidFill>
                  <a:schemeClr val="dk1">
                    <a:lumMod val="75000"/>
                    <a:lumOff val="25000"/>
                  </a:schemeClr>
                </a:solidFill>
                <a:latin typeface="Roboto" charset="0"/>
                <a:ea typeface="Roboto" charset="0"/>
                <a:cs typeface="Arial" panose="020B0604020202020204" pitchFamily="34" charset="0"/>
              </a:rPr>
              <a:t>Settings:</a:t>
            </a:r>
            <a:r>
              <a:rPr lang="zh-CN" altLang="en-US" sz="1400" b="1" spc="0" dirty="0">
                <a:ln w="3175">
                  <a:noFill/>
                  <a:prstDash val="dash"/>
                </a:ln>
                <a:solidFill>
                  <a:schemeClr val="dk1">
                    <a:lumMod val="75000"/>
                    <a:lumOff val="25000"/>
                  </a:schemeClr>
                </a:solidFill>
                <a:latin typeface="Roboto" charset="0"/>
                <a:ea typeface="Roboto" charset="0"/>
                <a:cs typeface="Arial" panose="020B0604020202020204" pitchFamily="34" charset="0"/>
              </a:rPr>
              <a:t> </a:t>
            </a:r>
            <a:r>
              <a:rPr lang="en-US" altLang="zh-CN" sz="1400" spc="0" dirty="0">
                <a:ln w="3175">
                  <a:noFill/>
                  <a:prstDash val="dash"/>
                </a:ln>
                <a:solidFill>
                  <a:schemeClr val="dk1">
                    <a:lumMod val="75000"/>
                    <a:lumOff val="25000"/>
                  </a:schemeClr>
                </a:solidFill>
                <a:latin typeface="Roboto" charset="0"/>
                <a:ea typeface="Roboto" charset="0"/>
                <a:cs typeface="Arial" panose="020B0604020202020204" pitchFamily="34" charset="0"/>
              </a:rPr>
              <a:t>AI tracking modes (Auto Framing, Speaker Tracking, Presenter Tracking, Individuals</a:t>
            </a:r>
            <a:r>
              <a:rPr lang="zh-CN" altLang="en-US" sz="1400" spc="0" dirty="0">
                <a:ln w="3175">
                  <a:noFill/>
                  <a:prstDash val="dash"/>
                </a:ln>
                <a:solidFill>
                  <a:schemeClr val="dk1">
                    <a:lumMod val="75000"/>
                    <a:lumOff val="25000"/>
                  </a:schemeClr>
                </a:solidFill>
                <a:latin typeface="Roboto" charset="0"/>
                <a:ea typeface="Roboto" charset="0"/>
                <a:cs typeface="Arial" panose="020B0604020202020204" pitchFamily="34" charset="0"/>
              </a:rPr>
              <a:t> </a:t>
            </a:r>
            <a:r>
              <a:rPr lang="en-US" altLang="zh-CN" sz="1400" spc="0" dirty="0">
                <a:ln w="3175">
                  <a:noFill/>
                  <a:prstDash val="dash"/>
                </a:ln>
                <a:solidFill>
                  <a:schemeClr val="dk1">
                    <a:lumMod val="75000"/>
                    <a:lumOff val="25000"/>
                  </a:schemeClr>
                </a:solidFill>
                <a:latin typeface="Roboto" charset="0"/>
                <a:ea typeface="Roboto" charset="0"/>
                <a:cs typeface="Arial" panose="020B0604020202020204" pitchFamily="34" charset="0"/>
              </a:rPr>
              <a:t>Gallery), camera presets, and image settings.</a:t>
            </a:r>
          </a:p>
          <a:p>
            <a:pPr marL="171450" indent="-171450" fontAlgn="ctr">
              <a:lnSpc>
                <a:spcPct val="150000"/>
              </a:lnSpc>
              <a:spcBef>
                <a:spcPts val="0"/>
              </a:spcBef>
              <a:spcAft>
                <a:spcPts val="800"/>
              </a:spcAft>
              <a:buSzPct val="100000"/>
              <a:buFont typeface="Wingdings" panose="05000000000000000000" charset="0"/>
              <a:buChar char="l"/>
            </a:pPr>
            <a:r>
              <a:rPr lang="en-US" altLang="zh-CN" sz="1400" b="1" spc="0" dirty="0">
                <a:ln w="3175">
                  <a:noFill/>
                  <a:prstDash val="dash"/>
                </a:ln>
                <a:solidFill>
                  <a:schemeClr val="dk1">
                    <a:lumMod val="75000"/>
                    <a:lumOff val="25000"/>
                  </a:schemeClr>
                </a:solidFill>
                <a:latin typeface="Roboto" charset="0"/>
                <a:ea typeface="Roboto" charset="0"/>
                <a:cs typeface="Arial" panose="020B0604020202020204" pitchFamily="34" charset="0"/>
              </a:rPr>
              <a:t>Video</a:t>
            </a:r>
            <a:r>
              <a:rPr lang="zh-CN" altLang="en-US" sz="1400" b="1" spc="0" dirty="0">
                <a:ln w="3175">
                  <a:noFill/>
                  <a:prstDash val="dash"/>
                </a:ln>
                <a:solidFill>
                  <a:schemeClr val="dk1">
                    <a:lumMod val="75000"/>
                    <a:lumOff val="25000"/>
                  </a:schemeClr>
                </a:solidFill>
                <a:latin typeface="Roboto" charset="0"/>
                <a:ea typeface="Roboto" charset="0"/>
                <a:cs typeface="Arial" panose="020B0604020202020204" pitchFamily="34" charset="0"/>
              </a:rPr>
              <a:t> </a:t>
            </a:r>
            <a:r>
              <a:rPr lang="en-US" altLang="zh-CN" sz="1400" b="1" spc="0" dirty="0">
                <a:ln w="3175">
                  <a:noFill/>
                  <a:prstDash val="dash"/>
                </a:ln>
                <a:solidFill>
                  <a:schemeClr val="dk1">
                    <a:lumMod val="75000"/>
                    <a:lumOff val="25000"/>
                  </a:schemeClr>
                </a:solidFill>
                <a:latin typeface="Roboto" charset="0"/>
                <a:ea typeface="Roboto" charset="0"/>
                <a:cs typeface="Arial" panose="020B0604020202020204" pitchFamily="34" charset="0"/>
              </a:rPr>
              <a:t>Settings:</a:t>
            </a:r>
            <a:r>
              <a:rPr lang="zh-CN" altLang="en-US" sz="1400" b="1" spc="0" dirty="0">
                <a:ln w="3175">
                  <a:noFill/>
                  <a:prstDash val="dash"/>
                </a:ln>
                <a:solidFill>
                  <a:schemeClr val="dk1">
                    <a:lumMod val="75000"/>
                    <a:lumOff val="25000"/>
                  </a:schemeClr>
                </a:solidFill>
                <a:latin typeface="Roboto" charset="0"/>
                <a:ea typeface="Roboto" charset="0"/>
                <a:cs typeface="Arial" panose="020B0604020202020204" pitchFamily="34" charset="0"/>
              </a:rPr>
              <a:t> </a:t>
            </a:r>
            <a:r>
              <a:rPr lang="en-US" altLang="zh-CN" sz="1400" spc="0" dirty="0">
                <a:ln w="3175">
                  <a:noFill/>
                  <a:prstDash val="dash"/>
                </a:ln>
                <a:solidFill>
                  <a:schemeClr val="dk1">
                    <a:lumMod val="75000"/>
                    <a:lumOff val="25000"/>
                  </a:schemeClr>
                </a:solidFill>
                <a:latin typeface="Roboto" charset="0"/>
                <a:ea typeface="Roboto" charset="0"/>
                <a:cs typeface="Arial" panose="020B0604020202020204" pitchFamily="34" charset="0"/>
              </a:rPr>
              <a:t>HDMI output resolution, EDID behavior, and CEC display control.</a:t>
            </a:r>
          </a:p>
          <a:p>
            <a:pPr marL="171450" indent="-171450" fontAlgn="ctr">
              <a:lnSpc>
                <a:spcPct val="150000"/>
              </a:lnSpc>
              <a:spcBef>
                <a:spcPts val="0"/>
              </a:spcBef>
              <a:spcAft>
                <a:spcPts val="800"/>
              </a:spcAft>
              <a:buSzPct val="100000"/>
              <a:buFont typeface="Wingdings" panose="05000000000000000000" charset="0"/>
              <a:buChar char="l"/>
            </a:pPr>
            <a:r>
              <a:rPr lang="en-US" altLang="zh-CN" sz="1400" b="1" spc="0" dirty="0">
                <a:ln w="3175">
                  <a:noFill/>
                  <a:prstDash val="dash"/>
                </a:ln>
                <a:solidFill>
                  <a:schemeClr val="dk1">
                    <a:lumMod val="75000"/>
                    <a:lumOff val="25000"/>
                  </a:schemeClr>
                </a:solidFill>
                <a:latin typeface="Roboto" charset="0"/>
                <a:ea typeface="Roboto" charset="0"/>
                <a:cs typeface="Arial" panose="020B0604020202020204" pitchFamily="34" charset="0"/>
              </a:rPr>
              <a:t>General Settings:</a:t>
            </a:r>
            <a:r>
              <a:rPr lang="zh-CN" altLang="en-US" sz="1400" b="1" spc="0" dirty="0">
                <a:ln w="3175">
                  <a:noFill/>
                  <a:prstDash val="dash"/>
                </a:ln>
                <a:solidFill>
                  <a:schemeClr val="dk1">
                    <a:lumMod val="75000"/>
                    <a:lumOff val="25000"/>
                  </a:schemeClr>
                </a:solidFill>
                <a:latin typeface="Roboto" charset="0"/>
                <a:ea typeface="Roboto" charset="0"/>
                <a:cs typeface="Arial" panose="020B0604020202020204" pitchFamily="34" charset="0"/>
              </a:rPr>
              <a:t> </a:t>
            </a:r>
            <a:r>
              <a:rPr lang="en-US" altLang="zh-CN" sz="1400" spc="0" dirty="0">
                <a:ln w="3175">
                  <a:noFill/>
                  <a:prstDash val="dash"/>
                </a:ln>
                <a:solidFill>
                  <a:schemeClr val="dk1">
                    <a:lumMod val="75000"/>
                    <a:lumOff val="25000"/>
                  </a:schemeClr>
                </a:solidFill>
                <a:latin typeface="Roboto" charset="0"/>
                <a:ea typeface="Roboto" charset="0"/>
                <a:cs typeface="Arial" panose="020B0604020202020204" pitchFamily="34" charset="0"/>
              </a:rPr>
              <a:t>IP settings (DHCP/Static), device name, Wi-Fi hotspot name, access code, and login security.</a:t>
            </a:r>
          </a:p>
          <a:p>
            <a:pPr marL="171450" indent="-171450" fontAlgn="ctr">
              <a:lnSpc>
                <a:spcPct val="150000"/>
              </a:lnSpc>
              <a:spcBef>
                <a:spcPts val="0"/>
              </a:spcBef>
              <a:spcAft>
                <a:spcPts val="800"/>
              </a:spcAft>
              <a:buSzPct val="100000"/>
              <a:buFont typeface="Wingdings" panose="05000000000000000000" charset="0"/>
              <a:buChar char="l"/>
            </a:pPr>
            <a:r>
              <a:rPr lang="en-US" altLang="zh-CN" sz="1400" b="1" spc="0" dirty="0">
                <a:ln w="3175">
                  <a:noFill/>
                  <a:prstDash val="dash"/>
                </a:ln>
                <a:solidFill>
                  <a:schemeClr val="dk1">
                    <a:lumMod val="75000"/>
                    <a:lumOff val="25000"/>
                  </a:schemeClr>
                </a:solidFill>
                <a:latin typeface="Roboto" charset="0"/>
                <a:ea typeface="Roboto" charset="0"/>
                <a:cs typeface="Arial" panose="020B0604020202020204" pitchFamily="34" charset="0"/>
              </a:rPr>
              <a:t>Wireless &amp; BYOD</a:t>
            </a:r>
            <a:r>
              <a:rPr lang="zh-CN" altLang="en-US" sz="1400" b="1" spc="0" dirty="0">
                <a:ln w="3175">
                  <a:noFill/>
                  <a:prstDash val="dash"/>
                </a:ln>
                <a:solidFill>
                  <a:schemeClr val="dk1">
                    <a:lumMod val="75000"/>
                    <a:lumOff val="25000"/>
                  </a:schemeClr>
                </a:solidFill>
                <a:latin typeface="Roboto" charset="0"/>
                <a:ea typeface="Roboto" charset="0"/>
                <a:cs typeface="Arial" panose="020B0604020202020204" pitchFamily="34" charset="0"/>
              </a:rPr>
              <a:t> </a:t>
            </a:r>
            <a:r>
              <a:rPr lang="en-US" altLang="zh-CN" sz="1400" b="1" spc="0" dirty="0">
                <a:ln w="3175">
                  <a:noFill/>
                  <a:prstDash val="dash"/>
                </a:ln>
                <a:solidFill>
                  <a:schemeClr val="dk1">
                    <a:lumMod val="75000"/>
                    <a:lumOff val="25000"/>
                  </a:schemeClr>
                </a:solidFill>
                <a:latin typeface="Roboto" charset="0"/>
                <a:ea typeface="Roboto" charset="0"/>
                <a:cs typeface="Arial" panose="020B0604020202020204" pitchFamily="34" charset="0"/>
              </a:rPr>
              <a:t>Settings:</a:t>
            </a:r>
            <a:r>
              <a:rPr lang="zh-CN" altLang="en-US" sz="1400" b="1" spc="0" dirty="0">
                <a:ln w="3175">
                  <a:noFill/>
                  <a:prstDash val="dash"/>
                </a:ln>
                <a:solidFill>
                  <a:schemeClr val="dk1">
                    <a:lumMod val="75000"/>
                    <a:lumOff val="25000"/>
                  </a:schemeClr>
                </a:solidFill>
                <a:latin typeface="Roboto" charset="0"/>
                <a:ea typeface="Roboto" charset="0"/>
                <a:cs typeface="Arial" panose="020B0604020202020204" pitchFamily="34" charset="0"/>
              </a:rPr>
              <a:t> </a:t>
            </a:r>
            <a:r>
              <a:rPr lang="en-US" altLang="zh-CN" sz="1400" spc="0" dirty="0">
                <a:ln w="3175">
                  <a:noFill/>
                  <a:prstDash val="dash"/>
                </a:ln>
                <a:solidFill>
                  <a:schemeClr val="dk1">
                    <a:lumMod val="75000"/>
                    <a:lumOff val="25000"/>
                  </a:schemeClr>
                </a:solidFill>
                <a:latin typeface="Roboto" charset="0"/>
                <a:ea typeface="Roboto" charset="0"/>
                <a:cs typeface="Arial" panose="020B0604020202020204" pitchFamily="34" charset="0"/>
              </a:rPr>
              <a:t>Wireless casting enable/disable, BYOD mode configuration, Wi-Fi parameters, and dongle pairing support.</a:t>
            </a:r>
          </a:p>
        </p:txBody>
      </p:sp>
      <p:pic>
        <p:nvPicPr>
          <p:cNvPr id="5" name="Google Shape;82;p1"/>
          <p:cNvPicPr preferRelativeResize="0"/>
          <p:nvPr/>
        </p:nvPicPr>
        <p:blipFill>
          <a:blip r:embed="rId6"/>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p>
        </p:txBody>
      </p:sp>
      <p:pic>
        <p:nvPicPr>
          <p:cNvPr id="12" name="图片 3"/>
          <p:cNvPicPr/>
          <p:nvPr/>
        </p:nvPicPr>
        <p:blipFill>
          <a:blip r:embed="rId7"/>
          <a:stretch>
            <a:fillRect/>
          </a:stretch>
        </p:blipFill>
        <p:spPr>
          <a:xfrm>
            <a:off x="7010400" y="2364741"/>
            <a:ext cx="4882723" cy="3068005"/>
          </a:xfrm>
          <a:prstGeom prst="rect">
            <a:avLst/>
          </a:prstGeom>
          <a:effectLst>
            <a:outerShdw blurRad="50800" dist="38100" dir="5400000" algn="t" rotWithShape="0">
              <a:prstClr val="black">
                <a:alpha val="40000"/>
              </a:prstClr>
            </a:outerShdw>
          </a:effectLst>
        </p:spPr>
      </p:pic>
      <p:sp>
        <p:nvSpPr>
          <p:cNvPr id="3" name="文本框 2">
            <a:extLst>
              <a:ext uri="{FF2B5EF4-FFF2-40B4-BE49-F238E27FC236}">
                <a16:creationId xmlns:a16="http://schemas.microsoft.com/office/drawing/2014/main" id="{B6A8A4CA-C7A0-F9FB-6661-056BA63D53FE}"/>
              </a:ext>
            </a:extLst>
          </p:cNvPr>
          <p:cNvSpPr txBox="1"/>
          <p:nvPr/>
        </p:nvSpPr>
        <p:spPr>
          <a:xfrm>
            <a:off x="400212" y="1371667"/>
            <a:ext cx="11492911" cy="369332"/>
          </a:xfrm>
          <a:prstGeom prst="rect">
            <a:avLst/>
          </a:prstGeom>
          <a:noFill/>
        </p:spPr>
        <p:txBody>
          <a:bodyPr wrap="square">
            <a:spAutoFit/>
          </a:bodyPr>
          <a:lstStyle/>
          <a:p>
            <a:pPr lvl="0" indent="0" algn="l" fontAlgn="ctr">
              <a:lnSpc>
                <a:spcPct val="100000"/>
              </a:lnSpc>
              <a:spcBef>
                <a:spcPts val="0"/>
              </a:spcBef>
              <a:spcAft>
                <a:spcPts val="800"/>
              </a:spcAft>
              <a:buSzPct val="100000"/>
              <a:buFont typeface="Wingdings" panose="05000000000000000000" charset="0"/>
            </a:pPr>
            <a:r>
              <a:rPr lang="en-US" altLang="zh-CN"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The</a:t>
            </a:r>
            <a:r>
              <a:rPr lang="zh-CN" altLang="en-US"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 </a:t>
            </a:r>
            <a:r>
              <a:rPr lang="en-US" altLang="zh-CN" sz="1800" b="1" spc="0" dirty="0">
                <a:ln w="3175">
                  <a:noFill/>
                  <a:prstDash val="dash"/>
                </a:ln>
                <a:solidFill>
                  <a:schemeClr val="dk1">
                    <a:lumMod val="75000"/>
                    <a:lumOff val="25000"/>
                  </a:schemeClr>
                </a:solidFill>
                <a:latin typeface="Roboto" charset="0"/>
                <a:ea typeface="Roboto" charset="0"/>
                <a:cs typeface="Arial" panose="020B0604020202020204" pitchFamily="34" charset="0"/>
              </a:rPr>
              <a:t>key</a:t>
            </a:r>
            <a:r>
              <a:rPr lang="en-US" altLang="zh-CN"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 settings and configurations you can perform are as follows:</a:t>
            </a:r>
            <a:endParaRPr lang="en-US" altLang="zh-CN" sz="900" spc="0" dirty="0">
              <a:ln w="3175">
                <a:noFill/>
                <a:prstDash val="dash"/>
              </a:ln>
              <a:solidFill>
                <a:schemeClr val="dk1">
                  <a:lumMod val="75000"/>
                  <a:lumOff val="25000"/>
                </a:schemeClr>
              </a:solidFill>
              <a:uFillTx/>
              <a:latin typeface="Roboto" charset="0"/>
              <a:ea typeface="Roboto" charset="0"/>
              <a:cs typeface="Arial" panose="020B0604020202020204" pitchFamily="34" charset="0"/>
            </a:endParaRP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984293" y="1149489"/>
            <a:ext cx="4159582" cy="707885"/>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文本框 1"/>
          <p:cNvSpPr txBox="1"/>
          <p:nvPr/>
        </p:nvSpPr>
        <p:spPr>
          <a:xfrm>
            <a:off x="-80645" y="1153801"/>
            <a:ext cx="12287885" cy="707886"/>
          </a:xfrm>
          <a:prstGeom prst="rect">
            <a:avLst/>
          </a:prstGeom>
          <a:noFill/>
        </p:spPr>
        <p:txBody>
          <a:bodyPr wrap="square" rtlCol="0">
            <a:spAutoFit/>
          </a:bodyPr>
          <a:lstStyle/>
          <a:p>
            <a:pPr algn="ctr"/>
            <a:r>
              <a:rPr lang="en-US" altLang="zh-CN" sz="4000" b="1" dirty="0">
                <a:latin typeface="Montserrat" pitchFamily="2" charset="0"/>
                <a:cs typeface="Arial" panose="020B0604020202020204" pitchFamily="34" charset="0"/>
              </a:rPr>
              <a:t>Q</a:t>
            </a:r>
            <a:r>
              <a:rPr lang="en-US" altLang="zh-CN" sz="2400" b="1" dirty="0">
                <a:latin typeface="Montserrat" pitchFamily="2" charset="0"/>
                <a:cs typeface="Arial" panose="020B0604020202020204" pitchFamily="34" charset="0"/>
              </a:rPr>
              <a:t> </a:t>
            </a:r>
            <a:r>
              <a:rPr lang="en-US" altLang="zh-CN" sz="4000" b="1" dirty="0">
                <a:latin typeface="Montserrat" pitchFamily="2" charset="0"/>
                <a:cs typeface="Arial" panose="020B0604020202020204" pitchFamily="34" charset="0"/>
              </a:rPr>
              <a:t>&amp;</a:t>
            </a:r>
            <a:r>
              <a:rPr lang="en-US" altLang="zh-CN" sz="2400" b="1" dirty="0">
                <a:latin typeface="Montserrat" pitchFamily="2" charset="0"/>
                <a:cs typeface="Arial" panose="020B0604020202020204" pitchFamily="34" charset="0"/>
              </a:rPr>
              <a:t> </a:t>
            </a:r>
            <a:r>
              <a:rPr lang="en-US" altLang="zh-CN" sz="4000" b="1" dirty="0">
                <a:latin typeface="Montserrat" pitchFamily="2" charset="0"/>
                <a:cs typeface="Arial" panose="020B0604020202020204" pitchFamily="34" charset="0"/>
              </a:rPr>
              <a:t>A Session</a:t>
            </a:r>
            <a:endParaRPr lang="en-US" altLang="zh-CN" dirty="0">
              <a:solidFill>
                <a:schemeClr val="tx1">
                  <a:lumMod val="75000"/>
                  <a:lumOff val="25000"/>
                </a:schemeClr>
              </a:solidFill>
              <a:latin typeface="Roboto" charset="0"/>
              <a:ea typeface="Roboto" charset="0"/>
              <a:cs typeface="Arial" panose="020B0604020202020204" pitchFamily="34" charset="0"/>
            </a:endParaRPr>
          </a:p>
        </p:txBody>
      </p:sp>
      <p:pic>
        <p:nvPicPr>
          <p:cNvPr id="7" name="图片 6"/>
          <p:cNvPicPr/>
          <p:nvPr/>
        </p:nvPicPr>
        <p:blipFill>
          <a:blip r:embed="rId4"/>
          <a:stretch>
            <a:fillRect/>
          </a:stretch>
        </p:blipFill>
        <p:spPr>
          <a:xfrm>
            <a:off x="2796857" y="2808363"/>
            <a:ext cx="6502400" cy="3588240"/>
          </a:xfrm>
          <a:prstGeom prst="rect">
            <a:avLst/>
          </a:prstGeom>
          <a:effectLst>
            <a:outerShdw blurRad="50800" dist="38100" dir="5400000" algn="t" rotWithShape="0">
              <a:prstClr val="black">
                <a:alpha val="40000"/>
              </a:prstClr>
            </a:outerShdw>
          </a:effectLst>
        </p:spPr>
      </p:pic>
      <p:pic>
        <p:nvPicPr>
          <p:cNvPr id="5" name="Google Shape;82;p1"/>
          <p:cNvPicPr preferRelativeResize="0"/>
          <p:nvPr/>
        </p:nvPicPr>
        <p:blipFill>
          <a:blip r:embed="rId5"/>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p>
        </p:txBody>
      </p:sp>
      <p:sp>
        <p:nvSpPr>
          <p:cNvPr id="9"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10" name="文本框 6"/>
          <p:cNvSpPr txBox="1"/>
          <p:nvPr>
            <p:custDataLst>
              <p:tags r:id="rId2"/>
            </p:custDataLst>
          </p:nvPr>
        </p:nvSpPr>
        <p:spPr>
          <a:xfrm>
            <a:off x="457155" y="16002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pitchFamily="34" charset="-122"/>
                <a:sym typeface="Roboto"/>
              </a:rPr>
              <a:t>Final Thoughts</a:t>
            </a:r>
          </a:p>
        </p:txBody>
      </p:sp>
      <p:sp>
        <p:nvSpPr>
          <p:cNvPr id="4" name="文本框 1"/>
          <p:cNvSpPr txBox="1"/>
          <p:nvPr/>
        </p:nvSpPr>
        <p:spPr>
          <a:xfrm>
            <a:off x="-47944" y="2003528"/>
            <a:ext cx="12287885" cy="369332"/>
          </a:xfrm>
          <a:prstGeom prst="rect">
            <a:avLst/>
          </a:prstGeom>
          <a:noFill/>
        </p:spPr>
        <p:txBody>
          <a:bodyPr wrap="square" rtlCol="0">
            <a:spAutoFit/>
          </a:bodyPr>
          <a:lstStyle/>
          <a:p>
            <a:pPr algn="ctr"/>
            <a:r>
              <a:rPr lang="en-US" altLang="zh-CN" dirty="0">
                <a:solidFill>
                  <a:schemeClr val="tx1">
                    <a:lumMod val="75000"/>
                    <a:lumOff val="25000"/>
                  </a:schemeClr>
                </a:solidFill>
                <a:latin typeface="Roboto" charset="0"/>
                <a:ea typeface="Roboto" charset="0"/>
                <a:cs typeface="Arial" panose="020B0604020202020204" pitchFamily="34" charset="0"/>
              </a:rPr>
              <a:t>Got questions? Don’t hesitate to ask away.</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ESOURCE_RECORD_KEY" val="{&quot;13&quot;:[4364952],&quot;65&quot;:[20215802]}"/>
  <p:tag name="COMMONDATA" val="eyJoZGlkIjoiNTc4NzQzMWI1MGViYjVlYjEzZTIyZjMyNmVmMjIyZTM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02_1*a*1"/>
  <p:tag name="KSO_WM_TEMPLATE_CATEGORY" val="diagram"/>
  <p:tag name="KSO_WM_TEMPLATE_INDEX" val="20215802"/>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35545cd6b5ce4dae9dccf4eab288bc6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0992860551d4d4eb792c36bc28c26be"/>
  <p:tag name="KSO_WM_UNIT_TEXT_FILL_FORE_SCHEMECOLOR_INDEX_BRIGHTNESS" val="0"/>
  <p:tag name="KSO_WM_UNIT_TEXT_FILL_FORE_SCHEMECOLOR_INDEX" val="13"/>
  <p:tag name="KSO_WM_UNIT_TEXT_FILL_TYPE" val="1"/>
  <p:tag name="KSO_WM_TEMPLATE_ASSEMBLE_XID" val="60656ea94054ed1e2fb7fd45"/>
  <p:tag name="KSO_WM_TEMPLATE_ASSEMBLE_GROUPID" val="60656ea94054ed1e2fb7fd45"/>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9.xml><?xml version="1.0" encoding="utf-8"?>
<p:tagLst xmlns:a="http://schemas.openxmlformats.org/drawingml/2006/main" xmlns:r="http://schemas.openxmlformats.org/officeDocument/2006/relationships" xmlns:p="http://schemas.openxmlformats.org/presentationml/2006/main">
  <p:tag name="KSO_WM_SLIDE_ID" val="diagram20215802_1"/>
  <p:tag name="KSO_WM_TEMPLATE_SUBCATEGORY" val="21"/>
  <p:tag name="KSO_WM_TEMPLATE_MASTER_TYPE" val="0"/>
  <p:tag name="KSO_WM_TEMPLATE_COLOR_TYPE" val="1"/>
  <p:tag name="KSO_WM_SLIDE_TYPE" val="text"/>
  <p:tag name="KSO_WM_SLIDE_SUBTYPE" val="pureTxt"/>
  <p:tag name="KSO_WM_SLIDE_ITEM_CNT" val="0"/>
  <p:tag name="KSO_WM_SLIDE_INDEX" val="1"/>
  <p:tag name="KSO_WM_SLIDE_SIZE" val="960*384"/>
  <p:tag name="KSO_WM_SLIDE_POSITION" val="0*0"/>
  <p:tag name="KSO_WM_TAG_VERSION" val="1.0"/>
  <p:tag name="KSO_WM_BEAUTIFY_FLAG" val="#wm#"/>
  <p:tag name="KSO_WM_TEMPLATE_CATEGORY" val="diagram"/>
  <p:tag name="KSO_WM_TEMPLATE_INDEX" val="20215802"/>
  <p:tag name="KSO_WM_SLIDE_LAYOUT" val="a_f"/>
  <p:tag name="KSO_WM_SLIDE_LAYOUT_CNT" val="1_1"/>
  <p:tag name="KSO_WM_SLIDE_LAYOUT_INFO" val="{&quot;id&quot;:&quot;2021-04-01T15:11:24&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1-04-01T15:11:24&quot;,&quot;margin&quot;:{&quot;bottom&quot;:0.4230000674724579,&quot;left&quot;:1.2699999809265137,&quot;right&quot;:1.2699999809265137,&quot;top&quot;:0.4230000674724579},&quot;type&quot;:0},{&quot;id&quot;:&quot;2021-04-01T15:11:24&quot;,&quot;margin&quot;:{&quot;bottom&quot;:1.694000005722046,&quot;left&quot;:1.6929999589920044,&quot;right&quot;:1.6929999589920044,&quot;top&quot;:1.6929999589920044},&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78e478fb0c58a940c"/>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lm&quot;,&quot;text_direction&quot;:&quot;horizontal&quot;,&quot;support_features&quot;:[&quot;collage&quot;],&quot;support_big_font&quot;:false,&quot;picture_toward&quot;:0,&quot;picture_dockside&quot;:[],&quot;fill_id&quot;:&quot;aae3729e0a0d44488f1a088171be5691&quot;,&quot;fill_align&quot;:&quot;cm&quot;,&quot;chip_types&quot;:[&quot;text&quot;,&quot;picture&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0656ea94054ed1e2fb7fd45"/>
  <p:tag name="KSO_WM_TEMPLATE_ASSEMBLE_GROUPID" val="60656ea94054ed1e2fb7fd45"/>
  <p:tag name="RESOURCE_RECORD_KEY" val="{&quot;13&quot;:[4364952],&quot;65&quot;:[20215802]}"/>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1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02_1*a*1"/>
  <p:tag name="KSO_WM_TEMPLATE_CATEGORY" val="diagram"/>
  <p:tag name="KSO_WM_TEMPLATE_INDEX" val="20215802"/>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35545cd6b5ce4dae9dccf4eab288bc6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0992860551d4d4eb792c36bc28c26be"/>
  <p:tag name="KSO_WM_UNIT_TEXT_FILL_FORE_SCHEMECOLOR_INDEX_BRIGHTNESS" val="0"/>
  <p:tag name="KSO_WM_UNIT_TEXT_FILL_FORE_SCHEMECOLOR_INDEX" val="13"/>
  <p:tag name="KSO_WM_UNIT_TEXT_FILL_TYPE" val="1"/>
  <p:tag name="KSO_WM_TEMPLATE_ASSEMBLE_XID" val="60656ea94054ed1e2fb7fd45"/>
  <p:tag name="KSO_WM_TEMPLATE_ASSEMBLE_GROUPID" val="60656ea94054ed1e2fb7fd45"/>
</p:tagLst>
</file>

<file path=ppt/tags/tag12.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02_1*f*1"/>
  <p:tag name="KSO_WM_TEMPLATE_CATEGORY" val="diagram"/>
  <p:tag name="KSO_WM_TEMPLATE_INDEX" val="20215802"/>
  <p:tag name="KSO_WM_UNIT_LAYERLEVEL" val="1"/>
  <p:tag name="KSO_WM_TAG_VERSION" val="1.0"/>
  <p:tag name="KSO_WM_BEAUTIFY_FLAG" val="#wm#"/>
  <p:tag name="KSO_WM_UNIT_DEFAULT_FONT" val="14;20;2"/>
  <p:tag name="KSO_WM_UNIT_BLOCK" val="0"/>
  <p:tag name="KSO_WM_UNIT_VALUE" val="144"/>
  <p:tag name="KSO_WM_UNIT_SHOW_EDIT_AREA_INDICATION" val="1"/>
  <p:tag name="KSO_WM_CHIP_GROUPID" val="5e6b05596848fb12bee65ac8"/>
  <p:tag name="KSO_WM_CHIP_XID" val="5e6b05596848fb12bee65aca"/>
  <p:tag name="KSO_WM_UNIT_DEC_AREA_ID" val="d879e39fee614b88a76bb899d600b76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0fcd4429fddf4fd9b6b9cae2bcdab05b"/>
  <p:tag name="KSO_WM_UNIT_SUPPORT_UNIT_TYPE" val="[&quot;d&quot;]"/>
  <p:tag name="KSO_WM_UNIT_TEXT_FILL_FORE_SCHEMECOLOR_INDEX_BRIGHTNESS" val="0.25"/>
  <p:tag name="KSO_WM_UNIT_TEXT_FILL_FORE_SCHEMECOLOR_INDEX" val="13"/>
  <p:tag name="KSO_WM_UNIT_TEXT_FILL_TYPE" val="1"/>
  <p:tag name="KSO_WM_TEMPLATE_ASSEMBLE_XID" val="60656ea94054ed1e2fb7fd45"/>
  <p:tag name="KSO_WM_TEMPLATE_ASSEMBLE_GROUPID" val="60656ea94054ed1e2fb7fd45"/>
</p:tagLst>
</file>

<file path=ppt/tags/tag13.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2"/>
  <p:tag name="KSO_WM_TEMPLATE_CATEGORY" val="diagram"/>
  <p:tag name="KSO_WM_TEMPLATE_INDEX" val="20215817"/>
  <p:tag name="KSO_WM_UNIT_LAYERLEVEL" val="1"/>
  <p:tag name="KSO_WM_TAG_VERSION" val="1.0"/>
  <p:tag name="KSO_WM_BEAUTIFY_FLAG" val="#wm#"/>
  <p:tag name="KSO_WM_UNIT_TYPE" val="i"/>
  <p:tag name="KSO_WM_UNIT_INDEX" val="2"/>
  <p:tag name="KSO_WM_UNIT_BLOCK" val="0"/>
  <p:tag name="KSO_WM_UNIT_SM_LIMIT_TYPE" val="0"/>
  <p:tag name="KSO_WM_UNIT_DEC_AREA_ID" val="c851648b610c4eed84725474f83dd781"/>
  <p:tag name="KSO_WM_UNIT_DECORATE_INFO" val="{&quot;DecorateInfoH&quot;:{&quot;IsAbs&quot;:true},&quot;DecorateInfoW&quot;:{&quot;IsAbs&quot;:true},&quot;DecorateInfoX&quot;:{&quot;IsAbs&quot;:true,&quot;Pos&quot;:2},&quot;DecorateInfoY&quot;:{&quot;IsAbs&quot;:true,&quot;Pos&quot;:2},&quot;ReferentInfo&quot;:{&quot;Id&quot;:&quot;fa1e37419f9b42fb86bdf596086272a2&quot;,&quot;X&quot;:{&quot;Pos&quot;:2},&quot;Y&quot;:{&quot;Pos&quot;:0}},&quot;whChangeMode&quot;:0}"/>
  <p:tag name="KSO_WM_CHIP_GROUPID" val="5f5ee1ca4d6848d78f644aeb"/>
  <p:tag name="KSO_WM_CHIP_XID" val="5f5f3b6d8e478fb0c58a941e"/>
  <p:tag name="KSO_WM_UNIT_LINE_FORE_SCHEMECOLOR_INDEX_BRIGHTNESS" val="0"/>
  <p:tag name="KSO_WM_UNIT_LINE_FORE_SCHEMECOLOR_INDEX" val="15"/>
  <p:tag name="KSO_WM_UNIT_LINE_FILL_TYPE" val="2"/>
  <p:tag name="KSO_WM_TEMPLATE_ASSEMBLE_XID" val="63895f930c9383becde52e83"/>
  <p:tag name="KSO_WM_TEMPLATE_ASSEMBLE_GROUPID" val="63895f930c9383becde52e83"/>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3"/>
  <p:tag name="KSO_WM_TEMPLATE_CATEGORY" val="diagram"/>
  <p:tag name="KSO_WM_TEMPLATE_INDEX" val="20215817"/>
  <p:tag name="KSO_WM_UNIT_LAYERLEVEL" val="1"/>
  <p:tag name="KSO_WM_TAG_VERSION" val="1.0"/>
  <p:tag name="KSO_WM_BEAUTIFY_FLAG" val="#wm#"/>
  <p:tag name="KSO_WM_UNIT_TYPE" val="i"/>
  <p:tag name="KSO_WM_UNIT_INDEX" val="3"/>
  <p:tag name="KSO_WM_UNIT_BLOCK" val="0"/>
  <p:tag name="KSO_WM_UNIT_SM_LIMIT_TYPE" val="0"/>
  <p:tag name="KSO_WM_UNIT_DEC_AREA_ID" val="3104b9f4692049e9b18edec063ed2171"/>
  <p:tag name="KSO_WM_UNIT_DECORATE_INFO" val="{&quot;DecorateInfoH&quot;:{&quot;IsAbs&quot;:true},&quot;DecorateInfoW&quot;:{&quot;IsAbs&quot;:true},&quot;DecorateInfoX&quot;:{&quot;IsAbs&quot;:true,&quot;Pos&quot;:0},&quot;DecorateInfoY&quot;:{&quot;IsAbs&quot;:true,&quot;Pos&quot;:0},&quot;ReferentInfo&quot;:{&quot;Id&quot;:&quot;fa1e37419f9b42fb86bdf596086272a2&quot;,&quot;X&quot;:{&quot;Pos&quot;:0},&quot;Y&quot;:{&quot;Pos&quot;:2}},&quot;whChangeMode&quot;:0}"/>
  <p:tag name="KSO_WM_CHIP_GROUPID" val="5f5ee1ca4d6848d78f644aeb"/>
  <p:tag name="KSO_WM_CHIP_XID" val="5f5f3b6d8e478fb0c58a941e"/>
  <p:tag name="KSO_WM_UNIT_LINE_FORE_SCHEMECOLOR_INDEX_BRIGHTNESS" val="0"/>
  <p:tag name="KSO_WM_UNIT_LINE_FORE_SCHEMECOLOR_INDEX" val="15"/>
  <p:tag name="KSO_WM_UNIT_LINE_FILL_TYPE" val="2"/>
  <p:tag name="KSO_WM_TEMPLATE_ASSEMBLE_XID" val="63895f930c9383becde52e83"/>
  <p:tag name="KSO_WM_TEMPLATE_ASSEMBLE_GROUPID" val="63895f930c9383becde52e83"/>
</p:tagLst>
</file>

<file path=ppt/tags/tag1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18.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2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75.25732283464566,&quot;left&quot;:98.6,&quot;top&quot;:79.59267716535433,&quot;width&quot;:795.4903937007873}"/>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75.25732283464566,&quot;left&quot;:98.6,&quot;top&quot;:79.59267716535433,&quot;width&quot;:795.4903937007873}"/>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275.25732283464566,&quot;left&quot;:98.6,&quot;top&quot;:79.59267716535433,&quot;width&quot;:795.4903937007873}"/>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275.25732283464566,&quot;left&quot;:98.6,&quot;top&quot;:79.59267716535433,&quot;width&quot;:795.4903937007873}"/>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75.25732283464566,&quot;left&quot;:98.6,&quot;top&quot;:79.59267716535433,&quot;width&quot;:795.4903937007873}"/>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275.25732283464566,&quot;left&quot;:98.6,&quot;top&quot;:79.59267716535433,&quot;width&quot;:795.4903937007873}"/>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275.25732283464566,&quot;left&quot;:98.6,&quot;top&quot;:79.59267716535433,&quot;width&quot;:795.4903937007873}"/>
</p:tagLst>
</file>

<file path=ppt/tags/tag28.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3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31.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3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34.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3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37.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3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40.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4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43.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44.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45.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4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48.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5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51.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5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54.xml><?xml version="1.0" encoding="utf-8"?>
<p:tagLst xmlns:a="http://schemas.openxmlformats.org/drawingml/2006/main" xmlns:r="http://schemas.openxmlformats.org/officeDocument/2006/relationships" xmlns:p="http://schemas.openxmlformats.org/presentationml/2006/main">
  <p:tag name="KSO_WM_UNIT_TABLE_BEAUTIFY" val="smartTable{24a5ff3c-0b77-46f1-a1d7-63cde164d70f}"/>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5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57.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5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60.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61.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6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64.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6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402328"/>
      </a:dk2>
      <a:lt2>
        <a:srgbClr val="EFE6E7"/>
      </a:lt2>
      <a:accent1>
        <a:srgbClr val="D60926"/>
      </a:accent1>
      <a:accent2>
        <a:srgbClr val="B33220"/>
      </a:accent2>
      <a:accent3>
        <a:srgbClr val="905B1A"/>
      </a:accent3>
      <a:accent4>
        <a:srgbClr val="6D8414"/>
      </a:accent4>
      <a:accent5>
        <a:srgbClr val="4AAD0E"/>
      </a:accent5>
      <a:accent6>
        <a:srgbClr val="27D608"/>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01A8FBB3908BD4681554D596DADDBBC" ma:contentTypeVersion="19" ma:contentTypeDescription="Create a new document." ma:contentTypeScope="" ma:versionID="089862c3d7236b297f5be572ccb4bd9e">
  <xsd:schema xmlns:xsd="http://www.w3.org/2001/XMLSchema" xmlns:xs="http://www.w3.org/2001/XMLSchema" xmlns:p="http://schemas.microsoft.com/office/2006/metadata/properties" xmlns:ns2="d634ccb5-745a-4b19-b3da-83dafbb0f953" xmlns:ns3="fa7e1be7-6c27-4381-949e-b43a2eb5089a" targetNamespace="http://schemas.microsoft.com/office/2006/metadata/properties" ma:root="true" ma:fieldsID="38436fc1e1e78720b95f7a357a3e0114" ns2:_="" ns3:_="">
    <xsd:import namespace="d634ccb5-745a-4b19-b3da-83dafbb0f953"/>
    <xsd:import namespace="fa7e1be7-6c27-4381-949e-b43a2eb5089a"/>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34ccb5-745a-4b19-b3da-83dafbb0f95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MediaServic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a840791-955a-45d0-8f77-cb775012b4d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a7e1be7-6c27-4381-949e-b43a2eb5089a"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e5708c9-3083-478d-b2b5-d29c6e746420}" ma:internalName="TaxCatchAll" ma:showField="CatchAllData" ma:web="fa7e1be7-6c27-4381-949e-b43a2eb5089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634ccb5-745a-4b19-b3da-83dafbb0f953">
      <Terms xmlns="http://schemas.microsoft.com/office/infopath/2007/PartnerControls"/>
    </lcf76f155ced4ddcb4097134ff3c332f>
    <TaxCatchAll xmlns="fa7e1be7-6c27-4381-949e-b43a2eb5089a" xsi:nil="true"/>
  </documentManagement>
</p:properties>
</file>

<file path=customXml/itemProps1.xml><?xml version="1.0" encoding="utf-8"?>
<ds:datastoreItem xmlns:ds="http://schemas.openxmlformats.org/officeDocument/2006/customXml" ds:itemID="{5BA9083A-87D1-47A9-937E-9ECD1C79132F}"/>
</file>

<file path=customXml/itemProps2.xml><?xml version="1.0" encoding="utf-8"?>
<ds:datastoreItem xmlns:ds="http://schemas.openxmlformats.org/officeDocument/2006/customXml" ds:itemID="{5BC87A9C-4D9D-4BDD-8867-44AB8E34F1E9}"/>
</file>

<file path=customXml/itemProps3.xml><?xml version="1.0" encoding="utf-8"?>
<ds:datastoreItem xmlns:ds="http://schemas.openxmlformats.org/officeDocument/2006/customXml" ds:itemID="{3ACCD3FE-4C79-4DD4-A596-606C902F08A4}"/>
</file>

<file path=docProps/app.xml><?xml version="1.0" encoding="utf-8"?>
<Properties xmlns="http://schemas.openxmlformats.org/officeDocument/2006/extended-properties" xmlns:vt="http://schemas.openxmlformats.org/officeDocument/2006/docPropsVTypes">
  <TotalTime>23622</TotalTime>
  <Words>2157</Words>
  <Application>Microsoft Office PowerPoint</Application>
  <PresentationFormat>宽屏</PresentationFormat>
  <Paragraphs>334</Paragraphs>
  <Slides>16</Slides>
  <Notes>11</Notes>
  <HiddenSlides>0</HiddenSlides>
  <MMClips>0</MMClips>
  <ScaleCrop>false</ScaleCrop>
  <HeadingPairs>
    <vt:vector size="6" baseType="variant">
      <vt:variant>
        <vt:lpstr>已用的字体</vt:lpstr>
      </vt:variant>
      <vt:variant>
        <vt:i4>8</vt:i4>
      </vt:variant>
      <vt:variant>
        <vt:lpstr>主题</vt:lpstr>
      </vt:variant>
      <vt:variant>
        <vt:i4>3</vt:i4>
      </vt:variant>
      <vt:variant>
        <vt:lpstr>幻灯片标题</vt:lpstr>
      </vt:variant>
      <vt:variant>
        <vt:i4>16</vt:i4>
      </vt:variant>
    </vt:vector>
  </HeadingPairs>
  <TitlesOfParts>
    <vt:vector size="27" baseType="lpstr">
      <vt:lpstr>等线</vt:lpstr>
      <vt:lpstr>等线 Light</vt:lpstr>
      <vt:lpstr>微软雅黑</vt:lpstr>
      <vt:lpstr>Arial</vt:lpstr>
      <vt:lpstr>Calibri</vt:lpstr>
      <vt:lpstr>Montserrat</vt:lpstr>
      <vt:lpstr>Roboto</vt:lpstr>
      <vt:lpstr>Wingdings</vt:lpstr>
      <vt:lpstr>Office 主题​​</vt:lpstr>
      <vt:lpstr>1_Office 主题​​</vt:lpstr>
      <vt:lpstr>2_Office 主题​​</vt:lpstr>
      <vt:lpstr>APO-VX20-UC v2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APO-VX20-UC v2</dc:title>
  <dc:creator>henry@proitav.com</dc:creator>
  <cp:lastModifiedBy>Sissi Pan</cp:lastModifiedBy>
  <cp:revision>191</cp:revision>
  <dcterms:created xsi:type="dcterms:W3CDTF">2024-10-24T01:32:00Z</dcterms:created>
  <dcterms:modified xsi:type="dcterms:W3CDTF">2026-04-24T08:25:53Z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E205779165384D6681FE05BF827F3D4B_12</vt:lpwstr>
  </property>
  <property fmtid="{D5CDD505-2E9C-101B-9397-08002B2CF9AE}" pid="3" name="KSOProductBuildVer">
    <vt:lpwstr>2052-12.1.0.18608</vt:lpwstr>
  </property>
  <property fmtid="{D5CDD505-2E9C-101B-9397-08002B2CF9AE}" pid="4" name="ContentTypeId">
    <vt:lpwstr>0x010100E01A8FBB3908BD4681554D596DADDBBC</vt:lpwstr>
  </property>
</Properties>
</file>