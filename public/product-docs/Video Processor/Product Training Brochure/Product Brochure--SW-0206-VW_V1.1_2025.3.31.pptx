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20.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6.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83.xml" ContentType="application/vnd.openxmlformats-officedocument.presentationml.tags+xml"/>
  <Override PartName="/ppt/tags/tag139.xml" ContentType="application/vnd.openxmlformats-officedocument.presentationml.tags+xml"/>
  <Override PartName="/ppt/tags/tag7.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82.xml" ContentType="application/vnd.openxmlformats-officedocument.presentationml.tags+xml"/>
  <Override PartName="/ppt/tags/tag14.xml" ContentType="application/vnd.openxmlformats-officedocument.presentationml.tags+xml"/>
  <Override PartName="/ppt/tags/tag85.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1.xml" ContentType="application/vnd.openxmlformats-officedocument.presentationml.tags+xml"/>
  <Override PartName="/ppt/tags/tag84.xml" ContentType="application/vnd.openxmlformats-officedocument.presentationml.tags+xml"/>
  <Override PartName="/ppt/tags/tag22.xml" ContentType="application/vnd.openxmlformats-officedocument.presentationml.tags+xml"/>
  <Override PartName="/ppt/tags/tag81.xml" ContentType="application/vnd.openxmlformats-officedocument.presentationml.tags+xml"/>
  <Override PartName="/ppt/tags/tag80.xml" ContentType="application/vnd.openxmlformats-officedocument.presentationml.tags+xml"/>
  <Override PartName="/ppt/tags/tag79.xml" ContentType="application/vnd.openxmlformats-officedocument.presentationml.tags+xml"/>
  <Override PartName="/ppt/tags/tag78.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77.xml" ContentType="application/vnd.openxmlformats-officedocument.presentationml.tags+xml"/>
  <Override PartName="/ppt/tags/tag76.xml" ContentType="application/vnd.openxmlformats-officedocument.presentationml.tags+xml"/>
  <Override PartName="/ppt/tags/tag75.xml" ContentType="application/vnd.openxmlformats-officedocument.presentationml.tags+xml"/>
  <Override PartName="/ppt/tags/tag74.xml" ContentType="application/vnd.openxmlformats-officedocument.presentationml.tags+xml"/>
  <Override PartName="/ppt/tags/tag73.xml" ContentType="application/vnd.openxmlformats-officedocument.presentationml.tags+xml"/>
  <Override PartName="/ppt/tags/tag2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26.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38.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7" r:id="rId2"/>
    <p:sldId id="258" r:id="rId3"/>
    <p:sldId id="259" r:id="rId4"/>
    <p:sldId id="260" r:id="rId5"/>
    <p:sldId id="261" r:id="rId6"/>
    <p:sldId id="262" r:id="rId7"/>
    <p:sldId id="263" r:id="rId8"/>
    <p:sldId id="264" r:id="rId9"/>
    <p:sldId id="265" r:id="rId10"/>
    <p:sldId id="274" r:id="rId11"/>
    <p:sldId id="285" r:id="rId12"/>
    <p:sldId id="275" r:id="rId13"/>
    <p:sldId id="268" r:id="rId14"/>
    <p:sldId id="269" r:id="rId15"/>
    <p:sldId id="270" r:id="rId16"/>
    <p:sldId id="271" r:id="rId17"/>
    <p:sldId id="272" r:id="rId18"/>
    <p:sldId id="284" r:id="rId19"/>
    <p:sldId id="273"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382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E7D4"/>
    <a:srgbClr val="DAEEE0"/>
    <a:srgbClr val="AFD9BC"/>
    <a:srgbClr val="C5E0B4"/>
    <a:srgbClr val="0B7935"/>
    <a:srgbClr val="00B050"/>
    <a:srgbClr val="FFFFFF"/>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86" d="100"/>
          <a:sy n="86" d="100"/>
        </p:scale>
        <p:origin x="418" y="62"/>
      </p:cViewPr>
      <p:guideLst>
        <p:guide orient="horz" pos="2151"/>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dirty="0"/>
              <a:t>更新封面，不需要展示产品；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15</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16</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17</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2025/4/16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2025/4/16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2025/4/16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2025/4/16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2025/4/16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2025/4/16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2025/4/16</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66.xml"/><Relationship Id="rId7" Type="http://schemas.openxmlformats.org/officeDocument/2006/relationships/image" Target="../media/image1.png"/><Relationship Id="rId12" Type="http://schemas.openxmlformats.org/officeDocument/2006/relationships/image" Target="../media/image5.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notesSlide" Target="../notesSlides/notesSlide1.xml"/><Relationship Id="rId11" Type="http://schemas.openxmlformats.org/officeDocument/2006/relationships/image" Target="../media/image4.png"/><Relationship Id="rId5" Type="http://schemas.openxmlformats.org/officeDocument/2006/relationships/slideLayout" Target="../slideLayouts/slideLayout1.xml"/><Relationship Id="rId10" Type="http://schemas.openxmlformats.org/officeDocument/2006/relationships/image" Target="../media/image3.png"/><Relationship Id="rId4" Type="http://schemas.openxmlformats.org/officeDocument/2006/relationships/tags" Target="../tags/tag67.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0.xml"/><Relationship Id="rId7" Type="http://schemas.openxmlformats.org/officeDocument/2006/relationships/image" Target="../media/image6.jpe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tags" Target="../tags/tag71.xml"/></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tags" Target="../tags/tag74.xml"/><Relationship Id="rId7"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image" Target="../media/image9.png"/><Relationship Id="rId5" Type="http://schemas.openxmlformats.org/officeDocument/2006/relationships/tags" Target="../tags/tag76.xml"/><Relationship Id="rId10" Type="http://schemas.openxmlformats.org/officeDocument/2006/relationships/image" Target="../media/image8.png"/><Relationship Id="rId4" Type="http://schemas.openxmlformats.org/officeDocument/2006/relationships/tags" Target="../tags/tag75.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4.png"/><Relationship Id="rId3" Type="http://schemas.openxmlformats.org/officeDocument/2006/relationships/tags" Target="../tags/tag80.xml"/><Relationship Id="rId7" Type="http://schemas.openxmlformats.org/officeDocument/2006/relationships/image" Target="../media/image6.jpeg"/><Relationship Id="rId12" Type="http://schemas.openxmlformats.org/officeDocument/2006/relationships/image" Target="../media/image13.png"/><Relationship Id="rId2" Type="http://schemas.openxmlformats.org/officeDocument/2006/relationships/tags" Target="../tags/tag79.xml"/><Relationship Id="rId16" Type="http://schemas.openxmlformats.org/officeDocument/2006/relationships/image" Target="../media/image17.png"/><Relationship Id="rId1" Type="http://schemas.openxmlformats.org/officeDocument/2006/relationships/tags" Target="../tags/tag78.xml"/><Relationship Id="rId6" Type="http://schemas.openxmlformats.org/officeDocument/2006/relationships/notesSlide" Target="../notesSlides/notesSlide3.xml"/><Relationship Id="rId11" Type="http://schemas.openxmlformats.org/officeDocument/2006/relationships/image" Target="../media/image12.png"/><Relationship Id="rId5" Type="http://schemas.openxmlformats.org/officeDocument/2006/relationships/slideLayout" Target="../slideLayouts/slideLayout7.xml"/><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tags" Target="../tags/tag81.xml"/><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tags" Target="../tags/tag84.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7.png"/><Relationship Id="rId11" Type="http://schemas.openxmlformats.org/officeDocument/2006/relationships/image" Target="../media/image22.png"/><Relationship Id="rId5" Type="http://schemas.openxmlformats.org/officeDocument/2006/relationships/image" Target="../media/image6.jpeg"/><Relationship Id="rId10" Type="http://schemas.openxmlformats.org/officeDocument/2006/relationships/image" Target="../media/image21.png"/><Relationship Id="rId4" Type="http://schemas.openxmlformats.org/officeDocument/2006/relationships/slideLayout" Target="../slideLayouts/slideLayout2.xml"/><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tags" Target="../tags/tag87.xml"/><Relationship Id="rId7" Type="http://schemas.openxmlformats.org/officeDocument/2006/relationships/image" Target="../media/image7.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25.pn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90.xml"/><Relationship Id="rId7" Type="http://schemas.openxmlformats.org/officeDocument/2006/relationships/image" Target="../media/image7.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93.xml"/><Relationship Id="rId7" Type="http://schemas.openxmlformats.org/officeDocument/2006/relationships/image" Target="../media/image7.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6.jpe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image" Target="../media/image7.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6.jpeg"/><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10.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image" Target="../media/image7.png"/><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image" Target="../media/image28.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image" Target="../media/image6.jpeg"/><Relationship Id="rId5" Type="http://schemas.openxmlformats.org/officeDocument/2006/relationships/tags" Target="../tags/tag102.xml"/><Relationship Id="rId10" Type="http://schemas.openxmlformats.org/officeDocument/2006/relationships/slideLayout" Target="../slideLayouts/slideLayout2.xml"/><Relationship Id="rId4" Type="http://schemas.openxmlformats.org/officeDocument/2006/relationships/tags" Target="../tags/tag101.xml"/><Relationship Id="rId9" Type="http://schemas.openxmlformats.org/officeDocument/2006/relationships/tags" Target="../tags/tag106.xml"/></Relationships>
</file>

<file path=ppt/slides/_rels/slide11.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image" Target="../media/image7.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image" Target="../media/image29.png"/><Relationship Id="rId5" Type="http://schemas.openxmlformats.org/officeDocument/2006/relationships/tags" Target="../tags/tag111.xml"/><Relationship Id="rId10" Type="http://schemas.openxmlformats.org/officeDocument/2006/relationships/slideLayout" Target="../slideLayouts/slideLayout2.xml"/><Relationship Id="rId4" Type="http://schemas.openxmlformats.org/officeDocument/2006/relationships/tags" Target="../tags/tag110.xml"/><Relationship Id="rId9" Type="http://schemas.openxmlformats.org/officeDocument/2006/relationships/tags" Target="../tags/tag115.xml"/></Relationships>
</file>

<file path=ppt/slides/_rels/slide12.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image" Target="../media/image7.png"/><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image" Target="../media/image30.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image" Target="../media/image6.jpeg"/><Relationship Id="rId5" Type="http://schemas.openxmlformats.org/officeDocument/2006/relationships/tags" Target="../tags/tag120.xml"/><Relationship Id="rId10" Type="http://schemas.openxmlformats.org/officeDocument/2006/relationships/slideLayout" Target="../slideLayouts/slideLayout2.xml"/><Relationship Id="rId4" Type="http://schemas.openxmlformats.org/officeDocument/2006/relationships/tags" Target="../tags/tag119.xml"/><Relationship Id="rId9" Type="http://schemas.openxmlformats.org/officeDocument/2006/relationships/tags" Target="../tags/tag124.xml"/></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27.xml"/><Relationship Id="rId7" Type="http://schemas.openxmlformats.org/officeDocument/2006/relationships/image" Target="../media/image31.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6.jpeg"/><Relationship Id="rId5" Type="http://schemas.openxmlformats.org/officeDocument/2006/relationships/notesSlide" Target="../notesSlides/notesSlide5.xml"/><Relationship Id="rId10" Type="http://schemas.openxmlformats.org/officeDocument/2006/relationships/image" Target="../media/image33.png"/><Relationship Id="rId4" Type="http://schemas.openxmlformats.org/officeDocument/2006/relationships/slideLayout" Target="../slideLayouts/slideLayout2.xml"/><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hyperlink" Target="https://www.datapathltd.com/datapath-products/video-wall-controllers/datapath-fx4-hdr/" TargetMode="External"/><Relationship Id="rId3" Type="http://schemas.openxmlformats.org/officeDocument/2006/relationships/tags" Target="../tags/tag130.xml"/><Relationship Id="rId7" Type="http://schemas.openxmlformats.org/officeDocument/2006/relationships/hyperlink" Target="https://www1.kramerav.com/il/product/VW-4" TargetMode="Externa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6.jpeg"/><Relationship Id="rId5" Type="http://schemas.openxmlformats.org/officeDocument/2006/relationships/notesSlide" Target="../notesSlides/notesSlide6.xml"/><Relationship Id="rId10" Type="http://schemas.openxmlformats.org/officeDocument/2006/relationships/hyperlink" Target="mailto:5400x1920@30Hz" TargetMode="External"/><Relationship Id="rId4" Type="http://schemas.openxmlformats.org/officeDocument/2006/relationships/slideLayout" Target="../slideLayouts/slideLayout7.xml"/><Relationship Id="rId9" Type="http://schemas.openxmlformats.org/officeDocument/2006/relationships/hyperlink" Target="mailto:3840x600@60Hz" TargetMode="External"/></Relationships>
</file>

<file path=ppt/slides/_rels/slide15.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image" Target="../media/image7.png"/><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image" Target="../media/image6.jpe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notesSlide" Target="../notesSlides/notesSlide7.xml"/><Relationship Id="rId5" Type="http://schemas.openxmlformats.org/officeDocument/2006/relationships/tags" Target="../tags/tag135.xml"/><Relationship Id="rId15" Type="http://schemas.openxmlformats.org/officeDocument/2006/relationships/image" Target="../media/image5.png"/><Relationship Id="rId10" Type="http://schemas.openxmlformats.org/officeDocument/2006/relationships/slideLayout" Target="../slideLayouts/slideLayout2.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tags" Target="../tags/tag142.xml"/><Relationship Id="rId7" Type="http://schemas.openxmlformats.org/officeDocument/2006/relationships/notesSlide" Target="../notesSlides/notesSlide8.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slideLayout" Target="../slideLayouts/slideLayout2.xml"/><Relationship Id="rId5" Type="http://schemas.openxmlformats.org/officeDocument/2006/relationships/tags" Target="../tags/tag144.xml"/><Relationship Id="rId10" Type="http://schemas.openxmlformats.org/officeDocument/2006/relationships/image" Target="../media/image34.jpeg"/><Relationship Id="rId4" Type="http://schemas.openxmlformats.org/officeDocument/2006/relationships/tags" Target="../tags/tag143.xml"/><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tags" Target="../tags/tag147.xml"/><Relationship Id="rId7" Type="http://schemas.openxmlformats.org/officeDocument/2006/relationships/image" Target="../media/image6.jpe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148.xml"/><Relationship Id="rId9"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51.xml"/><Relationship Id="rId7" Type="http://schemas.openxmlformats.org/officeDocument/2006/relationships/image" Target="../media/image6.jpeg"/><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5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image" Target="../media/image7.png"/><Relationship Id="rId5" Type="http://schemas.openxmlformats.org/officeDocument/2006/relationships/image" Target="../media/image36.jpeg"/><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7">
            <a:extLst>
              <a:ext uri="{BEBA8EAE-BF5A-486C-A8C5-ECC9F3942E4B}">
                <a14:imgProps xmlns:a14="http://schemas.microsoft.com/office/drawing/2010/main">
                  <a14:imgLayer r:embed="rId8">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pic>
        <p:nvPicPr>
          <p:cNvPr id="17" name="Picture 16" descr="A person sitting on a motorcycle&#10;&#10;Description automatically generated"/>
          <p:cNvPicPr>
            <a:picLocks noChangeAspect="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347153"/>
            <a:ext cx="12192000" cy="6096000"/>
          </a:xfrm>
          <a:prstGeom prst="rect">
            <a:avLst/>
          </a:prstGeom>
        </p:spPr>
      </p:pic>
      <p:sp>
        <p:nvSpPr>
          <p:cNvPr id="9" name="矩形 7"/>
          <p:cNvSpPr/>
          <p:nvPr>
            <p:custDataLst>
              <p:tags r:id="rId1"/>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30" name="矩形 7"/>
          <p:cNvSpPr/>
          <p:nvPr>
            <p:custDataLst>
              <p:tags r:id="rId2"/>
            </p:custDataLst>
          </p:nvPr>
        </p:nvSpPr>
        <p:spPr>
          <a:xfrm>
            <a:off x="0" y="109518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charset="-122"/>
              <a:ea typeface="微软雅黑" panose="020B0503020204020204" charset="-122"/>
              <a:sym typeface="+mn-ea"/>
            </a:endParaRPr>
          </a:p>
        </p:txBody>
      </p:sp>
      <p:sp>
        <p:nvSpPr>
          <p:cNvPr id="22" name="文本框 20"/>
          <p:cNvSpPr txBox="1"/>
          <p:nvPr>
            <p:custDataLst>
              <p:tags r:id="rId3"/>
            </p:custDataLst>
          </p:nvPr>
        </p:nvSpPr>
        <p:spPr>
          <a:xfrm>
            <a:off x="399346" y="257682"/>
            <a:ext cx="613861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charset="-122"/>
                <a:cs typeface="Roboto" charset="0"/>
                <a:sym typeface="Roboto"/>
              </a:rPr>
              <a:t>Product Brochure</a:t>
            </a:r>
          </a:p>
        </p:txBody>
      </p:sp>
      <p:sp>
        <p:nvSpPr>
          <p:cNvPr id="13" name="矩形 7"/>
          <p:cNvSpPr/>
          <p:nvPr>
            <p:custDataLst>
              <p:tags r:id="rId4"/>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pic>
        <p:nvPicPr>
          <p:cNvPr id="26" name="Picture 25" descr="A picture containing text, clock&#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16271" y="5849316"/>
            <a:ext cx="5691024"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dirty="0">
                <a:latin typeface="Montserrat"/>
                <a:ea typeface="Roboto"/>
                <a:cs typeface="Arial" panose="020B0604020202020204"/>
              </a:rPr>
              <a:t>Award-Winning Audio-Visual</a:t>
            </a:r>
            <a:br>
              <a:rPr lang="en-US" sz="2400" b="1" i="1" dirty="0">
                <a:latin typeface="Montserrat" pitchFamily="2" charset="77"/>
                <a:ea typeface="Roboto"/>
                <a:cs typeface="Arial" panose="020B0604020202020204"/>
              </a:rPr>
            </a:br>
            <a:r>
              <a:rPr lang="en-US" sz="2400" b="1" i="1" dirty="0">
                <a:latin typeface="Montserrat"/>
                <a:ea typeface="Roboto"/>
                <a:cs typeface="Arial" panose="020B0604020202020204"/>
              </a:rPr>
              <a:t>Solutions Manufacturer</a:t>
            </a:r>
          </a:p>
        </p:txBody>
      </p:sp>
      <p:sp>
        <p:nvSpPr>
          <p:cNvPr id="10" name="Title 1"/>
          <p:cNvSpPr txBox="1"/>
          <p:nvPr/>
        </p:nvSpPr>
        <p:spPr>
          <a:xfrm>
            <a:off x="5988368" y="198014"/>
            <a:ext cx="5746432" cy="503028"/>
          </a:xfrm>
          <a:prstGeom prst="rect">
            <a:avLst/>
          </a:prstGeom>
        </p:spPr>
        <p:txBody>
          <a:bodyPr vert="horz" lIns="90000" tIns="46800" rIns="90000" bIns="4680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algn="r"/>
            <a:r>
              <a:rPr lang="en-US" sz="2800" spc="0" dirty="0">
                <a:solidFill>
                  <a:schemeClr val="bg1"/>
                </a:solidFill>
                <a:latin typeface="Roboto" charset="0"/>
                <a:ea typeface="Roboto"/>
                <a:cs typeface="Roboto" charset="0"/>
                <a:sym typeface="+mn-ea"/>
              </a:rPr>
              <a:t>SW-0206-VW</a:t>
            </a:r>
            <a:endParaRPr lang="zh-CN" altLang="en-US" sz="2800" spc="0" dirty="0">
              <a:solidFill>
                <a:schemeClr val="bg1"/>
              </a:solidFill>
              <a:latin typeface="Roboto" charset="0"/>
              <a:ea typeface="宋体" panose="02010600030101010101" pitchFamily="2" charset="-122"/>
              <a:cs typeface="Roboto" charset="0"/>
              <a:sym typeface="+mn-ea"/>
            </a:endParaRPr>
          </a:p>
        </p:txBody>
      </p:sp>
      <p:sp>
        <p:nvSpPr>
          <p:cNvPr id="11" name="Title 1"/>
          <p:cNvSpPr txBox="1"/>
          <p:nvPr/>
        </p:nvSpPr>
        <p:spPr>
          <a:xfrm>
            <a:off x="5980748" y="505913"/>
            <a:ext cx="5746432"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800" dirty="0">
                <a:solidFill>
                  <a:srgbClr val="C5E0B4"/>
                </a:solidFill>
                <a:latin typeface="Roboto" charset="0"/>
                <a:ea typeface="Roboto"/>
                <a:cs typeface="Roboto" charset="0"/>
              </a:rPr>
              <a:t>Advanced 4K Video Wall Processor</a:t>
            </a:r>
            <a:endParaRPr lang="zh-CN" altLang="en-US" sz="1800" dirty="0">
              <a:solidFill>
                <a:srgbClr val="C5E0B4"/>
              </a:solidFill>
              <a:latin typeface="Roboto" charset="0"/>
              <a:ea typeface="宋体" panose="02010600030101010101" pitchFamily="2" charset="-122"/>
              <a:cs typeface="Roboto" charset="0"/>
              <a:sym typeface="+mn-ea"/>
            </a:endParaRPr>
          </a:p>
        </p:txBody>
      </p:sp>
      <p:pic>
        <p:nvPicPr>
          <p:cNvPr id="18" name="Picture 17" descr="A black device with many ports&#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29675" y="1549605"/>
            <a:ext cx="10130082" cy="5698172"/>
          </a:xfrm>
          <a:prstGeom prst="rect">
            <a:avLst/>
          </a:prstGeom>
        </p:spPr>
      </p:pic>
      <p:pic>
        <p:nvPicPr>
          <p:cNvPr id="20" name="Picture 19" descr="A black electronic device with knobs and dials&#10;&#10;Description automatically generated"/>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15122" y="-221239"/>
            <a:ext cx="10161756" cy="57159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21" name="文本框 20"/>
          <p:cNvSpPr txBox="1"/>
          <p:nvPr>
            <p:custDataLst>
              <p:tags r:id="rId3"/>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3200" b="1" strike="noStrike" dirty="0">
                <a:solidFill>
                  <a:schemeClr val="lt1"/>
                </a:solidFill>
                <a:uFillTx/>
                <a:latin typeface="Montserrat" pitchFamily="2" charset="0"/>
                <a:ea typeface="微软雅黑" panose="020B0503020204020204" charset="-122"/>
                <a:cs typeface="Roboto" charset="0"/>
                <a:sym typeface="Roboto"/>
              </a:rPr>
              <a:t>Contents</a:t>
            </a:r>
          </a:p>
        </p:txBody>
      </p:sp>
      <p:pic>
        <p:nvPicPr>
          <p:cNvPr id="2"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22393" y="4580651"/>
            <a:ext cx="39690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974518" y="5232936"/>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508168" y="5923321"/>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269918" y="3891906"/>
            <a:ext cx="54740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570189" y="1657350"/>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Key Features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History of Previous Products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Competitor Analysis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cxnSp>
        <p:nvCxnSpPr>
          <p:cNvPr id="11" name="直接连接符 10"/>
          <p:cNvCxnSpPr/>
          <p:nvPr>
            <p:custDataLst>
              <p:tags r:id="rId3"/>
            </p:custDataLst>
          </p:nvPr>
        </p:nvCxnSpPr>
        <p:spPr>
          <a:xfrm>
            <a:off x="8698915" y="178025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4"/>
            </p:custDataLst>
          </p:nvPr>
        </p:nvCxnSpPr>
        <p:spPr>
          <a:xfrm>
            <a:off x="6560777" y="557070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5"/>
            </p:custDataLst>
          </p:nvPr>
        </p:nvSpPr>
        <p:spPr>
          <a:xfrm>
            <a:off x="457155" y="155572"/>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Product Overview</a:t>
            </a:r>
          </a:p>
        </p:txBody>
      </p:sp>
      <p:pic>
        <p:nvPicPr>
          <p:cNvPr id="3"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6497955" y="2028190"/>
            <a:ext cx="4779696" cy="3930650"/>
          </a:xfrm>
          <a:prstGeom prst="rect">
            <a:avLst/>
          </a:prstGeom>
          <a:noFill/>
          <a:ln w="3175">
            <a:noFill/>
            <a:prstDash val="dash"/>
          </a:ln>
        </p:spPr>
        <p:txBody>
          <a:bodyPr wrap="square" lIns="63500" tIns="25400" rIns="63500" bIns="25400" anchor="ctr" anchorCtr="0">
            <a:normAutofit fontScale="25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20000"/>
              </a:lnSpc>
              <a:spcBef>
                <a:spcPts val="0"/>
              </a:spcBef>
              <a:spcAft>
                <a:spcPts val="800"/>
              </a:spcAft>
              <a:buSzPct val="100000"/>
              <a:buFont typeface="Wingdings" panose="05000000000000000000" charset="0"/>
              <a:buNone/>
            </a:pPr>
            <a:r>
              <a:rPr sz="9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Advanced 4K Video Wall Processor</a:t>
            </a:r>
            <a:endParaRPr sz="9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20000"/>
              </a:lnSpc>
              <a:spcBef>
                <a:spcPts val="0"/>
              </a:spcBef>
              <a:spcAft>
                <a:spcPts val="800"/>
              </a:spcAft>
              <a:buClrTx/>
              <a:buSzTx/>
              <a:buFont typeface="Wingdings" panose="05000000000000000000" charset="0"/>
              <a:buNone/>
            </a:pPr>
            <a:r>
              <a:rPr lang="en-US" altLang="zh-CN" sz="5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The SW-0206-VW is a 4K@60Hz 4:4:4 Video Wall Processor designed for flexible splicing layouts, delivering an exceptional viewing experience. It supports both standard video walls and cascading multiple processors for expanding the display setup, allowing users to create customized layouts for various applications.</a:t>
            </a:r>
          </a:p>
          <a:p>
            <a:pPr marL="0" lvl="0" indent="-285750" algn="l" fontAlgn="ctr">
              <a:lnSpc>
                <a:spcPct val="120000"/>
              </a:lnSpc>
              <a:spcBef>
                <a:spcPts val="0"/>
              </a:spcBef>
              <a:spcAft>
                <a:spcPts val="800"/>
              </a:spcAft>
              <a:buClrTx/>
              <a:buSzTx/>
              <a:buFont typeface="Wingdings" panose="05000000000000000000" charset="0"/>
              <a:buNone/>
            </a:pPr>
            <a:r>
              <a:rPr lang="en-US" sz="5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The cascading feature is ideal for large-scale installations, ensuring seamless synchronization across multiple screens for an immersive, unified display.</a:t>
            </a:r>
          </a:p>
          <a:p>
            <a:pPr marL="0" lvl="0" indent="-285750" algn="l" fontAlgn="ctr">
              <a:lnSpc>
                <a:spcPct val="120000"/>
              </a:lnSpc>
              <a:spcBef>
                <a:spcPts val="0"/>
              </a:spcBef>
              <a:spcAft>
                <a:spcPts val="800"/>
              </a:spcAft>
              <a:buClrTx/>
              <a:buSzTx/>
              <a:buFont typeface="Wingdings" panose="05000000000000000000" charset="0"/>
              <a:buNone/>
            </a:pPr>
            <a:r>
              <a:rPr lang="en-US" sz="5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Whether for retail, exhibitions, museums, or events, the SW-0206-VW meets diverse display needs, enhancing visual impact and overall efficiency.</a:t>
            </a:r>
          </a:p>
          <a:p>
            <a:pPr marL="0" lvl="0" indent="-285750" algn="l" fontAlgn="ctr">
              <a:lnSpc>
                <a:spcPct val="120000"/>
              </a:lnSpc>
              <a:spcBef>
                <a:spcPts val="0"/>
              </a:spcBef>
              <a:spcAft>
                <a:spcPts val="800"/>
              </a:spcAft>
              <a:buSzPct val="100000"/>
              <a:buFont typeface="Wingdings" panose="05000000000000000000" charset="0"/>
              <a:buNone/>
            </a:pPr>
            <a:endParaRPr lang="en-US" sz="56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4" name="Picture 3" descr="A black device with many ports&#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5107" y="2689832"/>
            <a:ext cx="6447133" cy="3626513"/>
          </a:xfrm>
          <a:prstGeom prst="rect">
            <a:avLst/>
          </a:prstGeom>
        </p:spPr>
      </p:pic>
      <p:pic>
        <p:nvPicPr>
          <p:cNvPr id="5" name="Picture 4" descr="A black electronic device with knobs and dials&#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0399" y="1374007"/>
            <a:ext cx="6467291" cy="3637852"/>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1149350" y="1756410"/>
            <a:ext cx="4599940" cy="3772636"/>
          </a:xfrm>
          <a:prstGeom prst="rect">
            <a:avLst/>
          </a:prstGeom>
          <a:noFill/>
        </p:spPr>
        <p:txBody>
          <a:bodyPr wrap="square" rtlCol="0">
            <a:spAutoFit/>
          </a:bodyPr>
          <a:lstStyle/>
          <a:p>
            <a:pPr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Multiple Splicing Modes Supported</a:t>
            </a:r>
          </a:p>
          <a:p>
            <a:pPr algn="l" fontAlgn="auto">
              <a:lnSpc>
                <a:spcPts val="1500"/>
              </a:lnSpc>
              <a:spcBef>
                <a:spcPts val="0"/>
              </a:spcBef>
              <a:spcAft>
                <a:spcPts val="0"/>
              </a:spcAft>
              <a:buClrTx/>
              <a:buSzTx/>
              <a:buFont typeface="Wingdings" panose="05000000000000000000" pitchFamily="2" charset="2"/>
              <a:buNone/>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Includes quick layout options like 1x4, 2x2, 2x3, 3x2, 4x1, 1x4 (90°), and 1x3 (60°) for flexible and efficient screen arrangements.</a:t>
            </a:r>
          </a:p>
          <a:p>
            <a:pPr indent="0" algn="l" fontAlgn="auto">
              <a:lnSpc>
                <a:spcPts val="26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Customizable Layouts: </a:t>
            </a:r>
          </a:p>
          <a:p>
            <a:pPr algn="l" fontAlgn="auto">
              <a:lnSpc>
                <a:spcPts val="1500"/>
              </a:lnSpc>
              <a:spcBef>
                <a:spcPts val="0"/>
              </a:spcBef>
              <a:spcAft>
                <a:spcPts val="0"/>
              </a:spcAft>
              <a:buClrTx/>
              <a:buSzTx/>
              <a:buFont typeface="Wingdings" panose="05000000000000000000" pitchFamily="2" charset="2"/>
              <a:buNone/>
            </a:pPr>
            <a:r>
              <a:rPr sz="1200" dirty="0">
                <a:latin typeface="Arial" panose="020B0604020202020204" pitchFamily="34" charset="0"/>
                <a:cs typeface="Arial" panose="020B0604020202020204" pitchFamily="34" charset="0"/>
                <a:sym typeface="+mn-ea"/>
              </a:rPr>
              <a:t>Supports standard mxn (row x column) configurations, allowing for personalized display setups to meet various needs.</a:t>
            </a:r>
          </a:p>
          <a:p>
            <a:pPr indent="0" algn="l" fontAlgn="auto">
              <a:lnSpc>
                <a:spcPts val="26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Ultra-Wide Resolution Support</a:t>
            </a:r>
          </a:p>
          <a:p>
            <a:pPr indent="0" algn="l" fontAlgn="auto">
              <a:lnSpc>
                <a:spcPts val="1500"/>
              </a:lnSpc>
              <a:spcBef>
                <a:spcPts val="0"/>
              </a:spcBef>
              <a:spcAft>
                <a:spcPts val="0"/>
              </a:spcAft>
              <a:buClrTx/>
              <a:buSzTx/>
              <a:buFont typeface="Wingdings" panose="05000000000000000000" pitchFamily="2" charset="2"/>
              <a:buNone/>
            </a:pPr>
            <a:r>
              <a:rPr sz="1200" dirty="0">
                <a:latin typeface="Arial" panose="020B0604020202020204" pitchFamily="34" charset="0"/>
                <a:cs typeface="Arial" panose="020B0604020202020204" pitchFamily="34" charset="0"/>
                <a:sym typeface="+mn-ea"/>
              </a:rPr>
              <a:t>Compatible with ultra-wide resolutions such as 3840x600@60Hz and 5400x1920@30Hz, perfect for expansive displays and wide-screen setups.</a:t>
            </a:r>
            <a:endParaRPr lang="en-US" sz="1200" dirty="0">
              <a:latin typeface="Arial" panose="020B0604020202020204" pitchFamily="34" charset="0"/>
              <a:cs typeface="Arial" panose="020B0604020202020204" pitchFamily="34" charset="0"/>
              <a:sym typeface="+mn-ea"/>
            </a:endParaRPr>
          </a:p>
          <a:p>
            <a:pPr indent="0" algn="l" fontAlgn="auto">
              <a:lnSpc>
                <a:spcPts val="2600"/>
              </a:lnSpc>
              <a:spcBef>
                <a:spcPts val="0"/>
              </a:spcBef>
              <a:spcAft>
                <a:spcPts val="0"/>
              </a:spcAft>
              <a:buClrTx/>
              <a:buSzTx/>
              <a:buFont typeface="Wingdings" panose="05000000000000000000" pitchFamily="2" charset="2"/>
              <a:buNone/>
            </a:pPr>
            <a:endParaRPr lang="en-US" sz="1200" b="1" dirty="0">
              <a:solidFill>
                <a:srgbClr val="0B7935"/>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Cascading Video Wall</a:t>
            </a:r>
          </a:p>
          <a:p>
            <a:pPr indent="0" algn="l" fontAlgn="auto">
              <a:lnSpc>
                <a:spcPts val="1500"/>
              </a:lnSpc>
              <a:spcBef>
                <a:spcPts val="0"/>
              </a:spcBef>
              <a:spcAft>
                <a:spcPts val="0"/>
              </a:spcAft>
              <a:buClrTx/>
              <a:buSzTx/>
              <a:buFont typeface="Wingdings" panose="05000000000000000000" pitchFamily="2" charset="2"/>
              <a:buNone/>
            </a:pPr>
            <a:r>
              <a:rPr lang="en-US" sz="1200" kern="0" spc="-5" dirty="0">
                <a:solidFill>
                  <a:srgbClr val="404040"/>
                </a:solidFill>
                <a:latin typeface="Arial" panose="020B0604020202020204"/>
                <a:cs typeface="Arial" panose="020B0604020202020204"/>
                <a:sym typeface="+mn-ea"/>
              </a:rPr>
              <a:t>Cascading feature supports large-scale video walls, allowing configurations up to 6x6 (36 screens), ideal for control rooms, retail spaces, and events.</a:t>
            </a:r>
            <a:endParaRPr lang="en-US" sz="1200" kern="0" spc="-5" dirty="0">
              <a:solidFill>
                <a:srgbClr val="404040"/>
              </a:solidFill>
              <a:latin typeface="Arial" panose="020B0604020202020204"/>
              <a:cs typeface="Arial" panose="020B0604020202020204"/>
            </a:endParaRPr>
          </a:p>
        </p:txBody>
      </p:sp>
      <p:sp>
        <p:nvSpPr>
          <p:cNvPr id="8" name="文本框 7"/>
          <p:cNvSpPr txBox="1"/>
          <p:nvPr>
            <p:custDataLst>
              <p:tags r:id="rId2"/>
            </p:custDataLst>
          </p:nvPr>
        </p:nvSpPr>
        <p:spPr>
          <a:xfrm>
            <a:off x="6602240" y="1756410"/>
            <a:ext cx="4990465" cy="3964996"/>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High-Quality Video Resolution</a:t>
            </a:r>
          </a:p>
          <a:p>
            <a:pPr indent="0" algn="l" fontAlgn="auto">
              <a:lnSpc>
                <a:spcPts val="1500"/>
              </a:lnSpc>
              <a:spcBef>
                <a:spcPts val="0"/>
              </a:spcBef>
              <a:spcAft>
                <a:spcPts val="0"/>
              </a:spcAft>
              <a:buClrTx/>
              <a:buSzTx/>
              <a:buFont typeface="Wingdings" panose="05000000000000000000" pitchFamily="2" charset="2"/>
              <a:buNone/>
            </a:pPr>
            <a:r>
              <a:rPr sz="1200" spc="-5" dirty="0">
                <a:solidFill>
                  <a:srgbClr val="404040"/>
                </a:solidFill>
                <a:latin typeface="Arial" panose="020B0604020202020204"/>
                <a:cs typeface="Arial" panose="020B0604020202020204"/>
                <a:sym typeface="+mn-ea"/>
              </a:rPr>
              <a:t>Provides sharp and clear visuals with support for 4K resolution at 60Hz</a:t>
            </a:r>
            <a:r>
              <a:rPr lang="en-US" sz="1200" spc="-5" dirty="0">
                <a:solidFill>
                  <a:srgbClr val="404040"/>
                </a:solidFill>
                <a:latin typeface="Arial" panose="020B0604020202020204"/>
                <a:cs typeface="Arial" panose="020B0604020202020204"/>
                <a:sym typeface="+mn-ea"/>
              </a:rPr>
              <a:t> (4K@60Hz 4:4:4)</a:t>
            </a:r>
            <a:r>
              <a:rPr sz="1200" spc="-5" dirty="0">
                <a:solidFill>
                  <a:srgbClr val="404040"/>
                </a:solidFill>
                <a:latin typeface="Arial" panose="020B0604020202020204"/>
                <a:cs typeface="Arial" panose="020B0604020202020204"/>
                <a:sym typeface="+mn-ea"/>
              </a:rPr>
              <a:t>, ensuring a high-definition viewing experience</a:t>
            </a:r>
            <a:r>
              <a:rPr lang="en-US" sz="1200" spc="-5" dirty="0">
                <a:solidFill>
                  <a:srgbClr val="404040"/>
                </a:solidFill>
                <a:latin typeface="Arial" panose="020B0604020202020204"/>
                <a:cs typeface="Arial" panose="020B0604020202020204"/>
                <a:sym typeface="+mn-ea"/>
              </a:rPr>
              <a:t>.</a:t>
            </a:r>
            <a:endParaRPr lang="en-US" sz="1400" b="1" dirty="0">
              <a:solidFill>
                <a:srgbClr val="0B7935"/>
              </a:solidFill>
              <a:latin typeface="Roboto" charset="0"/>
              <a:ea typeface="Roboto" charset="0"/>
              <a:cs typeface="Roboto" charset="0"/>
              <a:sym typeface="+mn-ea"/>
            </a:endParaRPr>
          </a:p>
          <a:p>
            <a:pPr indent="0" algn="l" fontAlgn="auto">
              <a:lnSpc>
                <a:spcPts val="26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Flexible Video Rotation</a:t>
            </a:r>
            <a:endParaRPr lang="en-US" sz="1400" b="1" dirty="0">
              <a:solidFill>
                <a:srgbClr val="0B7935"/>
              </a:solidFill>
              <a:latin typeface="Roboto" charset="0"/>
              <a:ea typeface="Roboto" charset="0"/>
              <a:cs typeface="Roboto" charset="0"/>
            </a:endParaRPr>
          </a:p>
          <a:p>
            <a:pPr marL="12700" marR="80645" algn="l" defTabSz="914400">
              <a:lnSpc>
                <a:spcPts val="1500"/>
              </a:lnSpc>
              <a:spcBef>
                <a:spcPts val="20"/>
              </a:spcBef>
              <a:buClrTx/>
              <a:buSzTx/>
              <a:buFontTx/>
            </a:pPr>
            <a:r>
              <a:rPr sz="1200" spc="-5" dirty="0">
                <a:solidFill>
                  <a:srgbClr val="404040"/>
                </a:solidFill>
                <a:latin typeface="Arial" panose="020B0604020202020204"/>
                <a:cs typeface="Arial" panose="020B0604020202020204"/>
                <a:sym typeface="+mn-ea"/>
              </a:rPr>
              <a:t>Supports rotation options of 0°,</a:t>
            </a:r>
            <a:r>
              <a:rPr lang="en-US" sz="1200" spc="-5" dirty="0">
                <a:solidFill>
                  <a:srgbClr val="404040"/>
                </a:solidFill>
                <a:latin typeface="Arial" panose="020B0604020202020204"/>
                <a:cs typeface="Arial" panose="020B0604020202020204"/>
                <a:sym typeface="+mn-ea"/>
              </a:rPr>
              <a:t> 60</a:t>
            </a:r>
            <a:r>
              <a:rPr lang="en-US" altLang="zh-CN" sz="1200" spc="-5" dirty="0">
                <a:solidFill>
                  <a:srgbClr val="404040"/>
                </a:solidFill>
                <a:latin typeface="Arial" panose="020B0604020202020204"/>
                <a:cs typeface="Arial" panose="020B0604020202020204"/>
                <a:sym typeface="+mn-ea"/>
              </a:rPr>
              <a:t>°,</a:t>
            </a:r>
            <a:r>
              <a:rPr sz="1200" spc="-5" dirty="0">
                <a:solidFill>
                  <a:srgbClr val="404040"/>
                </a:solidFill>
                <a:latin typeface="Arial" panose="020B0604020202020204"/>
                <a:cs typeface="Arial" panose="020B0604020202020204"/>
                <a:sym typeface="+mn-ea"/>
              </a:rPr>
              <a:t> 90°, 180°, and 270° to fit various display setups.</a:t>
            </a:r>
            <a:endParaRPr lang="en-US" sz="1200" spc="-5" dirty="0">
              <a:solidFill>
                <a:srgbClr val="404040"/>
              </a:solidFill>
              <a:latin typeface="Arial" panose="020B0604020202020204"/>
              <a:cs typeface="Arial" panose="020B0604020202020204"/>
              <a:sym typeface="+mn-ea"/>
            </a:endParaRPr>
          </a:p>
          <a:p>
            <a:pPr indent="0" algn="l" fontAlgn="auto">
              <a:lnSpc>
                <a:spcPts val="2600"/>
              </a:lnSpc>
              <a:spcBef>
                <a:spcPts val="0"/>
              </a:spcBef>
              <a:spcAft>
                <a:spcPts val="0"/>
              </a:spcAft>
              <a:buClrTx/>
              <a:buSzTx/>
              <a:buFont typeface="Wingdings" panose="05000000000000000000" pitchFamily="2" charset="2"/>
              <a:buNone/>
            </a:pPr>
            <a:endParaRPr lang="en-US" sz="1200" b="1" dirty="0">
              <a:solidFill>
                <a:srgbClr val="0B7935"/>
              </a:solidFill>
              <a:latin typeface="Roboto" charset="0"/>
              <a:ea typeface="Roboto" charset="0"/>
              <a:cs typeface="Roboto" charset="0"/>
              <a:sym typeface="+mn-ea"/>
            </a:endParaRPr>
          </a:p>
          <a:p>
            <a:pPr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OSD &amp; Bezel Adjustment</a:t>
            </a:r>
          </a:p>
          <a:p>
            <a:pPr algn="l" fontAlgn="auto">
              <a:lnSpc>
                <a:spcPts val="1500"/>
              </a:lnSpc>
              <a:spcBef>
                <a:spcPts val="0"/>
              </a:spcBef>
              <a:spcAft>
                <a:spcPts val="0"/>
              </a:spcAft>
              <a:buClrTx/>
              <a:buSzTx/>
              <a:buFont typeface="Wingdings" panose="05000000000000000000" pitchFamily="2" charset="2"/>
              <a:buNone/>
            </a:pPr>
            <a:r>
              <a:rPr lang="en-US" sz="1200" spc="-5" dirty="0">
                <a:solidFill>
                  <a:srgbClr val="404040"/>
                </a:solidFill>
                <a:latin typeface="Arial" panose="020B0604020202020204"/>
                <a:cs typeface="Arial" panose="020B0604020202020204"/>
                <a:sym typeface="+mn-ea"/>
              </a:rPr>
              <a:t>OSD displays IP address and HDMI output port information on-screen, while Bezel Adjustment compensates for display borders, ensuring seamless image alignment.</a:t>
            </a:r>
          </a:p>
          <a:p>
            <a:pPr indent="0" algn="l" fontAlgn="auto">
              <a:lnSpc>
                <a:spcPts val="2600"/>
              </a:lnSpc>
              <a:spcBef>
                <a:spcPts val="0"/>
              </a:spcBef>
              <a:spcAft>
                <a:spcPts val="0"/>
              </a:spcAft>
              <a:buClrTx/>
              <a:buSzTx/>
              <a:buFont typeface="Wingdings" panose="05000000000000000000" pitchFamily="2" charset="2"/>
              <a:buNone/>
            </a:pPr>
            <a:endParaRPr lang="en-US" sz="1200" b="1" dirty="0">
              <a:solidFill>
                <a:srgbClr val="0B7935"/>
              </a:solidFill>
              <a:latin typeface="Roboto" charset="0"/>
              <a:ea typeface="Roboto" charset="0"/>
              <a:cs typeface="Roboto" charset="0"/>
              <a:sym typeface="+mn-ea"/>
            </a:endParaRPr>
          </a:p>
          <a:p>
            <a:pPr algn="l">
              <a:lnSpc>
                <a:spcPts val="1500"/>
              </a:lnSpc>
              <a:spcBef>
                <a:spcPts val="0"/>
              </a:spcBef>
              <a:spcAft>
                <a:spcPts val="0"/>
              </a:spcAft>
              <a:buClrTx/>
              <a:buSzTx/>
              <a:buFont typeface="Wingdings" panose="05000000000000000000" pitchFamily="2" charset="2"/>
            </a:pPr>
            <a:r>
              <a:rPr lang="en-US" sz="1400" b="1" dirty="0">
                <a:solidFill>
                  <a:srgbClr val="0B7935"/>
                </a:solidFill>
                <a:latin typeface="Roboto" charset="0"/>
                <a:ea typeface="Roboto" charset="0"/>
                <a:cs typeface="Roboto" charset="0"/>
                <a:sym typeface="+mn-ea"/>
              </a:rPr>
              <a:t>User-Friendly Web-UI</a:t>
            </a:r>
            <a:endParaRPr lang="en-US" sz="1400" b="1" dirty="0">
              <a:solidFill>
                <a:srgbClr val="0B7935"/>
              </a:solidFill>
              <a:latin typeface="Roboto" charset="0"/>
              <a:ea typeface="Roboto" charset="0"/>
              <a:cs typeface="Roboto" charset="0"/>
            </a:endParaRPr>
          </a:p>
          <a:p>
            <a:pPr algn="l" fontAlgn="auto">
              <a:lnSpc>
                <a:spcPts val="1500"/>
              </a:lnSpc>
              <a:spcBef>
                <a:spcPts val="0"/>
              </a:spcBef>
              <a:spcAft>
                <a:spcPts val="0"/>
              </a:spcAft>
              <a:buClrTx/>
              <a:buSzTx/>
              <a:buFont typeface="Wingdings" panose="05000000000000000000" pitchFamily="2" charset="2"/>
              <a:buNone/>
            </a:pPr>
            <a:r>
              <a:rPr lang="en-US" sz="1200" spc="-5" dirty="0">
                <a:solidFill>
                  <a:srgbClr val="404040"/>
                </a:solidFill>
                <a:latin typeface="Arial" panose="020B0604020202020204"/>
                <a:cs typeface="Arial" panose="020B0604020202020204"/>
                <a:sym typeface="+mn-ea"/>
              </a:rPr>
              <a:t>Simplifies control and management through an intuitive web interface, offering ease of use for both setup and ongoing operation.</a:t>
            </a:r>
            <a:endParaRPr lang="en-US" sz="1200" b="0" spc="-5" dirty="0">
              <a:solidFill>
                <a:srgbClr val="404040"/>
              </a:solidFill>
              <a:latin typeface="Arial" panose="020B0604020202020204"/>
              <a:cs typeface="Arial" panose="020B0604020202020204"/>
            </a:endParaRPr>
          </a:p>
          <a:p>
            <a:pPr algn="l" fontAlgn="auto">
              <a:lnSpc>
                <a:spcPts val="1500"/>
              </a:lnSpc>
              <a:spcBef>
                <a:spcPts val="0"/>
              </a:spcBef>
              <a:spcAft>
                <a:spcPts val="0"/>
              </a:spcAft>
              <a:buClrTx/>
              <a:buSzTx/>
              <a:buFont typeface="Wingdings" panose="05000000000000000000" pitchFamily="2" charset="2"/>
              <a:buNone/>
            </a:pP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marL="12700" marR="80645" algn="l" defTabSz="914400">
              <a:lnSpc>
                <a:spcPts val="1500"/>
              </a:lnSpc>
              <a:spcBef>
                <a:spcPts val="20"/>
              </a:spcBef>
              <a:buClrTx/>
              <a:buSzTx/>
              <a:buFontTx/>
            </a:pP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pic>
        <p:nvPicPr>
          <p:cNvPr id="10"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1" name="文本框 6"/>
          <p:cNvSpPr txBox="1"/>
          <p:nvPr>
            <p:custDataLst>
              <p:tags r:id="rId4"/>
            </p:custDataLst>
          </p:nvPr>
        </p:nvSpPr>
        <p:spPr>
          <a:xfrm>
            <a:off x="457155" y="16319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Main Features</a:t>
            </a:r>
          </a:p>
        </p:txBody>
      </p:sp>
      <p:pic>
        <p:nvPicPr>
          <p:cNvPr id="29" name="Picture 28" descr="A close up of a logo&#10;&#10;Description automatically generat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63236" y="1818416"/>
            <a:ext cx="501271" cy="319960"/>
          </a:xfrm>
          <a:prstGeom prst="rect">
            <a:avLst/>
          </a:prstGeom>
        </p:spPr>
      </p:pic>
      <p:pic>
        <p:nvPicPr>
          <p:cNvPr id="31" name="Picture 3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44636" y="2695028"/>
            <a:ext cx="528419" cy="480382"/>
          </a:xfrm>
          <a:prstGeom prst="rect">
            <a:avLst/>
          </a:prstGeom>
        </p:spPr>
      </p:pic>
      <p:pic>
        <p:nvPicPr>
          <p:cNvPr id="33" name="Picture 32" descr="A black background with arrows pointing to a symbol&#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2455" y="2720882"/>
            <a:ext cx="556469" cy="439318"/>
          </a:xfrm>
          <a:prstGeom prst="rect">
            <a:avLst/>
          </a:prstGeom>
        </p:spPr>
      </p:pic>
      <p:pic>
        <p:nvPicPr>
          <p:cNvPr id="35" name="Picture 34" descr="A black background with arrows&#10;&#10;Description automatically generat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3680" y="4621290"/>
            <a:ext cx="638219" cy="589125"/>
          </a:xfrm>
          <a:prstGeom prst="rect">
            <a:avLst/>
          </a:prstGeom>
        </p:spPr>
      </p:pic>
      <p:pic>
        <p:nvPicPr>
          <p:cNvPr id="39" name="Picture 38" descr="A black and grey square with white rectangles&#10;&#10;Description automatically generat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9069" y="3601360"/>
            <a:ext cx="530125" cy="387896"/>
          </a:xfrm>
          <a:prstGeom prst="rect">
            <a:avLst/>
          </a:prstGeom>
        </p:spPr>
      </p:pic>
      <p:pic>
        <p:nvPicPr>
          <p:cNvPr id="41" name="Picture 40" descr="A black and white logo&#10;&#10;Description automatically generated"/>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001660" y="3638000"/>
            <a:ext cx="629743" cy="460788"/>
          </a:xfrm>
          <a:prstGeom prst="rect">
            <a:avLst/>
          </a:prstGeom>
        </p:spPr>
      </p:pic>
      <p:pic>
        <p:nvPicPr>
          <p:cNvPr id="43" name="Picture 42" descr="A black and white background with circles and dots&#10;&#10;Description automatically generated"/>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3835" y="1813365"/>
            <a:ext cx="516314" cy="424368"/>
          </a:xfrm>
          <a:prstGeom prst="rect">
            <a:avLst/>
          </a:prstGeom>
        </p:spPr>
      </p:pic>
      <p:pic>
        <p:nvPicPr>
          <p:cNvPr id="45" name="Picture 44" descr="A wifi symbol on a black background&#10;&#10;Description automatically generated"/>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920740" y="4598352"/>
            <a:ext cx="730345" cy="540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400" b="1" dirty="0">
                <a:solidFill>
                  <a:schemeClr val="lt1"/>
                </a:solidFill>
                <a:uFillTx/>
                <a:latin typeface="Montserrat" pitchFamily="2" charset="0"/>
                <a:ea typeface="微软雅黑" panose="020B0503020204020204" charset="-122"/>
                <a:sym typeface="Roboto"/>
              </a:rPr>
              <a:t>Why Choose Us:  1. Multi-Layout Video Walls &amp; Cascading Function</a:t>
            </a:r>
          </a:p>
        </p:txBody>
      </p:sp>
      <p:sp>
        <p:nvSpPr>
          <p:cNvPr id="5" name="文本框 4"/>
          <p:cNvSpPr txBox="1"/>
          <p:nvPr/>
        </p:nvSpPr>
        <p:spPr>
          <a:xfrm>
            <a:off x="424040" y="1106410"/>
            <a:ext cx="10506075" cy="717550"/>
          </a:xfrm>
          <a:prstGeom prst="rect">
            <a:avLst/>
          </a:prstGeom>
          <a:noFill/>
        </p:spPr>
        <p:txBody>
          <a:bodyPr wrap="square" rtlCol="0">
            <a:noAutofit/>
          </a:bodyPr>
          <a:lstStyle/>
          <a:p>
            <a:pPr indent="0" fontAlgn="auto">
              <a:buFont typeface="Wingdings" panose="05000000000000000000" charset="0"/>
              <a:buNone/>
            </a:pPr>
            <a:r>
              <a:rPr sz="2000" b="1" dirty="0">
                <a:solidFill>
                  <a:schemeClr val="tx1">
                    <a:lumMod val="75000"/>
                    <a:lumOff val="25000"/>
                  </a:schemeClr>
                </a:solidFill>
                <a:latin typeface="Roboto" charset="0"/>
                <a:ea typeface="Roboto" charset="0"/>
                <a:cs typeface="Arial" panose="020B0604020202020204" pitchFamily="34" charset="0"/>
              </a:rPr>
              <a:t>Transform your display solutions with advanced splicing capabilities, delivering exceptional flexibility, seamless operation, and unmatched visual quality.</a:t>
            </a:r>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46" name="Rectangle 45"/>
          <p:cNvSpPr/>
          <p:nvPr/>
        </p:nvSpPr>
        <p:spPr>
          <a:xfrm>
            <a:off x="704368" y="2298350"/>
            <a:ext cx="5030317" cy="1351683"/>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255905" y="4036699"/>
            <a:ext cx="5402695" cy="1151251"/>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531050" y="1992633"/>
            <a:ext cx="2526995"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584060" y="2037082"/>
            <a:ext cx="3285516"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Flexible Splicing Layouts</a:t>
            </a:r>
          </a:p>
        </p:txBody>
      </p:sp>
      <p:sp>
        <p:nvSpPr>
          <p:cNvPr id="50" name="Rectangle 49"/>
          <p:cNvSpPr/>
          <p:nvPr/>
        </p:nvSpPr>
        <p:spPr>
          <a:xfrm>
            <a:off x="6255385" y="2298350"/>
            <a:ext cx="5415610" cy="109445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895985" y="2506980"/>
            <a:ext cx="4690187" cy="1007110"/>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Create dynamic video walls easily with multiple splicing options, including Quick Mode and Standard Mode (m*n). Perfect for a variety of applications such as advertising, shopping malls, museums, and galleries.</a:t>
            </a:r>
          </a:p>
        </p:txBody>
      </p:sp>
      <p:sp>
        <p:nvSpPr>
          <p:cNvPr id="53" name="Rectangle 52"/>
          <p:cNvSpPr/>
          <p:nvPr/>
        </p:nvSpPr>
        <p:spPr>
          <a:xfrm>
            <a:off x="6104451" y="1985539"/>
            <a:ext cx="3879654"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141085" y="2028825"/>
            <a:ext cx="4160520"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Seamless Cascading for Large Displays</a:t>
            </a:r>
          </a:p>
        </p:txBody>
      </p:sp>
      <p:sp>
        <p:nvSpPr>
          <p:cNvPr id="55" name="文本框 4"/>
          <p:cNvSpPr txBox="1"/>
          <p:nvPr/>
        </p:nvSpPr>
        <p:spPr>
          <a:xfrm>
            <a:off x="6470547" y="2533673"/>
            <a:ext cx="4817848"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Support cascading configurations up to 6x6 (36 screens), allowing you to build large-scale video walls with perfect synchronization for an impressive visual experience.</a:t>
            </a:r>
          </a:p>
          <a:p>
            <a:pPr indent="0" fontAlgn="auto">
              <a:buFont typeface="Wingdings" panose="05000000000000000000" charset="0"/>
              <a:buNone/>
            </a:pP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56" name="Rectangle 55"/>
          <p:cNvSpPr/>
          <p:nvPr/>
        </p:nvSpPr>
        <p:spPr>
          <a:xfrm>
            <a:off x="6079890" y="3750945"/>
            <a:ext cx="5292325" cy="427355"/>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6148705" y="3799840"/>
            <a:ext cx="5900420"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Picture Adjustment for Enhanced Viewing Productivity</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6432447" y="4315461"/>
            <a:ext cx="5050893" cy="1116968"/>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Adjust the bezel and rotate the video wall (0°, 60</a:t>
            </a:r>
            <a:r>
              <a:rPr lang="en-US" altLang="zh-CN" sz="1400" dirty="0">
                <a:solidFill>
                  <a:schemeClr val="tx1">
                    <a:lumMod val="75000"/>
                    <a:lumOff val="25000"/>
                  </a:schemeClr>
                </a:solidFill>
                <a:latin typeface="Roboto" charset="0"/>
                <a:ea typeface="Roboto" charset="0"/>
                <a:cs typeface="Arial" panose="020B0604020202020204" pitchFamily="34" charset="0"/>
              </a:rPr>
              <a:t>°,</a:t>
            </a:r>
            <a:r>
              <a:rPr lang="en-US" sz="1400" dirty="0">
                <a:solidFill>
                  <a:schemeClr val="tx1">
                    <a:lumMod val="75000"/>
                    <a:lumOff val="25000"/>
                  </a:schemeClr>
                </a:solidFill>
                <a:latin typeface="Roboto" charset="0"/>
                <a:ea typeface="Roboto" charset="0"/>
                <a:cs typeface="Arial" panose="020B0604020202020204" pitchFamily="34" charset="0"/>
              </a:rPr>
              <a:t> 90°, 180°, 270°) for a customized display that enhances every viewing detail, ensuring clarity and precision in every scenario.</a:t>
            </a:r>
          </a:p>
          <a:p>
            <a:pPr indent="0" fontAlgn="auto">
              <a:buFont typeface="Wingdings" panose="05000000000000000000" charset="0"/>
              <a:buNone/>
            </a:pPr>
            <a:endParaRPr lang="en-US" sz="1400" dirty="0">
              <a:solidFill>
                <a:schemeClr val="tx1">
                  <a:lumMod val="75000"/>
                  <a:lumOff val="25000"/>
                </a:schemeClr>
              </a:solidFill>
              <a:latin typeface="Roboto" charset="0"/>
              <a:ea typeface="Roboto" charset="0"/>
              <a:cs typeface="Arial" panose="020B0604020202020204" pitchFamily="34" charset="0"/>
            </a:endParaRPr>
          </a:p>
        </p:txBody>
      </p:sp>
      <p:pic>
        <p:nvPicPr>
          <p:cNvPr id="28" name="图片 27"/>
          <p:cNvPicPr>
            <a:picLocks noChangeAspect="1"/>
          </p:cNvPicPr>
          <p:nvPr/>
        </p:nvPicPr>
        <p:blipFill>
          <a:blip r:embed="rId7"/>
          <a:stretch>
            <a:fillRect/>
          </a:stretch>
        </p:blipFill>
        <p:spPr>
          <a:xfrm>
            <a:off x="4121137" y="4011295"/>
            <a:ext cx="1684891" cy="1018817"/>
          </a:xfrm>
          <a:prstGeom prst="rect">
            <a:avLst/>
          </a:prstGeom>
        </p:spPr>
      </p:pic>
      <p:pic>
        <p:nvPicPr>
          <p:cNvPr id="30" name="图片 29"/>
          <p:cNvPicPr>
            <a:picLocks noChangeAspect="1"/>
          </p:cNvPicPr>
          <p:nvPr/>
        </p:nvPicPr>
        <p:blipFill>
          <a:blip r:embed="rId8"/>
          <a:stretch>
            <a:fillRect/>
          </a:stretch>
        </p:blipFill>
        <p:spPr>
          <a:xfrm>
            <a:off x="2672485" y="5576570"/>
            <a:ext cx="1787163" cy="824555"/>
          </a:xfrm>
          <a:prstGeom prst="rect">
            <a:avLst/>
          </a:prstGeom>
        </p:spPr>
      </p:pic>
      <p:pic>
        <p:nvPicPr>
          <p:cNvPr id="31" name="图片 30"/>
          <p:cNvPicPr>
            <a:picLocks noChangeAspect="1"/>
          </p:cNvPicPr>
          <p:nvPr/>
        </p:nvPicPr>
        <p:blipFill>
          <a:blip r:embed="rId9"/>
          <a:stretch>
            <a:fillRect/>
          </a:stretch>
        </p:blipFill>
        <p:spPr>
          <a:xfrm>
            <a:off x="4620257" y="5465936"/>
            <a:ext cx="1684892" cy="926355"/>
          </a:xfrm>
          <a:prstGeom prst="rect">
            <a:avLst/>
          </a:prstGeom>
        </p:spPr>
      </p:pic>
      <p:pic>
        <p:nvPicPr>
          <p:cNvPr id="32" name="图片 31"/>
          <p:cNvPicPr>
            <a:picLocks noChangeAspect="1"/>
          </p:cNvPicPr>
          <p:nvPr/>
        </p:nvPicPr>
        <p:blipFill>
          <a:blip r:embed="rId10"/>
          <a:stretch>
            <a:fillRect/>
          </a:stretch>
        </p:blipFill>
        <p:spPr>
          <a:xfrm>
            <a:off x="498145" y="4742038"/>
            <a:ext cx="581707" cy="1841130"/>
          </a:xfrm>
          <a:prstGeom prst="rect">
            <a:avLst/>
          </a:prstGeom>
        </p:spPr>
      </p:pic>
      <p:pic>
        <p:nvPicPr>
          <p:cNvPr id="33" name="图片 32"/>
          <p:cNvPicPr>
            <a:picLocks noChangeAspect="1"/>
          </p:cNvPicPr>
          <p:nvPr/>
        </p:nvPicPr>
        <p:blipFill>
          <a:blip r:embed="rId11"/>
          <a:stretch>
            <a:fillRect/>
          </a:stretch>
        </p:blipFill>
        <p:spPr>
          <a:xfrm>
            <a:off x="513715" y="4023313"/>
            <a:ext cx="2056996" cy="581707"/>
          </a:xfrm>
          <a:prstGeom prst="rect">
            <a:avLst/>
          </a:prstGeom>
        </p:spPr>
      </p:pic>
      <p:pic>
        <p:nvPicPr>
          <p:cNvPr id="34" name="图片 33"/>
          <p:cNvPicPr>
            <a:picLocks noChangeAspect="1"/>
          </p:cNvPicPr>
          <p:nvPr/>
        </p:nvPicPr>
        <p:blipFill>
          <a:blip r:embed="rId12"/>
          <a:stretch>
            <a:fillRect/>
          </a:stretch>
        </p:blipFill>
        <p:spPr>
          <a:xfrm>
            <a:off x="2826386" y="4022726"/>
            <a:ext cx="1043558" cy="1009672"/>
          </a:xfrm>
          <a:prstGeom prst="rect">
            <a:avLst/>
          </a:prstGeom>
        </p:spPr>
      </p:pic>
      <p:pic>
        <p:nvPicPr>
          <p:cNvPr id="36" name="图片 35"/>
          <p:cNvPicPr>
            <a:picLocks noChangeAspect="1"/>
          </p:cNvPicPr>
          <p:nvPr/>
        </p:nvPicPr>
        <p:blipFill>
          <a:blip r:embed="rId13"/>
          <a:stretch>
            <a:fillRect/>
          </a:stretch>
        </p:blipFill>
        <p:spPr>
          <a:xfrm>
            <a:off x="1332509" y="4954170"/>
            <a:ext cx="1115095" cy="1389319"/>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8" name="Picture 7" descr="A long rectangular screen on a wall with a row of lights from the ceiling&#10;&#10;Description automatically generated"/>
          <p:cNvPicPr>
            <a:picLocks noChangeAspect="1"/>
          </p:cNvPicPr>
          <p:nvPr/>
        </p:nvPicPr>
        <p:blipFill>
          <a:blip r:embed="rId6">
            <a:alphaModFix amt="37000"/>
            <a:extLst>
              <a:ext uri="{28A0092B-C50C-407E-A947-70E740481C1C}">
                <a14:useLocalDpi xmlns:a14="http://schemas.microsoft.com/office/drawing/2010/main" val="0"/>
              </a:ext>
            </a:extLst>
          </a:blip>
          <a:stretch>
            <a:fillRect/>
          </a:stretch>
        </p:blipFill>
        <p:spPr>
          <a:xfrm>
            <a:off x="3962161" y="1935479"/>
            <a:ext cx="7930962" cy="3965481"/>
          </a:xfrm>
          <a:prstGeom prst="rect">
            <a:avLst/>
          </a:prstGeom>
        </p:spPr>
      </p:pic>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400" b="1" dirty="0">
                <a:solidFill>
                  <a:schemeClr val="lt1"/>
                </a:solidFill>
                <a:uFillTx/>
                <a:latin typeface="Montserrat" pitchFamily="2" charset="0"/>
                <a:ea typeface="微软雅黑" panose="020B0503020204020204" charset="-122"/>
                <a:sym typeface="Roboto"/>
              </a:rPr>
              <a:t>Why Choose Us:  2. High-Quality Video </a:t>
            </a:r>
            <a:r>
              <a:rPr lang="en-US" sz="2400" b="1" dirty="0" err="1">
                <a:solidFill>
                  <a:schemeClr val="lt1"/>
                </a:solidFill>
                <a:uFillTx/>
                <a:latin typeface="Montserrat" pitchFamily="2" charset="0"/>
                <a:ea typeface="微软雅黑" panose="020B0503020204020204" charset="-122"/>
                <a:sym typeface="Roboto"/>
              </a:rPr>
              <a:t>Performance</a:t>
            </a:r>
            <a:endParaRPr lang="en-US" sz="2400" b="1" dirty="0">
              <a:solidFill>
                <a:schemeClr val="lt1"/>
              </a:solidFill>
              <a:uFillTx/>
              <a:latin typeface="Montserrat" pitchFamily="2" charset="0"/>
              <a:ea typeface="微软雅黑" panose="020B0503020204020204" charset="-122"/>
              <a:sym typeface="Roboto"/>
            </a:endParaRPr>
          </a:p>
        </p:txBody>
      </p:sp>
      <p:pic>
        <p:nvPicPr>
          <p:cNvPr id="4"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3" name="文本框 4"/>
          <p:cNvSpPr txBox="1"/>
          <p:nvPr/>
        </p:nvSpPr>
        <p:spPr>
          <a:xfrm>
            <a:off x="427967" y="1101331"/>
            <a:ext cx="9508513" cy="717264"/>
          </a:xfrm>
          <a:prstGeom prst="rect">
            <a:avLst/>
          </a:prstGeom>
          <a:noFill/>
        </p:spPr>
        <p:txBody>
          <a:bodyPr wrap="square" rtlCol="0">
            <a:noAutofit/>
          </a:bodyPr>
          <a:lstStyle/>
          <a:p>
            <a:pPr indent="0" fontAlgn="auto">
              <a:buFont typeface="Wingdings" panose="05000000000000000000" charset="0"/>
              <a:buNone/>
            </a:pPr>
            <a:r>
              <a:rPr lang="en-US" sz="2000" b="1" dirty="0">
                <a:solidFill>
                  <a:schemeClr val="tx1">
                    <a:lumMod val="75000"/>
                    <a:lumOff val="25000"/>
                  </a:schemeClr>
                </a:solidFill>
                <a:latin typeface="Roboto" charset="0"/>
                <a:ea typeface="Roboto" charset="0"/>
                <a:cs typeface="Arial" panose="020B0604020202020204" pitchFamily="34" charset="0"/>
              </a:rPr>
              <a:t>Enjoy superior video quality with resolutions and features designed to elevate your display experience.</a:t>
            </a:r>
          </a:p>
        </p:txBody>
      </p:sp>
      <p:sp>
        <p:nvSpPr>
          <p:cNvPr id="24" name="Rectangle 23"/>
          <p:cNvSpPr/>
          <p:nvPr/>
        </p:nvSpPr>
        <p:spPr>
          <a:xfrm>
            <a:off x="658649" y="2555015"/>
            <a:ext cx="4591532" cy="1193826"/>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58648" y="4360954"/>
            <a:ext cx="4591533" cy="11330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05765" y="2235131"/>
            <a:ext cx="3983762"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504825" y="2272030"/>
            <a:ext cx="4417695"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Deliver High-Quality Video Performance</a:t>
            </a:r>
          </a:p>
        </p:txBody>
      </p:sp>
      <p:sp>
        <p:nvSpPr>
          <p:cNvPr id="28" name="Rectangle 27"/>
          <p:cNvSpPr/>
          <p:nvPr/>
        </p:nvSpPr>
        <p:spPr>
          <a:xfrm>
            <a:off x="6102909" y="2555015"/>
            <a:ext cx="3902151" cy="1493497"/>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949657" y="2228495"/>
            <a:ext cx="3301023"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850162" y="2798231"/>
            <a:ext cx="4293337"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Achieve stunning 4K resolution at 60Hz (4K@60Hz 4:4:4), perfect for displaying detailed information on large-format screens to create a more immersive experience.</a:t>
            </a:r>
          </a:p>
        </p:txBody>
      </p:sp>
      <p:sp>
        <p:nvSpPr>
          <p:cNvPr id="32" name="文本框 4"/>
          <p:cNvSpPr txBox="1"/>
          <p:nvPr/>
        </p:nvSpPr>
        <p:spPr>
          <a:xfrm>
            <a:off x="6077890" y="2280850"/>
            <a:ext cx="419387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Support Ultra-Wide Resolutions</a:t>
            </a:r>
          </a:p>
        </p:txBody>
      </p:sp>
      <p:sp>
        <p:nvSpPr>
          <p:cNvPr id="2" name="Rectangle 1"/>
          <p:cNvSpPr/>
          <p:nvPr/>
        </p:nvSpPr>
        <p:spPr>
          <a:xfrm>
            <a:off x="504608" y="4048511"/>
            <a:ext cx="3633052"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文本框 4"/>
          <p:cNvSpPr txBox="1"/>
          <p:nvPr/>
        </p:nvSpPr>
        <p:spPr>
          <a:xfrm>
            <a:off x="6333717" y="2760130"/>
            <a:ext cx="3808503" cy="1133689"/>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Enjoy ultra-wide resolutions, including 3840x600@60Hz and 5400x1920@30Hz, ideal for landscape-oriented video walls, making it suitable for a variety of applications.</a:t>
            </a:r>
          </a:p>
        </p:txBody>
      </p:sp>
      <p:sp>
        <p:nvSpPr>
          <p:cNvPr id="35" name="文本框 4"/>
          <p:cNvSpPr txBox="1"/>
          <p:nvPr/>
        </p:nvSpPr>
        <p:spPr>
          <a:xfrm>
            <a:off x="505460" y="4086225"/>
            <a:ext cx="4160520"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Efficient Multi-Display Management</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36" name="文本框 4"/>
          <p:cNvSpPr txBox="1"/>
          <p:nvPr/>
        </p:nvSpPr>
        <p:spPr>
          <a:xfrm>
            <a:off x="850162" y="4594226"/>
            <a:ext cx="4293337"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Easily manage and display content across multiple screens, ensuring a consistent and synchronized viewing experience across large display arrays.</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5" name="Picture 14" descr="A person sitting on a motorcycle&#10;&#10;Description automatically generated"/>
          <p:cNvPicPr>
            <a:picLocks noChangeAspect="1"/>
          </p:cNvPicPr>
          <p:nvPr/>
        </p:nvPicPr>
        <p:blipFill>
          <a:blip r:embed="rId6">
            <a:alphaModFix amt="22000"/>
            <a:extLst>
              <a:ext uri="{28A0092B-C50C-407E-A947-70E740481C1C}">
                <a14:useLocalDpi xmlns:a14="http://schemas.microsoft.com/office/drawing/2010/main" val="0"/>
              </a:ext>
            </a:extLst>
          </a:blip>
          <a:stretch>
            <a:fillRect/>
          </a:stretch>
        </p:blipFill>
        <p:spPr>
          <a:xfrm>
            <a:off x="3962161" y="1911078"/>
            <a:ext cx="7930961" cy="3965481"/>
          </a:xfrm>
          <a:prstGeom prst="rect">
            <a:avLst/>
          </a:prstGeom>
        </p:spPr>
      </p:pic>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400" b="1" dirty="0">
                <a:solidFill>
                  <a:schemeClr val="lt1"/>
                </a:solidFill>
                <a:uFillTx/>
                <a:latin typeface="Montserrat" pitchFamily="2" charset="0"/>
                <a:ea typeface="微软雅黑" panose="020B0503020204020204" charset="-122"/>
                <a:sym typeface="Roboto"/>
              </a:rPr>
              <a:t>Why Choose Us:  3. Easy Setup &amp; Versatile Control</a:t>
            </a:r>
          </a:p>
        </p:txBody>
      </p:sp>
      <p:sp>
        <p:nvSpPr>
          <p:cNvPr id="24" name="Rectangle 23"/>
          <p:cNvSpPr/>
          <p:nvPr/>
        </p:nvSpPr>
        <p:spPr>
          <a:xfrm>
            <a:off x="696749" y="2500344"/>
            <a:ext cx="4553432" cy="1179132"/>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96748" y="4290198"/>
            <a:ext cx="4553433" cy="1310502"/>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3" name="Rectangle 2"/>
          <p:cNvSpPr/>
          <p:nvPr/>
        </p:nvSpPr>
        <p:spPr>
          <a:xfrm>
            <a:off x="528625" y="2219891"/>
            <a:ext cx="2550085"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4"/>
          <p:cNvSpPr txBox="1"/>
          <p:nvPr/>
        </p:nvSpPr>
        <p:spPr>
          <a:xfrm>
            <a:off x="573405" y="2265680"/>
            <a:ext cx="3030855"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Plug &amp; Play Functionality</a:t>
            </a:r>
          </a:p>
        </p:txBody>
      </p:sp>
      <p:sp>
        <p:nvSpPr>
          <p:cNvPr id="26" name="Rectangle 25"/>
          <p:cNvSpPr/>
          <p:nvPr/>
        </p:nvSpPr>
        <p:spPr>
          <a:xfrm>
            <a:off x="6019089" y="2514600"/>
            <a:ext cx="4791557" cy="1164876"/>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4"/>
          <p:cNvSpPr txBox="1"/>
          <p:nvPr/>
        </p:nvSpPr>
        <p:spPr>
          <a:xfrm>
            <a:off x="865402" y="2767751"/>
            <a:ext cx="4270477" cy="729829"/>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Connect effortlessly with Plug-and-Play capability, eliminating the need for additional software or complex configurations.</a:t>
            </a:r>
          </a:p>
        </p:txBody>
      </p:sp>
      <p:sp>
        <p:nvSpPr>
          <p:cNvPr id="12" name="Rectangle 11"/>
          <p:cNvSpPr/>
          <p:nvPr/>
        </p:nvSpPr>
        <p:spPr>
          <a:xfrm>
            <a:off x="5842635" y="2219891"/>
            <a:ext cx="2021205"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4"/>
          <p:cNvSpPr txBox="1"/>
          <p:nvPr/>
        </p:nvSpPr>
        <p:spPr>
          <a:xfrm>
            <a:off x="5932805" y="2265680"/>
            <a:ext cx="2207260" cy="32321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Control with Ease</a:t>
            </a:r>
          </a:p>
        </p:txBody>
      </p:sp>
      <p:sp>
        <p:nvSpPr>
          <p:cNvPr id="14" name="文本框 4"/>
          <p:cNvSpPr txBox="1"/>
          <p:nvPr/>
        </p:nvSpPr>
        <p:spPr>
          <a:xfrm>
            <a:off x="6173697" y="2760131"/>
            <a:ext cx="4535679" cy="750485"/>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Use multiple control options, including a user-friendly web interface and RS-232 for centralized control, ensuring efficient management of your video wall.</a:t>
            </a:r>
          </a:p>
        </p:txBody>
      </p:sp>
      <p:sp>
        <p:nvSpPr>
          <p:cNvPr id="16" name="Rectangle 15"/>
          <p:cNvSpPr/>
          <p:nvPr/>
        </p:nvSpPr>
        <p:spPr>
          <a:xfrm>
            <a:off x="528625" y="3960641"/>
            <a:ext cx="2550085"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4"/>
          <p:cNvSpPr txBox="1"/>
          <p:nvPr/>
        </p:nvSpPr>
        <p:spPr>
          <a:xfrm>
            <a:off x="596240" y="4013980"/>
            <a:ext cx="300802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Flexible Remote Access</a:t>
            </a:r>
          </a:p>
        </p:txBody>
      </p:sp>
      <p:sp>
        <p:nvSpPr>
          <p:cNvPr id="18" name="文本框 4"/>
          <p:cNvSpPr txBox="1"/>
          <p:nvPr/>
        </p:nvSpPr>
        <p:spPr>
          <a:xfrm>
            <a:off x="873022" y="4500246"/>
            <a:ext cx="4171417"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Manage and control your display system remotely, providing convenience and flexibility for administrators to adjust settings and monitor performance from anywhere.</a:t>
            </a:r>
          </a:p>
          <a:p>
            <a:pPr indent="0" fontAlgn="auto">
              <a:buFont typeface="Wingdings" panose="05000000000000000000" charset="0"/>
              <a:buNone/>
            </a:pP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23" name="文本框 4"/>
          <p:cNvSpPr txBox="1"/>
          <p:nvPr/>
        </p:nvSpPr>
        <p:spPr>
          <a:xfrm>
            <a:off x="411434" y="1101243"/>
            <a:ext cx="10610361" cy="717264"/>
          </a:xfrm>
          <a:prstGeom prst="rect">
            <a:avLst/>
          </a:prstGeom>
          <a:noFill/>
        </p:spPr>
        <p:txBody>
          <a:bodyPr wrap="square" rtlCol="0">
            <a:noAutofit/>
          </a:bodyPr>
          <a:lstStyle/>
          <a:p>
            <a:pPr indent="0" fontAlgn="auto">
              <a:buFont typeface="Wingdings" panose="05000000000000000000" charset="0"/>
              <a:buNone/>
            </a:pPr>
            <a:r>
              <a:rPr lang="en-US" sz="2000" b="1" dirty="0">
                <a:solidFill>
                  <a:schemeClr val="tx1">
                    <a:lumMod val="75000"/>
                    <a:lumOff val="25000"/>
                  </a:schemeClr>
                </a:solidFill>
                <a:latin typeface="Roboto" charset="0"/>
                <a:ea typeface="Roboto" charset="0"/>
                <a:cs typeface="Arial" panose="020B0604020202020204" pitchFamily="34" charset="0"/>
              </a:rPr>
              <a:t>Enjoy seamless integration and effortless control, making setup and operation hassle-free for any professional environment.</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644464" y="1083565"/>
            <a:ext cx="7108885" cy="2627585"/>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Interface of the Product</a:t>
            </a:r>
          </a:p>
        </p:txBody>
      </p:sp>
      <p:sp>
        <p:nvSpPr>
          <p:cNvPr id="4" name="文本框 3"/>
          <p:cNvSpPr txBox="1"/>
          <p:nvPr/>
        </p:nvSpPr>
        <p:spPr>
          <a:xfrm>
            <a:off x="8169275" y="1910715"/>
            <a:ext cx="3678128" cy="4606925"/>
          </a:xfrm>
          <a:prstGeom prst="rect">
            <a:avLst/>
          </a:prstGeom>
          <a:noFill/>
        </p:spPr>
        <p:txBody>
          <a:bodyPr wrap="square" rtlCol="0">
            <a:noAutofit/>
          </a:bodyPr>
          <a:lstStyle/>
          <a:p>
            <a:pPr>
              <a:lnSpc>
                <a:spcPts val="1800"/>
              </a:lnSpc>
            </a:pPr>
            <a:r>
              <a:rPr lang="en-US" sz="1800"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7 HDMI OUT Ports</a:t>
            </a:r>
          </a:p>
          <a:p>
            <a:pPr>
              <a:lnSpc>
                <a:spcPts val="400"/>
              </a:lnSpc>
            </a:pPr>
            <a:r>
              <a:rPr lang="en-US" b="1" dirty="0">
                <a:ln w="3175">
                  <a:noFill/>
                  <a:prstDash val="dash"/>
                </a:ln>
                <a:solidFill>
                  <a:schemeClr val="tx1">
                    <a:lumMod val="85000"/>
                    <a:lumOff val="15000"/>
                  </a:schemeClr>
                </a:solidFill>
                <a:latin typeface="Roboto" charset="0"/>
                <a:ea typeface="Roboto" charset="0"/>
                <a:cs typeface="Arial" panose="020B0604020202020204" pitchFamily="34" charset="0"/>
                <a:sym typeface="+mn-ea"/>
              </a:rPr>
              <a:t> </a:t>
            </a:r>
            <a:endParaRPr lang="en-US" sz="1800"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endParaRPr>
          </a:p>
          <a:p>
            <a:pPr>
              <a:lnSpc>
                <a:spcPts val="1800"/>
              </a:lnSpc>
            </a:pPr>
            <a:r>
              <a:rPr lang="en-US" sz="1500"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Ensure seamless connection to multiple displays, including 1 loop-out port for monitoring or cascading setups.</a:t>
            </a:r>
          </a:p>
          <a:p>
            <a:endParaRPr lang="en-US"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endParaRPr>
          </a:p>
          <a:p>
            <a:r>
              <a:rPr lang="en-US"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Flexible Control</a:t>
            </a:r>
          </a:p>
          <a:p>
            <a:pPr>
              <a:lnSpc>
                <a:spcPts val="400"/>
              </a:lnSpc>
            </a:pPr>
            <a:r>
              <a:rPr lang="en-US" b="1" dirty="0">
                <a:ln w="3175">
                  <a:noFill/>
                  <a:prstDash val="dash"/>
                </a:ln>
                <a:solidFill>
                  <a:schemeClr val="tx1">
                    <a:lumMod val="85000"/>
                    <a:lumOff val="15000"/>
                  </a:schemeClr>
                </a:solidFill>
                <a:latin typeface="Roboto" charset="0"/>
                <a:ea typeface="Roboto" charset="0"/>
                <a:cs typeface="Arial" panose="020B0604020202020204" pitchFamily="34" charset="0"/>
                <a:sym typeface="+mn-ea"/>
              </a:rPr>
              <a:t> </a:t>
            </a:r>
            <a:endParaRPr lang="en-US" sz="1800"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endParaRPr>
          </a:p>
          <a:p>
            <a:pPr>
              <a:lnSpc>
                <a:spcPts val="1800"/>
              </a:lnSpc>
            </a:pPr>
            <a:r>
              <a:rPr lang="en-US" sz="1500"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Operate effortlessly via front panel buttons, RS232, or LAN with support for Telnet API and a web-based interface.</a:t>
            </a:r>
          </a:p>
          <a:p>
            <a:endParaRPr lang="en-US"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endParaRPr>
          </a:p>
          <a:p>
            <a:r>
              <a:rPr lang="en-US"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Audio Output Options</a:t>
            </a:r>
          </a:p>
          <a:p>
            <a:pPr>
              <a:lnSpc>
                <a:spcPts val="400"/>
              </a:lnSpc>
            </a:pPr>
            <a:r>
              <a:rPr lang="en-US" b="1" dirty="0">
                <a:ln w="3175">
                  <a:noFill/>
                  <a:prstDash val="dash"/>
                </a:ln>
                <a:solidFill>
                  <a:schemeClr val="tx1">
                    <a:lumMod val="85000"/>
                    <a:lumOff val="15000"/>
                  </a:schemeClr>
                </a:solidFill>
                <a:latin typeface="Roboto" charset="0"/>
                <a:ea typeface="Roboto" charset="0"/>
                <a:cs typeface="Arial" panose="020B0604020202020204" pitchFamily="34" charset="0"/>
                <a:sym typeface="+mn-ea"/>
              </a:rPr>
              <a:t> </a:t>
            </a:r>
            <a:endParaRPr lang="en-US" sz="1800" b="1"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endParaRPr>
          </a:p>
          <a:p>
            <a:pPr>
              <a:lnSpc>
                <a:spcPts val="1800"/>
              </a:lnSpc>
            </a:pPr>
            <a:r>
              <a:rPr lang="en-US" sz="1500" dirty="0">
                <a:ln w="3175">
                  <a:noFill/>
                  <a:prstDash val="dash"/>
                </a:ln>
                <a:solidFill>
                  <a:schemeClr val="tx1">
                    <a:lumMod val="85000"/>
                    <a:lumOff val="15000"/>
                  </a:schemeClr>
                </a:solidFill>
                <a:uFillTx/>
                <a:latin typeface="Roboto" charset="0"/>
                <a:ea typeface="Roboto" charset="0"/>
                <a:cs typeface="Arial" panose="020B0604020202020204" pitchFamily="34" charset="0"/>
                <a:sym typeface="+mn-ea"/>
              </a:rPr>
              <a:t>Deliver high-quality sound with PCM 2.0 support on HDMI IN/OUT and stereo audio via the dedicated AUDIO OUT port.</a:t>
            </a:r>
          </a:p>
        </p:txBody>
      </p:sp>
      <p:sp>
        <p:nvSpPr>
          <p:cNvPr id="9" name="文本框 8"/>
          <p:cNvSpPr txBox="1"/>
          <p:nvPr/>
        </p:nvSpPr>
        <p:spPr>
          <a:xfrm>
            <a:off x="6608762" y="1157767"/>
            <a:ext cx="1986280" cy="307777"/>
          </a:xfrm>
          <a:prstGeom prst="rect">
            <a:avLst/>
          </a:prstGeom>
          <a:noFill/>
        </p:spPr>
        <p:txBody>
          <a:bodyPr wrap="square" rtlCol="0">
            <a:spAutoFit/>
          </a:bodyPr>
          <a:lstStyle/>
          <a:p>
            <a:r>
              <a:rPr lang="en-US" altLang="zh-CN" sz="1400" b="1" dirty="0">
                <a:latin typeface="Roboto" charset="0"/>
                <a:cs typeface="Roboto" charset="0"/>
              </a:rPr>
              <a:t>Front Panel</a:t>
            </a:r>
          </a:p>
        </p:txBody>
      </p:sp>
      <p:sp>
        <p:nvSpPr>
          <p:cNvPr id="15" name="文本框 8"/>
          <p:cNvSpPr txBox="1"/>
          <p:nvPr/>
        </p:nvSpPr>
        <p:spPr>
          <a:xfrm>
            <a:off x="8161912" y="1349615"/>
            <a:ext cx="1986280" cy="430887"/>
          </a:xfrm>
          <a:prstGeom prst="rect">
            <a:avLst/>
          </a:prstGeom>
          <a:noFill/>
        </p:spPr>
        <p:txBody>
          <a:bodyPr wrap="square" rtlCol="0">
            <a:spAutoFit/>
          </a:bodyPr>
          <a:lstStyle/>
          <a:p>
            <a:r>
              <a:rPr lang="en-US" altLang="zh-CN" sz="2200" b="1" u="sng" dirty="0">
                <a:latin typeface="Roboto" charset="0"/>
                <a:cs typeface="Roboto" charset="0"/>
              </a:rPr>
              <a:t>Featuring:</a:t>
            </a:r>
          </a:p>
        </p:txBody>
      </p:sp>
      <p:pic>
        <p:nvPicPr>
          <p:cNvPr id="16"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5" name="Rectangle 4"/>
          <p:cNvSpPr/>
          <p:nvPr/>
        </p:nvSpPr>
        <p:spPr>
          <a:xfrm>
            <a:off x="644464" y="3882431"/>
            <a:ext cx="7108885" cy="2818087"/>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p:cNvSpPr txBox="1"/>
          <p:nvPr/>
        </p:nvSpPr>
        <p:spPr>
          <a:xfrm>
            <a:off x="6666547" y="3965999"/>
            <a:ext cx="1851660" cy="307777"/>
          </a:xfrm>
          <a:prstGeom prst="rect">
            <a:avLst/>
          </a:prstGeom>
          <a:noFill/>
        </p:spPr>
        <p:txBody>
          <a:bodyPr wrap="square" rtlCol="0" anchor="t">
            <a:spAutoFit/>
          </a:bodyPr>
          <a:lstStyle/>
          <a:p>
            <a:r>
              <a:rPr lang="en-US" altLang="zh-CN" sz="1400" b="1" dirty="0">
                <a:latin typeface="Roboto" charset="0"/>
                <a:cs typeface="Roboto" charset="0"/>
                <a:sym typeface="+mn-ea"/>
              </a:rPr>
              <a:t>Rear Panel</a:t>
            </a:r>
          </a:p>
        </p:txBody>
      </p:sp>
      <p:pic>
        <p:nvPicPr>
          <p:cNvPr id="8" name="图片 7" descr="SW-0206-VW_FrntTilt_Rndr"/>
          <p:cNvPicPr>
            <a:picLocks noChangeAspect="1"/>
          </p:cNvPicPr>
          <p:nvPr/>
        </p:nvPicPr>
        <p:blipFill>
          <a:blip r:embed="rId8"/>
          <a:stretch>
            <a:fillRect/>
          </a:stretch>
        </p:blipFill>
        <p:spPr>
          <a:xfrm>
            <a:off x="995680" y="1042670"/>
            <a:ext cx="6452235" cy="3629025"/>
          </a:xfrm>
          <a:prstGeom prst="rect">
            <a:avLst/>
          </a:prstGeom>
        </p:spPr>
      </p:pic>
      <p:cxnSp>
        <p:nvCxnSpPr>
          <p:cNvPr id="35" name="直接连接符 34"/>
          <p:cNvCxnSpPr/>
          <p:nvPr/>
        </p:nvCxnSpPr>
        <p:spPr>
          <a:xfrm>
            <a:off x="6430963" y="2107883"/>
            <a:ext cx="0" cy="833119"/>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39" name="圆角矩形 38"/>
          <p:cNvSpPr/>
          <p:nvPr/>
        </p:nvSpPr>
        <p:spPr>
          <a:xfrm>
            <a:off x="6272523" y="2940686"/>
            <a:ext cx="310837" cy="278766"/>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96082" y="1766795"/>
            <a:ext cx="1218602" cy="400110"/>
          </a:xfrm>
          <a:prstGeom prst="rect">
            <a:avLst/>
          </a:prstGeom>
          <a:noFill/>
        </p:spPr>
        <p:txBody>
          <a:bodyPr wrap="none" rtlCol="0" anchor="t">
            <a:spAutoFit/>
          </a:bodyPr>
          <a:lstStyle/>
          <a:p>
            <a:pPr indent="0" algn="ctr">
              <a:lnSpc>
                <a:spcPts val="1200"/>
              </a:lnSpc>
              <a:buFont typeface="Arial" panose="020B0604020202020204" pitchFamily="34" charset="0"/>
              <a:buNone/>
            </a:pPr>
            <a:r>
              <a:rPr lang="en-US" altLang="zh-CN" sz="1200" b="1" dirty="0">
                <a:latin typeface="Roboto" charset="0"/>
                <a:ea typeface="Roboto" charset="0"/>
                <a:cs typeface="Calibri" panose="020F0502020204030204" charset="0"/>
                <a:sym typeface="+mn-ea"/>
              </a:rPr>
              <a:t>INPUT SELECT</a:t>
            </a:r>
          </a:p>
          <a:p>
            <a:pPr indent="0" algn="ctr">
              <a:lnSpc>
                <a:spcPts val="1200"/>
              </a:lnSpc>
              <a:buFont typeface="Arial" panose="020B0604020202020204" pitchFamily="34" charset="0"/>
              <a:buNone/>
            </a:pPr>
            <a:r>
              <a:rPr lang="en-US" altLang="zh-CN" sz="1200" b="1" dirty="0">
                <a:latin typeface="Roboto" charset="0"/>
                <a:ea typeface="Roboto" charset="0"/>
                <a:cs typeface="Calibri" panose="020F0502020204030204" charset="0"/>
                <a:sym typeface="+mn-ea"/>
              </a:rPr>
              <a:t>Button</a:t>
            </a:r>
            <a:endParaRPr lang="zh-CN" altLang="en-US" sz="1200" dirty="0">
              <a:latin typeface="Roboto" charset="0"/>
              <a:cs typeface="Calibri" panose="020F0502020204030204" charset="0"/>
            </a:endParaRPr>
          </a:p>
        </p:txBody>
      </p:sp>
      <p:sp>
        <p:nvSpPr>
          <p:cNvPr id="79" name="文本框 78"/>
          <p:cNvSpPr txBox="1"/>
          <p:nvPr/>
        </p:nvSpPr>
        <p:spPr>
          <a:xfrm>
            <a:off x="6107964" y="1676405"/>
            <a:ext cx="644727" cy="430887"/>
          </a:xfrm>
          <a:prstGeom prst="rect">
            <a:avLst/>
          </a:prstGeom>
          <a:noFill/>
        </p:spPr>
        <p:txBody>
          <a:bodyPr wrap="none" rtlCol="0" anchor="t">
            <a:spAutoFit/>
          </a:bodyPr>
          <a:lstStyle/>
          <a:p>
            <a:pPr algn="ctr">
              <a:buClrTx/>
              <a:buSzTx/>
              <a:buFont typeface="Arial" panose="020B0604020202020204" pitchFamily="34" charset="0"/>
              <a:buNone/>
            </a:pPr>
            <a:r>
              <a:rPr lang="en-US" altLang="zh-CN" sz="1200" b="1" dirty="0">
                <a:latin typeface="Roboto" charset="0"/>
                <a:ea typeface="Roboto" charset="0"/>
                <a:cs typeface="Calibri" panose="020F0502020204030204" charset="0"/>
                <a:sym typeface="+mn-ea"/>
              </a:rPr>
              <a:t>LOCK</a:t>
            </a:r>
          </a:p>
          <a:p>
            <a:pPr algn="ctr">
              <a:lnSpc>
                <a:spcPts val="1200"/>
              </a:lnSpc>
              <a:buClrTx/>
              <a:buSzTx/>
              <a:buFont typeface="Arial" panose="020B0604020202020204" pitchFamily="34" charset="0"/>
              <a:buNone/>
            </a:pPr>
            <a:r>
              <a:rPr lang="en-US" altLang="zh-CN" sz="1200" b="1" dirty="0">
                <a:latin typeface="Roboto" charset="0"/>
                <a:ea typeface="Roboto" charset="0"/>
                <a:cs typeface="Calibri" panose="020F0502020204030204" charset="0"/>
                <a:sym typeface="+mn-ea"/>
              </a:rPr>
              <a:t>Button</a:t>
            </a:r>
            <a:endParaRPr lang="en-US" altLang="zh-CN" sz="1200" b="1" dirty="0">
              <a:latin typeface="Roboto" charset="0"/>
              <a:ea typeface="Roboto" charset="0"/>
              <a:cs typeface="Calibri" panose="020F0502020204030204" charset="0"/>
            </a:endParaRPr>
          </a:p>
        </p:txBody>
      </p:sp>
      <p:sp>
        <p:nvSpPr>
          <p:cNvPr id="80" name="文本框 79"/>
          <p:cNvSpPr txBox="1"/>
          <p:nvPr/>
        </p:nvSpPr>
        <p:spPr>
          <a:xfrm>
            <a:off x="3013075" y="1322775"/>
            <a:ext cx="1353256" cy="430887"/>
          </a:xfrm>
          <a:prstGeom prst="rect">
            <a:avLst/>
          </a:prstGeom>
          <a:noFill/>
        </p:spPr>
        <p:txBody>
          <a:bodyPr wrap="none" rtlCol="0" anchor="t">
            <a:spAutoFit/>
          </a:bodyPr>
          <a:lstStyle/>
          <a:p>
            <a:pPr indent="0" algn="ctr">
              <a:buFont typeface="Arial" panose="020B0604020202020204" pitchFamily="34" charset="0"/>
              <a:buNone/>
            </a:pPr>
            <a:r>
              <a:rPr lang="en-US" altLang="zh-CN" sz="1200" b="1" dirty="0">
                <a:latin typeface="Roboto" charset="0"/>
                <a:ea typeface="Roboto" charset="0"/>
                <a:cs typeface="Calibri" panose="020F0502020204030204" charset="0"/>
                <a:sym typeface="+mn-ea"/>
              </a:rPr>
              <a:t>LAYOUT SELECT</a:t>
            </a:r>
          </a:p>
          <a:p>
            <a:pPr indent="0" algn="ctr">
              <a:lnSpc>
                <a:spcPts val="1200"/>
              </a:lnSpc>
              <a:buFont typeface="Arial" panose="020B0604020202020204" pitchFamily="34" charset="0"/>
              <a:buNone/>
            </a:pPr>
            <a:r>
              <a:rPr lang="en-US" altLang="zh-CN" sz="1200" b="1" dirty="0">
                <a:latin typeface="Roboto" charset="0"/>
                <a:ea typeface="Roboto" charset="0"/>
                <a:cs typeface="Calibri" panose="020F0502020204030204" charset="0"/>
                <a:sym typeface="+mn-ea"/>
              </a:rPr>
              <a:t>Button</a:t>
            </a:r>
            <a:endParaRPr lang="en-US" altLang="zh-CN" sz="1200" b="1" dirty="0">
              <a:latin typeface="Roboto" charset="0"/>
              <a:ea typeface="Roboto" charset="0"/>
              <a:cs typeface="Calibri" panose="020F0502020204030204" charset="0"/>
            </a:endParaRPr>
          </a:p>
        </p:txBody>
      </p:sp>
      <p:pic>
        <p:nvPicPr>
          <p:cNvPr id="18" name="图片 17" descr="SW-0206-VW_RearTilt_Rndr"/>
          <p:cNvPicPr>
            <a:picLocks noChangeAspect="1"/>
          </p:cNvPicPr>
          <p:nvPr/>
        </p:nvPicPr>
        <p:blipFill>
          <a:blip r:embed="rId9"/>
          <a:stretch>
            <a:fillRect/>
          </a:stretch>
        </p:blipFill>
        <p:spPr>
          <a:xfrm>
            <a:off x="989330" y="3315970"/>
            <a:ext cx="6455410" cy="3630930"/>
          </a:xfrm>
          <a:prstGeom prst="rect">
            <a:avLst/>
          </a:prstGeom>
        </p:spPr>
      </p:pic>
      <p:sp>
        <p:nvSpPr>
          <p:cNvPr id="23" name="圆角矩形 22"/>
          <p:cNvSpPr/>
          <p:nvPr/>
        </p:nvSpPr>
        <p:spPr>
          <a:xfrm>
            <a:off x="5601336" y="5247004"/>
            <a:ext cx="368936" cy="232411"/>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4" name="圆角矩形 23"/>
          <p:cNvSpPr/>
          <p:nvPr/>
        </p:nvSpPr>
        <p:spPr>
          <a:xfrm>
            <a:off x="6329681" y="5151755"/>
            <a:ext cx="321956" cy="330835"/>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文本框 25"/>
          <p:cNvSpPr txBox="1"/>
          <p:nvPr/>
        </p:nvSpPr>
        <p:spPr>
          <a:xfrm>
            <a:off x="1633153" y="6112723"/>
            <a:ext cx="1324402" cy="261610"/>
          </a:xfrm>
          <a:prstGeom prst="rect">
            <a:avLst/>
          </a:prstGeom>
          <a:noFill/>
        </p:spPr>
        <p:txBody>
          <a:bodyPr wrap="none" rtlCol="0" anchor="t">
            <a:spAutoFit/>
          </a:bodyPr>
          <a:lstStyle/>
          <a:p>
            <a:pPr algn="ctr">
              <a:buClrTx/>
              <a:buSzTx/>
              <a:buFont typeface="Arial" panose="020B0604020202020204" pitchFamily="34" charset="0"/>
              <a:buNone/>
            </a:pPr>
            <a:r>
              <a:rPr lang="en-US" altLang="zh-CN" sz="1100" b="1" dirty="0">
                <a:latin typeface="Roboto" charset="0"/>
                <a:ea typeface="Roboto" charset="0"/>
                <a:cs typeface="Calibri" panose="020F0502020204030204" charset="0"/>
                <a:sym typeface="+mn-ea"/>
              </a:rPr>
              <a:t>HDMI Inputs (1-2)</a:t>
            </a:r>
            <a:endParaRPr lang="en-US" altLang="zh-CN" sz="1100" b="1" dirty="0">
              <a:latin typeface="Roboto" charset="0"/>
              <a:ea typeface="Roboto" charset="0"/>
              <a:cs typeface="Calibri" panose="020F0502020204030204" charset="0"/>
            </a:endParaRPr>
          </a:p>
        </p:txBody>
      </p:sp>
      <p:sp>
        <p:nvSpPr>
          <p:cNvPr id="27" name="文本框 26"/>
          <p:cNvSpPr txBox="1"/>
          <p:nvPr/>
        </p:nvSpPr>
        <p:spPr>
          <a:xfrm>
            <a:off x="2475506" y="5737225"/>
            <a:ext cx="861133" cy="261610"/>
          </a:xfrm>
          <a:prstGeom prst="rect">
            <a:avLst/>
          </a:prstGeom>
          <a:noFill/>
        </p:spPr>
        <p:txBody>
          <a:bodyPr wrap="none" rtlCol="0" anchor="t">
            <a:spAutoFit/>
          </a:bodyPr>
          <a:lstStyle/>
          <a:p>
            <a:pPr algn="ctr">
              <a:buClrTx/>
              <a:buSzTx/>
              <a:buFont typeface="Arial" panose="020B0604020202020204" pitchFamily="34" charset="0"/>
              <a:buNone/>
            </a:pPr>
            <a:r>
              <a:rPr lang="en-US" altLang="zh-CN" sz="1100" b="1" dirty="0">
                <a:latin typeface="Roboto" charset="0"/>
                <a:ea typeface="Roboto" charset="0"/>
                <a:cs typeface="Calibri" panose="020F0502020204030204" charset="0"/>
                <a:sym typeface="+mn-ea"/>
              </a:rPr>
              <a:t>LOOP OUT</a:t>
            </a:r>
            <a:endParaRPr lang="en-US" altLang="zh-CN" sz="1100" b="1" dirty="0">
              <a:latin typeface="Roboto" charset="0"/>
              <a:ea typeface="Roboto" charset="0"/>
              <a:cs typeface="Calibri" panose="020F0502020204030204" charset="0"/>
            </a:endParaRPr>
          </a:p>
        </p:txBody>
      </p:sp>
      <p:sp>
        <p:nvSpPr>
          <p:cNvPr id="28" name="文本框 27"/>
          <p:cNvSpPr txBox="1"/>
          <p:nvPr/>
        </p:nvSpPr>
        <p:spPr>
          <a:xfrm>
            <a:off x="3597583" y="6113393"/>
            <a:ext cx="1428597" cy="261610"/>
          </a:xfrm>
          <a:prstGeom prst="rect">
            <a:avLst/>
          </a:prstGeom>
          <a:noFill/>
        </p:spPr>
        <p:txBody>
          <a:bodyPr wrap="none" rtlCol="0" anchor="t">
            <a:spAutoFit/>
          </a:bodyPr>
          <a:lstStyle/>
          <a:p>
            <a:pPr algn="ctr">
              <a:buFont typeface="Arial" panose="020B0604020202020204" pitchFamily="34" charset="0"/>
            </a:pPr>
            <a:r>
              <a:rPr lang="en-US" altLang="zh-CN" sz="1100" b="1" dirty="0">
                <a:solidFill>
                  <a:sysClr val="windowText" lastClr="000000"/>
                </a:solidFill>
                <a:latin typeface="Roboto" charset="0"/>
                <a:ea typeface="Roboto" charset="0"/>
                <a:cs typeface="+mj-lt"/>
                <a:sym typeface="+mn-ea"/>
              </a:rPr>
              <a:t>HDMI Outputs (1-6)</a:t>
            </a:r>
            <a:endParaRPr lang="zh-CN" altLang="en-US" dirty="0">
              <a:latin typeface="Roboto" charset="0"/>
              <a:cs typeface="+mj-lt"/>
            </a:endParaRPr>
          </a:p>
        </p:txBody>
      </p:sp>
      <p:sp>
        <p:nvSpPr>
          <p:cNvPr id="76" name="文本框 75"/>
          <p:cNvSpPr txBox="1"/>
          <p:nvPr/>
        </p:nvSpPr>
        <p:spPr>
          <a:xfrm>
            <a:off x="5324201" y="6116568"/>
            <a:ext cx="915635" cy="261610"/>
          </a:xfrm>
          <a:prstGeom prst="rect">
            <a:avLst/>
          </a:prstGeom>
          <a:noFill/>
        </p:spPr>
        <p:txBody>
          <a:bodyPr wrap="none" rtlCol="0" anchor="t">
            <a:spAutoFit/>
          </a:bodyPr>
          <a:lstStyle/>
          <a:p>
            <a:pPr indent="0" algn="ctr">
              <a:buFont typeface="Arial" panose="020B0604020202020204" pitchFamily="34" charset="0"/>
              <a:buNone/>
            </a:pPr>
            <a:r>
              <a:rPr lang="en-US" altLang="zh-CN" sz="1100" b="1" dirty="0">
                <a:latin typeface="Roboto" charset="0"/>
                <a:ea typeface="Roboto" charset="0"/>
                <a:cs typeface="Calibri" panose="020F0502020204030204" charset="0"/>
                <a:sym typeface="+mn-ea"/>
              </a:rPr>
              <a:t>AUDIO OUT</a:t>
            </a:r>
            <a:endParaRPr lang="zh-CN" altLang="en-US" sz="1100" dirty="0">
              <a:latin typeface="Roboto" charset="0"/>
            </a:endParaRPr>
          </a:p>
        </p:txBody>
      </p:sp>
      <p:sp>
        <p:nvSpPr>
          <p:cNvPr id="77" name="文本框 76"/>
          <p:cNvSpPr txBox="1"/>
          <p:nvPr/>
        </p:nvSpPr>
        <p:spPr>
          <a:xfrm>
            <a:off x="5846711" y="5775644"/>
            <a:ext cx="601448" cy="261610"/>
          </a:xfrm>
          <a:prstGeom prst="rect">
            <a:avLst/>
          </a:prstGeom>
          <a:noFill/>
        </p:spPr>
        <p:txBody>
          <a:bodyPr wrap="none" rtlCol="0" anchor="t">
            <a:spAutoFit/>
          </a:bodyPr>
          <a:lstStyle/>
          <a:p>
            <a:pPr indent="0" algn="ctr">
              <a:buFont typeface="Arial" panose="020B0604020202020204" pitchFamily="34" charset="0"/>
              <a:buNone/>
            </a:pPr>
            <a:r>
              <a:rPr lang="en-US" altLang="zh-CN" sz="1100" b="1" dirty="0">
                <a:solidFill>
                  <a:sysClr val="windowText" lastClr="000000"/>
                </a:solidFill>
                <a:latin typeface="Roboto" charset="0"/>
                <a:ea typeface="Roboto" charset="0"/>
                <a:cs typeface="+mj-lt"/>
                <a:sym typeface="+mn-ea"/>
              </a:rPr>
              <a:t>RS232</a:t>
            </a:r>
            <a:endParaRPr lang="zh-CN" altLang="en-US" dirty="0">
              <a:latin typeface="Roboto" charset="0"/>
            </a:endParaRPr>
          </a:p>
        </p:txBody>
      </p:sp>
      <p:sp>
        <p:nvSpPr>
          <p:cNvPr id="29" name="圆角矩形 28"/>
          <p:cNvSpPr/>
          <p:nvPr/>
        </p:nvSpPr>
        <p:spPr>
          <a:xfrm>
            <a:off x="3134360" y="5268595"/>
            <a:ext cx="2369185" cy="208914"/>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34"/>
          <p:cNvCxnSpPr/>
          <p:nvPr/>
        </p:nvCxnSpPr>
        <p:spPr>
          <a:xfrm>
            <a:off x="3675371" y="1757299"/>
            <a:ext cx="0" cy="1183697"/>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12" name="圆角矩形 38"/>
          <p:cNvSpPr/>
          <p:nvPr/>
        </p:nvSpPr>
        <p:spPr>
          <a:xfrm>
            <a:off x="3478826" y="2940680"/>
            <a:ext cx="377835" cy="278766"/>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34"/>
          <p:cNvCxnSpPr/>
          <p:nvPr/>
        </p:nvCxnSpPr>
        <p:spPr>
          <a:xfrm>
            <a:off x="2603800" y="2171668"/>
            <a:ext cx="0" cy="769320"/>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14" name="圆角矩形 38"/>
          <p:cNvSpPr/>
          <p:nvPr/>
        </p:nvSpPr>
        <p:spPr>
          <a:xfrm>
            <a:off x="2406940" y="2940672"/>
            <a:ext cx="377835" cy="278766"/>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34"/>
          <p:cNvCxnSpPr/>
          <p:nvPr/>
        </p:nvCxnSpPr>
        <p:spPr>
          <a:xfrm flipV="1">
            <a:off x="4323070" y="5476240"/>
            <a:ext cx="0" cy="631048"/>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46" name="圆角矩形 22"/>
          <p:cNvSpPr/>
          <p:nvPr/>
        </p:nvSpPr>
        <p:spPr>
          <a:xfrm>
            <a:off x="6018957" y="5250179"/>
            <a:ext cx="252940" cy="232411"/>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47" name="直接连接符 34"/>
          <p:cNvCxnSpPr/>
          <p:nvPr/>
        </p:nvCxnSpPr>
        <p:spPr>
          <a:xfrm flipV="1">
            <a:off x="5789920" y="5485520"/>
            <a:ext cx="0" cy="621768"/>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34"/>
          <p:cNvCxnSpPr/>
          <p:nvPr/>
        </p:nvCxnSpPr>
        <p:spPr>
          <a:xfrm flipV="1">
            <a:off x="6150610" y="5476240"/>
            <a:ext cx="0" cy="297815"/>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50" name="文本框 76"/>
          <p:cNvSpPr txBox="1"/>
          <p:nvPr/>
        </p:nvSpPr>
        <p:spPr>
          <a:xfrm>
            <a:off x="6264205" y="6234043"/>
            <a:ext cx="455574" cy="261610"/>
          </a:xfrm>
          <a:prstGeom prst="rect">
            <a:avLst/>
          </a:prstGeom>
          <a:noFill/>
        </p:spPr>
        <p:txBody>
          <a:bodyPr wrap="none" rtlCol="0" anchor="t">
            <a:spAutoFit/>
          </a:bodyPr>
          <a:lstStyle/>
          <a:p>
            <a:pPr indent="0" algn="ctr">
              <a:buFont typeface="Arial" panose="020B0604020202020204" pitchFamily="34" charset="0"/>
              <a:buNone/>
            </a:pPr>
            <a:r>
              <a:rPr lang="en-US" altLang="zh-CN" sz="1100" b="1" dirty="0">
                <a:solidFill>
                  <a:sysClr val="windowText" lastClr="000000"/>
                </a:solidFill>
                <a:latin typeface="Roboto" charset="0"/>
                <a:ea typeface="Roboto" charset="0"/>
                <a:cs typeface="+mj-lt"/>
                <a:sym typeface="+mn-ea"/>
              </a:rPr>
              <a:t>LAN</a:t>
            </a:r>
            <a:endParaRPr lang="zh-CN" altLang="en-US" dirty="0">
              <a:latin typeface="Roboto" charset="0"/>
            </a:endParaRPr>
          </a:p>
        </p:txBody>
      </p:sp>
      <p:cxnSp>
        <p:nvCxnSpPr>
          <p:cNvPr id="51" name="直接连接符 34"/>
          <p:cNvCxnSpPr/>
          <p:nvPr/>
        </p:nvCxnSpPr>
        <p:spPr>
          <a:xfrm flipV="1">
            <a:off x="6490659" y="5482590"/>
            <a:ext cx="0" cy="756920"/>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
        <p:nvSpPr>
          <p:cNvPr id="55" name="圆角矩形 28"/>
          <p:cNvSpPr/>
          <p:nvPr/>
        </p:nvSpPr>
        <p:spPr>
          <a:xfrm>
            <a:off x="2730801" y="5268595"/>
            <a:ext cx="336230" cy="208914"/>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28"/>
          <p:cNvSpPr/>
          <p:nvPr/>
        </p:nvSpPr>
        <p:spPr>
          <a:xfrm>
            <a:off x="1918335" y="5268595"/>
            <a:ext cx="735946" cy="208914"/>
          </a:xfrm>
          <a:prstGeom prst="roundRect">
            <a:avLst/>
          </a:prstGeom>
          <a:noFill/>
          <a:ln w="158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34"/>
          <p:cNvCxnSpPr/>
          <p:nvPr/>
        </p:nvCxnSpPr>
        <p:spPr>
          <a:xfrm flipV="1">
            <a:off x="2903845" y="5476240"/>
            <a:ext cx="0" cy="272415"/>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cxnSp>
        <p:nvCxnSpPr>
          <p:cNvPr id="59" name="直接连接符 34"/>
          <p:cNvCxnSpPr/>
          <p:nvPr/>
        </p:nvCxnSpPr>
        <p:spPr>
          <a:xfrm flipV="1">
            <a:off x="2286308" y="5476240"/>
            <a:ext cx="0" cy="631048"/>
          </a:xfrm>
          <a:prstGeom prst="line">
            <a:avLst/>
          </a:prstGeom>
          <a:ln w="15875">
            <a:solidFill>
              <a:srgbClr val="00B050"/>
            </a:solidFill>
            <a:headEnd type="oval" w="med" len="med"/>
            <a:tailEnd type="none"/>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0"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Specifications &amp; Packing List</a:t>
            </a:r>
          </a:p>
        </p:txBody>
      </p:sp>
      <p:graphicFrame>
        <p:nvGraphicFramePr>
          <p:cNvPr id="5" name="表格 4"/>
          <p:cNvGraphicFramePr>
            <a:graphicFrameLocks noGrp="1"/>
          </p:cNvGraphicFramePr>
          <p:nvPr>
            <p:custDataLst>
              <p:tags r:id="rId4"/>
            </p:custDataLst>
          </p:nvPr>
        </p:nvGraphicFramePr>
        <p:xfrm>
          <a:off x="499110" y="1287145"/>
          <a:ext cx="6476365" cy="5045076"/>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619250">
                  <a:extLst>
                    <a:ext uri="{9D8B030D-6E8A-4147-A177-3AD203B41FA5}">
                      <a16:colId xmlns:a16="http://schemas.microsoft.com/office/drawing/2014/main" val="20000"/>
                    </a:ext>
                  </a:extLst>
                </a:gridCol>
                <a:gridCol w="4857115">
                  <a:extLst>
                    <a:ext uri="{9D8B030D-6E8A-4147-A177-3AD203B41FA5}">
                      <a16:colId xmlns:a16="http://schemas.microsoft.com/office/drawing/2014/main" val="20001"/>
                    </a:ext>
                  </a:extLst>
                </a:gridCol>
              </a:tblGrid>
              <a:tr h="343128">
                <a:tc gridSpan="2">
                  <a:txBody>
                    <a:bodyPr/>
                    <a:lstStyle/>
                    <a:p>
                      <a:r>
                        <a:rPr lang="en-US" altLang="zh-CN" sz="1600" dirty="0">
                          <a:latin typeface="Roboto" charset="0"/>
                          <a:ea typeface="Roboto" charset="0"/>
                          <a:cs typeface="Arial" panose="020B0604020202020204" pitchFamily="34" charset="0"/>
                        </a:rPr>
                        <a:t>Main Specifications</a:t>
                      </a:r>
                    </a:p>
                  </a:txBody>
                  <a:tcPr anchor="ctr">
                    <a:solidFill>
                      <a:srgbClr val="0B7935"/>
                    </a:solidFill>
                  </a:tcPr>
                </a:tc>
                <a:tc hMerge="1">
                  <a:txBody>
                    <a:bodyPr/>
                    <a:lstStyle/>
                    <a:p>
                      <a:endParaRPr lang="zh-CN"/>
                    </a:p>
                  </a:txBody>
                  <a:tcPr/>
                </a:tc>
                <a:extLst>
                  <a:ext uri="{0D108BD9-81ED-4DB2-BD59-A6C34878D82A}">
                    <a16:rowId xmlns:a16="http://schemas.microsoft.com/office/drawing/2014/main" val="10000"/>
                  </a:ext>
                </a:extLst>
              </a:tr>
              <a:tr h="626847">
                <a:tc>
                  <a:txBody>
                    <a:bodyPr/>
                    <a:lstStyle/>
                    <a:p>
                      <a:r>
                        <a:rPr lang="en-US" altLang="zh-CN" sz="1000" dirty="0">
                          <a:latin typeface="Roboto" charset="0"/>
                          <a:ea typeface="Roboto" charset="0"/>
                          <a:cs typeface="Arial" panose="020B0604020202020204" pitchFamily="34" charset="0"/>
                        </a:rPr>
                        <a:t>Input/Output Ports</a:t>
                      </a:r>
                    </a:p>
                  </a:txBody>
                  <a:tcPr anchor="ctr">
                    <a:solidFill>
                      <a:srgbClr val="D6E5D5"/>
                    </a:solidFill>
                  </a:tcPr>
                </a:tc>
                <a:tc>
                  <a:txBody>
                    <a:bodyPr/>
                    <a:lstStyle/>
                    <a:p>
                      <a:r>
                        <a:rPr lang="en-US" altLang="zh-CN" sz="1000" dirty="0">
                          <a:latin typeface="Roboto" charset="0"/>
                          <a:ea typeface="Roboto" charset="0"/>
                          <a:cs typeface="Arial" panose="020B0604020202020204" pitchFamily="34" charset="0"/>
                        </a:rPr>
                        <a:t>2 x HDMI IN, 7 x HDMI OUT (including 1 HDMI loop out port), 1 x AUDIO OUT (3.5mm phoenix connector, 5 Pins), 1 x RS232, 1 x LAN, 1 x DC 20V</a:t>
                      </a:r>
                    </a:p>
                  </a:txBody>
                  <a:tcPr anchor="ctr">
                    <a:solidFill>
                      <a:srgbClr val="D6E5D5"/>
                    </a:solidFill>
                  </a:tcPr>
                </a:tc>
                <a:extLst>
                  <a:ext uri="{0D108BD9-81ED-4DB2-BD59-A6C34878D82A}">
                    <a16:rowId xmlns:a16="http://schemas.microsoft.com/office/drawing/2014/main" val="10001"/>
                  </a:ext>
                </a:extLst>
              </a:tr>
              <a:tr h="401924">
                <a:tc>
                  <a:txBody>
                    <a:bodyPr/>
                    <a:lstStyle/>
                    <a:p>
                      <a:r>
                        <a:rPr lang="en-US" altLang="zh-CN" sz="1000" dirty="0">
                          <a:latin typeface="Roboto" charset="0"/>
                          <a:ea typeface="Roboto" charset="0"/>
                          <a:cs typeface="Arial" panose="020B0604020202020204" pitchFamily="34" charset="0"/>
                        </a:rPr>
                        <a:t>Input/Output Video Type</a:t>
                      </a:r>
                    </a:p>
                  </a:txBody>
                  <a:tcPr anchor="ctr">
                    <a:solidFill>
                      <a:srgbClr val="E3F2E2"/>
                    </a:solidFill>
                  </a:tcPr>
                </a:tc>
                <a:tc>
                  <a:txBody>
                    <a:bodyPr/>
                    <a:lstStyle/>
                    <a:p>
                      <a:r>
                        <a:rPr lang="en-US" altLang="zh-CN" sz="1000" dirty="0">
                          <a:latin typeface="Roboto" charset="0"/>
                          <a:ea typeface="Roboto" charset="0"/>
                          <a:cs typeface="Arial" panose="020B0604020202020204" pitchFamily="34" charset="0"/>
                        </a:rPr>
                        <a:t>Max: 4K@60Hz 4:4:4 8bit, HDCP 2.3</a:t>
                      </a:r>
                    </a:p>
                  </a:txBody>
                  <a:tcPr anchor="ctr">
                    <a:solidFill>
                      <a:srgbClr val="E3F2E2"/>
                    </a:solidFill>
                  </a:tcPr>
                </a:tc>
                <a:extLst>
                  <a:ext uri="{0D108BD9-81ED-4DB2-BD59-A6C34878D82A}">
                    <a16:rowId xmlns:a16="http://schemas.microsoft.com/office/drawing/2014/main" val="10002"/>
                  </a:ext>
                </a:extLst>
              </a:tr>
              <a:tr h="1401377">
                <a:tc>
                  <a:txBody>
                    <a:bodyPr/>
                    <a:lstStyle/>
                    <a:p>
                      <a:r>
                        <a:rPr lang="en-US" altLang="zh-CN" sz="1000" dirty="0">
                          <a:latin typeface="Roboto" charset="0"/>
                          <a:ea typeface="Roboto" charset="0"/>
                          <a:cs typeface="Arial" panose="020B0604020202020204" pitchFamily="34" charset="0"/>
                        </a:rPr>
                        <a:t>Input Resolution Supported</a:t>
                      </a:r>
                    </a:p>
                  </a:txBody>
                  <a:tcPr anchor="ctr">
                    <a:solidFill>
                      <a:srgbClr val="D6E5D5"/>
                    </a:solidFill>
                  </a:tcPr>
                </a:tc>
                <a:tc>
                  <a:txBody>
                    <a:bodyPr/>
                    <a:lstStyle/>
                    <a:p>
                      <a:r>
                        <a:rPr lang="en-US" altLang="zh-CN" sz="1000" dirty="0">
                          <a:latin typeface="Roboto" charset="0"/>
                          <a:ea typeface="Roboto" charset="0"/>
                          <a:cs typeface="Arial" panose="020B0604020202020204" pitchFamily="34" charset="0"/>
                        </a:rPr>
                        <a:t>Wide-screen resolution: 5400x1920P⁵;</a:t>
                      </a:r>
                    </a:p>
                    <a:p>
                      <a:endParaRPr lang="en-US" altLang="zh-CN" sz="1000" dirty="0">
                        <a:latin typeface="Roboto" charset="0"/>
                        <a:ea typeface="Roboto" charset="0"/>
                        <a:cs typeface="Arial" panose="020B0604020202020204" pitchFamily="34" charset="0"/>
                      </a:endParaRPr>
                    </a:p>
                    <a:p>
                      <a:r>
                        <a:rPr lang="en-US" altLang="zh-CN" sz="1000" dirty="0">
                          <a:latin typeface="Roboto" charset="0"/>
                          <a:ea typeface="Roboto" charset="0"/>
                          <a:cs typeface="Arial" panose="020B0604020202020204" pitchFamily="34" charset="0"/>
                        </a:rPr>
                        <a:t>800x600</a:t>
                      </a:r>
                      <a:r>
                        <a:rPr lang="en-US" altLang="zh-CN" sz="1000" dirty="0">
                          <a:latin typeface="Roboto" charset="0"/>
                          <a:ea typeface="Roboto" charset="0"/>
                          <a:cs typeface="Arial" panose="020B0604020202020204" pitchFamily="34" charset="0"/>
                          <a:sym typeface="+mn-ea"/>
                        </a:rPr>
                        <a:t>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1024x768⁸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1280x720P</a:t>
                      </a:r>
                      <a:r>
                        <a:rPr lang="en-US" altLang="zh-CN" sz="1000" baseline="30000" dirty="0">
                          <a:latin typeface="Roboto" charset="0"/>
                          <a:ea typeface="Roboto" charset="0"/>
                          <a:cs typeface="Arial" panose="020B0604020202020204" pitchFamily="34" charset="0"/>
                        </a:rPr>
                        <a:t>6,7,8</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1280x768⁸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1280x800⁸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1280x960⁸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1280x1024⁸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1360x768⁸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1366x768⁸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1440x900⁸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1600x900⁸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1600x1200⁸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1680x1050⁸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1920x1080P</a:t>
                      </a:r>
                      <a:r>
                        <a:rPr lang="en-US" altLang="zh-CN" sz="1000" baseline="30000" dirty="0">
                          <a:latin typeface="Roboto" charset="0"/>
                          <a:ea typeface="Roboto" charset="0"/>
                          <a:cs typeface="Arial" panose="020B0604020202020204" pitchFamily="34" charset="0"/>
                        </a:rPr>
                        <a:t>6,7,8</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1920x1200⁸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3840x2160P</a:t>
                      </a:r>
                      <a:r>
                        <a:rPr lang="en-US" altLang="zh-CN" sz="1000" baseline="30000" dirty="0">
                          <a:latin typeface="Roboto" charset="0"/>
                          <a:ea typeface="Roboto" charset="0"/>
                          <a:cs typeface="Arial" panose="020B0604020202020204" pitchFamily="34" charset="0"/>
                        </a:rPr>
                        <a:t>2,3,5,8</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3840x600⁸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4096x2160P</a:t>
                      </a:r>
                      <a:r>
                        <a:rPr lang="en-US" altLang="zh-CN" sz="1000" baseline="30000" dirty="0">
                          <a:latin typeface="Roboto" charset="0"/>
                          <a:ea typeface="Roboto" charset="0"/>
                          <a:cs typeface="Arial" panose="020B0604020202020204" pitchFamily="34" charset="0"/>
                        </a:rPr>
                        <a:t>2,3,5,8</a:t>
                      </a:r>
                    </a:p>
                    <a:p>
                      <a:r>
                        <a:rPr lang="en-US" altLang="zh-CN" sz="1000" dirty="0">
                          <a:latin typeface="Roboto" charset="0"/>
                          <a:ea typeface="Roboto" charset="0"/>
                          <a:cs typeface="Arial" panose="020B0604020202020204" pitchFamily="34" charset="0"/>
                        </a:rPr>
                        <a:t>2 = at 24 Hz, 3 = at 25 Hz, 5 = at 30 Hz, 6 = at 50 Hz, 7 = at 59.94 Hz, 8 = 60 Hz</a:t>
                      </a:r>
                    </a:p>
                  </a:txBody>
                  <a:tcPr anchor="ctr">
                    <a:solidFill>
                      <a:srgbClr val="D6E5D5"/>
                    </a:solidFill>
                  </a:tcPr>
                </a:tc>
                <a:extLst>
                  <a:ext uri="{0D108BD9-81ED-4DB2-BD59-A6C34878D82A}">
                    <a16:rowId xmlns:a16="http://schemas.microsoft.com/office/drawing/2014/main" val="10003"/>
                  </a:ext>
                </a:extLst>
              </a:tr>
              <a:tr h="842223">
                <a:tc>
                  <a:txBody>
                    <a:bodyPr/>
                    <a:lstStyle/>
                    <a:p>
                      <a:r>
                        <a:rPr lang="en-US" altLang="zh-CN" sz="1000" dirty="0">
                          <a:latin typeface="Roboto" charset="0"/>
                          <a:ea typeface="Roboto" charset="0"/>
                          <a:cs typeface="Arial" panose="020B0604020202020204" pitchFamily="34" charset="0"/>
                        </a:rPr>
                        <a:t>Output Resolution Supported</a:t>
                      </a:r>
                    </a:p>
                  </a:txBody>
                  <a:tcPr anchor="ctr">
                    <a:solidFill>
                      <a:srgbClr val="E3F2E2"/>
                    </a:solidFill>
                  </a:tcPr>
                </a:tc>
                <a:tc>
                  <a:txBody>
                    <a:bodyPr/>
                    <a:lstStyle/>
                    <a:p>
                      <a:r>
                        <a:rPr lang="en-US" altLang="zh-CN" sz="1000" dirty="0">
                          <a:latin typeface="Roboto" charset="0"/>
                          <a:ea typeface="Roboto" charset="0"/>
                          <a:cs typeface="Arial" panose="020B0604020202020204" pitchFamily="34" charset="0"/>
                        </a:rPr>
                        <a:t>Manual: 1280x720P⁶, 1280x720P⁸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1920x1080P⁶, 1920x1080P⁸</a:t>
                      </a:r>
                    </a:p>
                    <a:p>
                      <a:r>
                        <a:rPr lang="en-US" altLang="zh-CN" sz="1000" dirty="0">
                          <a:latin typeface="Roboto" charset="0"/>
                          <a:ea typeface="Roboto" charset="0"/>
                          <a:cs typeface="Arial" panose="020B0604020202020204" pitchFamily="34" charset="0"/>
                        </a:rPr>
                        <a:t>3840x2160P⁵, 3840x2160P⁸</a:t>
                      </a:r>
                      <a:r>
                        <a:rPr lang="zh-CN" altLang="en-US" sz="1000" dirty="0">
                          <a:latin typeface="Roboto" charset="0"/>
                          <a:ea typeface="宋体" panose="02010600030101010101" pitchFamily="2" charset="-122"/>
                          <a:cs typeface="Arial" panose="020B0604020202020204" pitchFamily="34" charset="0"/>
                        </a:rPr>
                        <a:t>，</a:t>
                      </a:r>
                      <a:r>
                        <a:rPr lang="en-US" altLang="zh-CN" sz="1000" dirty="0">
                          <a:latin typeface="Roboto" charset="0"/>
                          <a:ea typeface="Roboto" charset="0"/>
                          <a:cs typeface="Arial" panose="020B0604020202020204" pitchFamily="34" charset="0"/>
                        </a:rPr>
                        <a:t>4096x2160P⁵, 4096x2160P</a:t>
                      </a:r>
                    </a:p>
                    <a:p>
                      <a:endParaRPr lang="en-US" altLang="zh-CN" sz="1000" dirty="0">
                        <a:latin typeface="Roboto" charset="0"/>
                        <a:ea typeface="Roboto" charset="0"/>
                        <a:cs typeface="Arial" panose="020B0604020202020204" pitchFamily="34" charset="0"/>
                      </a:endParaRPr>
                    </a:p>
                    <a:p>
                      <a:r>
                        <a:rPr lang="en-US" altLang="zh-CN" sz="1000" dirty="0">
                          <a:latin typeface="Roboto" charset="0"/>
                          <a:ea typeface="Roboto" charset="0"/>
                          <a:cs typeface="Arial" panose="020B0604020202020204" pitchFamily="34" charset="0"/>
                        </a:rPr>
                        <a:t>2 = at 24 Hz, 3 = at 25 Hz, 5 = at 30 Hz, 6 = at 50 Hz, 7 = at 59.94 Hz, 8 = 60 Hz</a:t>
                      </a:r>
                    </a:p>
                  </a:txBody>
                  <a:tcPr anchor="ctr">
                    <a:solidFill>
                      <a:srgbClr val="E3F2E2"/>
                    </a:solidFill>
                  </a:tcPr>
                </a:tc>
                <a:extLst>
                  <a:ext uri="{0D108BD9-81ED-4DB2-BD59-A6C34878D82A}">
                    <a16:rowId xmlns:a16="http://schemas.microsoft.com/office/drawing/2014/main" val="10004"/>
                  </a:ext>
                </a:extLst>
              </a:tr>
              <a:tr h="528542">
                <a:tc>
                  <a:txBody>
                    <a:bodyPr/>
                    <a:lstStyle/>
                    <a:p>
                      <a:r>
                        <a:rPr lang="en-US" altLang="zh-CN" sz="1000" dirty="0">
                          <a:latin typeface="Roboto" charset="0"/>
                          <a:ea typeface="Roboto" charset="0"/>
                          <a:cs typeface="Arial" panose="020B0604020202020204" pitchFamily="34" charset="0"/>
                        </a:rPr>
                        <a:t>Audio Format</a:t>
                      </a:r>
                    </a:p>
                  </a:txBody>
                  <a:tcPr anchor="ctr">
                    <a:solidFill>
                      <a:srgbClr val="D6E5D5"/>
                    </a:solidFill>
                  </a:tcPr>
                </a:tc>
                <a:tc>
                  <a:txBody>
                    <a:bodyPr/>
                    <a:lstStyle/>
                    <a:p>
                      <a:r>
                        <a:rPr lang="en-US" altLang="zh-CN" sz="1000" dirty="0">
                          <a:latin typeface="Roboto" charset="0"/>
                          <a:ea typeface="Roboto" charset="0"/>
                          <a:cs typeface="Arial" panose="020B0604020202020204" pitchFamily="34" charset="0"/>
                        </a:rPr>
                        <a:t>HDMI IN/OUT: PCM 2.0</a:t>
                      </a:r>
                    </a:p>
                    <a:p>
                      <a:r>
                        <a:rPr lang="en-US" altLang="zh-CN" sz="1000" dirty="0">
                          <a:latin typeface="Roboto" charset="0"/>
                          <a:ea typeface="Roboto" charset="0"/>
                          <a:cs typeface="Arial" panose="020B0604020202020204" pitchFamily="34" charset="0"/>
                        </a:rPr>
                        <a:t>AUDIO OUT: Stereo</a:t>
                      </a:r>
                    </a:p>
                  </a:txBody>
                  <a:tcPr anchor="ctr">
                    <a:solidFill>
                      <a:srgbClr val="D6E5D5"/>
                    </a:solidFill>
                  </a:tcPr>
                </a:tc>
                <a:extLst>
                  <a:ext uri="{0D108BD9-81ED-4DB2-BD59-A6C34878D82A}">
                    <a16:rowId xmlns:a16="http://schemas.microsoft.com/office/drawing/2014/main" val="10005"/>
                  </a:ext>
                </a:extLst>
              </a:tr>
              <a:tr h="422859">
                <a:tc>
                  <a:txBody>
                    <a:bodyPr/>
                    <a:lstStyle/>
                    <a:p>
                      <a:r>
                        <a:rPr lang="en-US" altLang="zh-CN" sz="1000" dirty="0">
                          <a:latin typeface="Roboto" charset="0"/>
                          <a:ea typeface="Roboto" charset="0"/>
                          <a:cs typeface="Arial" panose="020B0604020202020204" pitchFamily="34" charset="0"/>
                        </a:rPr>
                        <a:t>Maximum Data Rate</a:t>
                      </a:r>
                    </a:p>
                  </a:txBody>
                  <a:tcPr anchor="ctr">
                    <a:solidFill>
                      <a:srgbClr val="E3F2E2"/>
                    </a:solidFill>
                  </a:tcPr>
                </a:tc>
                <a:tc>
                  <a:txBody>
                    <a:bodyPr/>
                    <a:lstStyle/>
                    <a:p>
                      <a:r>
                        <a:rPr lang="en-US" altLang="zh-CN" sz="1000" dirty="0">
                          <a:latin typeface="Roboto" charset="0"/>
                          <a:ea typeface="Roboto" charset="0"/>
                          <a:cs typeface="Arial" panose="020B0604020202020204" pitchFamily="34" charset="0"/>
                        </a:rPr>
                        <a:t>18Gbps</a:t>
                      </a:r>
                    </a:p>
                  </a:txBody>
                  <a:tcPr anchor="ctr">
                    <a:solidFill>
                      <a:srgbClr val="E3F2E2"/>
                    </a:solidFill>
                  </a:tcPr>
                </a:tc>
                <a:extLst>
                  <a:ext uri="{0D108BD9-81ED-4DB2-BD59-A6C34878D82A}">
                    <a16:rowId xmlns:a16="http://schemas.microsoft.com/office/drawing/2014/main" val="10006"/>
                  </a:ext>
                </a:extLst>
              </a:tr>
              <a:tr h="478176">
                <a:tc>
                  <a:txBody>
                    <a:bodyPr/>
                    <a:lstStyle/>
                    <a:p>
                      <a:pPr algn="l">
                        <a:buClrTx/>
                        <a:buSzTx/>
                        <a:buFontTx/>
                      </a:pPr>
                      <a:r>
                        <a:rPr lang="en-US" altLang="zh-CN" sz="1000" dirty="0">
                          <a:latin typeface="Roboto" charset="0"/>
                          <a:ea typeface="Roboto" charset="0"/>
                          <a:cs typeface="Arial" panose="020B0604020202020204" pitchFamily="34" charset="0"/>
                        </a:rPr>
                        <a:t>Control Method</a:t>
                      </a:r>
                    </a:p>
                  </a:txBody>
                  <a:tcPr anchor="ctr">
                    <a:solidFill>
                      <a:srgbClr val="D6E5D5"/>
                    </a:solidFill>
                  </a:tcPr>
                </a:tc>
                <a:tc>
                  <a:txBody>
                    <a:bodyPr/>
                    <a:lstStyle/>
                    <a:p>
                      <a:pPr algn="l">
                        <a:buClrTx/>
                        <a:buSzTx/>
                        <a:buFontTx/>
                      </a:pPr>
                      <a:r>
                        <a:rPr lang="en-US" altLang="zh-CN" sz="1000" dirty="0">
                          <a:latin typeface="Roboto" charset="0"/>
                          <a:ea typeface="Roboto" charset="0"/>
                          <a:cs typeface="Arial" panose="020B0604020202020204" pitchFamily="34" charset="0"/>
                        </a:rPr>
                        <a:t>Front panel buttons, RS232, LAN (Telnet API &amp; Web UI)</a:t>
                      </a:r>
                    </a:p>
                  </a:txBody>
                  <a:tcPr anchor="ctr">
                    <a:solidFill>
                      <a:srgbClr val="D6E5D5"/>
                    </a:solidFill>
                  </a:tcPr>
                </a:tc>
                <a:extLst>
                  <a:ext uri="{0D108BD9-81ED-4DB2-BD59-A6C34878D82A}">
                    <a16:rowId xmlns:a16="http://schemas.microsoft.com/office/drawing/2014/main" val="10007"/>
                  </a:ext>
                </a:extLst>
              </a:tr>
            </a:tbl>
          </a:graphicData>
        </a:graphic>
      </p:graphicFrame>
      <p:sp>
        <p:nvSpPr>
          <p:cNvPr id="4" name="文本框 3"/>
          <p:cNvSpPr txBox="1"/>
          <p:nvPr/>
        </p:nvSpPr>
        <p:spPr>
          <a:xfrm>
            <a:off x="7486059" y="1924050"/>
            <a:ext cx="4496391" cy="3310890"/>
          </a:xfrm>
          <a:prstGeom prst="rect">
            <a:avLst/>
          </a:prstGeom>
          <a:noFill/>
        </p:spPr>
        <p:txBody>
          <a:bodyPr wrap="square" rtlCol="0">
            <a:noAutofit/>
          </a:bodyPr>
          <a:lstStyle/>
          <a:p>
            <a:pPr algn="l"/>
            <a:r>
              <a:rPr lang="zh-CN" altLang="en-US" sz="2200" b="1" dirty="0">
                <a:latin typeface="Roboto" charset="0"/>
                <a:cs typeface="Arial" panose="020B0604020202020204" pitchFamily="34" charset="0"/>
              </a:rPr>
              <a:t>What</a:t>
            </a:r>
            <a:r>
              <a:rPr lang="en-US" altLang="zh-CN" sz="2200" b="1" dirty="0">
                <a:latin typeface="Roboto" charset="0"/>
                <a:ea typeface="Roboto" charset="0"/>
                <a:cs typeface="Arial" panose="020B0604020202020204" pitchFamily="34" charset="0"/>
              </a:rPr>
              <a:t>’</a:t>
            </a:r>
            <a:r>
              <a:rPr lang="zh-CN" altLang="en-US" sz="2200" b="1" dirty="0">
                <a:latin typeface="Roboto" charset="0"/>
                <a:cs typeface="Arial" panose="020B0604020202020204" pitchFamily="34" charset="0"/>
              </a:rPr>
              <a:t>s </a:t>
            </a:r>
            <a:r>
              <a:rPr lang="en-US" altLang="zh-CN" sz="2200" b="1" dirty="0">
                <a:latin typeface="Roboto" charset="0"/>
                <a:ea typeface="Roboto" charset="0"/>
                <a:cs typeface="Arial" panose="020B0604020202020204" pitchFamily="34" charset="0"/>
              </a:rPr>
              <a:t>I</a:t>
            </a:r>
            <a:r>
              <a:rPr lang="zh-CN" altLang="en-US" sz="2200" b="1" dirty="0">
                <a:latin typeface="Roboto" charset="0"/>
                <a:cs typeface="Arial" panose="020B0604020202020204" pitchFamily="34" charset="0"/>
              </a:rPr>
              <a:t>n </a:t>
            </a:r>
            <a:r>
              <a:rPr lang="en-US" altLang="zh-CN" sz="2200" b="1" dirty="0">
                <a:latin typeface="Roboto" charset="0"/>
                <a:ea typeface="Roboto" charset="0"/>
                <a:cs typeface="Arial" panose="020B0604020202020204" pitchFamily="34" charset="0"/>
              </a:rPr>
              <a:t>T</a:t>
            </a:r>
            <a:r>
              <a:rPr lang="zh-CN" altLang="en-US" sz="2200" b="1" dirty="0">
                <a:latin typeface="Roboto" charset="0"/>
                <a:cs typeface="Arial" panose="020B0604020202020204" pitchFamily="34" charset="0"/>
              </a:rPr>
              <a:t>he Box?</a:t>
            </a:r>
          </a:p>
          <a:p>
            <a:pPr>
              <a:lnSpc>
                <a:spcPts val="900"/>
              </a:lnSpc>
            </a:pPr>
            <a:endParaRPr lang="zh-CN" altLang="en-US" sz="1600" dirty="0">
              <a:latin typeface="Roboto" charset="0"/>
              <a:cs typeface="Arial" panose="020B0604020202020204" pitchFamily="34" charset="0"/>
            </a:endParaRP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Video Wall Processor</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DC 20V Power Adapter</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AC Power Cord with US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AC Power Cord with EU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AC Power Cord with AU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AC Power Cord with UK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Phoenix Male Connector (3.5mm, 3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Phoenix Male Connector (3.5mm, 5 Pins)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2x Mounting Brackets (with Screws)</a:t>
            </a:r>
          </a:p>
          <a:p>
            <a:pPr marL="285750" indent="-285750">
              <a:lnSpc>
                <a:spcPts val="2100"/>
              </a:lnSpc>
              <a:buFont typeface="Wingdings" panose="05000000000000000000" charset="0"/>
              <a:buChar char="l"/>
            </a:pPr>
            <a:r>
              <a:rPr lang="zh-CN" altLang="en-US" sz="1500" dirty="0">
                <a:solidFill>
                  <a:schemeClr val="tx1">
                    <a:lumMod val="75000"/>
                    <a:lumOff val="25000"/>
                  </a:schemeClr>
                </a:solidFill>
                <a:latin typeface="Roboto" charset="0"/>
                <a:cs typeface="Arial" panose="020B0604020202020204" pitchFamily="34" charset="0"/>
              </a:rPr>
              <a:t>1x Quick</a:t>
            </a:r>
            <a:r>
              <a:rPr lang="en-US" altLang="zh-CN" sz="1500" dirty="0">
                <a:solidFill>
                  <a:schemeClr val="tx1">
                    <a:lumMod val="75000"/>
                    <a:lumOff val="25000"/>
                  </a:schemeClr>
                </a:solidFill>
                <a:latin typeface="Roboto" charset="0"/>
                <a:cs typeface="Arial" panose="020B0604020202020204" pitchFamily="34" charset="0"/>
              </a:rPr>
              <a:t>s</a:t>
            </a:r>
            <a:r>
              <a:rPr lang="zh-CN" altLang="en-US" sz="1500" dirty="0">
                <a:solidFill>
                  <a:schemeClr val="tx1">
                    <a:lumMod val="75000"/>
                    <a:lumOff val="25000"/>
                  </a:schemeClr>
                </a:solidFill>
                <a:latin typeface="Roboto" charset="0"/>
                <a:cs typeface="Arial" panose="020B0604020202020204" pitchFamily="34" charset="0"/>
              </a:rPr>
              <a:t>tart Guide</a:t>
            </a:r>
          </a:p>
        </p:txBody>
      </p:sp>
      <p:pic>
        <p:nvPicPr>
          <p:cNvPr id="6"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487635" y="2756296"/>
            <a:ext cx="3116625" cy="8610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6"/>
          <p:cNvSpPr txBox="1"/>
          <p:nvPr>
            <p:custDataLst>
              <p:tags r:id="rId2"/>
            </p:custDataLst>
          </p:nvPr>
        </p:nvSpPr>
        <p:spPr>
          <a:xfrm>
            <a:off x="457200" y="1082040"/>
            <a:ext cx="3283585" cy="4267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22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1</a:t>
            </a:r>
            <a:r>
              <a:rPr sz="2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9" name="Rectangle 8"/>
          <p:cNvSpPr/>
          <p:nvPr/>
        </p:nvSpPr>
        <p:spPr>
          <a:xfrm>
            <a:off x="487635" y="3790901"/>
            <a:ext cx="3116625" cy="104040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Typical Connection &amp; Applications</a:t>
            </a:r>
          </a:p>
        </p:txBody>
      </p:sp>
      <p:pic>
        <p:nvPicPr>
          <p:cNvPr id="4" name="Picture 3"/>
          <p:cNvPicPr>
            <a:picLocks noChangeAspect="1"/>
          </p:cNvPicPr>
          <p:nvPr/>
        </p:nvPicPr>
        <p:blipFill>
          <a:blip r:embed="rId12"/>
          <a:stretch>
            <a:fillRect/>
          </a:stretch>
        </p:blipFill>
        <p:spPr>
          <a:xfrm>
            <a:off x="3875959" y="1977184"/>
            <a:ext cx="7950971" cy="3630490"/>
          </a:xfrm>
          <a:prstGeom prst="rect">
            <a:avLst/>
          </a:prstGeom>
          <a:effectLst>
            <a:outerShdw blurRad="50800" dir="5400000" algn="t" rotWithShape="0">
              <a:prstClr val="black">
                <a:alpha val="40000"/>
              </a:prstClr>
            </a:outerShdw>
          </a:effectLst>
        </p:spPr>
      </p:pic>
      <p:sp>
        <p:nvSpPr>
          <p:cNvPr id="5" name="Title 6"/>
          <p:cNvSpPr txBox="1"/>
          <p:nvPr>
            <p:custDataLst>
              <p:tags r:id="rId5"/>
            </p:custDataLst>
          </p:nvPr>
        </p:nvSpPr>
        <p:spPr>
          <a:xfrm>
            <a:off x="623485" y="2819728"/>
            <a:ext cx="3116625" cy="734196"/>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ts val="1400"/>
              </a:lnSpc>
              <a:spcBef>
                <a:spcPts val="0"/>
              </a:spcBef>
              <a:spcAft>
                <a:spcPts val="800"/>
              </a:spcAft>
              <a:buSzPct val="100000"/>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2x3 Video Wall Setup:</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Create a stunning 2x3 video wall to elevate presentation impact.</a:t>
            </a:r>
          </a:p>
        </p:txBody>
      </p:sp>
      <p:sp>
        <p:nvSpPr>
          <p:cNvPr id="6" name="Title 6"/>
          <p:cNvSpPr txBox="1"/>
          <p:nvPr>
            <p:custDataLst>
              <p:tags r:id="rId6"/>
            </p:custDataLst>
          </p:nvPr>
        </p:nvSpPr>
        <p:spPr>
          <a:xfrm>
            <a:off x="457155" y="1485900"/>
            <a:ext cx="3185205"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This solution is perfect for enhancing presentation effects with a flexible 2x3 video wall setup. It ensures seamless integration of high-quality visuals and audio for an immersive experience.</a:t>
            </a:r>
          </a:p>
        </p:txBody>
      </p:sp>
      <p:sp>
        <p:nvSpPr>
          <p:cNvPr id="10" name="Title 6"/>
          <p:cNvSpPr txBox="1"/>
          <p:nvPr>
            <p:custDataLst>
              <p:tags r:id="rId7"/>
            </p:custDataLst>
          </p:nvPr>
        </p:nvSpPr>
        <p:spPr>
          <a:xfrm>
            <a:off x="615865" y="3871656"/>
            <a:ext cx="2804205" cy="86106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ts val="1400"/>
              </a:lnSpc>
              <a:spcBef>
                <a:spcPts val="0"/>
              </a:spcBef>
              <a:spcAft>
                <a:spcPts val="800"/>
              </a:spcAft>
              <a:buSzPct val="100000"/>
              <a:buFont typeface="Arial" panose="020B0604020202020204" pitchFamily="34" charset="0"/>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Built-In Scaling Processor:</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Guarantees up to 4K@60Hz 4:4:4 outputs, even when the input video resolution is lower than 4K.</a:t>
            </a:r>
          </a:p>
        </p:txBody>
      </p:sp>
      <p:sp>
        <p:nvSpPr>
          <p:cNvPr id="12" name="Rectangle 11"/>
          <p:cNvSpPr/>
          <p:nvPr/>
        </p:nvSpPr>
        <p:spPr>
          <a:xfrm>
            <a:off x="487635" y="5000328"/>
            <a:ext cx="3116625" cy="104040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6"/>
          <p:cNvSpPr txBox="1"/>
          <p:nvPr>
            <p:custDataLst>
              <p:tags r:id="rId8"/>
            </p:custDataLst>
          </p:nvPr>
        </p:nvSpPr>
        <p:spPr>
          <a:xfrm>
            <a:off x="605478" y="5066348"/>
            <a:ext cx="2932133" cy="9121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ts val="1400"/>
              </a:lnSpc>
              <a:spcBef>
                <a:spcPts val="0"/>
              </a:spcBef>
              <a:spcAft>
                <a:spcPts val="800"/>
              </a:spcAft>
              <a:buSzPct val="100000"/>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Enhanced Audio Features:</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Includes audio de-embedding and balanced stereo audio output to deliver superior sound quality along with the visuals.</a:t>
            </a:r>
          </a:p>
        </p:txBody>
      </p:sp>
      <p:pic>
        <p:nvPicPr>
          <p:cNvPr id="13" name="Google Shape;82;p1"/>
          <p:cNvPicPr preferRelativeResize="0"/>
          <p:nvPr/>
        </p:nvPicPr>
        <p:blipFill>
          <a:blip r:embed="rId13"/>
          <a:stretch>
            <a:fillRect/>
          </a:stretch>
        </p:blipFill>
        <p:spPr>
          <a:xfrm>
            <a:off x="9652104" y="6056488"/>
            <a:ext cx="2241019" cy="440200"/>
          </a:xfrm>
          <a:prstGeom prst="rect">
            <a:avLst/>
          </a:prstGeom>
          <a:noFill/>
          <a:ln>
            <a:noFill/>
          </a:ln>
        </p:spPr>
      </p:pic>
      <p:sp>
        <p:nvSpPr>
          <p:cNvPr id="15"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16" name="Title 6"/>
          <p:cNvSpPr txBox="1"/>
          <p:nvPr>
            <p:custDataLst>
              <p:tags r:id="rId9"/>
            </p:custDataLst>
          </p:nvPr>
        </p:nvSpPr>
        <p:spPr>
          <a:xfrm>
            <a:off x="3537585" y="1013423"/>
            <a:ext cx="4625340" cy="563917"/>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Basic Video </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W</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all </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onnection</a:t>
            </a:r>
            <a:endParaRPr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87635" y="2756296"/>
            <a:ext cx="3116625" cy="8610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6"/>
          <p:cNvSpPr txBox="1"/>
          <p:nvPr>
            <p:custDataLst>
              <p:tags r:id="rId2"/>
            </p:custDataLst>
          </p:nvPr>
        </p:nvSpPr>
        <p:spPr>
          <a:xfrm>
            <a:off x="457200" y="1082040"/>
            <a:ext cx="3283585" cy="4267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22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2</a:t>
            </a:r>
            <a:r>
              <a:rPr sz="2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9" name="Rectangle 8"/>
          <p:cNvSpPr/>
          <p:nvPr/>
        </p:nvSpPr>
        <p:spPr>
          <a:xfrm>
            <a:off x="487635" y="3790901"/>
            <a:ext cx="3116625" cy="104040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Typical Connection &amp; Applications</a:t>
            </a:r>
          </a:p>
        </p:txBody>
      </p:sp>
      <p:pic>
        <p:nvPicPr>
          <p:cNvPr id="4" name="Picture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75959" y="2197567"/>
            <a:ext cx="7950971" cy="3189724"/>
          </a:xfrm>
          <a:prstGeom prst="rect">
            <a:avLst/>
          </a:prstGeom>
          <a:effectLst>
            <a:outerShdw blurRad="50800" dir="5400000" algn="t" rotWithShape="0">
              <a:prstClr val="black">
                <a:alpha val="40000"/>
              </a:prstClr>
            </a:outerShdw>
          </a:effectLst>
        </p:spPr>
      </p:pic>
      <p:sp>
        <p:nvSpPr>
          <p:cNvPr id="5" name="Title 6"/>
          <p:cNvSpPr txBox="1"/>
          <p:nvPr>
            <p:custDataLst>
              <p:tags r:id="rId5"/>
            </p:custDataLst>
          </p:nvPr>
        </p:nvSpPr>
        <p:spPr>
          <a:xfrm>
            <a:off x="623486" y="2819728"/>
            <a:ext cx="2914100" cy="734196"/>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fontAlgn="ctr">
              <a:lnSpc>
                <a:spcPts val="1400"/>
              </a:lnSpc>
              <a:spcBef>
                <a:spcPts val="0"/>
              </a:spcBef>
              <a:spcAft>
                <a:spcPts val="800"/>
              </a:spcAft>
              <a:buSzPct val="100000"/>
            </a:pPr>
            <a:r>
              <a:rPr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1x3 [60</a:t>
            </a: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Video Wall Setup:</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Create a stunning </a:t>
            </a:r>
            <a:r>
              <a:rPr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1</a:t>
            </a: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x3 [60</a:t>
            </a:r>
            <a:r>
              <a:rPr lang="en-US" altLang="zh-CN"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video wall to </a:t>
            </a: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attract the customer’s attention immediately</a:t>
            </a: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p>
        </p:txBody>
      </p:sp>
      <p:sp>
        <p:nvSpPr>
          <p:cNvPr id="6" name="Title 6"/>
          <p:cNvSpPr txBox="1"/>
          <p:nvPr>
            <p:custDataLst>
              <p:tags r:id="rId6"/>
            </p:custDataLst>
          </p:nvPr>
        </p:nvSpPr>
        <p:spPr>
          <a:xfrm>
            <a:off x="457155" y="1485900"/>
            <a:ext cx="3185205"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00000"/>
              </a:lnSpc>
              <a:spcBef>
                <a:spcPts val="0"/>
              </a:spcBef>
              <a:spcAft>
                <a:spcPts val="800"/>
              </a:spcAft>
              <a:buSzPct val="100000"/>
            </a:pP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Creating and managing a mosaic video wall (1x3 [60</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can attract the customer's attention immediately by providing a fully immersive experience in a variety of applications, such as shopping mall, museum or stadium.</a:t>
            </a: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10" name="Title 6"/>
          <p:cNvSpPr txBox="1"/>
          <p:nvPr>
            <p:custDataLst>
              <p:tags r:id="rId7"/>
            </p:custDataLst>
          </p:nvPr>
        </p:nvSpPr>
        <p:spPr>
          <a:xfrm>
            <a:off x="615865" y="3871656"/>
            <a:ext cx="2804205" cy="86106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fontAlgn="ctr">
              <a:lnSpc>
                <a:spcPts val="1400"/>
              </a:lnSpc>
              <a:spcBef>
                <a:spcPts val="0"/>
              </a:spcBef>
              <a:spcAft>
                <a:spcPts val="800"/>
              </a:spcAft>
              <a:buSzPct val="100000"/>
              <a:buFont typeface="Arial" panose="020B0604020202020204" pitchFamily="34" charset="0"/>
            </a:pPr>
            <a:r>
              <a:rPr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Rotation Video Wall Supporting</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Video rotation (0°, 90°, 180°, 270°, 60°) supporting,  can be better adapted to different scene requirements</a:t>
            </a:r>
            <a:r>
              <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p>
        </p:txBody>
      </p:sp>
      <p:sp>
        <p:nvSpPr>
          <p:cNvPr id="12" name="Rectangle 11"/>
          <p:cNvSpPr/>
          <p:nvPr/>
        </p:nvSpPr>
        <p:spPr>
          <a:xfrm>
            <a:off x="487635" y="5000328"/>
            <a:ext cx="3116625" cy="104040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6"/>
          <p:cNvSpPr txBox="1"/>
          <p:nvPr>
            <p:custDataLst>
              <p:tags r:id="rId8"/>
            </p:custDataLst>
          </p:nvPr>
        </p:nvSpPr>
        <p:spPr>
          <a:xfrm>
            <a:off x="605478" y="5066348"/>
            <a:ext cx="2932133" cy="9121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fontAlgn="ctr">
              <a:lnSpc>
                <a:spcPts val="1400"/>
              </a:lnSpc>
              <a:spcBef>
                <a:spcPts val="0"/>
              </a:spcBef>
              <a:spcAft>
                <a:spcPts val="800"/>
              </a:spcAft>
              <a:buSzPct val="100000"/>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OSD</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Features:</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OSD feature supports for each HDMI OUTPUT, helping customer to better find the relationship between screen and output, easy to insta</a:t>
            </a:r>
            <a:r>
              <a:rPr lang="en-US" altLang="zh-CN"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l</a:t>
            </a: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lation.</a:t>
            </a:r>
            <a:endPar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13" name="Google Shape;82;p1"/>
          <p:cNvPicPr preferRelativeResize="0"/>
          <p:nvPr/>
        </p:nvPicPr>
        <p:blipFill>
          <a:blip r:embed="rId12"/>
          <a:stretch>
            <a:fillRect/>
          </a:stretch>
        </p:blipFill>
        <p:spPr>
          <a:xfrm>
            <a:off x="9652104" y="6056488"/>
            <a:ext cx="2241019" cy="440200"/>
          </a:xfrm>
          <a:prstGeom prst="rect">
            <a:avLst/>
          </a:prstGeom>
          <a:noFill/>
          <a:ln>
            <a:noFill/>
          </a:ln>
        </p:spPr>
      </p:pic>
      <p:sp>
        <p:nvSpPr>
          <p:cNvPr id="15"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16" name="Title 6"/>
          <p:cNvSpPr txBox="1"/>
          <p:nvPr>
            <p:custDataLst>
              <p:tags r:id="rId9"/>
            </p:custDataLst>
          </p:nvPr>
        </p:nvSpPr>
        <p:spPr>
          <a:xfrm>
            <a:off x="3537585" y="1013423"/>
            <a:ext cx="4625340" cy="563917"/>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lang="en-US" altLang="zh-CN"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Rotation</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Video </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W</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all </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onnection</a:t>
            </a:r>
            <a:endParaRPr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2"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1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Typical Connection &amp; Applications</a:t>
            </a:r>
          </a:p>
        </p:txBody>
      </p:sp>
      <p:pic>
        <p:nvPicPr>
          <p:cNvPr id="4" name="Picture 3"/>
          <p:cNvPicPr>
            <a:picLocks noChangeAspect="1"/>
          </p:cNvPicPr>
          <p:nvPr/>
        </p:nvPicPr>
        <p:blipFill>
          <a:blip r:embed="rId12"/>
          <a:stretch>
            <a:fillRect/>
          </a:stretch>
        </p:blipFill>
        <p:spPr>
          <a:xfrm>
            <a:off x="3733800" y="1987020"/>
            <a:ext cx="8122920" cy="3862205"/>
          </a:xfrm>
          <a:prstGeom prst="rect">
            <a:avLst/>
          </a:prstGeom>
          <a:effectLst>
            <a:outerShdw blurRad="50800" dir="5400000" algn="t" rotWithShape="0">
              <a:prstClr val="black">
                <a:alpha val="40000"/>
              </a:prstClr>
            </a:outerShdw>
          </a:effectLst>
        </p:spPr>
      </p:pic>
      <p:sp>
        <p:nvSpPr>
          <p:cNvPr id="5" name="Rectangle 4"/>
          <p:cNvSpPr/>
          <p:nvPr/>
        </p:nvSpPr>
        <p:spPr>
          <a:xfrm>
            <a:off x="487634" y="2598972"/>
            <a:ext cx="3017566" cy="926944"/>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6"/>
          <p:cNvSpPr txBox="1"/>
          <p:nvPr>
            <p:custDataLst>
              <p:tags r:id="rId4"/>
            </p:custDataLst>
          </p:nvPr>
        </p:nvSpPr>
        <p:spPr>
          <a:xfrm>
            <a:off x="457155" y="1082040"/>
            <a:ext cx="3223305" cy="4267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22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3</a:t>
            </a:r>
            <a:r>
              <a:rPr sz="2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7" name="Rectangle 6"/>
          <p:cNvSpPr/>
          <p:nvPr/>
        </p:nvSpPr>
        <p:spPr>
          <a:xfrm>
            <a:off x="487636" y="3708572"/>
            <a:ext cx="3017566" cy="109987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6"/>
          <p:cNvSpPr txBox="1"/>
          <p:nvPr>
            <p:custDataLst>
              <p:tags r:id="rId5"/>
            </p:custDataLst>
          </p:nvPr>
        </p:nvSpPr>
        <p:spPr>
          <a:xfrm>
            <a:off x="615865" y="2697808"/>
            <a:ext cx="2706455" cy="734196"/>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fontAlgn="ctr">
              <a:lnSpc>
                <a:spcPts val="1400"/>
              </a:lnSpc>
              <a:spcBef>
                <a:spcPts val="0"/>
              </a:spcBef>
              <a:spcAft>
                <a:spcPts val="800"/>
              </a:spcAft>
              <a:buSzPct val="100000"/>
            </a:pPr>
            <a:r>
              <a:rPr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6</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x6 Video Wall Setup:</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Create a powerful 6x6 video wall by cascading 6 devices for a large, immersive display.</a:t>
            </a:r>
            <a:endParaRPr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9" name="Title 6"/>
          <p:cNvSpPr txBox="1"/>
          <p:nvPr>
            <p:custDataLst>
              <p:tags r:id="rId6"/>
            </p:custDataLst>
          </p:nvPr>
        </p:nvSpPr>
        <p:spPr>
          <a:xfrm>
            <a:off x="3581400" y="1081769"/>
            <a:ext cx="5029200" cy="534738"/>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ts val="1900"/>
              </a:lnSpc>
              <a:spcBef>
                <a:spcPts val="0"/>
              </a:spcBef>
              <a:spcAft>
                <a:spcPts val="800"/>
              </a:spcAft>
              <a:buSzPct val="100000"/>
              <a:buFont typeface="Wingdings" panose="05000000000000000000" charset="0"/>
              <a:buNone/>
            </a:pP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Cascading Video </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W</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all</a:t>
            </a:r>
            <a:r>
              <a:rPr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C</a:t>
            </a: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onnection</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10" name="Title 6"/>
          <p:cNvSpPr txBox="1"/>
          <p:nvPr>
            <p:custDataLst>
              <p:tags r:id="rId7"/>
            </p:custDataLst>
          </p:nvPr>
        </p:nvSpPr>
        <p:spPr>
          <a:xfrm>
            <a:off x="615865" y="3825936"/>
            <a:ext cx="2889336" cy="86106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fontAlgn="ctr">
              <a:lnSpc>
                <a:spcPts val="1400"/>
              </a:lnSpc>
              <a:spcBef>
                <a:spcPts val="0"/>
              </a:spcBef>
              <a:spcAft>
                <a:spcPts val="800"/>
              </a:spcAft>
              <a:buSzPct val="100000"/>
            </a:pPr>
            <a:r>
              <a:rPr lang="en-US"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High-Quality &amp; Ultra-Wide Resolutions</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Supports 4K@60Hz 4</a:t>
            </a:r>
            <a:r>
              <a:rPr lang="en-US" sz="11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:4:4</a:t>
            </a:r>
            <a:r>
              <a:rPr lang="en-US"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and ultra-wide resolutions like 5400x1920@30Hz and 3840x600@60Hz, ensuring a top-tier viewing experience for your audience.</a:t>
            </a:r>
          </a:p>
        </p:txBody>
      </p:sp>
      <p:sp>
        <p:nvSpPr>
          <p:cNvPr id="11" name="Rectangle 10"/>
          <p:cNvSpPr/>
          <p:nvPr/>
        </p:nvSpPr>
        <p:spPr>
          <a:xfrm>
            <a:off x="487636" y="4980638"/>
            <a:ext cx="3017566" cy="116870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6"/>
          <p:cNvSpPr txBox="1"/>
          <p:nvPr>
            <p:custDataLst>
              <p:tags r:id="rId8"/>
            </p:custDataLst>
          </p:nvPr>
        </p:nvSpPr>
        <p:spPr>
          <a:xfrm>
            <a:off x="605479" y="5096828"/>
            <a:ext cx="2899722" cy="9121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fontAlgn="ctr">
              <a:lnSpc>
                <a:spcPts val="1400"/>
              </a:lnSpc>
              <a:spcBef>
                <a:spcPts val="0"/>
              </a:spcBef>
              <a:spcAft>
                <a:spcPts val="800"/>
              </a:spcAft>
              <a:buSzPct val="100000"/>
            </a:pPr>
            <a:r>
              <a:rPr lang="en-US"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Flexible Control Options</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1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Use the user-friendly web interface and RS232 for centralized control, providing easy management during advertising or promotional presentations.</a:t>
            </a:r>
          </a:p>
        </p:txBody>
      </p:sp>
      <p:pic>
        <p:nvPicPr>
          <p:cNvPr id="13" name="Google Shape;82;p1"/>
          <p:cNvPicPr preferRelativeResize="0"/>
          <p:nvPr/>
        </p:nvPicPr>
        <p:blipFill>
          <a:blip r:embed="rId13"/>
          <a:stretch>
            <a:fillRect/>
          </a:stretch>
        </p:blipFill>
        <p:spPr>
          <a:xfrm>
            <a:off x="9652104" y="6056488"/>
            <a:ext cx="2241019" cy="440200"/>
          </a:xfrm>
          <a:prstGeom prst="rect">
            <a:avLst/>
          </a:prstGeom>
          <a:noFill/>
          <a:ln>
            <a:noFill/>
          </a:ln>
        </p:spPr>
      </p:pic>
      <p:sp>
        <p:nvSpPr>
          <p:cNvPr id="15"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16" name="Title 6"/>
          <p:cNvSpPr txBox="1"/>
          <p:nvPr>
            <p:custDataLst>
              <p:tags r:id="rId9"/>
            </p:custDataLst>
          </p:nvPr>
        </p:nvSpPr>
        <p:spPr>
          <a:xfrm>
            <a:off x="464776" y="1227168"/>
            <a:ext cx="3086143" cy="147828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lang="en-US"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Ideal for large-scale setups, this cascading video wall configuration creates a stunning visual display with enhanced control for advertising and presentations.</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History of Previous Products</a:t>
            </a:r>
          </a:p>
        </p:txBody>
      </p:sp>
      <p:sp>
        <p:nvSpPr>
          <p:cNvPr id="12" name="文本框 11"/>
          <p:cNvSpPr txBox="1"/>
          <p:nvPr/>
        </p:nvSpPr>
        <p:spPr>
          <a:xfrm>
            <a:off x="560872" y="3737503"/>
            <a:ext cx="4981783" cy="2693045"/>
          </a:xfrm>
          <a:prstGeom prst="rect">
            <a:avLst/>
          </a:prstGeom>
          <a:noFill/>
        </p:spPr>
        <p:txBody>
          <a:bodyPr wrap="square" rtlCol="0">
            <a:spAutoFit/>
          </a:bodyPr>
          <a:lstStyle/>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Selectable Video Wall Layouts: Supports configurations like 1x4 and 2x2, offering flexible row and column arrangements.</a:t>
            </a:r>
            <a:endParaRPr lang="en-US" altLang="zh-CN" sz="1200" dirty="0">
              <a:solidFill>
                <a:schemeClr val="tx1">
                  <a:lumMod val="75000"/>
                  <a:lumOff val="25000"/>
                </a:schemeClr>
              </a:solidFill>
              <a:latin typeface="Roboto" charset="0"/>
              <a:cs typeface="Arial" panose="020B0604020202020204" pitchFamily="34" charset="0"/>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Video Wall Flip: Enables full-screen flipping for versatile display orientations.</a:t>
            </a:r>
            <a:endParaRPr lang="en-US" altLang="zh-CN" sz="1200" dirty="0">
              <a:solidFill>
                <a:schemeClr val="tx1">
                  <a:lumMod val="75000"/>
                  <a:lumOff val="25000"/>
                </a:schemeClr>
              </a:solidFill>
              <a:latin typeface="Roboto" charset="0"/>
              <a:cs typeface="Arial" panose="020B0604020202020204" pitchFamily="34" charset="0"/>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Bezel Correction: Provides precise bezel adjustment to deliver a seamless viewing experience.</a:t>
            </a:r>
            <a:endParaRPr lang="en-US" altLang="zh-CN" sz="1200" dirty="0">
              <a:solidFill>
                <a:schemeClr val="tx1">
                  <a:lumMod val="75000"/>
                  <a:lumOff val="25000"/>
                </a:schemeClr>
              </a:solidFill>
              <a:latin typeface="Roboto" charset="0"/>
              <a:cs typeface="Arial" panose="020B0604020202020204" pitchFamily="34" charset="0"/>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High-Quality Video Scaling: Supports up to 4K@60Hz 4:4:4 8-bit for exceptional clarity.</a:t>
            </a:r>
            <a:endParaRPr lang="en-US" altLang="zh-CN" sz="1200" dirty="0">
              <a:solidFill>
                <a:schemeClr val="tx1">
                  <a:lumMod val="75000"/>
                  <a:lumOff val="25000"/>
                </a:schemeClr>
              </a:solidFill>
              <a:latin typeface="Roboto" charset="0"/>
              <a:cs typeface="Arial" panose="020B0604020202020204" pitchFamily="34" charset="0"/>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Ultra-Wide Resolution: Optimized for landscape orientation with a resolution of 3840x600.</a:t>
            </a:r>
            <a:endParaRPr lang="en-US" altLang="zh-CN" sz="1200" dirty="0">
              <a:solidFill>
                <a:schemeClr val="tx1">
                  <a:lumMod val="75000"/>
                  <a:lumOff val="25000"/>
                </a:schemeClr>
              </a:solidFill>
              <a:latin typeface="Roboto" charset="0"/>
              <a:cs typeface="Arial" panose="020B0604020202020204" pitchFamily="34" charset="0"/>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rPr>
              <a:t>Multiple Control Options: Managed via Web-UI, RS232, or Telnet for streamlined operation.</a:t>
            </a:r>
          </a:p>
        </p:txBody>
      </p:sp>
      <p:pic>
        <p:nvPicPr>
          <p:cNvPr id="19" name="Picture 18" descr="A black device with many ports&#10;&#10;Description automatically generated"/>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31347" y="856163"/>
            <a:ext cx="6397457" cy="3598570"/>
          </a:xfrm>
          <a:prstGeom prst="rect">
            <a:avLst/>
          </a:prstGeom>
        </p:spPr>
      </p:pic>
      <p:sp>
        <p:nvSpPr>
          <p:cNvPr id="6" name="文本框 11"/>
          <p:cNvSpPr txBox="1"/>
          <p:nvPr/>
        </p:nvSpPr>
        <p:spPr>
          <a:xfrm>
            <a:off x="5727700" y="3729990"/>
            <a:ext cx="6336030" cy="2685351"/>
          </a:xfrm>
          <a:prstGeom prst="rect">
            <a:avLst/>
          </a:prstGeom>
          <a:noFill/>
        </p:spPr>
        <p:txBody>
          <a:bodyPr wrap="square" rtlCol="0">
            <a:spAutoFit/>
          </a:bodyPr>
          <a:lstStyle/>
          <a:p>
            <a:pPr marL="245745" indent="-171450">
              <a:lnSpc>
                <a:spcPts val="1500"/>
              </a:lnSpc>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Flexible Video Wall Splicing:</a:t>
            </a:r>
            <a:br>
              <a:rPr lang="en-US" altLang="zh-CN" sz="1200" dirty="0">
                <a:solidFill>
                  <a:schemeClr val="tx1">
                    <a:lumMod val="75000"/>
                    <a:lumOff val="25000"/>
                  </a:schemeClr>
                </a:solidFill>
                <a:latin typeface="Roboto" charset="0"/>
                <a:cs typeface="Arial" panose="020B0604020202020204" pitchFamily="34" charset="0"/>
                <a:sym typeface="+mn-ea"/>
              </a:rPr>
            </a:br>
            <a:r>
              <a:rPr lang="en-US" altLang="zh-CN" sz="1100" dirty="0">
                <a:solidFill>
                  <a:schemeClr val="tx1">
                    <a:lumMod val="75000"/>
                    <a:lumOff val="25000"/>
                  </a:schemeClr>
                </a:solidFill>
                <a:latin typeface="Roboto" charset="0"/>
                <a:cs typeface="Arial" panose="020B0604020202020204" pitchFamily="34" charset="0"/>
                <a:sym typeface="+mn-ea"/>
              </a:rPr>
              <a:t>      </a:t>
            </a:r>
            <a:r>
              <a:rPr lang="zh-CN" altLang="en-US" sz="1100" dirty="0">
                <a:solidFill>
                  <a:schemeClr val="tx1">
                    <a:lumMod val="75000"/>
                    <a:lumOff val="25000"/>
                  </a:schemeClr>
                </a:solidFill>
                <a:latin typeface="Roboto" charset="0"/>
                <a:cs typeface="Arial" panose="020B0604020202020204" pitchFamily="34" charset="0"/>
                <a:sym typeface="+mn-ea"/>
              </a:rPr>
              <a:t>(1)Quick Mode: Supports layouts such as 1x4, 2x2, 2x3, 3x2, 4x1, 1x4 [90°], </a:t>
            </a:r>
            <a:r>
              <a:rPr lang="en-US" altLang="zh-CN" sz="1100" dirty="0">
                <a:solidFill>
                  <a:schemeClr val="tx1">
                    <a:lumMod val="75000"/>
                    <a:lumOff val="25000"/>
                  </a:schemeClr>
                </a:solidFill>
                <a:latin typeface="Roboto" charset="0"/>
                <a:cs typeface="Arial" panose="020B0604020202020204" pitchFamily="34" charset="0"/>
                <a:sym typeface="+mn-ea"/>
              </a:rPr>
              <a:t>&amp; </a:t>
            </a:r>
            <a:r>
              <a:rPr lang="zh-CN" altLang="en-US" sz="1100" dirty="0">
                <a:solidFill>
                  <a:schemeClr val="tx1">
                    <a:lumMod val="75000"/>
                    <a:lumOff val="25000"/>
                  </a:schemeClr>
                </a:solidFill>
                <a:latin typeface="Roboto" charset="0"/>
                <a:cs typeface="Arial" panose="020B0604020202020204" pitchFamily="34" charset="0"/>
                <a:sym typeface="+mn-ea"/>
              </a:rPr>
              <a:t>1x3 [60°].</a:t>
            </a:r>
            <a:br>
              <a:rPr lang="en-US" altLang="zh-CN" sz="1100" dirty="0">
                <a:solidFill>
                  <a:schemeClr val="tx1">
                    <a:lumMod val="75000"/>
                    <a:lumOff val="25000"/>
                  </a:schemeClr>
                </a:solidFill>
                <a:latin typeface="Roboto" charset="0"/>
                <a:cs typeface="Arial" panose="020B0604020202020204" pitchFamily="34" charset="0"/>
                <a:sym typeface="+mn-ea"/>
              </a:rPr>
            </a:br>
            <a:r>
              <a:rPr lang="en-US" altLang="zh-CN" sz="1100" dirty="0">
                <a:solidFill>
                  <a:schemeClr val="tx1">
                    <a:lumMod val="75000"/>
                    <a:lumOff val="25000"/>
                  </a:schemeClr>
                </a:solidFill>
                <a:latin typeface="Roboto" charset="0"/>
                <a:cs typeface="Arial" panose="020B0604020202020204" pitchFamily="34" charset="0"/>
                <a:sym typeface="+mn-ea"/>
              </a:rPr>
              <a:t>      </a:t>
            </a:r>
            <a:r>
              <a:rPr lang="zh-CN" altLang="en-US" sz="1100" dirty="0">
                <a:solidFill>
                  <a:schemeClr val="tx1">
                    <a:lumMod val="75000"/>
                    <a:lumOff val="25000"/>
                  </a:schemeClr>
                </a:solidFill>
                <a:latin typeface="Roboto" charset="0"/>
                <a:cs typeface="Arial" panose="020B0604020202020204" pitchFamily="34" charset="0"/>
                <a:sym typeface="+mn-ea"/>
              </a:rPr>
              <a:t>(2)Standard Mode: Configurable as m x n layouts for customized display needs.</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Cascading Feature: Seamlessly expands video walls up to 36 screens (6x6).</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Video Wall Rotation: Supports multiple angles—0°, </a:t>
            </a:r>
            <a:r>
              <a:rPr lang="en-US" altLang="zh-CN" sz="1200" dirty="0">
                <a:solidFill>
                  <a:schemeClr val="tx1">
                    <a:lumMod val="75000"/>
                    <a:lumOff val="25000"/>
                  </a:schemeClr>
                </a:solidFill>
                <a:latin typeface="Roboto" charset="0"/>
                <a:cs typeface="Arial" panose="020B0604020202020204" pitchFamily="34" charset="0"/>
                <a:sym typeface="+mn-ea"/>
              </a:rPr>
              <a:t>60°,</a:t>
            </a:r>
            <a:r>
              <a:rPr lang="zh-CN" altLang="en-US" sz="1200" dirty="0">
                <a:solidFill>
                  <a:schemeClr val="tx1">
                    <a:lumMod val="75000"/>
                    <a:lumOff val="25000"/>
                  </a:schemeClr>
                </a:solidFill>
                <a:latin typeface="Roboto" charset="0"/>
                <a:cs typeface="Arial" panose="020B0604020202020204" pitchFamily="34" charset="0"/>
                <a:sym typeface="+mn-ea"/>
              </a:rPr>
              <a:t> 90°, 180°, and 270°.</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Bezel Correction: Delivers a seamless viewing experience with precise adjustments.</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High-Quality Video Scaling: Supports resolutions up to 4K@60Hz 4:4:4 8-bit.</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fontAlgn="auto">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Ultra-Wide Resolution: Offers exceptional formats, including 3840x600@60Hz and 5400x1920@30Hz.</a:t>
            </a:r>
            <a:endParaRPr lang="en-US" altLang="zh-CN" sz="1200" dirty="0">
              <a:solidFill>
                <a:schemeClr val="tx1">
                  <a:lumMod val="75000"/>
                  <a:lumOff val="25000"/>
                </a:schemeClr>
              </a:solidFill>
              <a:latin typeface="Roboto" charset="0"/>
              <a:cs typeface="Arial" panose="020B0604020202020204" pitchFamily="34" charset="0"/>
              <a:sym typeface="+mn-ea"/>
            </a:endParaRP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OSD Support: On-Screen Display settings available for each HDMI output.</a:t>
            </a:r>
          </a:p>
          <a:p>
            <a:pPr marL="74295" fontAlgn="auto">
              <a:lnSpc>
                <a:spcPts val="600"/>
              </a:lnSpc>
            </a:pPr>
            <a:endParaRPr lang="zh-CN" altLang="en-US" sz="1200" dirty="0">
              <a:solidFill>
                <a:schemeClr val="tx1">
                  <a:lumMod val="75000"/>
                  <a:lumOff val="25000"/>
                </a:schemeClr>
              </a:solidFill>
              <a:latin typeface="Roboto" charset="0"/>
              <a:cs typeface="Arial" panose="020B0604020202020204" pitchFamily="34" charset="0"/>
            </a:endParaRPr>
          </a:p>
          <a:p>
            <a:pPr marL="245745" indent="-171450">
              <a:buFont typeface="Arial" panose="020B0604020202020204" pitchFamily="34" charset="0"/>
              <a:buChar char="•"/>
            </a:pPr>
            <a:r>
              <a:rPr lang="zh-CN" altLang="en-US" sz="1200" dirty="0">
                <a:solidFill>
                  <a:schemeClr val="tx1">
                    <a:lumMod val="75000"/>
                    <a:lumOff val="25000"/>
                  </a:schemeClr>
                </a:solidFill>
                <a:latin typeface="Roboto" charset="0"/>
                <a:cs typeface="Arial" panose="020B0604020202020204" pitchFamily="34" charset="0"/>
                <a:sym typeface="+mn-ea"/>
              </a:rPr>
              <a:t>User-Friendly Web-UI: Upgraded interface for streamlined control and configuration.</a:t>
            </a:r>
          </a:p>
        </p:txBody>
      </p:sp>
      <p:pic>
        <p:nvPicPr>
          <p:cNvPr id="17" name="Picture 16" descr="A black electronic device with knobs and dials&#10;&#10;Description automatically generated"/>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16794" y="357066"/>
            <a:ext cx="6417460" cy="3609822"/>
          </a:xfrm>
          <a:prstGeom prst="rect">
            <a:avLst/>
          </a:prstGeom>
        </p:spPr>
      </p:pic>
      <p:sp>
        <p:nvSpPr>
          <p:cNvPr id="9" name="文本框 8"/>
          <p:cNvSpPr txBox="1"/>
          <p:nvPr/>
        </p:nvSpPr>
        <p:spPr>
          <a:xfrm>
            <a:off x="1834710" y="3344042"/>
            <a:ext cx="2408555" cy="368300"/>
          </a:xfrm>
          <a:prstGeom prst="rect">
            <a:avLst/>
          </a:prstGeom>
          <a:noFill/>
        </p:spPr>
        <p:txBody>
          <a:bodyPr wrap="square" rtlCol="0" anchor="t">
            <a:sp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lang="en-US" sz="2000" b="1" noProof="0" dirty="0">
                <a:ln>
                  <a:noFill/>
                </a:ln>
                <a:solidFill>
                  <a:srgbClr val="0B7935"/>
                </a:solidFill>
                <a:effectLst/>
                <a:uLnTx/>
                <a:uFillTx/>
                <a:latin typeface="Roboto" charset="0"/>
                <a:ea typeface="Roboto"/>
                <a:cs typeface="Roboto" charset="0"/>
                <a:sym typeface="+mn-ea"/>
              </a:rPr>
              <a:t>SW-0204-VW</a:t>
            </a:r>
          </a:p>
        </p:txBody>
      </p:sp>
      <p:sp>
        <p:nvSpPr>
          <p:cNvPr id="11" name="文本框 10"/>
          <p:cNvSpPr txBox="1"/>
          <p:nvPr/>
        </p:nvSpPr>
        <p:spPr>
          <a:xfrm>
            <a:off x="7299960" y="3335910"/>
            <a:ext cx="2857499" cy="368300"/>
          </a:xfrm>
          <a:prstGeom prst="rect">
            <a:avLst/>
          </a:prstGeom>
          <a:noFill/>
        </p:spPr>
        <p:txBody>
          <a:bodyPr wrap="square" rtlCol="0" anchor="t">
            <a:sp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lang="en-US" sz="2000" b="1" noProof="0" dirty="0">
                <a:ln>
                  <a:noFill/>
                </a:ln>
                <a:solidFill>
                  <a:srgbClr val="0B7935"/>
                </a:solidFill>
                <a:effectLst/>
                <a:uLnTx/>
                <a:uFillTx/>
                <a:latin typeface="Roboto" charset="0"/>
                <a:ea typeface="Roboto"/>
                <a:cs typeface="Roboto" charset="0"/>
                <a:sym typeface="+mn-ea"/>
              </a:rPr>
              <a:t>SW-0206-VW</a:t>
            </a:r>
          </a:p>
        </p:txBody>
      </p:sp>
      <p:pic>
        <p:nvPicPr>
          <p:cNvPr id="23" name="Picture 22" descr="A back of a device&#10;&#10;Description automatically generated"/>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5159" y="1154800"/>
            <a:ext cx="5511437" cy="2929184"/>
          </a:xfrm>
          <a:prstGeom prst="rect">
            <a:avLst/>
          </a:prstGeom>
        </p:spPr>
      </p:pic>
      <p:pic>
        <p:nvPicPr>
          <p:cNvPr id="21" name="Picture 20" descr="A black box with knobs and buttons&#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57746" y="431489"/>
            <a:ext cx="5567623" cy="2959045"/>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7" name="矩形 7"/>
          <p:cNvSpPr/>
          <p:nvPr>
            <p:custDataLst>
              <p:tags r:id="rId1"/>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8" name="文本框 6"/>
          <p:cNvSpPr txBox="1"/>
          <p:nvPr>
            <p:custDataLst>
              <p:tags r:id="rId2"/>
            </p:custDataLst>
          </p:nvPr>
        </p:nvSpPr>
        <p:spPr>
          <a:xfrm>
            <a:off x="457155" y="169546"/>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Comparison with Other Competitors</a:t>
            </a:r>
          </a:p>
        </p:txBody>
      </p:sp>
      <p:graphicFrame>
        <p:nvGraphicFramePr>
          <p:cNvPr id="5" name="表格 4"/>
          <p:cNvGraphicFramePr/>
          <p:nvPr>
            <p:custDataLst>
              <p:tags r:id="rId3"/>
            </p:custDataLst>
          </p:nvPr>
        </p:nvGraphicFramePr>
        <p:xfrm>
          <a:off x="1501850" y="1151596"/>
          <a:ext cx="9278374" cy="5560749"/>
        </p:xfrm>
        <a:graphic>
          <a:graphicData uri="http://schemas.openxmlformats.org/drawingml/2006/table">
            <a:tbl>
              <a:tblPr firstRow="1" bandRow="1">
                <a:tableStyleId>{F5AB1C69-6EDB-4FF4-983F-18BD219EF322}</a:tableStyleId>
              </a:tblPr>
              <a:tblGrid>
                <a:gridCol w="1167847">
                  <a:extLst>
                    <a:ext uri="{9D8B030D-6E8A-4147-A177-3AD203B41FA5}">
                      <a16:colId xmlns:a16="http://schemas.microsoft.com/office/drawing/2014/main" val="20000"/>
                    </a:ext>
                  </a:extLst>
                </a:gridCol>
                <a:gridCol w="1366936">
                  <a:extLst>
                    <a:ext uri="{9D8B030D-6E8A-4147-A177-3AD203B41FA5}">
                      <a16:colId xmlns:a16="http://schemas.microsoft.com/office/drawing/2014/main" val="20001"/>
                    </a:ext>
                  </a:extLst>
                </a:gridCol>
                <a:gridCol w="2652077">
                  <a:extLst>
                    <a:ext uri="{9D8B030D-6E8A-4147-A177-3AD203B41FA5}">
                      <a16:colId xmlns:a16="http://schemas.microsoft.com/office/drawing/2014/main" val="20002"/>
                    </a:ext>
                  </a:extLst>
                </a:gridCol>
                <a:gridCol w="1983313">
                  <a:extLst>
                    <a:ext uri="{9D8B030D-6E8A-4147-A177-3AD203B41FA5}">
                      <a16:colId xmlns:a16="http://schemas.microsoft.com/office/drawing/2014/main" val="20003"/>
                    </a:ext>
                  </a:extLst>
                </a:gridCol>
                <a:gridCol w="2108201">
                  <a:extLst>
                    <a:ext uri="{9D8B030D-6E8A-4147-A177-3AD203B41FA5}">
                      <a16:colId xmlns:a16="http://schemas.microsoft.com/office/drawing/2014/main" val="20004"/>
                    </a:ext>
                  </a:extLst>
                </a:gridCol>
              </a:tblGrid>
              <a:tr h="367460">
                <a:tc gridSpan="2">
                  <a:txBody>
                    <a:bodyPr/>
                    <a:lstStyle/>
                    <a:p>
                      <a:pPr algn="ctr">
                        <a:buClrTx/>
                        <a:buSzTx/>
                        <a:buFontTx/>
                        <a:buNone/>
                      </a:pPr>
                      <a:r>
                        <a:rPr lang="en-US" altLang="zh-CN" sz="1000" b="1" dirty="0">
                          <a:solidFill>
                            <a:schemeClr val="bg1"/>
                          </a:solidFill>
                          <a:latin typeface="Roboto" charset="0"/>
                          <a:ea typeface="Roboto" charset="0"/>
                          <a:cs typeface="Arial" panose="020B0604020202020204" pitchFamily="34" charset="0"/>
                        </a:rPr>
                        <a:t>Brands</a:t>
                      </a:r>
                    </a:p>
                  </a:txBody>
                  <a:tcPr marR="85394" marT="0" marB="0" anchor="ctr" anchorCtr="1">
                    <a:solidFill>
                      <a:srgbClr val="0B7935"/>
                    </a:solidFill>
                  </a:tcPr>
                </a:tc>
                <a:tc hMerge="1">
                  <a:txBody>
                    <a:bodyPr/>
                    <a:lstStyle/>
                    <a:p>
                      <a:endParaRPr lang="zh-CN"/>
                    </a:p>
                  </a:txBody>
                  <a:tcPr/>
                </a:tc>
                <a:tc>
                  <a:txBody>
                    <a:bodyPr/>
                    <a:lstStyle/>
                    <a:p>
                      <a:pPr algn="l">
                        <a:buClrTx/>
                        <a:buSzTx/>
                        <a:buFontTx/>
                        <a:buNone/>
                      </a:pPr>
                      <a:r>
                        <a:rPr lang="en-US" altLang="zh-CN" sz="1000" b="1" u="none" dirty="0">
                          <a:solidFill>
                            <a:schemeClr val="bg1"/>
                          </a:solidFill>
                          <a:latin typeface="Roboto" charset="0"/>
                          <a:ea typeface="Roboto" charset="0"/>
                          <a:cs typeface="Arial" panose="020B0604020202020204" pitchFamily="34" charset="0"/>
                        </a:rPr>
                        <a:t>WyreStorm</a:t>
                      </a:r>
                    </a:p>
                  </a:txBody>
                  <a:tcPr marR="11860" marT="11860" marB="0" anchor="ctr" anchorCtr="1">
                    <a:solidFill>
                      <a:srgbClr val="0B7935"/>
                    </a:solidFill>
                  </a:tcPr>
                </a:tc>
                <a:tc>
                  <a:txBody>
                    <a:bodyPr/>
                    <a:lstStyle/>
                    <a:p>
                      <a:pPr algn="l">
                        <a:buClrTx/>
                        <a:buSzTx/>
                        <a:buFontTx/>
                        <a:buNone/>
                      </a:pPr>
                      <a:r>
                        <a:rPr lang="en-US" altLang="zh-CN" sz="1000" b="1" u="none" dirty="0">
                          <a:solidFill>
                            <a:schemeClr val="bg1"/>
                          </a:solidFill>
                          <a:latin typeface="Roboto" charset="0"/>
                          <a:ea typeface="Roboto" charset="0"/>
                          <a:cs typeface="Arial" panose="020B0604020202020204" pitchFamily="34" charset="0"/>
                        </a:rPr>
                        <a:t>Kramer</a:t>
                      </a:r>
                      <a:endParaRPr lang="en-US" altLang="zh-CN" sz="1000" b="1" u="none" dirty="0">
                        <a:solidFill>
                          <a:schemeClr val="bg1"/>
                        </a:solidFill>
                        <a:latin typeface="Roboto" charset="0"/>
                        <a:ea typeface="Roboto" charset="0"/>
                        <a:cs typeface="Arial" panose="020B0604020202020204" pitchFamily="34" charset="0"/>
                        <a:hlinkClick r:id="rId7" action="ppaction://hlinkfile"/>
                      </a:endParaRPr>
                    </a:p>
                  </a:txBody>
                  <a:tcPr marR="11860" marT="11860" marB="0" anchor="ctr" anchorCtr="1">
                    <a:solidFill>
                      <a:srgbClr val="0B7935"/>
                    </a:solidFill>
                  </a:tcPr>
                </a:tc>
                <a:tc>
                  <a:txBody>
                    <a:bodyPr/>
                    <a:lstStyle/>
                    <a:p>
                      <a:pPr algn="l">
                        <a:buClrTx/>
                        <a:buSzTx/>
                        <a:buFontTx/>
                        <a:buNone/>
                      </a:pPr>
                      <a:r>
                        <a:rPr lang="en-US" altLang="zh-CN" sz="1000" b="1" u="none" dirty="0">
                          <a:solidFill>
                            <a:schemeClr val="bg1"/>
                          </a:solidFill>
                          <a:latin typeface="Roboto" charset="0"/>
                          <a:ea typeface="Roboto" charset="0"/>
                          <a:cs typeface="Arial" panose="020B0604020202020204" pitchFamily="34" charset="0"/>
                        </a:rPr>
                        <a:t>DATAPATH</a:t>
                      </a:r>
                      <a:endParaRPr lang="en-US" altLang="zh-CN" sz="1000" b="1" u="none" dirty="0">
                        <a:solidFill>
                          <a:schemeClr val="bg1"/>
                        </a:solidFill>
                        <a:latin typeface="Roboto" charset="0"/>
                        <a:ea typeface="Roboto" charset="0"/>
                        <a:cs typeface="Arial" panose="020B0604020202020204" pitchFamily="34" charset="0"/>
                        <a:hlinkClick r:id="rId8" action="ppaction://hlinkfile"/>
                      </a:endParaRPr>
                    </a:p>
                  </a:txBody>
                  <a:tcPr marR="11860" marT="11860" marB="0" anchor="ctr" anchorCtr="1">
                    <a:solidFill>
                      <a:srgbClr val="0B7935"/>
                    </a:solidFill>
                  </a:tcPr>
                </a:tc>
                <a:extLst>
                  <a:ext uri="{0D108BD9-81ED-4DB2-BD59-A6C34878D82A}">
                    <a16:rowId xmlns:a16="http://schemas.microsoft.com/office/drawing/2014/main" val="10000"/>
                  </a:ext>
                </a:extLst>
              </a:tr>
              <a:tr h="352664">
                <a:tc gridSpan="2">
                  <a:txBody>
                    <a:bodyPr/>
                    <a:lstStyle/>
                    <a:p>
                      <a:pPr algn="l">
                        <a:buClrTx/>
                        <a:buSzTx/>
                        <a:buFontTx/>
                        <a:buNone/>
                      </a:pPr>
                      <a:r>
                        <a:rPr lang="en-US" altLang="zh-CN" sz="1000" dirty="0">
                          <a:solidFill>
                            <a:schemeClr val="bg1"/>
                          </a:solidFill>
                          <a:latin typeface="Roboto" charset="0"/>
                          <a:ea typeface="Roboto" charset="0"/>
                          <a:cs typeface="Arial" panose="020B0604020202020204" pitchFamily="34" charset="0"/>
                        </a:rPr>
                        <a:t>Model</a:t>
                      </a:r>
                    </a:p>
                  </a:txBody>
                  <a:tcPr marR="85394" marT="42697" marB="0" anchor="ctr" anchorCtr="1">
                    <a:solidFill>
                      <a:srgbClr val="0B7935"/>
                    </a:solidFill>
                  </a:tcPr>
                </a:tc>
                <a:tc hMerge="1">
                  <a:txBody>
                    <a:bodyPr/>
                    <a:lstStyle/>
                    <a:p>
                      <a:endParaRPr lang="zh-C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b="0" u="none" dirty="0">
                          <a:solidFill>
                            <a:schemeClr val="bg1"/>
                          </a:solidFill>
                          <a:latin typeface="Roboto" charset="0"/>
                          <a:ea typeface="Roboto" charset="0"/>
                          <a:cs typeface="Arial" panose="020B0604020202020204" pitchFamily="34" charset="0"/>
                        </a:rPr>
                        <a:t>SW-0206-VW</a:t>
                      </a:r>
                    </a:p>
                  </a:txBody>
                  <a:tcPr marR="11860" marT="11860" marB="0" anchor="ctr" anchorCtr="1">
                    <a:solidFill>
                      <a:srgbClr val="0B793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b="0" u="none" dirty="0">
                          <a:solidFill>
                            <a:schemeClr val="bg1"/>
                          </a:solidFill>
                          <a:latin typeface="Roboto" charset="0"/>
                          <a:ea typeface="Roboto" charset="0"/>
                          <a:cs typeface="Arial" panose="020B0604020202020204" pitchFamily="34" charset="0"/>
                        </a:rPr>
                        <a:t>VW-4</a:t>
                      </a:r>
                    </a:p>
                  </a:txBody>
                  <a:tcPr marR="11860" marT="11860" marB="0" anchor="ctr" anchorCtr="1">
                    <a:solidFill>
                      <a:srgbClr val="0B793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b="0" u="none" dirty="0">
                          <a:solidFill>
                            <a:schemeClr val="bg1"/>
                          </a:solidFill>
                          <a:latin typeface="Roboto" charset="0"/>
                          <a:ea typeface="Roboto" charset="0"/>
                          <a:cs typeface="Arial" panose="020B0604020202020204" pitchFamily="34" charset="0"/>
                        </a:rPr>
                        <a:t>Datapath Fx4-HDR</a:t>
                      </a:r>
                      <a:endParaRPr lang="en-US" altLang="zh-CN" sz="1000" u="none" dirty="0">
                        <a:latin typeface="Roboto" charset="0"/>
                        <a:ea typeface="Roboto" charset="0"/>
                        <a:cs typeface="Arial" panose="020B0604020202020204" pitchFamily="34" charset="0"/>
                      </a:endParaRPr>
                    </a:p>
                  </a:txBody>
                  <a:tcPr marR="11860" marT="11860" marB="0" anchor="ctr" anchorCtr="1">
                    <a:solidFill>
                      <a:srgbClr val="0B7935"/>
                    </a:solidFill>
                  </a:tcPr>
                </a:tc>
                <a:extLst>
                  <a:ext uri="{0D108BD9-81ED-4DB2-BD59-A6C34878D82A}">
                    <a16:rowId xmlns:a16="http://schemas.microsoft.com/office/drawing/2014/main" val="10001"/>
                  </a:ext>
                </a:extLst>
              </a:tr>
              <a:tr h="253400">
                <a:tc rowSpan="7">
                  <a:txBody>
                    <a:bodyPr/>
                    <a:lstStyle/>
                    <a:p>
                      <a:pPr algn="l">
                        <a:buClrTx/>
                        <a:buSzTx/>
                        <a:buFontTx/>
                        <a:buNone/>
                      </a:pPr>
                      <a:r>
                        <a:rPr lang="en-US" altLang="zh-CN" sz="900" dirty="0">
                          <a:latin typeface="Roboto" charset="0"/>
                          <a:ea typeface="Roboto" charset="0"/>
                          <a:cs typeface="Arial" panose="020B0604020202020204" pitchFamily="34" charset="0"/>
                        </a:rPr>
                        <a:t>Video Wall</a:t>
                      </a:r>
                    </a:p>
                  </a:txBody>
                  <a:tcPr marR="85394" marT="42697" marB="0" anchor="ctr">
                    <a:solidFill>
                      <a:srgbClr val="CBE7D4"/>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Quick Video Wall</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1x4, 2x2, 3x2, 4x1, 1x4(90°), </a:t>
                      </a:r>
                      <a:r>
                        <a:rPr lang="en-US" altLang="zh-CN" sz="900" b="1" dirty="0">
                          <a:latin typeface="Roboto" charset="0"/>
                          <a:ea typeface="Roboto" charset="0"/>
                          <a:cs typeface="Arial" panose="020B0604020202020204" pitchFamily="34" charset="0"/>
                        </a:rPr>
                        <a:t>1x3(60°)</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2x2, 4x1, 1x4, 2x1, 3x1</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02"/>
                  </a:ext>
                </a:extLst>
              </a:tr>
              <a:tr h="259728">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Standard Video Wall</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M x N</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 (M x N)</a:t>
                      </a:r>
                    </a:p>
                  </a:txBody>
                  <a:tcPr marR="11860" marT="11860" marB="0" anchor="ctr"/>
                </a:tc>
                <a:extLst>
                  <a:ext uri="{0D108BD9-81ED-4DB2-BD59-A6C34878D82A}">
                    <a16:rowId xmlns:a16="http://schemas.microsoft.com/office/drawing/2014/main" val="10003"/>
                  </a:ext>
                </a:extLst>
              </a:tr>
              <a:tr h="201574">
                <a:tc vMerge="1">
                  <a:txBody>
                    <a:bodyPr/>
                    <a:lstStyle/>
                    <a:p>
                      <a:endParaRPr lang="zh-CN"/>
                    </a:p>
                  </a:txBody>
                  <a:tcPr/>
                </a:tc>
                <a:tc>
                  <a:txBody>
                    <a:bodyPr/>
                    <a:lstStyle/>
                    <a:p>
                      <a:pPr algn="l">
                        <a:buClrTx/>
                        <a:buSzTx/>
                        <a:buFontTx/>
                        <a:buNone/>
                      </a:pPr>
                      <a:r>
                        <a:rPr lang="en-US" altLang="zh-CN" sz="900" b="1" dirty="0">
                          <a:latin typeface="Roboto" charset="0"/>
                          <a:ea typeface="Roboto" charset="0"/>
                          <a:cs typeface="Arial" panose="020B0604020202020204" pitchFamily="34" charset="0"/>
                        </a:rPr>
                        <a:t>Mosaic Video Wall</a:t>
                      </a:r>
                    </a:p>
                  </a:txBody>
                  <a:tcPr marR="11860" marT="11860" marB="0" anchor="ctr">
                    <a:solidFill>
                      <a:schemeClr val="accent3"/>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extLst>
                  <a:ext uri="{0D108BD9-81ED-4DB2-BD59-A6C34878D82A}">
                    <a16:rowId xmlns:a16="http://schemas.microsoft.com/office/drawing/2014/main" val="10004"/>
                  </a:ext>
                </a:extLst>
              </a:tr>
              <a:tr h="423478">
                <a:tc vMerge="1">
                  <a:txBody>
                    <a:bodyPr/>
                    <a:lstStyle/>
                    <a:p>
                      <a:endParaRPr lang="zh-CN"/>
                    </a:p>
                  </a:txBody>
                  <a:tcPr/>
                </a:tc>
                <a:tc>
                  <a:txBody>
                    <a:bodyPr/>
                    <a:lstStyle/>
                    <a:p>
                      <a:pPr algn="l">
                        <a:buClrTx/>
                        <a:buSzTx/>
                        <a:buFontTx/>
                        <a:buNone/>
                      </a:pPr>
                      <a:r>
                        <a:rPr lang="en-US" altLang="zh-CN" sz="900" b="1" dirty="0">
                          <a:latin typeface="Roboto" charset="0"/>
                          <a:ea typeface="Roboto" charset="0"/>
                          <a:cs typeface="Arial" panose="020B0604020202020204" pitchFamily="34" charset="0"/>
                        </a:rPr>
                        <a:t>Cascading</a:t>
                      </a:r>
                    </a:p>
                  </a:txBody>
                  <a:tcPr marR="11860" marT="11860" marB="0" anchor="ctr">
                    <a:solidFill>
                      <a:schemeClr val="accent3"/>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maximum</a:t>
                      </a:r>
                      <a:r>
                        <a:rPr lang="en-US" altLang="zh-CN" sz="900" baseline="0" dirty="0">
                          <a:latin typeface="Roboto" charset="0"/>
                          <a:ea typeface="Roboto" charset="0"/>
                          <a:cs typeface="Arial" panose="020B0604020202020204" pitchFamily="34" charset="0"/>
                        </a:rPr>
                        <a:t> of 6 devices cascading,</a:t>
                      </a:r>
                    </a:p>
                    <a:p>
                      <a:pPr algn="l">
                        <a:buClrTx/>
                        <a:buSzTx/>
                        <a:buFontTx/>
                        <a:buNone/>
                      </a:pPr>
                      <a:r>
                        <a:rPr lang="en-US" altLang="zh-CN" sz="900" baseline="0" dirty="0">
                          <a:latin typeface="Roboto" charset="0"/>
                          <a:ea typeface="Roboto" charset="0"/>
                          <a:cs typeface="Arial" panose="020B0604020202020204" pitchFamily="34" charset="0"/>
                        </a:rPr>
                        <a:t>video wall up to 36 (6x6) screens</a:t>
                      </a:r>
                      <a:endParaRPr lang="en-US" altLang="zh-CN" sz="900" dirty="0">
                        <a:latin typeface="Roboto" charset="0"/>
                        <a:ea typeface="Roboto" charset="0"/>
                        <a:cs typeface="Arial" panose="020B0604020202020204" pitchFamily="34" charset="0"/>
                      </a:endParaRP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maximum</a:t>
                      </a:r>
                      <a:r>
                        <a:rPr lang="en-US" altLang="zh-CN" sz="900" baseline="0" dirty="0">
                          <a:latin typeface="Roboto" charset="0"/>
                          <a:ea typeface="Roboto" charset="0"/>
                          <a:cs typeface="Arial" panose="020B0604020202020204" pitchFamily="34" charset="0"/>
                        </a:rPr>
                        <a:t> of 16 devices cascading,</a:t>
                      </a:r>
                    </a:p>
                    <a:p>
                      <a:pPr algn="l">
                        <a:buClrTx/>
                        <a:buSzTx/>
                        <a:buFontTx/>
                        <a:buNone/>
                      </a:pPr>
                      <a:r>
                        <a:rPr lang="en-US" altLang="zh-CN" sz="900" baseline="0" dirty="0">
                          <a:latin typeface="Roboto" charset="0"/>
                          <a:ea typeface="Roboto" charset="0"/>
                          <a:cs typeface="Arial" panose="020B0604020202020204" pitchFamily="34" charset="0"/>
                        </a:rPr>
                        <a:t>video wall up to 64 (8x8) screens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Cascading</a:t>
                      </a:r>
                      <a:r>
                        <a:rPr lang="en-US" altLang="zh-CN" sz="900" baseline="0" dirty="0">
                          <a:latin typeface="Roboto" charset="0"/>
                          <a:ea typeface="Roboto" charset="0"/>
                          <a:cs typeface="Arial" panose="020B0604020202020204" pitchFamily="34" charset="0"/>
                        </a:rPr>
                        <a:t> support,</a:t>
                      </a:r>
                      <a:endParaRPr lang="en-US" altLang="zh-CN" sz="900" dirty="0">
                        <a:latin typeface="Roboto" charset="0"/>
                        <a:ea typeface="Roboto" charset="0"/>
                        <a:cs typeface="Arial" panose="020B0604020202020204" pitchFamily="34" charset="0"/>
                      </a:endParaRPr>
                    </a:p>
                  </a:txBody>
                  <a:tcPr marR="11860" marT="11860" marB="0" anchor="ctr"/>
                </a:tc>
                <a:extLst>
                  <a:ext uri="{0D108BD9-81ED-4DB2-BD59-A6C34878D82A}">
                    <a16:rowId xmlns:a16="http://schemas.microsoft.com/office/drawing/2014/main" val="10005"/>
                  </a:ext>
                </a:extLst>
              </a:tr>
              <a:tr h="250190">
                <a:tc vMerge="1">
                  <a:txBody>
                    <a:bodyPr/>
                    <a:lstStyle/>
                    <a:p>
                      <a:endParaRPr lang="zh-CN"/>
                    </a:p>
                  </a:txBody>
                  <a:tcPr/>
                </a:tc>
                <a:tc>
                  <a:txBody>
                    <a:bodyPr/>
                    <a:lstStyle/>
                    <a:p>
                      <a:pPr algn="l">
                        <a:buClrTx/>
                        <a:buSzTx/>
                        <a:buFontTx/>
                        <a:buNone/>
                      </a:pPr>
                      <a:r>
                        <a:rPr lang="en-US" altLang="zh-CN" sz="900" b="1" dirty="0">
                          <a:latin typeface="Roboto" charset="0"/>
                          <a:ea typeface="Roboto" charset="0"/>
                          <a:cs typeface="Arial" panose="020B0604020202020204" pitchFamily="34" charset="0"/>
                        </a:rPr>
                        <a:t>Rotation</a:t>
                      </a:r>
                    </a:p>
                  </a:txBody>
                  <a:tcPr marR="11860" marT="11860" marB="0" anchor="ctr">
                    <a:solidFill>
                      <a:schemeClr val="accent3"/>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0°, 60°, 90°, 180°, 270°</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0°, 90°, 180°, 270°</a:t>
                      </a:r>
                    </a:p>
                  </a:txBody>
                  <a:tcPr marR="11860" marT="11860" marB="0" anchor="ctr"/>
                </a:tc>
                <a:extLst>
                  <a:ext uri="{0D108BD9-81ED-4DB2-BD59-A6C34878D82A}">
                    <a16:rowId xmlns:a16="http://schemas.microsoft.com/office/drawing/2014/main" val="10006"/>
                  </a:ext>
                </a:extLst>
              </a:tr>
              <a:tr h="204693">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Bezel Adjustment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extLst>
                  <a:ext uri="{0D108BD9-81ED-4DB2-BD59-A6C34878D82A}">
                    <a16:rowId xmlns:a16="http://schemas.microsoft.com/office/drawing/2014/main" val="10007"/>
                  </a:ext>
                </a:extLst>
              </a:tr>
              <a:tr h="204693">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Preset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08"/>
                  </a:ext>
                </a:extLst>
              </a:tr>
              <a:tr h="500636">
                <a:tc rowSpan="7">
                  <a:txBody>
                    <a:bodyPr/>
                    <a:lstStyle/>
                    <a:p>
                      <a:pPr algn="l">
                        <a:buClrTx/>
                        <a:buSzTx/>
                        <a:buFontTx/>
                        <a:buNone/>
                      </a:pPr>
                      <a:r>
                        <a:rPr lang="en-US" altLang="zh-CN" sz="900" dirty="0">
                          <a:latin typeface="Roboto" charset="0"/>
                          <a:ea typeface="Roboto" charset="0"/>
                          <a:cs typeface="Arial" panose="020B0604020202020204" pitchFamily="34" charset="0"/>
                        </a:rPr>
                        <a:t>Video</a:t>
                      </a:r>
                    </a:p>
                  </a:txBody>
                  <a:tcPr marR="85394" marT="42697" marB="0" anchor="ctr">
                    <a:solidFill>
                      <a:srgbClr val="CBE7D4"/>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Input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2x HDMI Inputs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1x HDMI Input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3x HDMI Inputs:</a:t>
                      </a:r>
                    </a:p>
                    <a:p>
                      <a:pPr algn="l">
                        <a:buClrTx/>
                        <a:buSzTx/>
                        <a:buFontTx/>
                        <a:buNone/>
                      </a:pPr>
                      <a:r>
                        <a:rPr lang="en-US" altLang="zh-CN" sz="900" dirty="0">
                          <a:latin typeface="Roboto" charset="0"/>
                          <a:ea typeface="Roboto" charset="0"/>
                          <a:cs typeface="Arial" panose="020B0604020202020204" pitchFamily="34" charset="0"/>
                        </a:rPr>
                        <a:t>(2x HDMI 1.4 Inputs,</a:t>
                      </a:r>
                      <a:r>
                        <a:rPr lang="en-US" altLang="zh-CN" sz="900" baseline="0" dirty="0">
                          <a:latin typeface="Roboto" charset="0"/>
                          <a:ea typeface="Roboto" charset="0"/>
                          <a:cs typeface="Arial" panose="020B0604020202020204" pitchFamily="34" charset="0"/>
                        </a:rPr>
                        <a:t> </a:t>
                      </a:r>
                      <a:r>
                        <a:rPr lang="en-US" altLang="zh-CN" sz="900" dirty="0">
                          <a:latin typeface="Roboto" charset="0"/>
                          <a:ea typeface="Roboto" charset="0"/>
                          <a:cs typeface="Arial" panose="020B0604020202020204" pitchFamily="34" charset="0"/>
                        </a:rPr>
                        <a:t>1x HDMI 2.2 Input)</a:t>
                      </a:r>
                    </a:p>
                  </a:txBody>
                  <a:tcPr marR="11860" marT="11860" marB="0" anchor="ctr"/>
                </a:tc>
                <a:extLst>
                  <a:ext uri="{0D108BD9-81ED-4DB2-BD59-A6C34878D82A}">
                    <a16:rowId xmlns:a16="http://schemas.microsoft.com/office/drawing/2014/main" val="10009"/>
                  </a:ext>
                </a:extLst>
              </a:tr>
              <a:tr h="352664">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Output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6x HDMI Outputs</a:t>
                      </a:r>
                    </a:p>
                    <a:p>
                      <a:pPr algn="l">
                        <a:buClrTx/>
                        <a:buSzTx/>
                        <a:buFontTx/>
                        <a:buNone/>
                      </a:pPr>
                      <a:r>
                        <a:rPr lang="en-US" altLang="zh-CN" sz="900" dirty="0">
                          <a:latin typeface="Roboto" charset="0"/>
                          <a:ea typeface="Roboto" charset="0"/>
                          <a:cs typeface="Arial" panose="020B0604020202020204" pitchFamily="34" charset="0"/>
                        </a:rPr>
                        <a:t>1x Loop Outputs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1x HDMI Output</a:t>
                      </a:r>
                    </a:p>
                    <a:p>
                      <a:pPr algn="l">
                        <a:buClrTx/>
                        <a:buSzTx/>
                        <a:buFontTx/>
                        <a:buNone/>
                      </a:pPr>
                      <a:r>
                        <a:rPr lang="en-US" altLang="zh-CN" sz="900" dirty="0">
                          <a:latin typeface="Roboto" charset="0"/>
                          <a:ea typeface="Roboto" charset="0"/>
                          <a:cs typeface="Arial" panose="020B0604020202020204" pitchFamily="34" charset="0"/>
                        </a:rPr>
                        <a:t>1x Loop Output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4x HDMI Outputs</a:t>
                      </a:r>
                    </a:p>
                    <a:p>
                      <a:pPr algn="l">
                        <a:buClrTx/>
                        <a:buSzTx/>
                        <a:buFontTx/>
                        <a:buNone/>
                      </a:pPr>
                      <a:r>
                        <a:rPr lang="en-US" altLang="zh-CN" sz="900" dirty="0">
                          <a:latin typeface="Roboto" charset="0"/>
                          <a:ea typeface="Roboto" charset="0"/>
                          <a:cs typeface="Arial" panose="020B0604020202020204" pitchFamily="34" charset="0"/>
                        </a:rPr>
                        <a:t>1x Loop Outputs</a:t>
                      </a:r>
                    </a:p>
                  </a:txBody>
                  <a:tcPr marR="11860" marT="11860" marB="0" anchor="ctr"/>
                </a:tc>
                <a:extLst>
                  <a:ext uri="{0D108BD9-81ED-4DB2-BD59-A6C34878D82A}">
                    <a16:rowId xmlns:a16="http://schemas.microsoft.com/office/drawing/2014/main" val="10010"/>
                  </a:ext>
                </a:extLst>
              </a:tr>
              <a:tr h="500636">
                <a:tc vMerge="1">
                  <a:txBody>
                    <a:bodyPr/>
                    <a:lstStyle/>
                    <a:p>
                      <a:endParaRPr lang="zh-CN"/>
                    </a:p>
                  </a:txBody>
                  <a:tcPr/>
                </a:tc>
                <a:tc rowSpan="4">
                  <a:txBody>
                    <a:bodyPr/>
                    <a:lstStyle/>
                    <a:p>
                      <a:pPr algn="l">
                        <a:buClrTx/>
                        <a:buSzTx/>
                        <a:buFontTx/>
                        <a:buNone/>
                      </a:pPr>
                      <a:r>
                        <a:rPr lang="en-US" altLang="zh-CN" sz="900" b="1" dirty="0">
                          <a:latin typeface="Roboto" charset="0"/>
                          <a:ea typeface="Roboto" charset="0"/>
                          <a:cs typeface="Arial" panose="020B0604020202020204" pitchFamily="34" charset="0"/>
                        </a:rPr>
                        <a:t>Resolution</a:t>
                      </a:r>
                    </a:p>
                  </a:txBody>
                  <a:tcPr marR="85394" marT="42697" marB="0" anchor="ctr">
                    <a:solidFill>
                      <a:schemeClr val="accent3"/>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4K@60Hz 4:4:4 8bit Input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4K@60Hz 4:4:4 8bit Input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2x HDMI 1.4 Inputs</a:t>
                      </a:r>
                    </a:p>
                    <a:p>
                      <a:pPr algn="l">
                        <a:buClrTx/>
                        <a:buSzTx/>
                        <a:buFontTx/>
                        <a:buNone/>
                      </a:pPr>
                      <a:r>
                        <a:rPr lang="en-US" altLang="zh-CN" sz="900" dirty="0">
                          <a:latin typeface="Roboto" charset="0"/>
                          <a:ea typeface="Roboto" charset="0"/>
                          <a:cs typeface="Arial" panose="020B0604020202020204" pitchFamily="34" charset="0"/>
                        </a:rPr>
                        <a:t>1x HDMI 2.2 Input</a:t>
                      </a:r>
                    </a:p>
                  </a:txBody>
                  <a:tcPr marR="11860" marT="11860" marB="0" anchor="ctr"/>
                </a:tc>
                <a:extLst>
                  <a:ext uri="{0D108BD9-81ED-4DB2-BD59-A6C34878D82A}">
                    <a16:rowId xmlns:a16="http://schemas.microsoft.com/office/drawing/2014/main" val="10011"/>
                  </a:ext>
                </a:extLst>
              </a:tr>
              <a:tr h="204693">
                <a:tc vMerge="1">
                  <a:txBody>
                    <a:bodyPr/>
                    <a:lstStyle/>
                    <a:p>
                      <a:endParaRPr lang="zh-CN"/>
                    </a:p>
                  </a:txBody>
                  <a:tcPr/>
                </a:tc>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4K@60Hz 4:4:4 8bit Output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HDMI outputs: 1080P</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HDMI outputs: 1920 x 1200 @60Hz</a:t>
                      </a:r>
                    </a:p>
                  </a:txBody>
                  <a:tcPr marR="11860" marT="11860" marB="0" anchor="ctr"/>
                </a:tc>
                <a:extLst>
                  <a:ext uri="{0D108BD9-81ED-4DB2-BD59-A6C34878D82A}">
                    <a16:rowId xmlns:a16="http://schemas.microsoft.com/office/drawing/2014/main" val="10012"/>
                  </a:ext>
                </a:extLst>
              </a:tr>
              <a:tr h="204693">
                <a:tc vMerge="1">
                  <a:txBody>
                    <a:bodyPr/>
                    <a:lstStyle/>
                    <a:p>
                      <a:endParaRPr lang="zh-CN"/>
                    </a:p>
                  </a:txBody>
                  <a:tcPr/>
                </a:tc>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3840x600@60Hz</a:t>
                      </a:r>
                      <a:endParaRPr lang="en-US" altLang="zh-CN" sz="900" dirty="0">
                        <a:latin typeface="Roboto" charset="0"/>
                        <a:ea typeface="Roboto" charset="0"/>
                        <a:cs typeface="Arial" panose="020B0604020202020204" pitchFamily="34" charset="0"/>
                        <a:hlinkClick r:id="rId9"/>
                      </a:endParaRP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13"/>
                  </a:ext>
                </a:extLst>
              </a:tr>
              <a:tr h="204693">
                <a:tc vMerge="1">
                  <a:txBody>
                    <a:bodyPr/>
                    <a:lstStyle/>
                    <a:p>
                      <a:endParaRPr lang="zh-CN"/>
                    </a:p>
                  </a:txBody>
                  <a:tcPr/>
                </a:tc>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5400x1920@30Hz</a:t>
                      </a:r>
                      <a:endParaRPr lang="en-US" altLang="zh-CN" sz="900" dirty="0">
                        <a:latin typeface="Roboto" charset="0"/>
                        <a:ea typeface="Roboto" charset="0"/>
                        <a:cs typeface="Arial" panose="020B0604020202020204" pitchFamily="34" charset="0"/>
                        <a:hlinkClick r:id="rId10"/>
                      </a:endParaRP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14"/>
                  </a:ext>
                </a:extLst>
              </a:tr>
              <a:tr h="204693">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OSD</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15"/>
                  </a:ext>
                </a:extLst>
              </a:tr>
              <a:tr h="204693">
                <a:tc>
                  <a:txBody>
                    <a:bodyPr/>
                    <a:lstStyle/>
                    <a:p>
                      <a:pPr algn="l">
                        <a:buClrTx/>
                        <a:buSzTx/>
                        <a:buFontTx/>
                        <a:buNone/>
                      </a:pPr>
                      <a:r>
                        <a:rPr lang="en-US" altLang="zh-CN" sz="900" dirty="0">
                          <a:latin typeface="Roboto" charset="0"/>
                          <a:ea typeface="Roboto" charset="0"/>
                          <a:cs typeface="Arial" panose="020B0604020202020204" pitchFamily="34" charset="0"/>
                        </a:rPr>
                        <a:t>Audio</a:t>
                      </a:r>
                    </a:p>
                  </a:txBody>
                  <a:tcPr marR="11860" marT="11860" marB="0" anchor="ctr">
                    <a:solidFill>
                      <a:srgbClr val="CBE7D4"/>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Audio Output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1x 5-pin balanced analog audio output</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1x SYNC</a:t>
                      </a:r>
                    </a:p>
                  </a:txBody>
                  <a:tcPr marR="11860" marT="11860" marB="0" anchor="ctr"/>
                </a:tc>
                <a:extLst>
                  <a:ext uri="{0D108BD9-81ED-4DB2-BD59-A6C34878D82A}">
                    <a16:rowId xmlns:a16="http://schemas.microsoft.com/office/drawing/2014/main" val="10016"/>
                  </a:ext>
                </a:extLst>
              </a:tr>
              <a:tr h="204693">
                <a:tc rowSpan="3">
                  <a:txBody>
                    <a:bodyPr/>
                    <a:lstStyle/>
                    <a:p>
                      <a:pPr algn="l">
                        <a:buClrTx/>
                        <a:buSzTx/>
                        <a:buFontTx/>
                        <a:buNone/>
                      </a:pPr>
                      <a:r>
                        <a:rPr lang="en-US" altLang="zh-CN" sz="900" dirty="0">
                          <a:latin typeface="Roboto" charset="0"/>
                          <a:ea typeface="Roboto" charset="0"/>
                          <a:cs typeface="Arial" panose="020B0604020202020204" pitchFamily="34" charset="0"/>
                        </a:rPr>
                        <a:t>Control</a:t>
                      </a:r>
                    </a:p>
                  </a:txBody>
                  <a:tcPr marR="85394" marT="42697" marB="0" anchor="ctr">
                    <a:solidFill>
                      <a:srgbClr val="CBE7D4"/>
                    </a:solidFill>
                  </a:tcPr>
                </a:tc>
                <a:tc>
                  <a:txBody>
                    <a:bodyPr/>
                    <a:lstStyle/>
                    <a:p>
                      <a:pPr algn="l">
                        <a:buClrTx/>
                        <a:buSzTx/>
                        <a:buFontTx/>
                        <a:buNone/>
                      </a:pPr>
                      <a:r>
                        <a:rPr lang="en-US" altLang="zh-CN" sz="900" dirty="0">
                          <a:latin typeface="Roboto" charset="0"/>
                          <a:ea typeface="Roboto" charset="0"/>
                          <a:cs typeface="Arial" panose="020B0604020202020204" pitchFamily="34" charset="0"/>
                        </a:rPr>
                        <a:t>Panel Button</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17"/>
                  </a:ext>
                </a:extLst>
              </a:tr>
              <a:tr h="207375">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RS232</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No</a:t>
                      </a:r>
                    </a:p>
                  </a:txBody>
                  <a:tcPr marR="11860" marT="11860" marB="0" anchor="ctr"/>
                </a:tc>
                <a:extLst>
                  <a:ext uri="{0D108BD9-81ED-4DB2-BD59-A6C34878D82A}">
                    <a16:rowId xmlns:a16="http://schemas.microsoft.com/office/drawing/2014/main" val="10018"/>
                  </a:ext>
                </a:extLst>
              </a:tr>
              <a:tr h="253400">
                <a:tc vMerge="1">
                  <a:txBody>
                    <a:bodyPr/>
                    <a:lstStyle/>
                    <a:p>
                      <a:endParaRPr lang="zh-CN"/>
                    </a:p>
                  </a:txBody>
                  <a:tcPr/>
                </a:tc>
                <a:tc>
                  <a:txBody>
                    <a:bodyPr/>
                    <a:lstStyle/>
                    <a:p>
                      <a:pPr algn="l">
                        <a:buClrTx/>
                        <a:buSzTx/>
                        <a:buFontTx/>
                        <a:buNone/>
                      </a:pPr>
                      <a:r>
                        <a:rPr lang="en-US" altLang="zh-CN" sz="900" dirty="0">
                          <a:latin typeface="Roboto" charset="0"/>
                          <a:ea typeface="Roboto" charset="0"/>
                          <a:cs typeface="Arial" panose="020B0604020202020204" pitchFamily="34" charset="0"/>
                        </a:rPr>
                        <a:t>LAN (Web-UI)</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tc>
                  <a:txBody>
                    <a:bodyPr/>
                    <a:lstStyle/>
                    <a:p>
                      <a:pPr algn="l">
                        <a:buClrTx/>
                        <a:buSzTx/>
                        <a:buFontTx/>
                        <a:buNone/>
                      </a:pPr>
                      <a:r>
                        <a:rPr lang="en-US" altLang="zh-CN" sz="900" dirty="0">
                          <a:latin typeface="Roboto" charset="0"/>
                          <a:ea typeface="Roboto" charset="0"/>
                          <a:cs typeface="Arial" panose="020B0604020202020204" pitchFamily="34" charset="0"/>
                        </a:rPr>
                        <a:t>Yes</a:t>
                      </a:r>
                    </a:p>
                  </a:txBody>
                  <a:tcPr marR="11860" marT="1186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11"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61926"/>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Our Advantages</a:t>
            </a:r>
          </a:p>
        </p:txBody>
      </p:sp>
      <p:pic>
        <p:nvPicPr>
          <p:cNvPr id="5" name="Google Shape;82;p1"/>
          <p:cNvPicPr preferRelativeResize="0"/>
          <p:nvPr/>
        </p:nvPicPr>
        <p:blipFill>
          <a:blip r:embed="rId1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 name="Title 6"/>
          <p:cNvSpPr txBox="1"/>
          <p:nvPr>
            <p:custDataLst>
              <p:tags r:id="rId4"/>
            </p:custDataLst>
          </p:nvPr>
        </p:nvSpPr>
        <p:spPr>
          <a:xfrm>
            <a:off x="457155" y="1286271"/>
            <a:ext cx="10805205" cy="949564"/>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This product is ideal for corporate presentations, retail displays, exhibition halls, and event rentals, offering flexible inputs, rotation settings, and wide-screen resolution support to meet diverse needs with ease.</a:t>
            </a:r>
          </a:p>
        </p:txBody>
      </p:sp>
      <p:sp>
        <p:nvSpPr>
          <p:cNvPr id="3" name="Title 6"/>
          <p:cNvSpPr txBox="1"/>
          <p:nvPr>
            <p:custDataLst>
              <p:tags r:id="rId5"/>
            </p:custDataLst>
          </p:nvPr>
        </p:nvSpPr>
        <p:spPr>
          <a:xfrm>
            <a:off x="495255" y="2648960"/>
            <a:ext cx="6598965"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ts val="1900"/>
              </a:lnSpc>
              <a:spcBef>
                <a:spcPts val="0"/>
              </a:spcBef>
              <a:spcAft>
                <a:spcPts val="800"/>
              </a:spcAft>
              <a:buSzPct val="100000"/>
              <a:buFont typeface="Arial" panose="020B0604020202020204" pitchFamily="34" charset="0"/>
              <a:buChar char="•"/>
            </a:pP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2x HDMI Inputs &amp; 7x HDMI Outputs: Supports multiple displays, with a loop-out port for cascading to build large-scale video walls.</a:t>
            </a:r>
          </a:p>
        </p:txBody>
      </p:sp>
      <p:sp>
        <p:nvSpPr>
          <p:cNvPr id="4" name="Title 6"/>
          <p:cNvSpPr txBox="1"/>
          <p:nvPr>
            <p:custDataLst>
              <p:tags r:id="rId6"/>
            </p:custDataLst>
          </p:nvPr>
        </p:nvSpPr>
        <p:spPr>
          <a:xfrm>
            <a:off x="457155" y="2371519"/>
            <a:ext cx="4625340" cy="563917"/>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ts val="1900"/>
              </a:lnSpc>
              <a:spcBef>
                <a:spcPts val="0"/>
              </a:spcBef>
              <a:spcAft>
                <a:spcPts val="800"/>
              </a:spcAft>
              <a:buSzPct val="100000"/>
              <a:buFont typeface="Wingdings" panose="05000000000000000000" charset="0"/>
              <a:buNone/>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Our Key Advantages Include:</a:t>
            </a:r>
          </a:p>
        </p:txBody>
      </p:sp>
      <p:sp>
        <p:nvSpPr>
          <p:cNvPr id="8" name="Title 6"/>
          <p:cNvSpPr txBox="1"/>
          <p:nvPr>
            <p:custDataLst>
              <p:tags r:id="rId7"/>
            </p:custDataLst>
          </p:nvPr>
        </p:nvSpPr>
        <p:spPr>
          <a:xfrm>
            <a:off x="495255" y="3327140"/>
            <a:ext cx="5230601"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ts val="1900"/>
              </a:lnSpc>
              <a:spcBef>
                <a:spcPts val="0"/>
              </a:spcBef>
              <a:spcAft>
                <a:spcPts val="800"/>
              </a:spcAft>
              <a:buSzPct val="100000"/>
              <a:buFont typeface="Arial" panose="020B0604020202020204" pitchFamily="34" charset="0"/>
              <a:buChar char="•"/>
            </a:pP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Flexible Video Rotation: Supports rotation options of 0°, 60</a:t>
            </a:r>
            <a:r>
              <a:rPr lang="en-US" altLang="zh-CN"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a:t>
            </a:r>
            <a:r>
              <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90°, 180°, and 270° to fit various display setups.</a:t>
            </a:r>
          </a:p>
        </p:txBody>
      </p:sp>
      <p:sp>
        <p:nvSpPr>
          <p:cNvPr id="10" name="Title 6"/>
          <p:cNvSpPr txBox="1"/>
          <p:nvPr>
            <p:custDataLst>
              <p:tags r:id="rId8"/>
            </p:custDataLst>
          </p:nvPr>
        </p:nvSpPr>
        <p:spPr>
          <a:xfrm>
            <a:off x="495255" y="4127240"/>
            <a:ext cx="5433021"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ts val="1900"/>
              </a:lnSpc>
              <a:spcBef>
                <a:spcPts val="0"/>
              </a:spcBef>
              <a:spcAft>
                <a:spcPts val="800"/>
              </a:spcAft>
              <a:buSzPct val="100000"/>
              <a:buFont typeface="Arial" panose="020B0604020202020204" pitchFamily="34" charset="0"/>
              <a:buChar char="•"/>
            </a:pP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Wide-Screen Resolution Support: Handles resolutions up to 5400x1920</a:t>
            </a:r>
            <a:r>
              <a:rPr lang="en-US" altLang="zh-CN"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P</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and 4K formats at varying refresh rates for diverse presentation needs.</a:t>
            </a:r>
          </a:p>
        </p:txBody>
      </p:sp>
      <p:sp>
        <p:nvSpPr>
          <p:cNvPr id="13" name="Title 6"/>
          <p:cNvSpPr txBox="1"/>
          <p:nvPr>
            <p:custDataLst>
              <p:tags r:id="rId9"/>
            </p:custDataLst>
          </p:nvPr>
        </p:nvSpPr>
        <p:spPr>
          <a:xfrm>
            <a:off x="495255" y="4919720"/>
            <a:ext cx="5230601" cy="1134042"/>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ts val="1900"/>
              </a:lnSpc>
              <a:spcBef>
                <a:spcPts val="0"/>
              </a:spcBef>
              <a:spcAft>
                <a:spcPts val="800"/>
              </a:spcAft>
              <a:buSzPct val="100000"/>
              <a:buFont typeface="Arial" panose="020B0604020202020204" pitchFamily="34" charset="0"/>
              <a:buChar char="•"/>
            </a:pP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Flexible Control Methods: Operate via front panel buttons, RS232, or LAN with Telnet API &amp; Web UI.</a:t>
            </a:r>
          </a:p>
        </p:txBody>
      </p:sp>
      <p:pic>
        <p:nvPicPr>
          <p:cNvPr id="17" name="Picture 16" descr="A black device with many ports&#10;&#10;Description automatically generat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789093" y="3496557"/>
            <a:ext cx="6397457" cy="3598570"/>
          </a:xfrm>
          <a:prstGeom prst="rect">
            <a:avLst/>
          </a:prstGeom>
        </p:spPr>
      </p:pic>
      <p:pic>
        <p:nvPicPr>
          <p:cNvPr id="18" name="Picture 17" descr="A black electronic device with knobs and dials&#10;&#10;Description automatically generat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774540" y="2997460"/>
            <a:ext cx="6417460" cy="3609822"/>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Quick Installation Guide</a:t>
            </a:r>
          </a:p>
        </p:txBody>
      </p:sp>
      <p:sp>
        <p:nvSpPr>
          <p:cNvPr id="14" name="Title 6"/>
          <p:cNvSpPr txBox="1"/>
          <p:nvPr>
            <p:custDataLst>
              <p:tags r:id="rId4"/>
            </p:custDataLst>
          </p:nvPr>
        </p:nvSpPr>
        <p:spPr>
          <a:xfrm>
            <a:off x="457201" y="2112010"/>
            <a:ext cx="5836920" cy="45923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00000"/>
              </a:lnSpc>
              <a:spcBef>
                <a:spcPts val="0"/>
              </a:spcBef>
              <a:spcAft>
                <a:spcPts val="800"/>
              </a:spcAft>
              <a:buSzPct val="100000"/>
              <a:buFont typeface="Arial" panose="020B0604020202020204" pitchFamily="34" charset="0"/>
              <a:buChar char="•"/>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Interfaces: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Follow the standard product connection guidelines and customize connections based on your environment’s layout for optimal performance.</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Start the Device: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Use SmartGUI to locate the device's IP address, then log into the Web-UI for easy equipment configuration.</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Create Your Video Wall:</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Choose from predefined video wall layouts or design a custom layout using the Web-UI. For detailed instructions, refer to the user manual.</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Enjoy Superior Visuals: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Experience stunning video clarity and immersive visuals tailored to your needs.</a:t>
            </a:r>
          </a:p>
          <a:p>
            <a:pPr lvl="0" indent="0" algn="l" fontAlgn="ctr">
              <a:lnSpc>
                <a:spcPct val="100000"/>
              </a:lnSpc>
              <a:spcBef>
                <a:spcPts val="0"/>
              </a:spcBef>
              <a:spcAft>
                <a:spcPts val="800"/>
              </a:spcAft>
              <a:buSzPct val="100000"/>
              <a:buFont typeface="Wingdings" panose="05000000000000000000" charset="0"/>
            </a:pPr>
            <a:endParaRPr lang="en-US" sz="1800" i="1"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22" name="图片 4"/>
          <p:cNvPicPr/>
          <p:nvPr/>
        </p:nvPicPr>
        <p:blipFill>
          <a:blip r:embed="rId10"/>
          <a:stretch>
            <a:fillRect/>
          </a:stretch>
        </p:blipFill>
        <p:spPr>
          <a:xfrm>
            <a:off x="6964680" y="2319020"/>
            <a:ext cx="4882723" cy="3068005"/>
          </a:xfrm>
          <a:prstGeom prst="rect">
            <a:avLst/>
          </a:prstGeom>
          <a:effectLst>
            <a:outerShdw blurRad="50800" dist="38100" dir="5400000" algn="t" rotWithShape="0">
              <a:prstClr val="black">
                <a:alpha val="40000"/>
              </a:prstClr>
            </a:outerShdw>
          </a:effectLst>
        </p:spPr>
      </p:pic>
      <p:sp>
        <p:nvSpPr>
          <p:cNvPr id="2" name="Title 6"/>
          <p:cNvSpPr txBox="1"/>
          <p:nvPr>
            <p:custDataLst>
              <p:tags r:id="rId5"/>
            </p:custDataLst>
          </p:nvPr>
        </p:nvSpPr>
        <p:spPr>
          <a:xfrm>
            <a:off x="457155" y="1149111"/>
            <a:ext cx="10805205" cy="949564"/>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Effortlessly set up your video wall system with simple steps, ensuring seamless configuration and an exceptional viewing experience.</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8" name="Picture 7" descr="A yellow triangle with a exclamation mark&#10;&#10;Description automatically generated"/>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73109" y="1698955"/>
            <a:ext cx="4399511" cy="3871570"/>
          </a:xfrm>
          <a:prstGeom prst="rect">
            <a:avLst/>
          </a:prstGeom>
        </p:spPr>
      </p:pic>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Important Notes for Installation</a:t>
            </a:r>
          </a:p>
        </p:txBody>
      </p:sp>
      <p:sp>
        <p:nvSpPr>
          <p:cNvPr id="14" name="Title 6"/>
          <p:cNvSpPr txBox="1"/>
          <p:nvPr>
            <p:custDataLst>
              <p:tags r:id="rId4"/>
            </p:custDataLst>
          </p:nvPr>
        </p:nvSpPr>
        <p:spPr>
          <a:xfrm>
            <a:off x="408940" y="1457960"/>
            <a:ext cx="739394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Ensure all cables are securely connected to avoid performance issues.</a:t>
            </a:r>
            <a:endParaRPr lang="en-US" sz="20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285750" lvl="0" indent="-285750" algn="l" fontAlgn="ctr">
              <a:lnSpc>
                <a:spcPts val="400"/>
              </a:lnSpc>
              <a:spcBef>
                <a:spcPts val="0"/>
              </a:spcBef>
              <a:spcAft>
                <a:spcPts val="800"/>
              </a:spcAft>
              <a:buSzPct val="100000"/>
              <a:buFont typeface="Arial" panose="020B0604020202020204" pitchFamily="34" charset="0"/>
              <a:buChar char="•"/>
            </a:pP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your network settings and confirm that the device is on the correct subnet.</a:t>
            </a:r>
          </a:p>
          <a:p>
            <a:pPr marL="285750" lvl="0" indent="-285750" algn="l" fontAlgn="ctr">
              <a:lnSpc>
                <a:spcPts val="400"/>
              </a:lnSpc>
              <a:spcBef>
                <a:spcPts val="0"/>
              </a:spcBef>
              <a:spcAft>
                <a:spcPts val="800"/>
              </a:spcAft>
              <a:buSzPct val="100000"/>
              <a:buFont typeface="Arial" panose="020B0604020202020204" pitchFamily="34" charset="0"/>
              <a:buChar char="•"/>
            </a:pP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Double-check configuration settings in the Web-UI to optimize display and functionality.</a:t>
            </a:r>
          </a:p>
          <a:p>
            <a:pPr marL="285750" lvl="0" indent="-285750" algn="l" fontAlgn="ctr">
              <a:lnSpc>
                <a:spcPts val="400"/>
              </a:lnSpc>
              <a:spcBef>
                <a:spcPts val="0"/>
              </a:spcBef>
              <a:spcAft>
                <a:spcPts val="800"/>
              </a:spcAft>
              <a:buSzPct val="100000"/>
              <a:buFont typeface="Arial" panose="020B0604020202020204" pitchFamily="34" charset="0"/>
              <a:buChar char="•"/>
            </a:pP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For complex installations, refer to the documentation or seek professional assistance if necessary.</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2"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Introduction of Web Configuration Interface</a:t>
            </a:r>
          </a:p>
        </p:txBody>
      </p:sp>
      <p:sp>
        <p:nvSpPr>
          <p:cNvPr id="14" name="Title 6"/>
          <p:cNvSpPr txBox="1"/>
          <p:nvPr>
            <p:custDataLst>
              <p:tags r:id="rId4"/>
            </p:custDataLst>
          </p:nvPr>
        </p:nvSpPr>
        <p:spPr>
          <a:xfrm>
            <a:off x="407034" y="1405113"/>
            <a:ext cx="1137793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Arial" panose="020B0604020202020204" pitchFamily="34" charset="0"/>
            </a:pP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Web UI of the SW-0206-VW videowall processor is designed for intuitive device management and control through any web browser. With the Web UI, you can easily configure and customize your videowall setup with the following features:</a:t>
            </a:r>
          </a:p>
          <a:p>
            <a:pPr marL="285750" lvl="0" indent="-285750" algn="l" fontAlgn="ctr">
              <a:lnSpc>
                <a:spcPts val="1400"/>
              </a:lnSpc>
              <a:spcBef>
                <a:spcPts val="0"/>
              </a:spcBef>
              <a:spcAft>
                <a:spcPts val="800"/>
              </a:spcAft>
              <a:buSzPct val="100000"/>
              <a:buFont typeface="Arial" panose="020B0604020202020204" pitchFamily="34" charset="0"/>
              <a:buChar char="•"/>
            </a:pP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Web UI Functionality:</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Effortlessly manage device settings via a web browser.</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Customization: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Design custom layouts and configure cascading videowalls.</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Control:</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Set up and adjust video inputs, outputs, and EDID profiles.</a:t>
            </a:r>
          </a:p>
          <a:p>
            <a:pPr marL="285750" lvl="0" indent="-285750" algn="l" fontAlgn="ctr">
              <a:lnSpc>
                <a:spcPts val="1400"/>
              </a:lnSpc>
              <a:spcBef>
                <a:spcPts val="0"/>
              </a:spcBef>
              <a:spcAft>
                <a:spcPts val="800"/>
              </a:spcAft>
              <a:buSzPct val="100000"/>
              <a:buFont typeface="Arial" panose="020B0604020202020204" pitchFamily="34" charset="0"/>
              <a:buChar char="•"/>
            </a:pP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Web UI Configurations:</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General Settings:</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Configure IP settings, manage security, and perform firmware updates.</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Videowall Settings: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Choose between Quick Mode for easy setup or Standard Mode for advanced cascading videowall configurations.</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Video Inputs/Outputs: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Manage HDMI sources, HDCP compliance, and EDID profiles.</a:t>
            </a: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Control Settings:</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Enable RS-232 for device control and CEC for display control.</a:t>
            </a:r>
          </a:p>
        </p:txBody>
      </p:sp>
      <p:pic>
        <p:nvPicPr>
          <p:cNvPr id="2"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5"/>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charset="-122"/>
              <a:ea typeface="微软雅黑" panose="020B0503020204020204" charset="-122"/>
              <a:sym typeface="+mn-ea"/>
            </a:endParaRPr>
          </a:p>
        </p:txBody>
      </p:sp>
      <p:sp>
        <p:nvSpPr>
          <p:cNvPr id="10"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charset="-122"/>
                <a:sym typeface="Roboto"/>
              </a:rPr>
              <a:t>Final Thoughts</a:t>
            </a:r>
          </a:p>
        </p:txBody>
      </p:sp>
      <p:sp>
        <p:nvSpPr>
          <p:cNvPr id="4" name="文本框 1"/>
          <p:cNvSpPr txBox="1"/>
          <p:nvPr/>
        </p:nvSpPr>
        <p:spPr>
          <a:xfrm>
            <a:off x="-47944" y="2003528"/>
            <a:ext cx="12287885"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Roboto" charset="0"/>
                <a:ea typeface="Roboto" charset="0"/>
                <a:cs typeface="Arial" panose="020B0604020202020204" pitchFamily="34" charset="0"/>
              </a:rPr>
              <a:t>Got questions? Don’t hesitate to ask away.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fc85f15-d2b9-42c5-9f98-1961779c39c8"/>
  <p:tag name="COMMONDATA" val="eyJoZGlkIjoiYzQzNDIyYWRkODI1MTY1NWUxY2RiYThkODhjMzBkZjA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8.xml><?xml version="1.0" encoding="utf-8"?>
<p:tagLst xmlns:a="http://schemas.openxmlformats.org/drawingml/2006/main" xmlns:r="http://schemas.openxmlformats.org/officeDocument/2006/relationships"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7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72.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7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82.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85.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8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8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9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94.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9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97.xml><?xml version="1.0" encoding="utf-8"?>
<p:tagLst xmlns:a="http://schemas.openxmlformats.org/drawingml/2006/main" xmlns:r="http://schemas.openxmlformats.org/officeDocument/2006/relationships" xmlns:p="http://schemas.openxmlformats.org/presentationml/2006/main">
  <p:tag name="TABLE_ENDDRAG_ORIGIN_RECT" val="509*432"/>
  <p:tag name="TABLE_ENDDRAG_RECT" val="16*91*509*432"/>
  <p:tag name="KSO_WM_UNIT_TABLE_BEAUTIFY" val="smartTable{3e08601c-a63c-4aaa-8a27-b165d12ffcef}"/>
</p:tagLst>
</file>

<file path=ppt/tags/tag9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0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7.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0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1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1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1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1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16.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1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1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25.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0.xml><?xml version="1.0" encoding="utf-8"?>
<p:tagLst xmlns:a="http://schemas.openxmlformats.org/drawingml/2006/main" xmlns:r="http://schemas.openxmlformats.org/officeDocument/2006/relationships" xmlns:p="http://schemas.openxmlformats.org/presentationml/2006/main">
  <p:tag name="KSO_WM_UNIT_TABLE_BEAUTIFY" val="smartTable{dce861f7-c3eb-4f62-9def-3ed7940d46db}"/>
</p:tagLst>
</file>

<file path=ppt/tags/tag13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3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3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3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3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3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0.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4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5.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4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9.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5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FAFAFA"/>
      </a:hlink>
      <a:folHlink>
        <a:srgbClr val="FAFAFA"/>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xmlns="" underline="false"/>
      </a:ext>
    </a:extLst>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8141C4E5-F3AA-427C-B2A0-BF028EDE77FB}"/>
</file>

<file path=customXml/itemProps2.xml><?xml version="1.0" encoding="utf-8"?>
<ds:datastoreItem xmlns:ds="http://schemas.openxmlformats.org/officeDocument/2006/customXml" ds:itemID="{8F09A1F7-4FEF-4FF8-9BCE-B0752BEE433F}"/>
</file>

<file path=customXml/itemProps3.xml><?xml version="1.0" encoding="utf-8"?>
<ds:datastoreItem xmlns:ds="http://schemas.openxmlformats.org/officeDocument/2006/customXml" ds:itemID="{4C601989-CE36-48F5-8ACC-5FA5397AE9FA}"/>
</file>

<file path=docProps/app.xml><?xml version="1.0" encoding="utf-8"?>
<Properties xmlns="http://schemas.openxmlformats.org/officeDocument/2006/extended-properties" xmlns:vt="http://schemas.openxmlformats.org/officeDocument/2006/docPropsVTypes">
  <TotalTime>0</TotalTime>
  <Words>2673</Words>
  <Application>Microsoft Office PowerPoint</Application>
  <PresentationFormat>宽屏</PresentationFormat>
  <Paragraphs>329</Paragraphs>
  <Slides>19</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微软雅黑</vt:lpstr>
      <vt:lpstr>Arial</vt:lpstr>
      <vt:lpstr>Calibri</vt:lpstr>
      <vt:lpstr>Montserrat</vt:lpstr>
      <vt:lpstr>Roboto</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Sissi Pan</cp:lastModifiedBy>
  <cp:revision>231</cp:revision>
  <dcterms:created xsi:type="dcterms:W3CDTF">2019-06-19T02:08:00Z</dcterms:created>
  <dcterms:modified xsi:type="dcterms:W3CDTF">2025-04-16T07:16:12Z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4887AB80FA1A40AABE18DD13722F43F0_13</vt:lpwstr>
  </property>
  <property fmtid="{D5CDD505-2E9C-101B-9397-08002B2CF9AE}" pid="4" name="ContentTypeId">
    <vt:lpwstr>0x010100E01A8FBB3908BD4681554D596DADDBBC</vt:lpwstr>
  </property>
</Properties>
</file>