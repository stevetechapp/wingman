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13.xml" ContentType="application/vnd.openxmlformats-officedocument.presentationml.notesSlide+xml"/>
  <Override PartName="/ppt/slides/slide15.xml" ContentType="application/vnd.openxmlformats-officedocument.presentationml.slide+xml"/>
  <Override PartName="/ppt/notesSlides/notesSlide14.xml" ContentType="application/vnd.openxmlformats-officedocument.presentationml.notesSlide+xml"/>
  <Override PartName="/ppt/slides/slide16.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73" r:id="rId5"/>
    <p:sldId id="257" r:id="rId6"/>
    <p:sldId id="258" r:id="rId7"/>
    <p:sldId id="259" r:id="rId8"/>
    <p:sldId id="260" r:id="rId9"/>
    <p:sldId id="261" r:id="rId10"/>
    <p:sldId id="262" r:id="rId11"/>
    <p:sldId id="266" r:id="rId12"/>
    <p:sldId id="267" r:id="rId13"/>
    <p:sldId id="274" r:id="rId14"/>
    <p:sldId id="268" r:id="rId15"/>
    <p:sldId id="270" r:id="rId16"/>
    <p:sldId id="271" r:id="rId17"/>
    <p:sldId id="272" r:id="rId18"/>
    <p:sldId id="265" r:id="rId19"/>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2E2"/>
    <a:srgbClr val="D6E5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038" autoAdjust="0"/>
  </p:normalViewPr>
  <p:slideViewPr>
    <p:cSldViewPr snapToGrid="0">
      <p:cViewPr>
        <p:scale>
          <a:sx n="100" d="100"/>
          <a:sy n="100" d="100"/>
        </p:scale>
        <p:origin x="540" y="12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8" Type="http://schemas.openxmlformats.org/officeDocument/2006/relationships/slide" Target="slides/slide15.xml"/><Relationship Id="rId13" Type="http://schemas.openxmlformats.org/officeDocument/2006/relationships/slide" Target="slides/slide10.xml"/><Relationship Id="rId26" Type="http://schemas.openxmlformats.org/officeDocument/2006/relationships/customXml" Target="../customXml/item3.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4.xml"/><Relationship Id="rId17" Type="http://schemas.openxmlformats.org/officeDocument/2006/relationships/slide" Target="slides/slide14.xml"/><Relationship Id="rId12" Type="http://schemas.openxmlformats.org/officeDocument/2006/relationships/slide" Target="slides/slide9.xml"/><Relationship Id="rId25" Type="http://schemas.openxmlformats.org/officeDocument/2006/relationships/customXml" Target="../customXml/item2.xml"/><Relationship Id="rId20" Type="http://schemas.openxmlformats.org/officeDocument/2006/relationships/presProps" Target="presProps.xml"/><Relationship Id="rId2" Type="http://schemas.openxmlformats.org/officeDocument/2006/relationships/theme" Target="theme/theme1.xml"/><Relationship Id="rId16" Type="http://schemas.openxmlformats.org/officeDocument/2006/relationships/slide" Target="slides/slide13.xml"/><Relationship Id="rId6" Type="http://schemas.openxmlformats.org/officeDocument/2006/relationships/slide" Target="slides/slide3.xml"/><Relationship Id="rId11" Type="http://schemas.openxmlformats.org/officeDocument/2006/relationships/slide" Target="slides/slide8.xml"/><Relationship Id="rId1" Type="http://schemas.openxmlformats.org/officeDocument/2006/relationships/slideMaster" Target="slideMasters/slideMaster1.xml"/><Relationship Id="rId24" Type="http://schemas.openxmlformats.org/officeDocument/2006/relationships/customXml" Target="../customXml/item1.xml"/><Relationship Id="rId5" Type="http://schemas.openxmlformats.org/officeDocument/2006/relationships/slide" Target="slides/slide2.xml"/><Relationship Id="rId23" Type="http://schemas.openxmlformats.org/officeDocument/2006/relationships/tags" Target="tags/tag68.xml"/><Relationship Id="rId15" Type="http://schemas.openxmlformats.org/officeDocument/2006/relationships/slide" Target="slides/slide12.xml"/><Relationship Id="rId19" Type="http://schemas.openxmlformats.org/officeDocument/2006/relationships/slide" Target="slides/slide16.xml"/><Relationship Id="rId10" Type="http://schemas.openxmlformats.org/officeDocument/2006/relationships/slide" Target="slides/slide7.xml"/><Relationship Id="rId9" Type="http://schemas.openxmlformats.org/officeDocument/2006/relationships/slide" Target="slides/slide6.xml"/><Relationship Id="rId4" Type="http://schemas.openxmlformats.org/officeDocument/2006/relationships/notesMaster" Target="notesMasters/notesMaster1.xml"/><Relationship Id="rId22" Type="http://schemas.openxmlformats.org/officeDocument/2006/relationships/tableStyles" Target="tableStyles.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97339E-BFFB-4657-832F-4817566F8EC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410622-6127-45EF-BDF7-9ED7109D0A6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1. </a:t>
            </a:r>
            <a:r>
              <a:rPr lang="zh-CN" altLang="en-US" dirty="0"/>
              <a:t>更新封面，不需要展示产品；</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410622-6127-45EF-BDF7-9ED7109D0A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410622-6127-45EF-BDF7-9ED7109D0A6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410622-6127-45EF-BDF7-9ED7109D0A6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lumMod val="75000"/>
                    <a:lumOff val="25000"/>
                  </a:schemeClr>
                </a:solidFill>
                <a:latin typeface="Roboto" charset="0"/>
                <a:ea typeface="Roboto" charset="0"/>
                <a:cs typeface="Arial" panose="020B0604020202020204" pitchFamily="34" charset="0"/>
              </a:rPr>
              <a:t>Centralize and simplify device management to ensure a smooth and efficient operation for all your conferencing needs.</a:t>
            </a:r>
            <a:endParaRPr lang="en-US" altLang="zh-CN" sz="1200" b="1" dirty="0">
              <a:solidFill>
                <a:schemeClr val="tx1">
                  <a:lumMod val="75000"/>
                  <a:lumOff val="25000"/>
                </a:schemeClr>
              </a:solidFill>
              <a:latin typeface="Roboto" charset="0"/>
              <a:ea typeface="Roboto"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6C410622-6127-45EF-BDF7-9ED7109D0A6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fast</a:t>
            </a:r>
            <a:r>
              <a:rPr lang="en-US" altLang="zh-CN" baseline="0" dirty="0"/>
              <a:t> seamless switching; </a:t>
            </a:r>
            <a:r>
              <a:rPr lang="zh-CN" altLang="en-US" baseline="0" dirty="0"/>
              <a:t>这个中间没有“逗号</a:t>
            </a:r>
            <a:r>
              <a:rPr lang="en-US" altLang="zh-CN" baseline="0" dirty="0"/>
              <a:t> </a:t>
            </a:r>
            <a:r>
              <a:rPr lang="zh-CN" altLang="en-US" baseline="0" dirty="0"/>
              <a:t>‘，‘ “；</a:t>
            </a:r>
            <a:endParaRPr lang="zh-CN" altLang="en-US" dirty="0"/>
          </a:p>
        </p:txBody>
      </p:sp>
      <p:sp>
        <p:nvSpPr>
          <p:cNvPr id="4" name="灯片编号占位符 3"/>
          <p:cNvSpPr>
            <a:spLocks noGrp="1"/>
          </p:cNvSpPr>
          <p:nvPr>
            <p:ph type="sldNum" sz="quarter" idx="10"/>
          </p:nvPr>
        </p:nvSpPr>
        <p:spPr/>
        <p:txBody>
          <a:bodyPr/>
          <a:lstStyle/>
          <a:p>
            <a:fld id="{6C410622-6127-45EF-BDF7-9ED7109D0A6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410622-6127-45EF-BDF7-9ED7109D0A6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Competitor-1: Kramer – VS-88H2A</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Competitor-2: </a:t>
            </a:r>
            <a:r>
              <a:rPr lang="en-US" altLang="zh-CN" dirty="0" err="1"/>
              <a:t>Atlona</a:t>
            </a:r>
            <a:r>
              <a:rPr lang="en-US" altLang="zh-CN" dirty="0"/>
              <a:t> – AT-HDR-H2H-88MA</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Competitor-3:</a:t>
            </a:r>
            <a:r>
              <a:rPr lang="en-US" altLang="zh-CN" baseline="0" dirty="0"/>
              <a:t> </a:t>
            </a:r>
            <a:r>
              <a:rPr lang="en-US" altLang="zh-CN" baseline="0" dirty="0" err="1"/>
              <a:t>Aten</a:t>
            </a:r>
            <a:r>
              <a:rPr lang="en-US" altLang="zh-CN" baseline="0" dirty="0"/>
              <a:t> – VM5808HA</a:t>
            </a:r>
            <a:endParaRPr lang="zh-CN" alt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png"/><Relationship Id="rId7" Type="http://schemas.openxmlformats.org/officeDocument/2006/relationships/tags" Target="../tags/tag4.xml"/><Relationship Id="rId6" Type="http://schemas.openxmlformats.org/officeDocument/2006/relationships/image" Target="../media/image3.png"/><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microsoft.com/office/2007/relationships/hdphoto" Target="../media/image2.wdp"/><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7.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image" Target="../media/image5.png"/><Relationship Id="rId2" Type="http://schemas.openxmlformats.org/officeDocument/2006/relationships/tags" Target="../tags/tag6.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4.xml"/><Relationship Id="rId7" Type="http://schemas.openxmlformats.org/officeDocument/2006/relationships/image" Target="../media/image6.png"/><Relationship Id="rId6" Type="http://schemas.openxmlformats.org/officeDocument/2006/relationships/tags" Target="../tags/tag13.xml"/><Relationship Id="rId5" Type="http://schemas.openxmlformats.org/officeDocument/2006/relationships/image" Target="../media/image5.png"/><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0" Type="http://schemas.openxmlformats.org/officeDocument/2006/relationships/notesSlide" Target="../notesSlides/notesSlide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tags" Target="../tags/tag20.xml"/><Relationship Id="rId6" Type="http://schemas.openxmlformats.org/officeDocument/2006/relationships/image" Target="../media/image5.png"/><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1" Type="http://schemas.openxmlformats.org/officeDocument/2006/relationships/notesSlide" Target="../notesSlides/notesSlide4.xml"/><Relationship Id="rId20" Type="http://schemas.openxmlformats.org/officeDocument/2006/relationships/slideLayout" Target="../slideLayouts/slideLayout7.xml"/><Relationship Id="rId2" Type="http://schemas.openxmlformats.org/officeDocument/2006/relationships/tags" Target="../tags/tag16.xml"/><Relationship Id="rId19" Type="http://schemas.openxmlformats.org/officeDocument/2006/relationships/tags" Target="../tags/tag24.xml"/><Relationship Id="rId18" Type="http://schemas.openxmlformats.org/officeDocument/2006/relationships/tags" Target="../tags/tag23.xml"/><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image" Target="../media/image14.png"/><Relationship Id="rId14" Type="http://schemas.openxmlformats.org/officeDocument/2006/relationships/image" Target="../media/image13.png"/><Relationship Id="rId13" Type="http://schemas.openxmlformats.org/officeDocument/2006/relationships/image" Target="../media/image12.png"/><Relationship Id="rId12" Type="http://schemas.openxmlformats.org/officeDocument/2006/relationships/image" Target="../media/image11.pn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tags" Target="../tags/tag15.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tags" Target="../tags/tag27.xml"/><Relationship Id="rId4" Type="http://schemas.openxmlformats.org/officeDocument/2006/relationships/image" Target="../media/image15.png"/><Relationship Id="rId3" Type="http://schemas.openxmlformats.org/officeDocument/2006/relationships/image" Target="../media/image5.png"/><Relationship Id="rId2" Type="http://schemas.openxmlformats.org/officeDocument/2006/relationships/tags" Target="../tags/tag26.xml"/><Relationship Id="rId1" Type="http://schemas.openxmlformats.org/officeDocument/2006/relationships/tags" Target="../tags/tag25.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tags" Target="../tags/tag30.xml"/><Relationship Id="rId4" Type="http://schemas.openxmlformats.org/officeDocument/2006/relationships/image" Target="../media/image5.png"/><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tags" Target="../tags/tag33.xml"/><Relationship Id="rId4" Type="http://schemas.openxmlformats.org/officeDocument/2006/relationships/image" Target="../media/image17.png"/><Relationship Id="rId3" Type="http://schemas.openxmlformats.org/officeDocument/2006/relationships/image" Target="../media/image5.png"/><Relationship Id="rId2" Type="http://schemas.openxmlformats.org/officeDocument/2006/relationships/tags" Target="../tags/tag32.xml"/><Relationship Id="rId1" Type="http://schemas.openxmlformats.org/officeDocument/2006/relationships/tags" Target="../tags/tag31.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tags" Target="../tags/tag36.xml"/><Relationship Id="rId4" Type="http://schemas.openxmlformats.org/officeDocument/2006/relationships/image" Target="../media/image19.png"/><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40.xml"/><Relationship Id="rId4" Type="http://schemas.openxmlformats.org/officeDocument/2006/relationships/image" Target="../media/image5.png"/><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2.xml"/><Relationship Id="rId7" Type="http://schemas.openxmlformats.org/officeDocument/2006/relationships/tags" Target="../tags/tag56.xml"/><Relationship Id="rId6" Type="http://schemas.openxmlformats.org/officeDocument/2006/relationships/image" Target="../media/image22.jpeg"/><Relationship Id="rId5" Type="http://schemas.openxmlformats.org/officeDocument/2006/relationships/tags" Target="../tags/tag55.xml"/><Relationship Id="rId4" Type="http://schemas.openxmlformats.org/officeDocument/2006/relationships/image" Target="../media/image5.png"/><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2.xml"/><Relationship Id="rId6" Type="http://schemas.openxmlformats.org/officeDocument/2006/relationships/tags" Target="../tags/tag60.xml"/><Relationship Id="rId5" Type="http://schemas.openxmlformats.org/officeDocument/2006/relationships/image" Target="../media/image22.jpeg"/><Relationship Id="rId4" Type="http://schemas.openxmlformats.org/officeDocument/2006/relationships/image" Target="../media/image5.png"/><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2.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image" Target="../media/image5.png"/><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image" Target="../media/image5.png"/><Relationship Id="rId1"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and person sitting in a room with a computer&#10;&#10;Description automatically generated"/>
          <p:cNvPicPr>
            <a:picLocks noChangeAspect="1"/>
          </p:cNvPicPr>
          <p:nvPr/>
        </p:nvPicPr>
        <p:blipFill>
          <a:blip r:embed="rId1">
            <a:extLst>
              <a:ext uri="{BEBA8EAE-BF5A-486C-A8C5-ECC9F3942E4B}">
                <a14:imgProps xmlns:a14="http://schemas.microsoft.com/office/drawing/2010/main">
                  <a14:imgLayer r:embed="rId2">
                    <a14:imgEffect>
                      <a14:brightnessContrast bright="13000" contrast="-49000"/>
                    </a14:imgEffect>
                    <a14:imgEffect>
                      <a14:saturation sat="16000"/>
                    </a14:imgEffect>
                    <a14:imgEffect>
                      <a14:sharpenSoften amount="-23000"/>
                    </a14:imgEffect>
                  </a14:imgLayer>
                </a14:imgProps>
              </a:ext>
              <a:ext uri="{28A0092B-C50C-407E-A947-70E740481C1C}">
                <a14:useLocalDpi xmlns:a14="http://schemas.microsoft.com/office/drawing/2010/main" val="0"/>
              </a:ext>
            </a:extLst>
          </a:blip>
          <a:stretch>
            <a:fillRect/>
          </a:stretch>
        </p:blipFill>
        <p:spPr>
          <a:xfrm>
            <a:off x="0" y="347153"/>
            <a:ext cx="12192000" cy="6120322"/>
          </a:xfrm>
          <a:prstGeom prst="rect">
            <a:avLst/>
          </a:prstGeom>
        </p:spPr>
      </p:pic>
      <p:sp>
        <p:nvSpPr>
          <p:cNvPr id="9" name="矩形 7"/>
          <p:cNvSpPr/>
          <p:nvPr>
            <p:custDataLst>
              <p:tags r:id="rId3"/>
            </p:custDataLst>
          </p:nvPr>
        </p:nvSpPr>
        <p:spPr>
          <a:xfrm>
            <a:off x="0" y="0"/>
            <a:ext cx="12192000" cy="1203942"/>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30" name="矩形 7"/>
          <p:cNvSpPr/>
          <p:nvPr>
            <p:custDataLst>
              <p:tags r:id="rId4"/>
            </p:custDataLst>
          </p:nvPr>
        </p:nvSpPr>
        <p:spPr>
          <a:xfrm>
            <a:off x="0" y="1086295"/>
            <a:ext cx="12192000" cy="4567763"/>
          </a:xfrm>
          <a:prstGeom prst="rect">
            <a:avLst/>
          </a:prstGeom>
          <a:solidFill>
            <a:srgbClr val="73B98F">
              <a:alpha val="5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0">
              <a:solidFill>
                <a:schemeClr val="accent6"/>
              </a:solidFill>
              <a:latin typeface="微软雅黑" panose="020B0503020204020204" pitchFamily="34" charset="-122"/>
              <a:ea typeface="微软雅黑" panose="020B0503020204020204" pitchFamily="34" charset="-122"/>
              <a:sym typeface="+mn-ea"/>
            </a:endParaRPr>
          </a:p>
        </p:txBody>
      </p:sp>
      <p:sp>
        <p:nvSpPr>
          <p:cNvPr id="22" name="文本框 20"/>
          <p:cNvSpPr txBox="1"/>
          <p:nvPr>
            <p:custDataLst>
              <p:tags r:id="rId5"/>
            </p:custDataLst>
          </p:nvPr>
        </p:nvSpPr>
        <p:spPr>
          <a:xfrm>
            <a:off x="399346" y="257682"/>
            <a:ext cx="4077404" cy="609600"/>
          </a:xfrm>
          <a:prstGeom prst="rect">
            <a:avLst/>
          </a:prstGeom>
          <a:noFill/>
        </p:spPr>
        <p:txBody>
          <a:bodyPr wrap="square" lIns="63500" tIns="25400" rIns="63500" bIns="25400" rtlCol="0" anchor="ctr" anchorCtr="0">
            <a:noAutofit/>
          </a:bodyPr>
          <a:lstStyle/>
          <a:p>
            <a:pPr marL="0" indent="0" algn="l">
              <a:lnSpc>
                <a:spcPct val="100000"/>
              </a:lnSpc>
              <a:spcBef>
                <a:spcPts val="0"/>
              </a:spcBef>
              <a:spcAft>
                <a:spcPts val="0"/>
              </a:spcAft>
              <a:buSzPct val="100000"/>
              <a:buNone/>
            </a:pPr>
            <a:r>
              <a:rPr lang="en-US" altLang="zh-CN" sz="3800" b="1" strike="noStrike" dirty="0">
                <a:solidFill>
                  <a:schemeClr val="lt1"/>
                </a:solidFill>
                <a:uFillTx/>
                <a:latin typeface="Montserrat" pitchFamily="2" charset="0"/>
                <a:ea typeface="微软雅黑" panose="020B0503020204020204" pitchFamily="34" charset="-122"/>
                <a:cs typeface="Roboto" charset="0"/>
                <a:sym typeface="Roboto"/>
              </a:rPr>
              <a:t>Product Guide</a:t>
            </a:r>
            <a:endParaRPr lang="en-US" altLang="zh-CN" sz="3800" b="1" strike="noStrike" dirty="0">
              <a:solidFill>
                <a:schemeClr val="lt1"/>
              </a:solidFill>
              <a:uFillTx/>
              <a:latin typeface="Montserrat" pitchFamily="2" charset="0"/>
              <a:ea typeface="微软雅黑" panose="020B0503020204020204" pitchFamily="34" charset="-122"/>
              <a:cs typeface="Roboto" charset="0"/>
              <a:sym typeface="Roboto"/>
            </a:endParaRPr>
          </a:p>
        </p:txBody>
      </p:sp>
      <p:pic>
        <p:nvPicPr>
          <p:cNvPr id="11" name="Picture 10" descr="A grey rectangular device with buttons and a black background&#10;&#10;AI-generated content may be incorrect."/>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9754" y="724152"/>
            <a:ext cx="10210372" cy="5743334"/>
          </a:xfrm>
          <a:prstGeom prst="rect">
            <a:avLst/>
          </a:prstGeom>
          <a:effectLst>
            <a:outerShdw blurRad="279400" dist="38100" dir="5400000" sx="103000" sy="103000" algn="t" rotWithShape="0">
              <a:prstClr val="black">
                <a:alpha val="40000"/>
              </a:prstClr>
            </a:outerShdw>
          </a:effectLst>
        </p:spPr>
      </p:pic>
      <p:sp>
        <p:nvSpPr>
          <p:cNvPr id="2" name="Title 1"/>
          <p:cNvSpPr>
            <a:spLocks noGrp="1"/>
          </p:cNvSpPr>
          <p:nvPr>
            <p:ph type="ctrTitle"/>
          </p:nvPr>
        </p:nvSpPr>
        <p:spPr>
          <a:xfrm>
            <a:off x="7455833" y="183024"/>
            <a:ext cx="4336821" cy="503028"/>
          </a:xfrm>
        </p:spPr>
        <p:txBody>
          <a:bodyPr>
            <a:noAutofit/>
          </a:bodyPr>
          <a:lstStyle/>
          <a:p>
            <a:pPr algn="r"/>
            <a:r>
              <a:rPr lang="en-US" altLang="zh-CN" sz="2600" b="1" dirty="0">
                <a:solidFill>
                  <a:schemeClr val="bg1"/>
                </a:solidFill>
                <a:latin typeface="Roboto" charset="0"/>
                <a:ea typeface="Roboto"/>
                <a:cs typeface="Roboto" charset="0"/>
                <a:sym typeface="+mn-ea"/>
              </a:rPr>
              <a:t>MX-0812-SCL</a:t>
            </a:r>
            <a:endParaRPr lang="zh-CN" altLang="en-US" sz="2600" b="1" dirty="0">
              <a:solidFill>
                <a:schemeClr val="bg1"/>
              </a:solidFill>
              <a:latin typeface="Roboto" charset="0"/>
              <a:ea typeface="宋体" panose="02010600030101010101" pitchFamily="2" charset="-122"/>
              <a:cs typeface="Roboto" charset="0"/>
              <a:sym typeface="+mn-ea"/>
            </a:endParaRPr>
          </a:p>
        </p:txBody>
      </p:sp>
      <p:sp>
        <p:nvSpPr>
          <p:cNvPr id="3" name="Title 1"/>
          <p:cNvSpPr txBox="1"/>
          <p:nvPr/>
        </p:nvSpPr>
        <p:spPr>
          <a:xfrm>
            <a:off x="5246501" y="498418"/>
            <a:ext cx="6543720" cy="43466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altLang="zh-CN" sz="1800" dirty="0">
                <a:solidFill>
                  <a:schemeClr val="accent6">
                    <a:lumMod val="40000"/>
                    <a:lumOff val="60000"/>
                  </a:schemeClr>
                </a:solidFill>
                <a:latin typeface="Roboto" charset="0"/>
                <a:ea typeface="宋体" panose="02010600030101010101" pitchFamily="2" charset="-122"/>
                <a:cs typeface="Roboto" charset="0"/>
                <a:sym typeface="+mn-ea"/>
              </a:rPr>
              <a:t>Advanced 4K HDMI Matrix Switcher</a:t>
            </a:r>
            <a:endParaRPr lang="en-US" altLang="zh-CN" sz="1800" dirty="0">
              <a:solidFill>
                <a:schemeClr val="accent6">
                  <a:lumMod val="40000"/>
                  <a:lumOff val="60000"/>
                </a:schemeClr>
              </a:solidFill>
              <a:latin typeface="Roboto" charset="0"/>
              <a:ea typeface="宋体" panose="02010600030101010101" pitchFamily="2" charset="-122"/>
              <a:cs typeface="Roboto" charset="0"/>
              <a:sym typeface="+mn-ea"/>
            </a:endParaRPr>
          </a:p>
        </p:txBody>
      </p:sp>
      <p:sp>
        <p:nvSpPr>
          <p:cNvPr id="13" name="矩形 7"/>
          <p:cNvSpPr/>
          <p:nvPr>
            <p:custDataLst>
              <p:tags r:id="rId7"/>
            </p:custDataLst>
          </p:nvPr>
        </p:nvSpPr>
        <p:spPr>
          <a:xfrm>
            <a:off x="0" y="5654059"/>
            <a:ext cx="12192000" cy="1203436"/>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pic>
        <p:nvPicPr>
          <p:cNvPr id="26" name="Picture 25" descr="A picture containing text, clock&#10;&#10;Description automatically generated"/>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9346" y="5877970"/>
            <a:ext cx="4315581" cy="863114"/>
          </a:xfrm>
          <a:prstGeom prst="rect">
            <a:avLst/>
          </a:prstGeom>
        </p:spPr>
      </p:pic>
      <p:sp>
        <p:nvSpPr>
          <p:cNvPr id="19" name="Title 1"/>
          <p:cNvSpPr txBox="1"/>
          <p:nvPr/>
        </p:nvSpPr>
        <p:spPr>
          <a:xfrm>
            <a:off x="6657975" y="5807076"/>
            <a:ext cx="5141771" cy="8989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2600" b="1" dirty="0">
                <a:latin typeface="Montserrat"/>
                <a:ea typeface="Roboto"/>
                <a:cs typeface="Arial" panose="020B0604020202020204"/>
              </a:rPr>
              <a:t>Fast Seamless Matrix with Video Wall Support</a:t>
            </a:r>
            <a:endParaRPr lang="en-US" sz="2600" b="1" dirty="0">
              <a:latin typeface="Montserrat"/>
              <a:ea typeface="Roboto"/>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40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2000"/>
                                        <p:tgtEl>
                                          <p:spTgt spid="26"/>
                                        </p:tgtEl>
                                      </p:cBhvr>
                                    </p:animEffect>
                                    <p:anim calcmode="lin" valueType="num">
                                      <p:cBhvr>
                                        <p:cTn id="15" dur="2000" fill="hold"/>
                                        <p:tgtEl>
                                          <p:spTgt spid="26"/>
                                        </p:tgtEl>
                                        <p:attrNameLst>
                                          <p:attrName>ppt_x</p:attrName>
                                        </p:attrNameLst>
                                      </p:cBhvr>
                                      <p:tavLst>
                                        <p:tav tm="0">
                                          <p:val>
                                            <p:strVal val="#ppt_x"/>
                                          </p:val>
                                        </p:tav>
                                        <p:tav tm="100000">
                                          <p:val>
                                            <p:strVal val="#ppt_x"/>
                                          </p:val>
                                        </p:tav>
                                      </p:tavLst>
                                    </p:anim>
                                    <p:anim calcmode="lin" valueType="num">
                                      <p:cBhvr>
                                        <p:cTn id="16" dur="2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21" name="文本框 20"/>
          <p:cNvSpPr txBox="1"/>
          <p:nvPr>
            <p:custDataLst>
              <p:tags r:id="rId2"/>
            </p:custDataLst>
          </p:nvPr>
        </p:nvSpPr>
        <p:spPr>
          <a:xfrm>
            <a:off x="457155" y="16192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altLang="zh-CN" sz="3200" b="1" strike="noStrike" dirty="0">
                <a:solidFill>
                  <a:schemeClr val="lt1"/>
                </a:solidFill>
                <a:uFillTx/>
                <a:latin typeface="Montserrat" pitchFamily="2" charset="0"/>
                <a:ea typeface="微软雅黑" panose="020B0503020204020204" pitchFamily="34" charset="-122"/>
                <a:cs typeface="Roboto" charset="0"/>
                <a:sym typeface="Roboto"/>
              </a:rPr>
              <a:t>Contents</a:t>
            </a:r>
            <a:endParaRPr lang="en-US" altLang="zh-CN" sz="3200" b="1" strike="noStrike" dirty="0">
              <a:solidFill>
                <a:schemeClr val="lt1"/>
              </a:solidFill>
              <a:uFillTx/>
              <a:latin typeface="Montserrat" pitchFamily="2" charset="0"/>
              <a:ea typeface="微软雅黑" panose="020B0503020204020204" pitchFamily="34" charset="-122"/>
              <a:cs typeface="Roboto" charset="0"/>
              <a:sym typeface="Roboto"/>
            </a:endParaRPr>
          </a:p>
        </p:txBody>
      </p:sp>
      <p:pic>
        <p:nvPicPr>
          <p:cNvPr id="2"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3"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6" name="Rectangle 5"/>
          <p:cNvSpPr/>
          <p:nvPr/>
        </p:nvSpPr>
        <p:spPr>
          <a:xfrm>
            <a:off x="3031795" y="1200269"/>
            <a:ext cx="5950280"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327193" y="1869423"/>
            <a:ext cx="335948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593768" y="2530186"/>
            <a:ext cx="48263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008386" y="4597936"/>
            <a:ext cx="80648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p:txBody>
      </p:sp>
      <p:sp>
        <p:nvSpPr>
          <p:cNvPr id="15" name="Rectangle 14"/>
          <p:cNvSpPr/>
          <p:nvPr/>
        </p:nvSpPr>
        <p:spPr>
          <a:xfrm>
            <a:off x="4508168" y="5276410"/>
            <a:ext cx="29975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853662" y="3220571"/>
            <a:ext cx="6306544"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269918" y="3891906"/>
            <a:ext cx="54740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6"/>
          <p:cNvSpPr txBox="1"/>
          <p:nvPr>
            <p:custDataLst>
              <p:tags r:id="rId4"/>
            </p:custDataLst>
          </p:nvPr>
        </p:nvSpPr>
        <p:spPr>
          <a:xfrm>
            <a:off x="1570188" y="1324371"/>
            <a:ext cx="8873491" cy="420993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Product Overview &amp; </a:t>
            </a:r>
            <a:r>
              <a:rPr lang="en-US" altLang="zh-CN" sz="2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Main</a:t>
            </a: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Features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Why Choose Us?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altLang="zh-CN" sz="2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Interface &amp; Specifications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Typical Connection &amp; Applications </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Competitor Analysis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Quick Installation Guide &amp; Web UI Introduction</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 &amp; A Session</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cxnSp>
        <p:nvCxnSpPr>
          <p:cNvPr id="11" name="直接连接符 10"/>
          <p:cNvCxnSpPr/>
          <p:nvPr>
            <p:custDataLst>
              <p:tags r:id="rId2"/>
            </p:custDataLst>
          </p:nvPr>
        </p:nvCxnSpPr>
        <p:spPr>
          <a:xfrm>
            <a:off x="8961805" y="1530699"/>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cxnSp>
        <p:nvCxnSpPr>
          <p:cNvPr id="12" name="直接连接符 11"/>
          <p:cNvCxnSpPr/>
          <p:nvPr>
            <p:custDataLst>
              <p:tags r:id="rId3"/>
            </p:custDataLst>
          </p:nvPr>
        </p:nvCxnSpPr>
        <p:spPr>
          <a:xfrm>
            <a:off x="6800807" y="5765019"/>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sp>
        <p:nvSpPr>
          <p:cNvPr id="7" name="文本框 6"/>
          <p:cNvSpPr txBox="1"/>
          <p:nvPr>
            <p:custDataLst>
              <p:tags r:id="rId4"/>
            </p:custDataLst>
          </p:nvPr>
        </p:nvSpPr>
        <p:spPr>
          <a:xfrm>
            <a:off x="457155" y="15557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Product Overview</a:t>
            </a:r>
            <a:endParaRPr lang="en-US" sz="3200" b="1" dirty="0">
              <a:solidFill>
                <a:schemeClr val="lt1"/>
              </a:solidFill>
              <a:uFillTx/>
              <a:latin typeface="Montserrat" pitchFamily="2" charset="0"/>
              <a:ea typeface="微软雅黑" panose="020B0503020204020204" pitchFamily="34" charset="-122"/>
              <a:sym typeface="Roboto"/>
            </a:endParaRPr>
          </a:p>
        </p:txBody>
      </p:sp>
      <p:pic>
        <p:nvPicPr>
          <p:cNvPr id="3" name="Google Shape;82;p1"/>
          <p:cNvPicPr preferRelativeResize="0"/>
          <p:nvPr/>
        </p:nvPicPr>
        <p:blipFill>
          <a:blip r:embed="rId5"/>
          <a:stretch>
            <a:fillRect/>
          </a:stretch>
        </p:blipFill>
        <p:spPr>
          <a:xfrm>
            <a:off x="9652104" y="6056488"/>
            <a:ext cx="2241019" cy="440200"/>
          </a:xfrm>
          <a:prstGeom prst="rect">
            <a:avLst/>
          </a:prstGeom>
          <a:noFill/>
          <a:ln>
            <a:noFill/>
          </a:ln>
        </p:spPr>
      </p:pic>
      <p:sp>
        <p:nvSpPr>
          <p:cNvPr id="14" name="Title 6"/>
          <p:cNvSpPr txBox="1"/>
          <p:nvPr>
            <p:custDataLst>
              <p:tags r:id="rId6"/>
            </p:custDataLst>
          </p:nvPr>
        </p:nvSpPr>
        <p:spPr>
          <a:xfrm>
            <a:off x="6724649" y="2752727"/>
            <a:ext cx="4886325" cy="2695574"/>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285750" fontAlgn="ctr">
              <a:lnSpc>
                <a:spcPct val="120000"/>
              </a:lnSpc>
              <a:spcBef>
                <a:spcPts val="0"/>
              </a:spcBef>
              <a:spcAft>
                <a:spcPts val="800"/>
              </a:spcAft>
              <a:buSzPct val="100000"/>
            </a:pPr>
            <a:r>
              <a:rPr lang="en-US" altLang="zh-CN" sz="1400" kern="0" spc="0" dirty="0">
                <a:ln w="3175">
                  <a:noFill/>
                  <a:prstDash val="dash"/>
                </a:ln>
                <a:solidFill>
                  <a:schemeClr val="dk1">
                    <a:lumMod val="75000"/>
                    <a:lumOff val="25000"/>
                  </a:schemeClr>
                </a:solidFill>
                <a:latin typeface="Roboto" charset="0"/>
                <a:ea typeface="Roboto" charset="0"/>
                <a:cs typeface="Arial" panose="020B0604020202020204" pitchFamily="34" charset="0"/>
              </a:rPr>
              <a:t>The “MX-0812-SCL” is a 4K fast seamless matrix, perfect for auditoriums, lecture halls, and large classrooms. Featuring 8 HDMI inputs and 12 HDMI outputs, it supports up to 4K resolution and enables dynamic splicing video walls. With advanced KVM functionality, it’s ideal for hybrid teaching and meetings. Seamless integration with touch panels or third-party controllers ensures effortless operation across diverse applications. Additionally, it supports Dante transmission, delivering superior audio quality for an enhanced experience.</a:t>
            </a:r>
            <a:endParaRPr lang="en-US" altLang="zh-CN" sz="1400" kern="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p:txBody>
      </p:sp>
      <p:sp>
        <p:nvSpPr>
          <p:cNvPr id="2"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4" name="文本框 3"/>
          <p:cNvSpPr txBox="1"/>
          <p:nvPr/>
        </p:nvSpPr>
        <p:spPr>
          <a:xfrm>
            <a:off x="6708731" y="1890391"/>
            <a:ext cx="3961869" cy="1034415"/>
          </a:xfrm>
          <a:prstGeom prst="rect">
            <a:avLst/>
          </a:prstGeom>
          <a:noFill/>
        </p:spPr>
        <p:txBody>
          <a:bodyPr wrap="square" rtlCol="0">
            <a:noAutofit/>
          </a:bodyPr>
          <a:lstStyle/>
          <a:p>
            <a:pPr indent="-285750" algn="l" defTabSz="913765" fontAlgn="ctr">
              <a:lnSpc>
                <a:spcPts val="2700"/>
              </a:lnSpc>
              <a:spcBef>
                <a:spcPts val="0"/>
              </a:spcBef>
              <a:spcAft>
                <a:spcPts val="800"/>
              </a:spcAft>
            </a:pPr>
            <a:r>
              <a:rPr lang="en-US" altLang="zh-CN" sz="2600" b="1" dirty="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rPr>
              <a:t>Advanced 4K HDMI </a:t>
            </a:r>
            <a:r>
              <a:rPr lang="en-US" altLang="zh-CN" sz="2600" b="1"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Fast Seamless Matrix</a:t>
            </a:r>
            <a:endParaRPr lang="zh-CN" altLang="en-US" sz="2600" dirty="0"/>
          </a:p>
        </p:txBody>
      </p:sp>
      <p:pic>
        <p:nvPicPr>
          <p:cNvPr id="6" name="Picture 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4785" y="2047844"/>
            <a:ext cx="7204710" cy="4052649"/>
          </a:xfrm>
          <a:prstGeom prst="rect">
            <a:avLst/>
          </a:prstGeom>
        </p:spPr>
      </p:pic>
    </p:spTree>
    <p:custDataLst>
      <p:tags r:id="rId8"/>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1"/>
            </p:custDataLst>
          </p:nvPr>
        </p:nvSpPr>
        <p:spPr>
          <a:xfrm>
            <a:off x="1377950" y="1375410"/>
            <a:ext cx="4599940" cy="656398"/>
          </a:xfrm>
          <a:prstGeom prst="rect">
            <a:avLst/>
          </a:prstGeom>
          <a:noFill/>
        </p:spPr>
        <p:txBody>
          <a:bodyPr wrap="square" rtlCol="0">
            <a:spAutoFit/>
          </a:bodyPr>
          <a:lstStyle/>
          <a:p>
            <a:pPr>
              <a:lnSpc>
                <a:spcPts val="1500"/>
              </a:lnSpc>
            </a:pPr>
            <a:r>
              <a:rPr lang="en-US" altLang="zh-CN" sz="1400" b="1" dirty="0">
                <a:solidFill>
                  <a:srgbClr val="0B7935"/>
                </a:solidFill>
                <a:latin typeface="Roboto" charset="0"/>
                <a:ea typeface="Roboto" charset="0"/>
                <a:cs typeface="Roboto" charset="0"/>
                <a:sym typeface="+mn-ea"/>
              </a:rPr>
              <a:t>Reliable and High-Quality Resolution</a:t>
            </a:r>
            <a:endParaRPr lang="en-US" altLang="zh-CN" sz="1400" b="1" dirty="0">
              <a:solidFill>
                <a:srgbClr val="0B7935"/>
              </a:solidFill>
              <a:latin typeface="Roboto" charset="0"/>
              <a:ea typeface="Roboto" charset="0"/>
              <a:cs typeface="Roboto" charset="0"/>
              <a:sym typeface="+mn-ea"/>
            </a:endParaRPr>
          </a:p>
          <a:p>
            <a:pPr algn="l">
              <a:lnSpc>
                <a:spcPts val="1500"/>
              </a:lnSpc>
              <a:buClrTx/>
              <a:buSzTx/>
              <a:buFontTx/>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Deliver sharp and clear 4K video for a fully immersive presentation experience.</a:t>
            </a:r>
            <a:endParaRPr lang="en-US" altLang="zh-CN" sz="1200" spc="40" dirty="0">
              <a:ln w="3175">
                <a:noFill/>
                <a:prstDash val="dash"/>
              </a:ln>
              <a:solidFill>
                <a:schemeClr val="dk1">
                  <a:lumMod val="75000"/>
                  <a:lumOff val="25000"/>
                </a:schemeClr>
              </a:solidFill>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8" name="文本框 7"/>
          <p:cNvSpPr txBox="1"/>
          <p:nvPr>
            <p:custDataLst>
              <p:tags r:id="rId2"/>
            </p:custDataLst>
          </p:nvPr>
        </p:nvSpPr>
        <p:spPr>
          <a:xfrm>
            <a:off x="6741673" y="1360077"/>
            <a:ext cx="4599940" cy="848758"/>
          </a:xfrm>
          <a:prstGeom prst="rect">
            <a:avLst/>
          </a:prstGeom>
          <a:noFill/>
        </p:spPr>
        <p:txBody>
          <a:bodyPr wrap="square" rtlCol="0">
            <a:spAutoFit/>
          </a:bodyPr>
          <a:lstStyle/>
          <a:p>
            <a:pPr>
              <a:lnSpc>
                <a:spcPts val="1500"/>
              </a:lnSpc>
            </a:pPr>
            <a:r>
              <a:rPr lang="en-US" sz="1400" b="1" dirty="0">
                <a:solidFill>
                  <a:srgbClr val="0B7935"/>
                </a:solidFill>
                <a:latin typeface="Roboto" charset="0"/>
                <a:ea typeface="Roboto" charset="0"/>
                <a:cs typeface="Roboto" charset="0"/>
                <a:sym typeface="+mn-ea"/>
              </a:rPr>
              <a:t>Built-in Dante(4x4) for Audio Transmission</a:t>
            </a:r>
            <a:endParaRPr lang="en-US" sz="1400" b="1" dirty="0">
              <a:solidFill>
                <a:srgbClr val="0B7935"/>
              </a:solidFill>
              <a:latin typeface="Roboto" charset="0"/>
              <a:ea typeface="Roboto" charset="0"/>
              <a:cs typeface="Roboto" charset="0"/>
              <a:sym typeface="+mn-ea"/>
            </a:endParaRP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Supporting Dante (4x4) to transmit audio signal, working directly with Dante Audio System, such as Dante audio DSP, Dante Mic, and Dante amplifiers.</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6" name="文本框 5"/>
          <p:cNvSpPr txBox="1"/>
          <p:nvPr>
            <p:custDataLst>
              <p:tags r:id="rId3"/>
            </p:custDataLst>
          </p:nvPr>
        </p:nvSpPr>
        <p:spPr>
          <a:xfrm>
            <a:off x="1355090" y="4610735"/>
            <a:ext cx="4350385" cy="1041119"/>
          </a:xfrm>
          <a:prstGeom prst="rect">
            <a:avLst/>
          </a:prstGeom>
          <a:noFill/>
        </p:spPr>
        <p:txBody>
          <a:bodyPr wrap="square" rtlCol="0">
            <a:spAutoFit/>
          </a:bodyPr>
          <a:lstStyle/>
          <a:p>
            <a:pPr algn="l">
              <a:lnSpc>
                <a:spcPts val="1500"/>
              </a:lnSpc>
              <a:buClrTx/>
              <a:buSzTx/>
              <a:buFontTx/>
            </a:pPr>
            <a:r>
              <a:rPr lang="en-US" sz="1400" b="1" dirty="0">
                <a:solidFill>
                  <a:srgbClr val="0B7935"/>
                </a:solidFill>
                <a:latin typeface="Roboto" charset="0"/>
                <a:ea typeface="Roboto" charset="0"/>
                <a:cs typeface="Roboto" charset="0"/>
                <a:sym typeface="+mn-ea"/>
              </a:rPr>
              <a:t>KVM for Hybrid Teaching &amp; Meetings</a:t>
            </a:r>
            <a:endParaRPr lang="en-US" sz="1400" b="1" dirty="0">
              <a:solidFill>
                <a:srgbClr val="0B7935"/>
              </a:solidFill>
              <a:latin typeface="Roboto" charset="0"/>
              <a:ea typeface="Roboto" charset="0"/>
              <a:cs typeface="Roboto" charset="0"/>
              <a:sym typeface="+mn-ea"/>
            </a:endParaRP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Simplify cable management and streamline workflows with USB 3.0 ports for cameras, speakerphones, and keyboards. Designed for hybrid meetings and education, it enables seamless device switching through a single hub.</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9" name="文本框 8"/>
          <p:cNvSpPr txBox="1"/>
          <p:nvPr>
            <p:custDataLst>
              <p:tags r:id="rId4"/>
            </p:custDataLst>
          </p:nvPr>
        </p:nvSpPr>
        <p:spPr>
          <a:xfrm>
            <a:off x="6741795" y="3639820"/>
            <a:ext cx="4882039" cy="656398"/>
          </a:xfrm>
          <a:prstGeom prst="rect">
            <a:avLst/>
          </a:prstGeom>
          <a:noFill/>
        </p:spPr>
        <p:txBody>
          <a:bodyPr wrap="square" rtlCol="0">
            <a:spAutoFit/>
          </a:bodyPr>
          <a:lstStyle/>
          <a:p>
            <a:pPr indent="0"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Versatile and Flexbile Ethernet</a:t>
            </a:r>
            <a:endParaRPr lang="en-US" sz="1400" b="1" dirty="0">
              <a:solidFill>
                <a:srgbClr val="0B7935"/>
              </a:solidFill>
              <a:latin typeface="Roboto" charset="0"/>
              <a:ea typeface="Roboto" charset="0"/>
              <a:cs typeface="Roboto" charset="0"/>
              <a:sym typeface="+mn-ea"/>
            </a:endParaRPr>
          </a:p>
          <a:p>
            <a:pPr algn="l" fontAlgn="auto">
              <a:lnSpc>
                <a:spcPts val="1500"/>
              </a:lnSpc>
              <a:spcBef>
                <a:spcPts val="0"/>
              </a:spcBef>
              <a:buClrTx/>
              <a:buSzTx/>
              <a:buFontTx/>
              <a:buNone/>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Enhance hybrid meetings and education with reliable networking. Ethernet Bridge and Isolation ensure stability and security.</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22" name="矩形 7"/>
          <p:cNvSpPr/>
          <p:nvPr>
            <p:custDataLst>
              <p:tags r:id="rId5"/>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pic>
        <p:nvPicPr>
          <p:cNvPr id="10"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1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1" name="文本框 6"/>
          <p:cNvSpPr txBox="1"/>
          <p:nvPr>
            <p:custDataLst>
              <p:tags r:id="rId7"/>
            </p:custDataLst>
          </p:nvPr>
        </p:nvSpPr>
        <p:spPr>
          <a:xfrm>
            <a:off x="457155" y="163192"/>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Main Features</a:t>
            </a:r>
            <a:endParaRPr lang="en-US" sz="3200" b="1" dirty="0">
              <a:solidFill>
                <a:schemeClr val="lt1"/>
              </a:solidFill>
              <a:uFillTx/>
              <a:latin typeface="Montserrat" pitchFamily="2" charset="0"/>
              <a:ea typeface="微软雅黑" panose="020B0503020204020204" pitchFamily="34" charset="-122"/>
              <a:sym typeface="Roboto"/>
            </a:endParaRPr>
          </a:p>
        </p:txBody>
      </p:sp>
      <p:pic>
        <p:nvPicPr>
          <p:cNvPr id="31" name="Picture 3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60841" y="2364192"/>
            <a:ext cx="570649" cy="518773"/>
          </a:xfrm>
          <a:prstGeom prst="rect">
            <a:avLst/>
          </a:prstGeom>
        </p:spPr>
      </p:pic>
      <p:pic>
        <p:nvPicPr>
          <p:cNvPr id="35" name="Picture 34" descr="A black background with arrows&#10;&#10;Description automatically generated"/>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32422" y="4546360"/>
            <a:ext cx="711098" cy="656398"/>
          </a:xfrm>
          <a:prstGeom prst="rect">
            <a:avLst/>
          </a:prstGeom>
        </p:spPr>
      </p:pic>
      <p:pic>
        <p:nvPicPr>
          <p:cNvPr id="37" name="Picture 36" descr="A logo with lines and dots&#10;&#10;Description automatically generated"/>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208664" y="4693846"/>
            <a:ext cx="525605" cy="477824"/>
          </a:xfrm>
          <a:prstGeom prst="rect">
            <a:avLst/>
          </a:prstGeom>
        </p:spPr>
      </p:pic>
      <p:pic>
        <p:nvPicPr>
          <p:cNvPr id="39" name="Picture 38" descr="A black and grey square with white rectangles&#10;&#10;Description automatically generated"/>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29453" y="3270684"/>
            <a:ext cx="535365" cy="391730"/>
          </a:xfrm>
          <a:prstGeom prst="rect">
            <a:avLst/>
          </a:prstGeom>
        </p:spPr>
      </p:pic>
      <p:pic>
        <p:nvPicPr>
          <p:cNvPr id="41" name="Picture 40" descr="A black and white logo&#10;&#10;Description automatically generated"/>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141229" y="3681815"/>
            <a:ext cx="631141" cy="461811"/>
          </a:xfrm>
          <a:prstGeom prst="rect">
            <a:avLst/>
          </a:prstGeom>
        </p:spPr>
      </p:pic>
      <p:pic>
        <p:nvPicPr>
          <p:cNvPr id="19" name="Picture 28" descr="A close up of a logo&#10;&#10;Description automatically generated"/>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19785" y="1435735"/>
            <a:ext cx="506730" cy="320040"/>
          </a:xfrm>
          <a:prstGeom prst="rect">
            <a:avLst/>
          </a:prstGeom>
        </p:spPr>
      </p:pic>
      <p:pic>
        <p:nvPicPr>
          <p:cNvPr id="33" name="Picture 32" descr="A black background with arrows pointing to a symbol&#10;&#10;Description automatically generated"/>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27405" y="2330357"/>
            <a:ext cx="556469" cy="439318"/>
          </a:xfrm>
          <a:prstGeom prst="rect">
            <a:avLst/>
          </a:prstGeom>
        </p:spPr>
      </p:pic>
      <p:pic>
        <p:nvPicPr>
          <p:cNvPr id="43" name="Picture 42" descr="A black and white background with circles and dots&#10;&#10;Description automatically generated"/>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201200" y="1407600"/>
            <a:ext cx="516314" cy="424368"/>
          </a:xfrm>
          <a:prstGeom prst="rect">
            <a:avLst/>
          </a:prstGeom>
        </p:spPr>
      </p:pic>
      <p:sp>
        <p:nvSpPr>
          <p:cNvPr id="4" name="文本框 17"/>
          <p:cNvSpPr txBox="1"/>
          <p:nvPr>
            <p:custDataLst>
              <p:tags r:id="rId16"/>
            </p:custDataLst>
          </p:nvPr>
        </p:nvSpPr>
        <p:spPr>
          <a:xfrm>
            <a:off x="1377950" y="2283316"/>
            <a:ext cx="4599940" cy="656398"/>
          </a:xfrm>
          <a:prstGeom prst="rect">
            <a:avLst/>
          </a:prstGeom>
          <a:noFill/>
        </p:spPr>
        <p:txBody>
          <a:bodyPr wrap="square" rtlCol="0">
            <a:spAutoFit/>
          </a:bodyPr>
          <a:lstStyle/>
          <a:p>
            <a:pPr>
              <a:lnSpc>
                <a:spcPts val="1500"/>
              </a:lnSpc>
            </a:pPr>
            <a:r>
              <a:rPr lang="en-US" sz="1400" b="1" dirty="0">
                <a:solidFill>
                  <a:srgbClr val="0B7935"/>
                </a:solidFill>
                <a:latin typeface="Roboto" charset="0"/>
                <a:ea typeface="Roboto" charset="0"/>
                <a:cs typeface="Roboto" charset="0"/>
                <a:sym typeface="+mn-ea"/>
              </a:rPr>
              <a:t>Fast Seamless Switching</a:t>
            </a:r>
            <a:endParaRPr lang="en-US" sz="1400" b="1" dirty="0">
              <a:solidFill>
                <a:srgbClr val="0B7935"/>
              </a:solidFill>
              <a:latin typeface="Roboto" charset="0"/>
              <a:ea typeface="Roboto" charset="0"/>
              <a:cs typeface="Roboto" charset="0"/>
              <a:sym typeface="+mn-ea"/>
            </a:endParaRPr>
          </a:p>
          <a:p>
            <a:pPr algn="l">
              <a:lnSpc>
                <a:spcPts val="1500"/>
              </a:lnSpc>
              <a:buClrTx/>
              <a:buSzTx/>
              <a:buFontTx/>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Eliminate black screens when switching between sources like laptops, PCs, and document cameras.</a:t>
            </a:r>
            <a:endParaRPr lang="en-US" altLang="zh-CN" sz="1200" spc="40" dirty="0">
              <a:ln w="3175">
                <a:noFill/>
                <a:prstDash val="dash"/>
              </a:ln>
              <a:solidFill>
                <a:schemeClr val="dk1">
                  <a:lumMod val="75000"/>
                  <a:lumOff val="25000"/>
                </a:schemeClr>
              </a:solidFill>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5" name="文本框 17"/>
          <p:cNvSpPr txBox="1"/>
          <p:nvPr>
            <p:custDataLst>
              <p:tags r:id="rId17"/>
            </p:custDataLst>
          </p:nvPr>
        </p:nvSpPr>
        <p:spPr>
          <a:xfrm>
            <a:off x="1377950" y="3214824"/>
            <a:ext cx="4203700" cy="1233479"/>
          </a:xfrm>
          <a:prstGeom prst="rect">
            <a:avLst/>
          </a:prstGeom>
          <a:noFill/>
        </p:spPr>
        <p:txBody>
          <a:bodyPr wrap="square" rtlCol="0">
            <a:spAutoFit/>
          </a:bodyPr>
          <a:lstStyle/>
          <a:p>
            <a:pPr>
              <a:lnSpc>
                <a:spcPts val="1500"/>
              </a:lnSpc>
            </a:pPr>
            <a:r>
              <a:rPr lang="en-US" sz="1400" b="1" dirty="0">
                <a:solidFill>
                  <a:srgbClr val="0B7935"/>
                </a:solidFill>
                <a:latin typeface="Roboto" charset="0"/>
                <a:ea typeface="Roboto" charset="0"/>
                <a:cs typeface="Roboto" charset="0"/>
                <a:sym typeface="+mn-ea"/>
              </a:rPr>
              <a:t>Video wall Feature Supporting</a:t>
            </a:r>
            <a:endParaRPr lang="en-US" sz="1400" b="1" dirty="0">
              <a:solidFill>
                <a:srgbClr val="0B7935"/>
              </a:solidFill>
              <a:latin typeface="Roboto" charset="0"/>
              <a:ea typeface="Roboto" charset="0"/>
              <a:cs typeface="Roboto" charset="0"/>
              <a:sym typeface="+mn-ea"/>
            </a:endParaRPr>
          </a:p>
          <a:p>
            <a:pPr marL="171450" indent="-171450">
              <a:lnSpc>
                <a:spcPts val="1500"/>
              </a:lnSpc>
              <a:buFont typeface="Arial" panose="020B0604020202020204" pitchFamily="34" charset="0"/>
              <a:buChar char="•"/>
            </a:pPr>
            <a:r>
              <a:rPr lang="en-US" altLang="zh-CN" sz="1200" spc="40" dirty="0">
                <a:ln w="3175">
                  <a:noFill/>
                  <a:prstDash val="dash"/>
                </a:ln>
                <a:solidFill>
                  <a:schemeClr val="dk1">
                    <a:lumMod val="75000"/>
                    <a:lumOff val="25000"/>
                  </a:schemeClr>
                </a:solidFill>
                <a:uFillTx/>
                <a:latin typeface="Arial" panose="020B0604020202020204" pitchFamily="34" charset="0"/>
                <a:ea typeface="微软雅黑" panose="020B0503020204020204" pitchFamily="34" charset="-122"/>
                <a:cs typeface="Arial" panose="020B0604020202020204" pitchFamily="34" charset="0"/>
                <a:sym typeface="+mn-ea"/>
              </a:rPr>
              <a:t>Create video walls with up to 12 screens in layouts like 2x2, 3x2, and 3x3. </a:t>
            </a:r>
            <a:endParaRPr lang="en-US" altLang="zh-CN" sz="1200" spc="40" dirty="0">
              <a:ln w="3175">
                <a:noFill/>
                <a:prstDash val="dash"/>
              </a:ln>
              <a:solidFill>
                <a:schemeClr val="dk1">
                  <a:lumMod val="75000"/>
                  <a:lumOff val="25000"/>
                </a:schemeClr>
              </a:solidFill>
              <a:uFillTx/>
              <a:latin typeface="Arial" panose="020B0604020202020204" pitchFamily="34" charset="0"/>
              <a:ea typeface="微软雅黑" panose="020B0503020204020204" pitchFamily="34" charset="-122"/>
              <a:cs typeface="Arial" panose="020B0604020202020204" pitchFamily="34" charset="0"/>
              <a:sym typeface="+mn-ea"/>
            </a:endParaRPr>
          </a:p>
          <a:p>
            <a:pPr marL="171450" indent="-171450">
              <a:lnSpc>
                <a:spcPts val="1500"/>
              </a:lnSpc>
              <a:buFont typeface="Arial" panose="020B0604020202020204" pitchFamily="34" charset="0"/>
              <a:buChar char="•"/>
            </a:pPr>
            <a:r>
              <a:rPr lang="en-US" altLang="zh-CN" sz="1200" spc="40" dirty="0">
                <a:ln w="3175">
                  <a:noFill/>
                  <a:prstDash val="dash"/>
                </a:ln>
                <a:solidFill>
                  <a:schemeClr val="dk1">
                    <a:lumMod val="75000"/>
                    <a:lumOff val="25000"/>
                  </a:schemeClr>
                </a:solidFill>
                <a:uFillTx/>
                <a:latin typeface="Arial" panose="020B0604020202020204" pitchFamily="34" charset="0"/>
                <a:ea typeface="微软雅黑" panose="020B0503020204020204" pitchFamily="34" charset="-122"/>
                <a:cs typeface="Arial" panose="020B0604020202020204" pitchFamily="34" charset="0"/>
                <a:sym typeface="+mn-ea"/>
              </a:rPr>
              <a:t>Support multiple simultaneous video walls            (e.g., 3 x [2x2]) and adjust bezels for improved image alignment and edge quality.</a:t>
            </a:r>
            <a:endParaRPr lang="en-US" altLang="zh-CN" sz="1200" spc="40" dirty="0">
              <a:ln w="3175">
                <a:noFill/>
                <a:prstDash val="dash"/>
              </a:ln>
              <a:solidFill>
                <a:schemeClr val="dk1">
                  <a:lumMod val="75000"/>
                  <a:lumOff val="25000"/>
                </a:schemeClr>
              </a:solidFill>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7" name="文本框 7"/>
          <p:cNvSpPr txBox="1"/>
          <p:nvPr>
            <p:custDataLst>
              <p:tags r:id="rId18"/>
            </p:custDataLst>
          </p:nvPr>
        </p:nvSpPr>
        <p:spPr>
          <a:xfrm>
            <a:off x="6741673" y="2354668"/>
            <a:ext cx="4599940" cy="1041119"/>
          </a:xfrm>
          <a:prstGeom prst="rect">
            <a:avLst/>
          </a:prstGeom>
          <a:noFill/>
        </p:spPr>
        <p:txBody>
          <a:bodyPr wrap="square" rtlCol="0">
            <a:spAutoFit/>
          </a:bodyPr>
          <a:lstStyle/>
          <a:p>
            <a:pPr indent="0"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Balanced Audio De-embedding</a:t>
            </a:r>
            <a:endParaRPr lang="en-US" sz="1400" b="1" dirty="0">
              <a:solidFill>
                <a:srgbClr val="0B7935"/>
              </a:solidFill>
              <a:latin typeface="Roboto" charset="0"/>
              <a:ea typeface="Roboto" charset="0"/>
              <a:cs typeface="Roboto" charset="0"/>
              <a:sym typeface="+mn-ea"/>
            </a:endParaRPr>
          </a:p>
          <a:p>
            <a:pPr algn="l" fontAlgn="auto">
              <a:lnSpc>
                <a:spcPts val="1500"/>
              </a:lnSpc>
              <a:spcBef>
                <a:spcPts val="0"/>
              </a:spcBef>
              <a:spcAft>
                <a:spcPts val="0"/>
              </a:spcAft>
              <a:buClrTx/>
              <a:buSzTx/>
              <a:buFont typeface="Wingdings" panose="05000000000000000000" pitchFamily="2" charset="2"/>
              <a:buNone/>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Integrate seamlessly with external audio systems for enhanced sound quality. Pair with a professional amplifier, speakers, and microphones to deliver an immersive audio experience for presenters and participants.</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11" name="文本框 8"/>
          <p:cNvSpPr txBox="1"/>
          <p:nvPr>
            <p:custDataLst>
              <p:tags r:id="rId19"/>
            </p:custDataLst>
          </p:nvPr>
        </p:nvSpPr>
        <p:spPr>
          <a:xfrm>
            <a:off x="6741795" y="4601845"/>
            <a:ext cx="4421505" cy="848758"/>
          </a:xfrm>
          <a:prstGeom prst="rect">
            <a:avLst/>
          </a:prstGeom>
          <a:noFill/>
        </p:spPr>
        <p:txBody>
          <a:bodyPr wrap="square" rtlCol="0">
            <a:spAutoFit/>
          </a:bodyPr>
          <a:lstStyle/>
          <a:p>
            <a:pPr>
              <a:lnSpc>
                <a:spcPts val="1500"/>
              </a:lnSpc>
            </a:pPr>
            <a:r>
              <a:rPr lang="en-US" altLang="zh-CN" sz="1400" b="1" dirty="0">
                <a:solidFill>
                  <a:srgbClr val="0B7935"/>
                </a:solidFill>
                <a:latin typeface="Roboto" charset="0"/>
                <a:ea typeface="Roboto" charset="0"/>
                <a:cs typeface="Roboto" charset="0"/>
                <a:sym typeface="+mn-ea"/>
              </a:rPr>
              <a:t>Centralized Control and Automation</a:t>
            </a:r>
            <a:endParaRPr lang="en-US" altLang="zh-CN" sz="1400" b="1" dirty="0">
              <a:solidFill>
                <a:srgbClr val="0B7935"/>
              </a:solidFill>
              <a:latin typeface="Roboto" charset="0"/>
              <a:ea typeface="Roboto" charset="0"/>
              <a:cs typeface="Roboto" charset="0"/>
              <a:sym typeface="+mn-ea"/>
            </a:endParaRPr>
          </a:p>
          <a:p>
            <a:pPr>
              <a:lnSpc>
                <a:spcPts val="1500"/>
              </a:lnSpc>
              <a:buFont typeface="Wingdings" panose="05000000000000000000" pitchFamily="2" charset="2"/>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Enable remote monitoring and control via Web-UI, RS232, and Telnet. Access real-time system status, configuration, and performance effortlessly.</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a:bodyPr>
          <a:lstStyle/>
          <a:p>
            <a:pPr>
              <a:buSzPct val="100000"/>
            </a:pPr>
            <a:r>
              <a:rPr lang="en-US" sz="2400" b="1" dirty="0">
                <a:solidFill>
                  <a:schemeClr val="lt1"/>
                </a:solidFill>
                <a:uFillTx/>
                <a:latin typeface="Montserrat" pitchFamily="2" charset="0"/>
                <a:ea typeface="微软雅黑" panose="020B0503020204020204" pitchFamily="34" charset="-122"/>
                <a:sym typeface="Roboto"/>
              </a:rPr>
              <a:t>Why Choose Us:  1. </a:t>
            </a:r>
            <a:r>
              <a:rPr lang="en-US" sz="2400" b="1" dirty="0">
                <a:solidFill>
                  <a:schemeClr val="lt1"/>
                </a:solidFill>
                <a:latin typeface="Montserrat" pitchFamily="2" charset="0"/>
                <a:ea typeface="微软雅黑" panose="020B0503020204020204" pitchFamily="34" charset="-122"/>
                <a:sym typeface="Roboto"/>
              </a:rPr>
              <a:t>Immersive Viewing Experience and  Video Wall</a:t>
            </a:r>
            <a:endParaRPr lang="en-US" sz="2400" b="1" dirty="0">
              <a:solidFill>
                <a:schemeClr val="lt1"/>
              </a:solidFill>
              <a:uFillTx/>
              <a:latin typeface="Montserrat" pitchFamily="2" charset="0"/>
              <a:ea typeface="微软雅黑" panose="020B0503020204020204" pitchFamily="34" charset="-122"/>
              <a:sym typeface="Roboto"/>
            </a:endParaRPr>
          </a:p>
        </p:txBody>
      </p:sp>
      <p:sp>
        <p:nvSpPr>
          <p:cNvPr id="5" name="文本框 4"/>
          <p:cNvSpPr txBox="1"/>
          <p:nvPr/>
        </p:nvSpPr>
        <p:spPr>
          <a:xfrm>
            <a:off x="438802" y="1194959"/>
            <a:ext cx="11296042" cy="761918"/>
          </a:xfrm>
          <a:prstGeom prst="rect">
            <a:avLst/>
          </a:prstGeom>
          <a:noFill/>
        </p:spPr>
        <p:txBody>
          <a:bodyPr wrap="square" rtlCol="0">
            <a:noAutofit/>
          </a:bodyPr>
          <a:lstStyle/>
          <a:p>
            <a:pPr indent="0" fontAlgn="auto">
              <a:buFont typeface="Wingdings" panose="05000000000000000000" charset="0"/>
              <a:buNone/>
            </a:pPr>
            <a:r>
              <a:rPr lang="en-US" altLang="zh-CN" sz="2000" b="1" dirty="0">
                <a:solidFill>
                  <a:schemeClr val="tx1">
                    <a:lumMod val="75000"/>
                    <a:lumOff val="25000"/>
                  </a:schemeClr>
                </a:solidFill>
                <a:latin typeface="Roboto" charset="0"/>
                <a:ea typeface="Roboto" charset="0"/>
                <a:cs typeface="Arial" panose="020B0604020202020204" pitchFamily="34" charset="0"/>
              </a:rPr>
              <a:t>Deliver an immersive viewing experience with 4K@60 resolution, seamless switching, and video wall capabilities, ensuring stunning detail and captivating visuals for the audience.</a:t>
            </a: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p:txBody>
      </p:sp>
      <p:pic>
        <p:nvPicPr>
          <p:cNvPr id="4"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46" name="Rectangle 45"/>
          <p:cNvSpPr/>
          <p:nvPr/>
        </p:nvSpPr>
        <p:spPr>
          <a:xfrm>
            <a:off x="932968" y="2381249"/>
            <a:ext cx="4791557" cy="143926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368897" y="4405041"/>
            <a:ext cx="5113461" cy="1107074"/>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64844" y="2181791"/>
            <a:ext cx="3467291"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文本框 4"/>
          <p:cNvSpPr txBox="1"/>
          <p:nvPr/>
        </p:nvSpPr>
        <p:spPr>
          <a:xfrm>
            <a:off x="916279" y="2219890"/>
            <a:ext cx="3945509"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High-Quality Video Performance</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50" name="Rectangle 49"/>
          <p:cNvSpPr/>
          <p:nvPr/>
        </p:nvSpPr>
        <p:spPr>
          <a:xfrm>
            <a:off x="6377229" y="2395505"/>
            <a:ext cx="5113461" cy="1499030"/>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文本框 4"/>
          <p:cNvSpPr txBox="1"/>
          <p:nvPr/>
        </p:nvSpPr>
        <p:spPr>
          <a:xfrm>
            <a:off x="1124483" y="2729651"/>
            <a:ext cx="4209516"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Provide high-quality 4K resolution for detailed information on large-format screens, coupled with fast, seamless switching and no black screen to enhance the viewing experience.</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53" name="Rectangle 52"/>
          <p:cNvSpPr/>
          <p:nvPr/>
        </p:nvSpPr>
        <p:spPr>
          <a:xfrm>
            <a:off x="6200773" y="2181791"/>
            <a:ext cx="2724741"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文本框 4"/>
          <p:cNvSpPr txBox="1"/>
          <p:nvPr/>
        </p:nvSpPr>
        <p:spPr>
          <a:xfrm>
            <a:off x="6352209" y="2219890"/>
            <a:ext cx="3587853"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Multiple Splicing Layout</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55" name="文本框 4"/>
          <p:cNvSpPr txBox="1"/>
          <p:nvPr/>
        </p:nvSpPr>
        <p:spPr>
          <a:xfrm>
            <a:off x="6539930" y="2729650"/>
            <a:ext cx="4813404" cy="1230872"/>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Multiple splicing layouts supporting, creating common layouts such as 2x2, 3x2, 4x2, 5x2, 6x2, 3x3, 3x4. And also creating multiple video walls simultaneously (3 x [2x2]), which allows for selecting different input sources.</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56" name="Rectangle 55"/>
          <p:cNvSpPr/>
          <p:nvPr/>
        </p:nvSpPr>
        <p:spPr>
          <a:xfrm>
            <a:off x="6200774" y="4202522"/>
            <a:ext cx="2277760"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文本框 4"/>
          <p:cNvSpPr txBox="1"/>
          <p:nvPr/>
        </p:nvSpPr>
        <p:spPr>
          <a:xfrm>
            <a:off x="6352209" y="4240621"/>
            <a:ext cx="203647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Picture Adjustment</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58" name="文本框 4"/>
          <p:cNvSpPr txBox="1"/>
          <p:nvPr/>
        </p:nvSpPr>
        <p:spPr>
          <a:xfrm>
            <a:off x="6560411" y="4795647"/>
            <a:ext cx="4209517" cy="577710"/>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Bezel adjustment help guests to enhance viewing experience with stunning details.</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pic>
        <p:nvPicPr>
          <p:cNvPr id="23" name="图片 22"/>
          <p:cNvPicPr>
            <a:picLocks noChangeAspect="1"/>
          </p:cNvPicPr>
          <p:nvPr/>
        </p:nvPicPr>
        <p:blipFill>
          <a:blip r:embed="rId4"/>
          <a:stretch>
            <a:fillRect/>
          </a:stretch>
        </p:blipFill>
        <p:spPr>
          <a:xfrm>
            <a:off x="441164" y="4178778"/>
            <a:ext cx="5497162" cy="2189654"/>
          </a:xfrm>
          <a:prstGeom prst="rect">
            <a:avLst/>
          </a:prstGeom>
        </p:spPr>
      </p:pic>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sound wave&#10;&#10;AI-generated content may be incorrect."/>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719646" y="3526256"/>
            <a:ext cx="4653204" cy="2326602"/>
          </a:xfrm>
          <a:prstGeom prst="rect">
            <a:avLst/>
          </a:prstGeom>
        </p:spPr>
      </p:pic>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lstStyle/>
          <a:p>
            <a:pPr>
              <a:buSzPct val="100000"/>
            </a:pPr>
            <a:r>
              <a:rPr lang="en-US" sz="2400" b="1" dirty="0">
                <a:solidFill>
                  <a:schemeClr val="lt1"/>
                </a:solidFill>
                <a:uFillTx/>
                <a:latin typeface="Montserrat" pitchFamily="2" charset="0"/>
                <a:ea typeface="微软雅黑" panose="020B0503020204020204" pitchFamily="34" charset="-122"/>
                <a:sym typeface="Roboto"/>
              </a:rPr>
              <a:t>Why Choose Us:  2</a:t>
            </a:r>
            <a:r>
              <a:rPr lang="en-US" sz="2400" b="1" dirty="0">
                <a:solidFill>
                  <a:schemeClr val="lt1"/>
                </a:solidFill>
                <a:latin typeface="Montserrat" pitchFamily="2" charset="0"/>
                <a:ea typeface="微软雅黑" panose="020B0503020204020204" pitchFamily="34" charset="-122"/>
                <a:sym typeface="Roboto"/>
              </a:rPr>
              <a:t>. Creating Hybrid Working/Teaching Environment</a:t>
            </a:r>
            <a:endParaRPr lang="en-US" sz="2400" b="1" dirty="0">
              <a:solidFill>
                <a:schemeClr val="lt1"/>
              </a:solidFill>
              <a:latin typeface="Montserrat" pitchFamily="2" charset="0"/>
              <a:ea typeface="微软雅黑" panose="020B0503020204020204" pitchFamily="34" charset="-122"/>
              <a:sym typeface="Roboto"/>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3" name="文本框 4"/>
          <p:cNvSpPr txBox="1"/>
          <p:nvPr/>
        </p:nvSpPr>
        <p:spPr>
          <a:xfrm>
            <a:off x="450191" y="1189596"/>
            <a:ext cx="11256077" cy="717264"/>
          </a:xfrm>
          <a:prstGeom prst="rect">
            <a:avLst/>
          </a:prstGeom>
          <a:noFill/>
        </p:spPr>
        <p:txBody>
          <a:bodyPr wrap="square" rtlCol="0">
            <a:noAutofit/>
          </a:bodyPr>
          <a:lstStyle/>
          <a:p>
            <a:pPr indent="0" fontAlgn="auto">
              <a:buFont typeface="Wingdings" panose="05000000000000000000" charset="0"/>
              <a:buNone/>
            </a:pPr>
            <a:r>
              <a:rPr lang="en-US" altLang="zh-CN" sz="2000" b="1" dirty="0">
                <a:solidFill>
                  <a:schemeClr val="tx1">
                    <a:lumMod val="75000"/>
                    <a:lumOff val="25000"/>
                  </a:schemeClr>
                </a:solidFill>
                <a:latin typeface="Roboto" charset="0"/>
                <a:ea typeface="Roboto" charset="0"/>
                <a:cs typeface="Arial" panose="020B0604020202020204" pitchFamily="34" charset="0"/>
              </a:rPr>
              <a:t>Ensure effortless connectivity, smooth audio performance, and efficient operation in video conferencing, allowing all meeting participants to easily contribute and collaborate productively.</a:t>
            </a: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p:txBody>
      </p:sp>
      <p:sp>
        <p:nvSpPr>
          <p:cNvPr id="24" name="Rectangle 23"/>
          <p:cNvSpPr/>
          <p:nvPr/>
        </p:nvSpPr>
        <p:spPr>
          <a:xfrm>
            <a:off x="1094893" y="2476499"/>
            <a:ext cx="4410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094893" y="4378913"/>
            <a:ext cx="4410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926770" y="2277041"/>
            <a:ext cx="2544141"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4"/>
          <p:cNvSpPr txBox="1"/>
          <p:nvPr/>
        </p:nvSpPr>
        <p:spPr>
          <a:xfrm>
            <a:off x="1078204" y="2315140"/>
            <a:ext cx="2544141" cy="323285"/>
          </a:xfrm>
          <a:prstGeom prst="rect">
            <a:avLst/>
          </a:prstGeom>
          <a:noFill/>
        </p:spPr>
        <p:txBody>
          <a:bodyPr wrap="square" rtlCol="0">
            <a:noAutofit/>
          </a:bodyPr>
          <a:lstStyle/>
          <a:p>
            <a:pPr algn="l" fontAlgn="auto">
              <a:lnSpc>
                <a:spcPts val="2100"/>
              </a:lnSpc>
              <a:buClrTx/>
              <a:buSzTx/>
              <a:buFontTx/>
            </a:pPr>
            <a:r>
              <a:rPr lang="en-US" sz="1600" b="1" dirty="0">
                <a:solidFill>
                  <a:schemeClr val="tx1">
                    <a:lumMod val="75000"/>
                    <a:lumOff val="25000"/>
                  </a:schemeClr>
                </a:solidFill>
                <a:latin typeface="Roboto" charset="0"/>
                <a:ea typeface="Roboto" charset="0"/>
                <a:cs typeface="Arial" panose="020B0604020202020204" pitchFamily="34" charset="0"/>
              </a:rPr>
              <a:t>Effortless Connectivity</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28" name="Rectangle 27"/>
          <p:cNvSpPr/>
          <p:nvPr/>
        </p:nvSpPr>
        <p:spPr>
          <a:xfrm>
            <a:off x="6177204" y="2509806"/>
            <a:ext cx="4881803" cy="1271620"/>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文本框 4"/>
          <p:cNvSpPr txBox="1"/>
          <p:nvPr/>
        </p:nvSpPr>
        <p:spPr>
          <a:xfrm>
            <a:off x="1286408" y="2830616"/>
            <a:ext cx="3983762"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Works flawlessly with cameras, speakerphones, and other USB 3.0 peripherals, delivering a seamless and superior hybrid working experience.</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31" name="Rectangle 30"/>
          <p:cNvSpPr/>
          <p:nvPr/>
        </p:nvSpPr>
        <p:spPr>
          <a:xfrm>
            <a:off x="6000749" y="2277041"/>
            <a:ext cx="3028951"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文本框 4"/>
          <p:cNvSpPr txBox="1"/>
          <p:nvPr/>
        </p:nvSpPr>
        <p:spPr>
          <a:xfrm>
            <a:off x="6152185" y="2315140"/>
            <a:ext cx="273464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Smooth Audio Performance</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33" name="文本框 4"/>
          <p:cNvSpPr txBox="1"/>
          <p:nvPr/>
        </p:nvSpPr>
        <p:spPr>
          <a:xfrm>
            <a:off x="6360387" y="2863001"/>
            <a:ext cx="4535679" cy="736432"/>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Ensure clear and reliable audio-visual communication by directly working with Dante devices, essential for effective collaboration and decision-making.</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34" name="Rectangle 33"/>
          <p:cNvSpPr/>
          <p:nvPr/>
        </p:nvSpPr>
        <p:spPr>
          <a:xfrm>
            <a:off x="926770" y="4200671"/>
            <a:ext cx="3111829"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文本框 4"/>
          <p:cNvSpPr txBox="1"/>
          <p:nvPr/>
        </p:nvSpPr>
        <p:spPr>
          <a:xfrm>
            <a:off x="1078205" y="4238770"/>
            <a:ext cx="2860624"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Efficient Operation in Hybrid</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36" name="文本框 4"/>
          <p:cNvSpPr txBox="1"/>
          <p:nvPr/>
        </p:nvSpPr>
        <p:spPr>
          <a:xfrm>
            <a:off x="1286407" y="4834256"/>
            <a:ext cx="4304768" cy="834148"/>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Enhance the efficiency of hybrid meetings with a user-friendly Web-UI or by integrating with SYN-TOUCH10.</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a:bodyPr>
          <a:lstStyle/>
          <a:p>
            <a:pPr>
              <a:buSzPct val="100000"/>
            </a:pPr>
            <a:r>
              <a:rPr lang="en-US" sz="2400" b="1" dirty="0">
                <a:solidFill>
                  <a:schemeClr val="lt1"/>
                </a:solidFill>
                <a:uFillTx/>
                <a:latin typeface="Montserrat" pitchFamily="2" charset="0"/>
                <a:ea typeface="微软雅黑" panose="020B0503020204020204" pitchFamily="34" charset="-122"/>
                <a:sym typeface="Roboto"/>
              </a:rPr>
              <a:t>Why Choose Us:  3. </a:t>
            </a:r>
            <a:r>
              <a:rPr lang="en-US" sz="2400" b="1" dirty="0">
                <a:solidFill>
                  <a:schemeClr val="lt1"/>
                </a:solidFill>
                <a:latin typeface="Montserrat" pitchFamily="2" charset="0"/>
                <a:ea typeface="微软雅黑" panose="020B0503020204020204" pitchFamily="34" charset="-122"/>
                <a:sym typeface="Roboto"/>
              </a:rPr>
              <a:t>Effortless Device Management</a:t>
            </a:r>
            <a:endParaRPr lang="en-US" sz="2400" b="1" dirty="0">
              <a:solidFill>
                <a:schemeClr val="lt1"/>
              </a:solidFill>
              <a:latin typeface="Montserrat" pitchFamily="2" charset="0"/>
              <a:ea typeface="微软雅黑" panose="020B0503020204020204" pitchFamily="34" charset="-122"/>
              <a:sym typeface="Roboto"/>
            </a:endParaRPr>
          </a:p>
        </p:txBody>
      </p:sp>
      <p:sp>
        <p:nvSpPr>
          <p:cNvPr id="24" name="Rectangle 23"/>
          <p:cNvSpPr/>
          <p:nvPr/>
        </p:nvSpPr>
        <p:spPr>
          <a:xfrm>
            <a:off x="1152043" y="2381249"/>
            <a:ext cx="4315307" cy="1439265"/>
          </a:xfrm>
          <a:prstGeom prst="rect">
            <a:avLst/>
          </a:prstGeom>
          <a:solidFill>
            <a:srgbClr val="EA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152043" y="4369388"/>
            <a:ext cx="4315307" cy="1509585"/>
          </a:xfrm>
          <a:prstGeom prst="rect">
            <a:avLst/>
          </a:prstGeom>
          <a:solidFill>
            <a:srgbClr val="EA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3" name="Rectangle 2"/>
          <p:cNvSpPr/>
          <p:nvPr/>
        </p:nvSpPr>
        <p:spPr>
          <a:xfrm>
            <a:off x="983920" y="2181791"/>
            <a:ext cx="2826080" cy="427428"/>
          </a:xfrm>
          <a:prstGeom prst="rect">
            <a:avLst/>
          </a:prstGeom>
          <a:solidFill>
            <a:srgbClr val="F3F2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4"/>
          <p:cNvSpPr txBox="1"/>
          <p:nvPr/>
        </p:nvSpPr>
        <p:spPr>
          <a:xfrm>
            <a:off x="1135355" y="2219890"/>
            <a:ext cx="258892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Flexible Network Settings</a:t>
            </a:r>
            <a:endParaRPr sz="1600" dirty="0">
              <a:solidFill>
                <a:schemeClr val="tx1">
                  <a:lumMod val="75000"/>
                  <a:lumOff val="25000"/>
                </a:schemeClr>
              </a:solidFill>
              <a:latin typeface="Roboto" charset="0"/>
              <a:ea typeface="Roboto" charset="0"/>
              <a:cs typeface="Arial" panose="020B0604020202020204" pitchFamily="34" charset="0"/>
            </a:endParaRPr>
          </a:p>
        </p:txBody>
      </p:sp>
      <p:sp>
        <p:nvSpPr>
          <p:cNvPr id="26" name="Rectangle 25"/>
          <p:cNvSpPr/>
          <p:nvPr/>
        </p:nvSpPr>
        <p:spPr>
          <a:xfrm>
            <a:off x="6224829" y="2395505"/>
            <a:ext cx="4791557" cy="1331685"/>
          </a:xfrm>
          <a:prstGeom prst="rect">
            <a:avLst/>
          </a:prstGeom>
          <a:solidFill>
            <a:srgbClr val="EA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4"/>
          <p:cNvSpPr txBox="1"/>
          <p:nvPr/>
        </p:nvSpPr>
        <p:spPr>
          <a:xfrm>
            <a:off x="1343558" y="2720126"/>
            <a:ext cx="3983762"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Provide Ethernet isolation with 2x Ethernet ports for enhanced security and network stability, ideal for separating internal and guest networks.</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12" name="Rectangle 11"/>
          <p:cNvSpPr/>
          <p:nvPr/>
        </p:nvSpPr>
        <p:spPr>
          <a:xfrm>
            <a:off x="6048374" y="2181791"/>
            <a:ext cx="2544141" cy="427428"/>
          </a:xfrm>
          <a:prstGeom prst="rect">
            <a:avLst/>
          </a:prstGeom>
          <a:solidFill>
            <a:srgbClr val="F3F2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4"/>
          <p:cNvSpPr txBox="1"/>
          <p:nvPr/>
        </p:nvSpPr>
        <p:spPr>
          <a:xfrm>
            <a:off x="6199810" y="2219890"/>
            <a:ext cx="4059962"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Centralized Control</a:t>
            </a:r>
            <a:endParaRPr sz="1600" dirty="0">
              <a:solidFill>
                <a:schemeClr val="tx1">
                  <a:lumMod val="75000"/>
                  <a:lumOff val="25000"/>
                </a:schemeClr>
              </a:solidFill>
              <a:latin typeface="Roboto" charset="0"/>
              <a:ea typeface="Roboto" charset="0"/>
              <a:cs typeface="Arial" panose="020B0604020202020204" pitchFamily="34" charset="0"/>
            </a:endParaRPr>
          </a:p>
        </p:txBody>
      </p:sp>
      <p:sp>
        <p:nvSpPr>
          <p:cNvPr id="14" name="文本框 4"/>
          <p:cNvSpPr txBox="1"/>
          <p:nvPr/>
        </p:nvSpPr>
        <p:spPr>
          <a:xfrm>
            <a:off x="6379437" y="2739176"/>
            <a:ext cx="4535679"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Manage and monitor all connected devices through an intuitive web interface or all-in-one touchpad controller, simplifying the administration process.</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16" name="Rectangle 15"/>
          <p:cNvSpPr/>
          <p:nvPr/>
        </p:nvSpPr>
        <p:spPr>
          <a:xfrm>
            <a:off x="983920" y="4191146"/>
            <a:ext cx="2512720" cy="427428"/>
          </a:xfrm>
          <a:prstGeom prst="rect">
            <a:avLst/>
          </a:prstGeom>
          <a:solidFill>
            <a:srgbClr val="F3F2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文本框 4"/>
          <p:cNvSpPr txBox="1"/>
          <p:nvPr/>
        </p:nvSpPr>
        <p:spPr>
          <a:xfrm>
            <a:off x="1135355" y="4229245"/>
            <a:ext cx="251272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Remote Configuration</a:t>
            </a:r>
            <a:endParaRPr sz="1600" dirty="0">
              <a:solidFill>
                <a:schemeClr val="tx1">
                  <a:lumMod val="75000"/>
                  <a:lumOff val="25000"/>
                </a:schemeClr>
              </a:solidFill>
              <a:latin typeface="Roboto" charset="0"/>
              <a:ea typeface="Roboto" charset="0"/>
              <a:cs typeface="Arial" panose="020B0604020202020204" pitchFamily="34" charset="0"/>
            </a:endParaRPr>
          </a:p>
        </p:txBody>
      </p:sp>
      <p:sp>
        <p:nvSpPr>
          <p:cNvPr id="18" name="文本框 4"/>
          <p:cNvSpPr txBox="1"/>
          <p:nvPr/>
        </p:nvSpPr>
        <p:spPr>
          <a:xfrm>
            <a:off x="1343558" y="4748531"/>
            <a:ext cx="3983762"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Configure the system remotely via SYGMA cloud device management, ensuring that everything runs smoothly without needing to be physically present.</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23" name="文本框 4"/>
          <p:cNvSpPr txBox="1"/>
          <p:nvPr/>
        </p:nvSpPr>
        <p:spPr>
          <a:xfrm>
            <a:off x="457154" y="1163120"/>
            <a:ext cx="10896645" cy="717264"/>
          </a:xfrm>
          <a:prstGeom prst="rect">
            <a:avLst/>
          </a:prstGeom>
          <a:noFill/>
        </p:spPr>
        <p:txBody>
          <a:bodyPr wrap="square" rtlCol="0">
            <a:noAutofit/>
          </a:bodyPr>
          <a:lstStyle/>
          <a:p>
            <a:pPr indent="0" fontAlgn="auto">
              <a:buFont typeface="Wingdings" panose="05000000000000000000" charset="0"/>
              <a:buNone/>
            </a:pPr>
            <a:r>
              <a:rPr lang="en-US" sz="2000" b="1" dirty="0">
                <a:solidFill>
                  <a:schemeClr val="tx1">
                    <a:lumMod val="75000"/>
                    <a:lumOff val="25000"/>
                  </a:schemeClr>
                </a:solidFill>
                <a:latin typeface="Roboto" charset="0"/>
                <a:ea typeface="Roboto" charset="0"/>
                <a:cs typeface="Arial" panose="020B0604020202020204" pitchFamily="34" charset="0"/>
              </a:rPr>
              <a:t>Simplify setup with various control methods, making it easy for guests to connect and present without hassle.</a:t>
            </a:r>
            <a:endParaRPr lang="en-US" sz="2000" b="1" dirty="0">
              <a:solidFill>
                <a:schemeClr val="tx1">
                  <a:lumMod val="75000"/>
                  <a:lumOff val="25000"/>
                </a:schemeClr>
              </a:solidFill>
              <a:latin typeface="Roboto" charset="0"/>
              <a:ea typeface="Roboto" charset="0"/>
              <a:cs typeface="Arial" panose="020B0604020202020204" pitchFamily="34" charset="0"/>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13045" y="3223658"/>
            <a:ext cx="6586646" cy="3704988"/>
          </a:xfrm>
          <a:prstGeom prst="rect">
            <a:avLst/>
          </a:prstGeom>
        </p:spPr>
      </p:pic>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1"/>
          <a:stretch>
            <a:fillRect/>
          </a:stretch>
        </p:blipFill>
        <p:spPr>
          <a:xfrm>
            <a:off x="450833" y="3877713"/>
            <a:ext cx="7561460" cy="2717486"/>
          </a:xfrm>
          <a:prstGeom prst="rect">
            <a:avLst/>
          </a:prstGeom>
          <a:effectLst>
            <a:outerShdw blurRad="50800" dist="38100" dir="5400000" algn="t" rotWithShape="0">
              <a:prstClr val="black">
                <a:alpha val="40000"/>
              </a:prstClr>
            </a:outerShdw>
          </a:effectLst>
        </p:spPr>
      </p:pic>
      <p:sp>
        <p:nvSpPr>
          <p:cNvPr id="6" name="Rectangle 5"/>
          <p:cNvSpPr/>
          <p:nvPr/>
        </p:nvSpPr>
        <p:spPr>
          <a:xfrm>
            <a:off x="450833" y="1083565"/>
            <a:ext cx="7561460" cy="2627585"/>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Interface of the Product</a:t>
            </a:r>
            <a:endParaRPr lang="en-US" sz="3200" b="1" dirty="0">
              <a:solidFill>
                <a:schemeClr val="lt1"/>
              </a:solidFill>
              <a:uFillTx/>
              <a:latin typeface="Montserrat" pitchFamily="2" charset="0"/>
              <a:ea typeface="微软雅黑" panose="020B0503020204020204" pitchFamily="34" charset="-122"/>
              <a:sym typeface="Roboto"/>
            </a:endParaRPr>
          </a:p>
        </p:txBody>
      </p:sp>
      <p:pic>
        <p:nvPicPr>
          <p:cNvPr id="14" name="Picture 13" descr="A black rectangular object with buttons and buttons&#10;&#10;AI-generated content may be incorrect."/>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8570" y="221978"/>
            <a:ext cx="8205985" cy="4615867"/>
          </a:xfrm>
          <a:prstGeom prst="rect">
            <a:avLst/>
          </a:prstGeom>
        </p:spPr>
      </p:pic>
      <p:sp>
        <p:nvSpPr>
          <p:cNvPr id="4" name="文本框 3"/>
          <p:cNvSpPr txBox="1"/>
          <p:nvPr/>
        </p:nvSpPr>
        <p:spPr>
          <a:xfrm>
            <a:off x="8272368" y="2048100"/>
            <a:ext cx="3400425" cy="4375919"/>
          </a:xfrm>
          <a:prstGeom prst="rect">
            <a:avLst/>
          </a:prstGeom>
          <a:noFill/>
        </p:spPr>
        <p:txBody>
          <a:bodyPr wrap="square" rtlCol="0">
            <a:noAutofit/>
          </a:bodyPr>
          <a:lstStyle/>
          <a:p>
            <a:pPr>
              <a:lnSpc>
                <a:spcPts val="500"/>
              </a:lnSpc>
            </a:pPr>
            <a:r>
              <a:rPr lang="en-US" altLang="zh-CN" sz="1600" b="1"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HDMI Inputs &amp; Outputs:</a:t>
            </a:r>
            <a:endParaRPr lang="en-US" sz="160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800"/>
              </a:lnSpc>
            </a:pPr>
            <a:endParaRPr lang="en-US" sz="160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1800"/>
              </a:lnSpc>
            </a:pPr>
            <a:r>
              <a:rPr lang="en-US" sz="14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Connect to HDMI sources and displays, supporting high-quality resolution video up to 4K@60Hz. </a:t>
            </a:r>
            <a:endParaRPr lang="en-US" sz="14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endParaRPr lang="en-US" sz="115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r>
              <a:rPr lang="en-US" sz="1600" b="1"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USB Hosts &amp; Devices:</a:t>
            </a:r>
            <a:endParaRPr lang="en-US" sz="1600" b="1"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500"/>
              </a:lnSpc>
            </a:pPr>
            <a:endParaRPr lang="en-US" sz="200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1800"/>
              </a:lnSpc>
            </a:pPr>
            <a:r>
              <a:rPr lang="en-US" altLang="zh-CN" sz="14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Connect to Web camera, speaker phone, Keyboard and mouse, very useful to share classroom signal with remote students.</a:t>
            </a:r>
            <a:endParaRPr lang="en-US" altLang="zh-CN" sz="14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endParaRPr lang="en-US" sz="115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r>
              <a:rPr lang="en-US" altLang="zh-CN" sz="1600" b="1"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3x Ethernet Ports:</a:t>
            </a:r>
            <a:endParaRPr lang="en-US" sz="1600" b="1"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500"/>
              </a:lnSpc>
            </a:pPr>
            <a:endParaRPr lang="en-US" sz="200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1800"/>
              </a:lnSpc>
            </a:pPr>
            <a:r>
              <a:rPr lang="en-US" altLang="zh-CN" sz="14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One Ethernet port is Dante for audio transmission; Others ensure secure and stable network access for guests using their PCs, while allowing easy configuration of the system via a web interface.</a:t>
            </a:r>
            <a:endParaRPr lang="en-US" altLang="zh-CN" sz="140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p:txBody>
      </p:sp>
      <p:sp>
        <p:nvSpPr>
          <p:cNvPr id="9" name="文本框 8"/>
          <p:cNvSpPr txBox="1"/>
          <p:nvPr/>
        </p:nvSpPr>
        <p:spPr>
          <a:xfrm>
            <a:off x="7029546" y="1125399"/>
            <a:ext cx="1986280" cy="276999"/>
          </a:xfrm>
          <a:prstGeom prst="rect">
            <a:avLst/>
          </a:prstGeom>
          <a:noFill/>
        </p:spPr>
        <p:txBody>
          <a:bodyPr wrap="square" rtlCol="0">
            <a:spAutoFit/>
          </a:bodyPr>
          <a:lstStyle/>
          <a:p>
            <a:r>
              <a:rPr lang="en-US" altLang="zh-CN" sz="1200" b="1" dirty="0">
                <a:latin typeface="Roboto" charset="0"/>
                <a:cs typeface="Roboto" charset="0"/>
              </a:rPr>
              <a:t>Front Panel</a:t>
            </a:r>
            <a:endParaRPr lang="en-US" altLang="zh-CN" sz="1200" b="1" dirty="0">
              <a:latin typeface="Roboto" charset="0"/>
              <a:cs typeface="Roboto" charset="0"/>
            </a:endParaRPr>
          </a:p>
        </p:txBody>
      </p:sp>
      <p:sp>
        <p:nvSpPr>
          <p:cNvPr id="15" name="文本框 8"/>
          <p:cNvSpPr txBox="1"/>
          <p:nvPr/>
        </p:nvSpPr>
        <p:spPr>
          <a:xfrm>
            <a:off x="8272368" y="1392795"/>
            <a:ext cx="1986280" cy="400110"/>
          </a:xfrm>
          <a:prstGeom prst="rect">
            <a:avLst/>
          </a:prstGeom>
          <a:noFill/>
        </p:spPr>
        <p:txBody>
          <a:bodyPr wrap="square" rtlCol="0">
            <a:spAutoFit/>
          </a:bodyPr>
          <a:lstStyle/>
          <a:p>
            <a:r>
              <a:rPr lang="en-US" altLang="zh-CN" sz="2000" b="1" u="sng" dirty="0">
                <a:latin typeface="Roboto" charset="0"/>
                <a:cs typeface="Roboto" charset="0"/>
              </a:rPr>
              <a:t>Featuring:</a:t>
            </a:r>
            <a:endParaRPr lang="en-US" altLang="zh-CN" sz="2000" b="1" u="sng" dirty="0">
              <a:latin typeface="Roboto" charset="0"/>
              <a:cs typeface="Roboto" charset="0"/>
            </a:endParaRPr>
          </a:p>
        </p:txBody>
      </p:sp>
      <p:sp>
        <p:nvSpPr>
          <p:cNvPr id="10" name="文本框 9"/>
          <p:cNvSpPr txBox="1"/>
          <p:nvPr/>
        </p:nvSpPr>
        <p:spPr>
          <a:xfrm>
            <a:off x="7079239" y="3914969"/>
            <a:ext cx="1086802" cy="276999"/>
          </a:xfrm>
          <a:prstGeom prst="rect">
            <a:avLst/>
          </a:prstGeom>
          <a:noFill/>
        </p:spPr>
        <p:txBody>
          <a:bodyPr wrap="square" rtlCol="0" anchor="t">
            <a:spAutoFit/>
          </a:bodyPr>
          <a:lstStyle/>
          <a:p>
            <a:r>
              <a:rPr lang="en-US" altLang="zh-CN" sz="1200" b="1" dirty="0">
                <a:latin typeface="Roboto" charset="0"/>
                <a:cs typeface="Roboto" charset="0"/>
                <a:sym typeface="+mn-ea"/>
              </a:rPr>
              <a:t>Rear Panel</a:t>
            </a:r>
            <a:endParaRPr lang="en-US" altLang="zh-CN" sz="1200" b="1" dirty="0">
              <a:latin typeface="Roboto" charset="0"/>
              <a:cs typeface="Roboto" charset="0"/>
              <a:sym typeface="+mn-ea"/>
            </a:endParaRPr>
          </a:p>
        </p:txBody>
      </p:sp>
      <p:sp>
        <p:nvSpPr>
          <p:cNvPr id="21" name="圆角矩形 20"/>
          <p:cNvSpPr/>
          <p:nvPr/>
        </p:nvSpPr>
        <p:spPr>
          <a:xfrm>
            <a:off x="2629914" y="2267272"/>
            <a:ext cx="1353856" cy="522804"/>
          </a:xfrm>
          <a:prstGeom prst="roundRect">
            <a:avLst/>
          </a:prstGeom>
          <a:noFill/>
          <a:ln>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矩形 22"/>
          <p:cNvSpPr/>
          <p:nvPr/>
        </p:nvSpPr>
        <p:spPr>
          <a:xfrm>
            <a:off x="2145761" y="3418074"/>
            <a:ext cx="1684637" cy="21544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buFont typeface="Arial" panose="020B0604020202020204" pitchFamily="34" charset="0"/>
              <a:buNone/>
            </a:pPr>
            <a:r>
              <a:rPr lang="en-US" altLang="zh-CN" sz="800" dirty="0">
                <a:solidFill>
                  <a:schemeClr val="tx1">
                    <a:lumMod val="50000"/>
                    <a:lumOff val="50000"/>
                  </a:schemeClr>
                </a:solidFill>
                <a:latin typeface="Roboto" charset="0"/>
                <a:ea typeface="Roboto" charset="0"/>
                <a:cs typeface="Roboto Lt" charset="0"/>
              </a:rPr>
              <a:t>LCD Indicator</a:t>
            </a:r>
            <a:endParaRPr lang="en-US" altLang="zh-CN" sz="800" dirty="0">
              <a:solidFill>
                <a:schemeClr val="tx1">
                  <a:lumMod val="50000"/>
                  <a:lumOff val="50000"/>
                </a:schemeClr>
              </a:solidFill>
              <a:latin typeface="Roboto" charset="0"/>
              <a:ea typeface="Roboto" charset="0"/>
              <a:cs typeface="Roboto Lt" charset="0"/>
            </a:endParaRPr>
          </a:p>
        </p:txBody>
      </p:sp>
      <p:cxnSp>
        <p:nvCxnSpPr>
          <p:cNvPr id="24" name="直接连接符 23"/>
          <p:cNvCxnSpPr/>
          <p:nvPr/>
        </p:nvCxnSpPr>
        <p:spPr>
          <a:xfrm>
            <a:off x="2986784" y="2790076"/>
            <a:ext cx="0" cy="568119"/>
          </a:xfrm>
          <a:prstGeom prst="line">
            <a:avLst/>
          </a:prstGeom>
          <a:ln>
            <a:solidFill>
              <a:srgbClr val="00B050"/>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7" name="圆角矩形 26"/>
          <p:cNvSpPr/>
          <p:nvPr/>
        </p:nvSpPr>
        <p:spPr>
          <a:xfrm>
            <a:off x="4491080" y="2234904"/>
            <a:ext cx="606900" cy="636013"/>
          </a:xfrm>
          <a:prstGeom prst="roundRect">
            <a:avLst/>
          </a:prstGeom>
          <a:noFill/>
          <a:ln>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8" name="矩形 27"/>
          <p:cNvSpPr/>
          <p:nvPr/>
        </p:nvSpPr>
        <p:spPr>
          <a:xfrm>
            <a:off x="4081253" y="3306978"/>
            <a:ext cx="1457872" cy="33855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buFont typeface="Arial" panose="020B0604020202020204" pitchFamily="34" charset="0"/>
              <a:buNone/>
            </a:pPr>
            <a:r>
              <a:rPr lang="en-US" altLang="zh-CN" sz="800" dirty="0">
                <a:solidFill>
                  <a:schemeClr val="tx1">
                    <a:lumMod val="50000"/>
                    <a:lumOff val="50000"/>
                  </a:schemeClr>
                </a:solidFill>
                <a:latin typeface="Roboto" charset="0"/>
                <a:ea typeface="Roboto" charset="0"/>
                <a:cs typeface="Roboto Lt" charset="0"/>
              </a:rPr>
              <a:t>INFO, SWITCH, VIDEO AUDIO Button</a:t>
            </a:r>
            <a:endParaRPr lang="en-US" altLang="zh-CN" sz="800" dirty="0">
              <a:solidFill>
                <a:schemeClr val="tx1">
                  <a:lumMod val="50000"/>
                  <a:lumOff val="50000"/>
                </a:schemeClr>
              </a:solidFill>
              <a:latin typeface="Roboto" charset="0"/>
              <a:ea typeface="Roboto" charset="0"/>
              <a:cs typeface="Roboto Lt" charset="0"/>
            </a:endParaRPr>
          </a:p>
        </p:txBody>
      </p:sp>
      <p:cxnSp>
        <p:nvCxnSpPr>
          <p:cNvPr id="29" name="直接连接符 28"/>
          <p:cNvCxnSpPr/>
          <p:nvPr/>
        </p:nvCxnSpPr>
        <p:spPr>
          <a:xfrm>
            <a:off x="4810186" y="2870917"/>
            <a:ext cx="2" cy="370495"/>
          </a:xfrm>
          <a:prstGeom prst="line">
            <a:avLst/>
          </a:prstGeom>
          <a:ln>
            <a:solidFill>
              <a:srgbClr val="00B050"/>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5021405" y="3367414"/>
            <a:ext cx="2342344" cy="21544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buFont typeface="Arial" panose="020B0604020202020204" pitchFamily="34" charset="0"/>
              <a:buNone/>
            </a:pPr>
            <a:r>
              <a:rPr lang="en-US" altLang="zh-CN" sz="800" dirty="0">
                <a:solidFill>
                  <a:schemeClr val="tx1">
                    <a:lumMod val="50000"/>
                    <a:lumOff val="50000"/>
                  </a:schemeClr>
                </a:solidFill>
                <a:latin typeface="Roboto" charset="0"/>
                <a:ea typeface="Roboto" charset="0"/>
                <a:cs typeface="Roboto Lt" charset="0"/>
              </a:rPr>
              <a:t>ENTER, CANCEL Button</a:t>
            </a:r>
            <a:endParaRPr lang="en-US" altLang="zh-CN" sz="800" dirty="0">
              <a:solidFill>
                <a:schemeClr val="tx1">
                  <a:lumMod val="50000"/>
                  <a:lumOff val="50000"/>
                </a:schemeClr>
              </a:solidFill>
              <a:latin typeface="Roboto" charset="0"/>
              <a:ea typeface="Roboto" charset="0"/>
              <a:cs typeface="Roboto Lt" charset="0"/>
            </a:endParaRPr>
          </a:p>
        </p:txBody>
      </p:sp>
      <p:sp>
        <p:nvSpPr>
          <p:cNvPr id="31" name="圆角矩形 30"/>
          <p:cNvSpPr/>
          <p:nvPr/>
        </p:nvSpPr>
        <p:spPr>
          <a:xfrm>
            <a:off x="5729161" y="2234904"/>
            <a:ext cx="263850" cy="668382"/>
          </a:xfrm>
          <a:prstGeom prst="roundRect">
            <a:avLst/>
          </a:prstGeom>
          <a:noFill/>
          <a:ln>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32" name="肘形连接符 31"/>
          <p:cNvCxnSpPr>
            <a:stCxn id="31" idx="2"/>
          </p:cNvCxnSpPr>
          <p:nvPr/>
        </p:nvCxnSpPr>
        <p:spPr>
          <a:xfrm rot="16200000" flipH="1">
            <a:off x="5827172" y="2937200"/>
            <a:ext cx="395094" cy="327266"/>
          </a:xfrm>
          <a:prstGeom prst="bentConnector3">
            <a:avLst>
              <a:gd name="adj1" fmla="val 31567"/>
            </a:avLst>
          </a:prstGeom>
          <a:ln>
            <a:solidFill>
              <a:srgbClr val="00B050"/>
            </a:solidFill>
            <a:headEnd type="none" w="med" len="med"/>
            <a:tailEnd type="oval"/>
          </a:ln>
        </p:spPr>
        <p:style>
          <a:lnRef idx="1">
            <a:schemeClr val="accent1"/>
          </a:lnRef>
          <a:fillRef idx="0">
            <a:schemeClr val="accent1"/>
          </a:fillRef>
          <a:effectRef idx="0">
            <a:schemeClr val="accent1"/>
          </a:effectRef>
          <a:fontRef idx="minor">
            <a:schemeClr val="tx1"/>
          </a:fontRef>
        </p:style>
      </p:cxnSp>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Specifications &amp; Packing List</a:t>
            </a:r>
            <a:endParaRPr lang="en-US" sz="3200" b="1" dirty="0">
              <a:solidFill>
                <a:schemeClr val="lt1"/>
              </a:solidFill>
              <a:uFillTx/>
              <a:latin typeface="Montserrat" pitchFamily="2" charset="0"/>
              <a:ea typeface="微软雅黑" panose="020B0503020204020204" pitchFamily="34" charset="-122"/>
              <a:sym typeface="Roboto"/>
            </a:endParaRPr>
          </a:p>
        </p:txBody>
      </p:sp>
      <p:graphicFrame>
        <p:nvGraphicFramePr>
          <p:cNvPr id="5" name="表格 4"/>
          <p:cNvGraphicFramePr>
            <a:graphicFrameLocks noGrp="1"/>
          </p:cNvGraphicFramePr>
          <p:nvPr>
            <p:custDataLst>
              <p:tags r:id="rId3"/>
            </p:custDataLst>
          </p:nvPr>
        </p:nvGraphicFramePr>
        <p:xfrm>
          <a:off x="509904" y="1245235"/>
          <a:ext cx="6786245" cy="5233576"/>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2075149"/>
                <a:gridCol w="4711096"/>
              </a:tblGrid>
              <a:tr h="369226">
                <a:tc gridSpan="2">
                  <a:txBody>
                    <a:bodyPr/>
                    <a:lstStyle/>
                    <a:p>
                      <a:r>
                        <a:rPr lang="en-US" altLang="zh-CN" sz="1400" dirty="0">
                          <a:latin typeface="Roboto" charset="0"/>
                          <a:ea typeface="Roboto" charset="0"/>
                          <a:cs typeface="Arial" panose="020B0604020202020204" pitchFamily="34" charset="0"/>
                        </a:rPr>
                        <a:t>Main Specifications</a:t>
                      </a:r>
                      <a:endParaRPr lang="en-US" altLang="zh-CN" sz="1400" dirty="0">
                        <a:latin typeface="Roboto" charset="0"/>
                        <a:ea typeface="Roboto" charset="0"/>
                        <a:cs typeface="Arial" panose="020B0604020202020204" pitchFamily="34" charset="0"/>
                      </a:endParaRPr>
                    </a:p>
                  </a:txBody>
                  <a:tcPr anchor="ctr">
                    <a:solidFill>
                      <a:srgbClr val="0B7935"/>
                    </a:solidFill>
                  </a:tcPr>
                </a:tc>
                <a:tc hMerge="1">
                  <a:tcPr/>
                </a:tc>
              </a:tr>
              <a:tr h="336647">
                <a:tc>
                  <a:txBody>
                    <a:bodyPr/>
                    <a:lstStyle/>
                    <a:p>
                      <a:r>
                        <a:rPr lang="en-US" altLang="zh-CN" sz="1200" dirty="0">
                          <a:latin typeface="Roboto" charset="0"/>
                          <a:ea typeface="Roboto" charset="0"/>
                          <a:cs typeface="Arial" panose="020B0604020202020204" pitchFamily="34" charset="0"/>
                        </a:rPr>
                        <a:t>Input Video Port </a:t>
                      </a:r>
                      <a:endParaRPr lang="en-US" altLang="zh-CN" sz="1200" dirty="0">
                        <a:latin typeface="Roboto" charset="0"/>
                        <a:ea typeface="Roboto" charset="0"/>
                        <a:cs typeface="Arial" panose="020B0604020202020204" pitchFamily="34" charset="0"/>
                      </a:endParaRPr>
                    </a:p>
                  </a:txBody>
                  <a:tcPr anchor="ctr">
                    <a:solidFill>
                      <a:srgbClr val="D6E5D5"/>
                    </a:solidFill>
                  </a:tcPr>
                </a:tc>
                <a:tc>
                  <a:txBody>
                    <a:bodyPr/>
                    <a:lstStyle/>
                    <a:p>
                      <a:r>
                        <a:rPr lang="en-US" altLang="zh-CN" sz="1200" dirty="0">
                          <a:latin typeface="Roboto" charset="0"/>
                          <a:ea typeface="Roboto" charset="0"/>
                          <a:cs typeface="Arial" panose="020B0604020202020204" pitchFamily="34" charset="0"/>
                        </a:rPr>
                        <a:t>8x HDMI</a:t>
                      </a:r>
                      <a:endParaRPr lang="en-US" altLang="zh-CN" sz="1200" dirty="0">
                        <a:latin typeface="Roboto" charset="0"/>
                        <a:ea typeface="Roboto" charset="0"/>
                        <a:cs typeface="Arial" panose="020B0604020202020204" pitchFamily="34" charset="0"/>
                      </a:endParaRPr>
                    </a:p>
                  </a:txBody>
                  <a:tcPr anchor="ctr">
                    <a:solidFill>
                      <a:srgbClr val="D6E5D5"/>
                    </a:solidFill>
                  </a:tcPr>
                </a:tc>
              </a:tr>
              <a:tr h="335290">
                <a:tc>
                  <a:txBody>
                    <a:bodyPr/>
                    <a:lstStyle/>
                    <a:p>
                      <a:r>
                        <a:rPr lang="en-US" altLang="zh-CN" sz="1200" dirty="0">
                          <a:latin typeface="Roboto" charset="0"/>
                          <a:ea typeface="Roboto" charset="0"/>
                          <a:cs typeface="Arial" panose="020B0604020202020204" pitchFamily="34" charset="0"/>
                        </a:rPr>
                        <a:t>Output Video Port </a:t>
                      </a:r>
                      <a:endParaRPr lang="en-US" altLang="zh-CN" sz="1200" dirty="0">
                        <a:latin typeface="Roboto" charset="0"/>
                        <a:ea typeface="Roboto" charset="0"/>
                        <a:cs typeface="Arial" panose="020B0604020202020204" pitchFamily="34" charset="0"/>
                      </a:endParaRPr>
                    </a:p>
                  </a:txBody>
                  <a:tcPr anchor="ctr">
                    <a:solidFill>
                      <a:srgbClr val="E3F2E2"/>
                    </a:solidFill>
                  </a:tcPr>
                </a:tc>
                <a:tc>
                  <a:txBody>
                    <a:bodyPr/>
                    <a:lstStyle/>
                    <a:p>
                      <a:r>
                        <a:rPr lang="en-US" altLang="zh-CN" sz="1200" dirty="0">
                          <a:latin typeface="Roboto" charset="0"/>
                          <a:ea typeface="Roboto" charset="0"/>
                          <a:cs typeface="Arial" panose="020B0604020202020204" pitchFamily="34" charset="0"/>
                        </a:rPr>
                        <a:t>12x HDMI</a:t>
                      </a:r>
                      <a:endParaRPr lang="en-US" altLang="zh-CN" sz="1200" dirty="0">
                        <a:latin typeface="Roboto" charset="0"/>
                        <a:ea typeface="Roboto" charset="0"/>
                        <a:cs typeface="Arial" panose="020B0604020202020204" pitchFamily="34" charset="0"/>
                      </a:endParaRPr>
                    </a:p>
                  </a:txBody>
                  <a:tcPr anchor="ctr">
                    <a:solidFill>
                      <a:srgbClr val="E3F2E2"/>
                    </a:solidFill>
                  </a:tcPr>
                </a:tc>
              </a:tr>
              <a:tr h="366511">
                <a:tc>
                  <a:txBody>
                    <a:bodyPr/>
                    <a:lstStyle/>
                    <a:p>
                      <a:r>
                        <a:rPr lang="en-US" altLang="zh-CN" sz="1200" dirty="0">
                          <a:latin typeface="Roboto" charset="0"/>
                          <a:ea typeface="Roboto" charset="0"/>
                          <a:cs typeface="Arial" panose="020B0604020202020204" pitchFamily="34" charset="0"/>
                        </a:rPr>
                        <a:t>Output Video Signal</a:t>
                      </a:r>
                      <a:endParaRPr lang="en-US" altLang="zh-CN" sz="1200" dirty="0">
                        <a:latin typeface="Roboto" charset="0"/>
                        <a:ea typeface="Roboto" charset="0"/>
                        <a:cs typeface="Arial" panose="020B0604020202020204" pitchFamily="34" charset="0"/>
                      </a:endParaRPr>
                    </a:p>
                  </a:txBody>
                  <a:tcPr anchor="ctr">
                    <a:solidFill>
                      <a:srgbClr val="D6E5D5"/>
                    </a:solidFill>
                  </a:tcPr>
                </a:tc>
                <a:tc>
                  <a:txBody>
                    <a:bodyPr/>
                    <a:lstStyle/>
                    <a:p>
                      <a:r>
                        <a:rPr lang="en-US" altLang="zh-CN" sz="1200" dirty="0">
                          <a:latin typeface="Roboto" charset="0"/>
                          <a:ea typeface="Roboto" charset="0"/>
                          <a:cs typeface="Arial" panose="020B0604020202020204" pitchFamily="34" charset="0"/>
                        </a:rPr>
                        <a:t>4K@60Hz 4:4:4 8bit, HDCP 2.3</a:t>
                      </a:r>
                      <a:endParaRPr lang="en-US" altLang="zh-CN" sz="1200" dirty="0">
                        <a:latin typeface="Roboto" charset="0"/>
                        <a:ea typeface="Roboto" charset="0"/>
                        <a:cs typeface="Arial" panose="020B0604020202020204" pitchFamily="34" charset="0"/>
                      </a:endParaRPr>
                    </a:p>
                  </a:txBody>
                  <a:tcPr anchor="ctr">
                    <a:solidFill>
                      <a:srgbClr val="D6E5D5"/>
                    </a:solidFill>
                  </a:tcPr>
                </a:tc>
              </a:tr>
              <a:tr h="1988726">
                <a:tc>
                  <a:txBody>
                    <a:bodyPr/>
                    <a:lstStyle/>
                    <a:p>
                      <a:r>
                        <a:rPr lang="en-US" altLang="zh-CN" sz="1200" dirty="0">
                          <a:latin typeface="Roboto" charset="0"/>
                          <a:ea typeface="Roboto" charset="0"/>
                          <a:cs typeface="Arial" panose="020B0604020202020204" pitchFamily="34" charset="0"/>
                        </a:rPr>
                        <a:t>Input/Output Resolutions Supported</a:t>
                      </a:r>
                      <a:endParaRPr lang="en-US" altLang="zh-CN" sz="1200" dirty="0">
                        <a:latin typeface="Roboto" charset="0"/>
                        <a:ea typeface="Roboto" charset="0"/>
                        <a:cs typeface="Arial" panose="020B0604020202020204" pitchFamily="34" charset="0"/>
                      </a:endParaRPr>
                    </a:p>
                  </a:txBody>
                  <a:tcPr anchor="ctr">
                    <a:solidFill>
                      <a:srgbClr val="E3F2E2"/>
                    </a:solidFill>
                  </a:tcPr>
                </a:tc>
                <a:tc>
                  <a:txBody>
                    <a:bodyPr/>
                    <a:lstStyle/>
                    <a:p>
                      <a:r>
                        <a:rPr lang="en-US" altLang="zh-CN" sz="1200" dirty="0">
                          <a:latin typeface="Roboto" charset="0"/>
                          <a:ea typeface="Roboto" charset="0"/>
                          <a:cs typeface="Arial" panose="020B0604020202020204" pitchFamily="34" charset="0"/>
                        </a:rPr>
                        <a:t>VESA:</a:t>
                      </a:r>
                      <a:endParaRPr lang="en-US" altLang="zh-CN" sz="1200" dirty="0">
                        <a:latin typeface="Roboto" charset="0"/>
                        <a:ea typeface="Roboto" charset="0"/>
                        <a:cs typeface="Arial" panose="020B0604020202020204" pitchFamily="34" charset="0"/>
                      </a:endParaRPr>
                    </a:p>
                    <a:p>
                      <a:r>
                        <a:rPr lang="en-US" altLang="zh-CN" sz="1200" dirty="0">
                          <a:latin typeface="Roboto" charset="0"/>
                          <a:ea typeface="Roboto" charset="0"/>
                          <a:cs typeface="Arial" panose="020B0604020202020204" pitchFamily="34" charset="0"/>
                        </a:rPr>
                        <a:t>800x600</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 1024x768</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 1280x768</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 1280x800</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 1280x960</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 1280x1024</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,1360x768</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 1366x768</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 1440x900</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 1600x900</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 1600x1200</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 1680x1050</a:t>
                      </a:r>
                      <a:r>
                        <a:rPr lang="en-US" altLang="zh-CN" sz="1200" baseline="30000" dirty="0">
                          <a:latin typeface="Roboto" charset="0"/>
                          <a:ea typeface="Roboto" charset="0"/>
                          <a:cs typeface="Arial" panose="020B0604020202020204" pitchFamily="34" charset="0"/>
                        </a:rPr>
                        <a:t>8</a:t>
                      </a:r>
                      <a:r>
                        <a:rPr lang="en-US" altLang="zh-CN" sz="1200" dirty="0">
                          <a:latin typeface="Roboto" charset="0"/>
                          <a:ea typeface="Roboto" charset="0"/>
                          <a:cs typeface="Arial" panose="020B0604020202020204" pitchFamily="34" charset="0"/>
                        </a:rPr>
                        <a:t>,1920x1200</a:t>
                      </a:r>
                      <a:r>
                        <a:rPr lang="en-US" altLang="zh-CN" sz="1200" baseline="30000" dirty="0">
                          <a:latin typeface="Roboto" charset="0"/>
                          <a:ea typeface="Roboto" charset="0"/>
                          <a:cs typeface="Arial" panose="020B0604020202020204" pitchFamily="34" charset="0"/>
                        </a:rPr>
                        <a:t>8</a:t>
                      </a:r>
                      <a:endParaRPr lang="en-US" altLang="zh-CN" sz="1200" baseline="30000" dirty="0">
                        <a:latin typeface="Roboto" charset="0"/>
                        <a:ea typeface="Roboto" charset="0"/>
                        <a:cs typeface="Arial" panose="020B0604020202020204" pitchFamily="34" charset="0"/>
                      </a:endParaRPr>
                    </a:p>
                    <a:p>
                      <a:endParaRPr lang="en-US" altLang="zh-CN" sz="1200" dirty="0">
                        <a:latin typeface="Roboto" charset="0"/>
                        <a:ea typeface="Roboto" charset="0"/>
                        <a:cs typeface="Arial" panose="020B0604020202020204" pitchFamily="34" charset="0"/>
                      </a:endParaRPr>
                    </a:p>
                    <a:p>
                      <a:r>
                        <a:rPr lang="en-US" altLang="zh-CN" sz="1200" dirty="0">
                          <a:latin typeface="Roboto" charset="0"/>
                          <a:ea typeface="Roboto" charset="0"/>
                          <a:cs typeface="Arial" panose="020B0604020202020204" pitchFamily="34" charset="0"/>
                        </a:rPr>
                        <a:t>SMPTE:</a:t>
                      </a:r>
                      <a:endParaRPr lang="en-US" altLang="zh-CN" sz="1200" dirty="0">
                        <a:latin typeface="Roboto" charset="0"/>
                        <a:ea typeface="Roboto" charset="0"/>
                        <a:cs typeface="Arial" panose="020B0604020202020204" pitchFamily="34" charset="0"/>
                      </a:endParaRPr>
                    </a:p>
                    <a:p>
                      <a:r>
                        <a:rPr lang="en-US" altLang="zh-CN" sz="1200" dirty="0">
                          <a:latin typeface="Roboto" charset="0"/>
                          <a:ea typeface="Roboto" charset="0"/>
                          <a:cs typeface="Arial" panose="020B0604020202020204" pitchFamily="34" charset="0"/>
                        </a:rPr>
                        <a:t>720x576P</a:t>
                      </a:r>
                      <a:r>
                        <a:rPr lang="en-US" altLang="zh-CN" sz="1200" baseline="30000" dirty="0">
                          <a:latin typeface="Roboto" charset="0"/>
                          <a:ea typeface="Roboto" charset="0"/>
                          <a:cs typeface="Arial" panose="020B0604020202020204" pitchFamily="34" charset="0"/>
                        </a:rPr>
                        <a:t>6</a:t>
                      </a:r>
                      <a:r>
                        <a:rPr lang="en-US" altLang="zh-CN" sz="1200" dirty="0">
                          <a:latin typeface="Roboto" charset="0"/>
                          <a:ea typeface="Roboto" charset="0"/>
                          <a:cs typeface="Arial" panose="020B0604020202020204" pitchFamily="34" charset="0"/>
                        </a:rPr>
                        <a:t>, 1280x720P</a:t>
                      </a:r>
                      <a:r>
                        <a:rPr lang="en-US" altLang="zh-CN" sz="1200" baseline="30000" dirty="0">
                          <a:latin typeface="Roboto" charset="0"/>
                          <a:ea typeface="Roboto" charset="0"/>
                          <a:cs typeface="Arial" panose="020B0604020202020204" pitchFamily="34" charset="0"/>
                        </a:rPr>
                        <a:t>6,7,8</a:t>
                      </a:r>
                      <a:r>
                        <a:rPr lang="en-US" altLang="zh-CN" sz="1200" dirty="0">
                          <a:latin typeface="Roboto" charset="0"/>
                          <a:ea typeface="Roboto" charset="0"/>
                          <a:cs typeface="Arial" panose="020B0604020202020204" pitchFamily="34" charset="0"/>
                        </a:rPr>
                        <a:t>, 1920x1080P</a:t>
                      </a:r>
                      <a:r>
                        <a:rPr lang="en-US" altLang="zh-CN" sz="1200" baseline="30000" dirty="0">
                          <a:latin typeface="Roboto" charset="0"/>
                          <a:ea typeface="Roboto" charset="0"/>
                          <a:cs typeface="Arial" panose="020B0604020202020204" pitchFamily="34" charset="0"/>
                        </a:rPr>
                        <a:t>2,5,6,7,8</a:t>
                      </a:r>
                      <a:r>
                        <a:rPr lang="en-US" altLang="zh-CN" sz="1200" dirty="0">
                          <a:latin typeface="Roboto" charset="0"/>
                          <a:ea typeface="Roboto" charset="0"/>
                          <a:cs typeface="Arial" panose="020B0604020202020204" pitchFamily="34" charset="0"/>
                        </a:rPr>
                        <a:t>, 3840x2160</a:t>
                      </a:r>
                      <a:r>
                        <a:rPr lang="en-US" altLang="zh-CN" sz="1200" baseline="30000" dirty="0">
                          <a:latin typeface="Roboto" charset="0"/>
                          <a:ea typeface="Roboto" charset="0"/>
                          <a:cs typeface="Arial" panose="020B0604020202020204" pitchFamily="34" charset="0"/>
                        </a:rPr>
                        <a:t>2,3,5,6,8</a:t>
                      </a:r>
                      <a:r>
                        <a:rPr lang="en-US" altLang="zh-CN" sz="1200" dirty="0">
                          <a:latin typeface="Roboto" charset="0"/>
                          <a:ea typeface="Roboto" charset="0"/>
                          <a:cs typeface="Arial" panose="020B0604020202020204" pitchFamily="34" charset="0"/>
                        </a:rPr>
                        <a:t>, 4096x2160</a:t>
                      </a:r>
                      <a:r>
                        <a:rPr lang="en-US" altLang="zh-CN" sz="1200" baseline="30000" dirty="0">
                          <a:latin typeface="Roboto" charset="0"/>
                          <a:ea typeface="Roboto" charset="0"/>
                          <a:cs typeface="Arial" panose="020B0604020202020204" pitchFamily="34" charset="0"/>
                        </a:rPr>
                        <a:t>2,3,5,6,8 (4:2:0 8bit only)</a:t>
                      </a:r>
                      <a:endParaRPr lang="en-US" altLang="zh-CN" sz="1200" dirty="0">
                        <a:latin typeface="Roboto" charset="0"/>
                        <a:ea typeface="Roboto" charset="0"/>
                        <a:cs typeface="Arial" panose="020B0604020202020204" pitchFamily="34" charset="0"/>
                      </a:endParaRPr>
                    </a:p>
                    <a:p>
                      <a:r>
                        <a:rPr lang="en-US" altLang="zh-CN" sz="1200" dirty="0">
                          <a:latin typeface="Roboto" charset="0"/>
                          <a:ea typeface="Roboto" charset="0"/>
                          <a:cs typeface="Arial" panose="020B0604020202020204" pitchFamily="34" charset="0"/>
                        </a:rPr>
                        <a:t>2 = at 24 Hz, 3 = at 25 Hz, 5 = at 30 Hz, 6 = at 50 Hz,                         7 = at 59.94 Hz, 8 = 60 Hz</a:t>
                      </a:r>
                      <a:endParaRPr lang="en-US" altLang="zh-CN" sz="1200" dirty="0">
                        <a:latin typeface="Roboto" charset="0"/>
                        <a:ea typeface="Roboto" charset="0"/>
                        <a:cs typeface="Arial" panose="020B0604020202020204" pitchFamily="34" charset="0"/>
                      </a:endParaRPr>
                    </a:p>
                  </a:txBody>
                  <a:tcPr anchor="ctr">
                    <a:solidFill>
                      <a:srgbClr val="E3F2E2"/>
                    </a:solidFill>
                  </a:tcPr>
                </a:tc>
              </a:tr>
              <a:tr h="336647">
                <a:tc>
                  <a:txBody>
                    <a:bodyPr/>
                    <a:lstStyle/>
                    <a:p>
                      <a:r>
                        <a:rPr lang="en-US" altLang="zh-CN" sz="1200" dirty="0">
                          <a:latin typeface="Roboto" charset="0"/>
                          <a:ea typeface="Roboto" charset="0"/>
                          <a:cs typeface="Arial" panose="020B0604020202020204" pitchFamily="34" charset="0"/>
                        </a:rPr>
                        <a:t>Audio Format</a:t>
                      </a:r>
                      <a:endParaRPr lang="en-US" altLang="zh-CN" sz="1200" dirty="0">
                        <a:latin typeface="Roboto" charset="0"/>
                        <a:ea typeface="Roboto" charset="0"/>
                        <a:cs typeface="Arial" panose="020B0604020202020204" pitchFamily="34" charset="0"/>
                      </a:endParaRPr>
                    </a:p>
                  </a:txBody>
                  <a:tcPr anchor="ctr">
                    <a:solidFill>
                      <a:srgbClr val="D6E5D5"/>
                    </a:solidFill>
                  </a:tcPr>
                </a:tc>
                <a:tc>
                  <a:txBody>
                    <a:bodyPr/>
                    <a:lstStyle/>
                    <a:p>
                      <a:r>
                        <a:rPr lang="en-US" altLang="zh-CN" sz="1200" dirty="0">
                          <a:latin typeface="Roboto" charset="0"/>
                          <a:ea typeface="Roboto" charset="0"/>
                          <a:cs typeface="Arial" panose="020B0604020202020204" pitchFamily="34" charset="0"/>
                        </a:rPr>
                        <a:t>HDMI IN/OUT/LINE OUT: PCM 2.0</a:t>
                      </a:r>
                      <a:endParaRPr lang="en-US" altLang="zh-CN" sz="1200" dirty="0">
                        <a:latin typeface="Roboto" charset="0"/>
                        <a:ea typeface="Roboto" charset="0"/>
                        <a:cs typeface="Arial" panose="020B0604020202020204" pitchFamily="34" charset="0"/>
                      </a:endParaRPr>
                    </a:p>
                  </a:txBody>
                  <a:tcPr anchor="ctr">
                    <a:solidFill>
                      <a:srgbClr val="D6E5D5"/>
                    </a:solidFill>
                  </a:tcPr>
                </a:tc>
              </a:tr>
              <a:tr h="376579">
                <a:tc>
                  <a:txBody>
                    <a:bodyPr/>
                    <a:lstStyle/>
                    <a:p>
                      <a:r>
                        <a:rPr lang="en-US" altLang="zh-CN" sz="1200" dirty="0">
                          <a:latin typeface="Roboto" charset="0"/>
                          <a:ea typeface="Roboto" charset="0"/>
                          <a:cs typeface="Arial" panose="020B0604020202020204" pitchFamily="34" charset="0"/>
                        </a:rPr>
                        <a:t>Control Method</a:t>
                      </a:r>
                      <a:endParaRPr lang="en-US" altLang="zh-CN" sz="1200" dirty="0">
                        <a:latin typeface="Roboto" charset="0"/>
                        <a:ea typeface="Roboto" charset="0"/>
                        <a:cs typeface="Arial" panose="020B0604020202020204" pitchFamily="34" charset="0"/>
                      </a:endParaRPr>
                    </a:p>
                  </a:txBody>
                  <a:tcPr anchor="ctr">
                    <a:solidFill>
                      <a:srgbClr val="E3F2E2"/>
                    </a:solidFill>
                  </a:tcPr>
                </a:tc>
                <a:tc>
                  <a:txBody>
                    <a:bodyPr/>
                    <a:lstStyle/>
                    <a:p>
                      <a:r>
                        <a:rPr lang="nn-NO" altLang="zh-CN" sz="1200" dirty="0">
                          <a:latin typeface="Roboto" charset="0"/>
                          <a:ea typeface="Roboto" charset="0"/>
                          <a:cs typeface="Arial" panose="020B0604020202020204" pitchFamily="34" charset="0"/>
                        </a:rPr>
                        <a:t>Front panel buttons, RS232, LAN (Telnet API &amp; Web UI)</a:t>
                      </a:r>
                      <a:endParaRPr lang="nn-NO" altLang="zh-CN" sz="1200" dirty="0">
                        <a:latin typeface="Roboto" charset="0"/>
                        <a:ea typeface="Roboto" charset="0"/>
                        <a:cs typeface="Arial" panose="020B0604020202020204" pitchFamily="34" charset="0"/>
                      </a:endParaRPr>
                    </a:p>
                  </a:txBody>
                  <a:tcPr anchor="ctr">
                    <a:solidFill>
                      <a:srgbClr val="E3F2E2"/>
                    </a:solidFill>
                  </a:tcPr>
                </a:tc>
              </a:tr>
              <a:tr h="361950">
                <a:tc>
                  <a:txBody>
                    <a:bodyPr/>
                    <a:lstStyle/>
                    <a:p>
                      <a:r>
                        <a:rPr lang="en-US" altLang="zh-CN" sz="1200" dirty="0">
                          <a:latin typeface="Roboto" charset="0"/>
                          <a:ea typeface="Roboto" charset="0"/>
                          <a:cs typeface="Arial" panose="020B0604020202020204" pitchFamily="34" charset="0"/>
                        </a:rPr>
                        <a:t>Power Supply</a:t>
                      </a:r>
                      <a:endParaRPr lang="en-US" altLang="zh-CN" sz="1200" dirty="0">
                        <a:latin typeface="Roboto" charset="0"/>
                        <a:ea typeface="Roboto" charset="0"/>
                        <a:cs typeface="Arial" panose="020B0604020202020204" pitchFamily="34" charset="0"/>
                      </a:endParaRPr>
                    </a:p>
                  </a:txBody>
                  <a:tcPr anchor="ctr">
                    <a:solidFill>
                      <a:srgbClr val="D6E5D5"/>
                    </a:solidFill>
                  </a:tcPr>
                </a:tc>
                <a:tc>
                  <a:txBody>
                    <a:bodyPr/>
                    <a:lstStyle/>
                    <a:p>
                      <a:r>
                        <a:rPr lang="en-US" altLang="zh-CN" sz="1200" dirty="0">
                          <a:latin typeface="Roboto" charset="0"/>
                          <a:ea typeface="Roboto" charset="0"/>
                          <a:cs typeface="Arial" panose="020B0604020202020204" pitchFamily="34" charset="0"/>
                        </a:rPr>
                        <a:t>AC 100~240V 50/60Hz</a:t>
                      </a:r>
                      <a:endParaRPr lang="en-US" altLang="zh-CN" sz="1200" dirty="0">
                        <a:latin typeface="Roboto" charset="0"/>
                        <a:ea typeface="Roboto" charset="0"/>
                        <a:cs typeface="Arial" panose="020B0604020202020204" pitchFamily="34" charset="0"/>
                      </a:endParaRPr>
                    </a:p>
                  </a:txBody>
                  <a:tcPr anchor="ctr">
                    <a:solidFill>
                      <a:srgbClr val="D6E5D5"/>
                    </a:solidFill>
                  </a:tcPr>
                </a:tc>
              </a:tr>
              <a:tr h="361950">
                <a:tc>
                  <a:txBody>
                    <a:bodyPr/>
                    <a:lstStyle/>
                    <a:p>
                      <a:r>
                        <a:rPr lang="en-US" altLang="zh-CN" sz="1200" dirty="0">
                          <a:latin typeface="Roboto" charset="0"/>
                          <a:ea typeface="Roboto" charset="0"/>
                          <a:cs typeface="Arial" panose="020B0604020202020204" pitchFamily="34" charset="0"/>
                        </a:rPr>
                        <a:t>Power Consumption (Max)</a:t>
                      </a:r>
                      <a:endParaRPr lang="en-US" altLang="zh-CN" sz="1200" dirty="0">
                        <a:latin typeface="Roboto" charset="0"/>
                        <a:ea typeface="Roboto" charset="0"/>
                        <a:cs typeface="Arial" panose="020B0604020202020204" pitchFamily="34" charset="0"/>
                      </a:endParaRPr>
                    </a:p>
                  </a:txBody>
                  <a:tcPr anchor="ctr">
                    <a:solidFill>
                      <a:srgbClr val="E3F2E2"/>
                    </a:solidFill>
                  </a:tcPr>
                </a:tc>
                <a:tc>
                  <a:txBody>
                    <a:bodyPr/>
                    <a:lstStyle/>
                    <a:p>
                      <a:r>
                        <a:rPr lang="en-US" altLang="zh-CN" sz="1200" dirty="0">
                          <a:latin typeface="Roboto" charset="0"/>
                          <a:ea typeface="Roboto" charset="0"/>
                          <a:cs typeface="Arial" panose="020B0604020202020204" pitchFamily="34" charset="0"/>
                        </a:rPr>
                        <a:t>120W</a:t>
                      </a:r>
                      <a:endParaRPr lang="en-US" altLang="zh-CN" sz="1200" dirty="0">
                        <a:latin typeface="Roboto" charset="0"/>
                        <a:ea typeface="Roboto" charset="0"/>
                        <a:cs typeface="Arial" panose="020B0604020202020204" pitchFamily="34" charset="0"/>
                      </a:endParaRPr>
                    </a:p>
                  </a:txBody>
                  <a:tcPr anchor="ctr">
                    <a:solidFill>
                      <a:srgbClr val="E3F2E2"/>
                    </a:solidFill>
                  </a:tcPr>
                </a:tc>
              </a:tr>
              <a:tr h="400050">
                <a:tc>
                  <a:txBody>
                    <a:bodyPr/>
                    <a:lstStyle/>
                    <a:p>
                      <a:r>
                        <a:rPr lang="pt-BR" altLang="zh-CN" sz="1200" dirty="0">
                          <a:latin typeface="Roboto" charset="0"/>
                          <a:ea typeface="Roboto" charset="0"/>
                          <a:cs typeface="Arial" panose="020B0604020202020204" pitchFamily="34" charset="0"/>
                        </a:rPr>
                        <a:t>Dimensions (WxHxD)</a:t>
                      </a:r>
                      <a:endParaRPr lang="en-US" altLang="zh-CN" sz="1200" dirty="0">
                        <a:latin typeface="Roboto" charset="0"/>
                        <a:ea typeface="Roboto" charset="0"/>
                        <a:cs typeface="Arial" panose="020B0604020202020204" pitchFamily="34" charset="0"/>
                      </a:endParaRPr>
                    </a:p>
                  </a:txBody>
                  <a:tcPr anchor="ctr">
                    <a:solidFill>
                      <a:srgbClr val="D6E5D5"/>
                    </a:solidFill>
                  </a:tcPr>
                </a:tc>
                <a:tc>
                  <a:txBody>
                    <a:bodyPr/>
                    <a:lstStyle/>
                    <a:p>
                      <a:r>
                        <a:rPr lang="en-US" altLang="zh-CN" sz="1200" dirty="0">
                          <a:latin typeface="Roboto" charset="0"/>
                          <a:ea typeface="Roboto" charset="0"/>
                          <a:cs typeface="Arial" panose="020B0604020202020204" pitchFamily="34" charset="0"/>
                        </a:rPr>
                        <a:t>440mm x 88mm x 362mm/17.32” x 3.46” x 14.25”</a:t>
                      </a:r>
                      <a:endParaRPr lang="en-US" altLang="zh-CN" sz="1200" dirty="0">
                        <a:latin typeface="Roboto" charset="0"/>
                        <a:ea typeface="Roboto" charset="0"/>
                        <a:cs typeface="Arial" panose="020B0604020202020204" pitchFamily="34" charset="0"/>
                      </a:endParaRPr>
                    </a:p>
                  </a:txBody>
                  <a:tcPr anchor="ctr">
                    <a:solidFill>
                      <a:srgbClr val="D6E5D5"/>
                    </a:solidFill>
                  </a:tcPr>
                </a:tc>
              </a:tr>
            </a:tbl>
          </a:graphicData>
        </a:graphic>
      </p:graphicFrame>
      <p:sp>
        <p:nvSpPr>
          <p:cNvPr id="4" name="文本框 3"/>
          <p:cNvSpPr txBox="1"/>
          <p:nvPr/>
        </p:nvSpPr>
        <p:spPr>
          <a:xfrm>
            <a:off x="7613694" y="1805940"/>
            <a:ext cx="4597400" cy="2899410"/>
          </a:xfrm>
          <a:prstGeom prst="rect">
            <a:avLst/>
          </a:prstGeom>
          <a:noFill/>
        </p:spPr>
        <p:txBody>
          <a:bodyPr wrap="square" rtlCol="0">
            <a:noAutofit/>
          </a:bodyPr>
          <a:lstStyle/>
          <a:p>
            <a:pPr algn="l"/>
            <a:r>
              <a:rPr lang="zh-CN" altLang="en-US" b="1" dirty="0">
                <a:latin typeface="Roboto" charset="0"/>
                <a:cs typeface="Arial" panose="020B0604020202020204" pitchFamily="34" charset="0"/>
              </a:rPr>
              <a:t>What</a:t>
            </a:r>
            <a:r>
              <a:rPr lang="en-US" altLang="zh-CN" b="1" dirty="0">
                <a:latin typeface="Roboto" charset="0"/>
                <a:cs typeface="Arial" panose="020B0604020202020204" pitchFamily="34" charset="0"/>
              </a:rPr>
              <a:t>’</a:t>
            </a:r>
            <a:r>
              <a:rPr lang="zh-CN" altLang="en-US" b="1" dirty="0">
                <a:latin typeface="Roboto" charset="0"/>
                <a:cs typeface="Arial" panose="020B0604020202020204" pitchFamily="34" charset="0"/>
              </a:rPr>
              <a:t>s in the Box?</a:t>
            </a:r>
            <a:endParaRPr lang="zh-CN" altLang="en-US" b="1" dirty="0">
              <a:latin typeface="Roboto" charset="0"/>
              <a:cs typeface="Arial" panose="020B0604020202020204" pitchFamily="34" charset="0"/>
            </a:endParaRPr>
          </a:p>
          <a:p>
            <a:pPr>
              <a:lnSpc>
                <a:spcPts val="900"/>
              </a:lnSpc>
            </a:pPr>
            <a:endParaRPr lang="zh-CN" altLang="en-US" sz="1600" dirty="0">
              <a:latin typeface="Roboto" charset="0"/>
              <a:cs typeface="Arial" panose="020B0604020202020204" pitchFamily="34" charset="0"/>
            </a:endParaRPr>
          </a:p>
          <a:p>
            <a:pPr marL="285750" indent="-285750">
              <a:buFont typeface="Wingdings" panose="05000000000000000000" charset="0"/>
              <a:buChar char="l"/>
            </a:pPr>
            <a:r>
              <a:rPr lang="zh-CN" altLang="en-US" sz="1600" dirty="0">
                <a:solidFill>
                  <a:schemeClr val="tx1">
                    <a:lumMod val="75000"/>
                    <a:lumOff val="25000"/>
                  </a:schemeClr>
                </a:solidFill>
                <a:latin typeface="Roboto" charset="0"/>
                <a:cs typeface="Arial" panose="020B0604020202020204" pitchFamily="34" charset="0"/>
              </a:rPr>
              <a:t></a:t>
            </a:r>
            <a:r>
              <a:rPr lang="en-US" altLang="zh-CN" sz="1600" dirty="0">
                <a:solidFill>
                  <a:schemeClr val="tx1">
                    <a:lumMod val="75000"/>
                    <a:lumOff val="25000"/>
                  </a:schemeClr>
                </a:solidFill>
                <a:latin typeface="Roboto" charset="0"/>
                <a:cs typeface="Arial" panose="020B0604020202020204" pitchFamily="34" charset="0"/>
              </a:rPr>
              <a:t>1x MX-0812-SCL Matrix</a:t>
            </a:r>
            <a:endParaRPr lang="en-US" altLang="zh-CN"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zh-CN" altLang="en-US" sz="1600" dirty="0">
                <a:solidFill>
                  <a:schemeClr val="tx1">
                    <a:lumMod val="75000"/>
                    <a:lumOff val="25000"/>
                  </a:schemeClr>
                </a:solidFill>
                <a:latin typeface="Roboto" charset="0"/>
                <a:cs typeface="Arial" panose="020B0604020202020204" pitchFamily="34" charset="0"/>
              </a:rPr>
              <a:t></a:t>
            </a:r>
            <a:r>
              <a:rPr lang="en-US" altLang="zh-CN" sz="1600" dirty="0">
                <a:solidFill>
                  <a:schemeClr val="tx1">
                    <a:lumMod val="75000"/>
                    <a:lumOff val="25000"/>
                  </a:schemeClr>
                </a:solidFill>
                <a:latin typeface="Roboto" charset="0"/>
                <a:cs typeface="Arial" panose="020B0604020202020204" pitchFamily="34" charset="0"/>
              </a:rPr>
              <a:t>1x AC Power Cord (US/UK/EU/AU)</a:t>
            </a:r>
            <a:r>
              <a:rPr lang="zh-CN" altLang="en-US" sz="1600" dirty="0">
                <a:solidFill>
                  <a:schemeClr val="tx1">
                    <a:lumMod val="75000"/>
                    <a:lumOff val="25000"/>
                  </a:schemeClr>
                </a:solidFill>
                <a:latin typeface="Roboto" charset="0"/>
                <a:cs typeface="Arial" panose="020B0604020202020204" pitchFamily="34" charset="0"/>
              </a:rPr>
              <a:t> </a:t>
            </a:r>
            <a:endParaRPr lang="zh-CN" alt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zh-CN" altLang="en-US" sz="1600" dirty="0">
                <a:solidFill>
                  <a:schemeClr val="tx1">
                    <a:lumMod val="75000"/>
                    <a:lumOff val="25000"/>
                  </a:schemeClr>
                </a:solidFill>
                <a:latin typeface="Roboto" charset="0"/>
                <a:cs typeface="Arial" panose="020B0604020202020204" pitchFamily="34" charset="0"/>
              </a:rPr>
              <a:t></a:t>
            </a:r>
            <a:r>
              <a:rPr lang="en-US" altLang="zh-CN" sz="1600" dirty="0">
                <a:solidFill>
                  <a:schemeClr val="tx1">
                    <a:lumMod val="75000"/>
                    <a:lumOff val="25000"/>
                  </a:schemeClr>
                </a:solidFill>
                <a:latin typeface="Roboto" charset="0"/>
                <a:cs typeface="Arial" panose="020B0604020202020204" pitchFamily="34" charset="0"/>
              </a:rPr>
              <a:t>1x 3.5mm 3-Pin Phoenix Male Connector</a:t>
            </a:r>
            <a:endParaRPr lang="zh-CN" alt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zh-CN" altLang="en-US" sz="1600" dirty="0">
                <a:solidFill>
                  <a:schemeClr val="tx1">
                    <a:lumMod val="75000"/>
                    <a:lumOff val="25000"/>
                  </a:schemeClr>
                </a:solidFill>
                <a:latin typeface="Roboto" charset="0"/>
                <a:cs typeface="Arial" panose="020B0604020202020204" pitchFamily="34" charset="0"/>
              </a:rPr>
              <a:t></a:t>
            </a:r>
            <a:r>
              <a:rPr lang="en-US" altLang="zh-CN" sz="1600" dirty="0">
                <a:solidFill>
                  <a:schemeClr val="tx1">
                    <a:lumMod val="75000"/>
                    <a:lumOff val="25000"/>
                  </a:schemeClr>
                </a:solidFill>
                <a:latin typeface="Roboto" charset="0"/>
                <a:cs typeface="Arial" panose="020B0604020202020204" pitchFamily="34" charset="0"/>
              </a:rPr>
              <a:t>4x 3.5mm 5-Pin Phoenix Male Connector</a:t>
            </a:r>
            <a:endParaRPr lang="zh-CN" alt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zh-CN" altLang="en-US" sz="1600" dirty="0">
                <a:solidFill>
                  <a:schemeClr val="tx1">
                    <a:lumMod val="75000"/>
                    <a:lumOff val="25000"/>
                  </a:schemeClr>
                </a:solidFill>
                <a:latin typeface="Roboto" charset="0"/>
                <a:cs typeface="Arial" panose="020B0604020202020204" pitchFamily="34" charset="0"/>
              </a:rPr>
              <a:t></a:t>
            </a:r>
            <a:r>
              <a:rPr lang="en-US" altLang="zh-CN" sz="1600" dirty="0">
                <a:solidFill>
                  <a:schemeClr val="tx1">
                    <a:lumMod val="75000"/>
                    <a:lumOff val="25000"/>
                  </a:schemeClr>
                </a:solidFill>
                <a:latin typeface="Roboto" charset="0"/>
                <a:cs typeface="Arial" panose="020B0604020202020204" pitchFamily="34" charset="0"/>
              </a:rPr>
              <a:t>2x Mounting Brackets (with Screws)</a:t>
            </a:r>
            <a:endParaRPr lang="en-US" altLang="zh-CN"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zh-CN" altLang="en-US" sz="1600" dirty="0">
                <a:solidFill>
                  <a:schemeClr val="tx1">
                    <a:lumMod val="75000"/>
                    <a:lumOff val="25000"/>
                  </a:schemeClr>
                </a:solidFill>
                <a:latin typeface="Roboto" charset="0"/>
                <a:cs typeface="Arial" panose="020B0604020202020204" pitchFamily="34" charset="0"/>
              </a:rPr>
              <a:t>1x Quick Start Guide</a:t>
            </a:r>
            <a:endParaRPr lang="en-US" altLang="zh-CN" sz="1600" dirty="0">
              <a:solidFill>
                <a:schemeClr val="tx1">
                  <a:lumMod val="75000"/>
                  <a:lumOff val="25000"/>
                </a:schemeClr>
              </a:solidFill>
              <a:latin typeface="Roboto" charset="0"/>
              <a:cs typeface="Arial" panose="020B0604020202020204" pitchFamily="34" charset="0"/>
            </a:endParaRPr>
          </a:p>
        </p:txBody>
      </p:sp>
      <p:pic>
        <p:nvPicPr>
          <p:cNvPr id="6"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9"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676775" y="1084579"/>
            <a:ext cx="7315201" cy="5509648"/>
          </a:xfrm>
          <a:prstGeom prst="rect">
            <a:avLst/>
          </a:prstGeom>
        </p:spPr>
      </p:pic>
      <p:sp>
        <p:nvSpPr>
          <p:cNvPr id="14" name="Title 6"/>
          <p:cNvSpPr txBox="1"/>
          <p:nvPr>
            <p:custDataLst>
              <p:tags r:id="rId2"/>
            </p:custDataLst>
          </p:nvPr>
        </p:nvSpPr>
        <p:spPr>
          <a:xfrm>
            <a:off x="451485" y="883285"/>
            <a:ext cx="4491991" cy="596265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285750" fontAlgn="ctr">
              <a:lnSpc>
                <a:spcPct val="100000"/>
              </a:lnSpc>
              <a:spcBef>
                <a:spcPts val="0"/>
              </a:spcBef>
              <a:spcAft>
                <a:spcPts val="800"/>
              </a:spcAft>
              <a:buSzPct val="100000"/>
            </a:pPr>
            <a:r>
              <a:rPr sz="18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1</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endPar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ct val="100000"/>
              </a:lnSpc>
              <a:spcBef>
                <a:spcPts val="0"/>
              </a:spcBef>
              <a:spcAft>
                <a:spcPts val="800"/>
              </a:spcAft>
              <a:buSzPct val="100000"/>
            </a:pPr>
            <a:r>
              <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Auditorium &amp; Lecture Hall (Video Wall)</a:t>
            </a:r>
            <a:endPar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pPr>
            <a:r>
              <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This solution is ideal for auditoriums and lecture halls, connecting video sources to a video wall or displays with the MX-0812-SCL matrix, delivering clear visuals for students. Paired with Dante audio systems and speakers, it ensures high-quality sound to maintain focus. The intuitive touch panel simplifies presentation management, enhancing interactivity and engagement.</a:t>
            </a:r>
            <a:endPar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2500"/>
              </a:lnSpc>
              <a:spcBef>
                <a:spcPts val="0"/>
              </a:spcBef>
              <a:spcAft>
                <a:spcPts val="800"/>
              </a:spcAft>
              <a:buSzPct val="100000"/>
            </a:pP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Benefits </a:t>
            </a:r>
            <a:r>
              <a:rPr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I</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nclude:</a:t>
            </a:r>
            <a:endParaRPr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Multiple layout video wall</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Create multiple layout video walls, such as two 2x2 setups, to enhance presentation effects.</a:t>
            </a:r>
            <a:endPar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High-quality viewing experience</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Deliver a high-quality viewing experience with up to 4K@60Hz resolution and fast, seamless switching with no black screen.</a:t>
            </a:r>
            <a:endPar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Provide professional audio performance</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Provide professional audio performance by integrating with external audio DSPs, amplifiers, and ceiling speakers.</a:t>
            </a:r>
            <a:endPar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Dante (4x4)</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Ensure seamless compatibility with other Dante-enabled devices through built-in Dante (4x4) technology.</a:t>
            </a:r>
            <a:endPar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Flexible control methods: </a:t>
            </a:r>
            <a:r>
              <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Simplify system control with flexible options, allowing professors and students to easily manage the entire system using a touch panel.</a:t>
            </a:r>
            <a:endPar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
        <p:nvSpPr>
          <p:cNvPr id="22"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9" name="文本框 6"/>
          <p:cNvSpPr txBox="1"/>
          <p:nvPr>
            <p:custDataLst>
              <p:tags r:id="rId4"/>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Typical Connection &amp; Applications</a:t>
            </a:r>
            <a:endParaRPr lang="en-US" sz="3200" b="1" dirty="0">
              <a:solidFill>
                <a:schemeClr val="lt1"/>
              </a:solidFill>
              <a:uFillTx/>
              <a:latin typeface="Montserrat" pitchFamily="2" charset="0"/>
              <a:ea typeface="微软雅黑" panose="020B0503020204020204" pitchFamily="34" charset="-122"/>
              <a:sym typeface="Roboto"/>
            </a:endParaRPr>
          </a:p>
        </p:txBody>
      </p:sp>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867069" y="1193800"/>
            <a:ext cx="7300166" cy="5340350"/>
          </a:xfrm>
          <a:prstGeom prst="rect">
            <a:avLst/>
          </a:prstGeom>
        </p:spPr>
      </p:pic>
      <p:sp>
        <p:nvSpPr>
          <p:cNvPr id="14" name="Title 6"/>
          <p:cNvSpPr txBox="1"/>
          <p:nvPr>
            <p:custDataLst>
              <p:tags r:id="rId2"/>
            </p:custDataLst>
          </p:nvPr>
        </p:nvSpPr>
        <p:spPr>
          <a:xfrm>
            <a:off x="447630" y="1012824"/>
            <a:ext cx="4876845" cy="605472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285750" fontAlgn="ctr">
              <a:lnSpc>
                <a:spcPct val="100000"/>
              </a:lnSpc>
              <a:spcBef>
                <a:spcPts val="0"/>
              </a:spcBef>
              <a:spcAft>
                <a:spcPts val="800"/>
              </a:spcAft>
              <a:buSzPct val="100000"/>
            </a:pPr>
            <a:r>
              <a:rPr lang="en-US" sz="18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2</a:t>
            </a: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endPar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ct val="100000"/>
              </a:lnSpc>
              <a:spcBef>
                <a:spcPts val="0"/>
              </a:spcBef>
              <a:spcAft>
                <a:spcPts val="800"/>
              </a:spcAft>
              <a:buSzPct val="100000"/>
            </a:pPr>
            <a:r>
              <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Auditorium &amp; Lecture Hall (Hybrid)</a:t>
            </a:r>
            <a:endPar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pPr>
            <a:r>
              <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This solution is ideal for hybrid learning in large</a:t>
            </a:r>
            <a:r>
              <a:rPr lang="en-US" altLang="zh-CN"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spaces. The MX-0812-SCL matrix switch connects multiple video sources (laptops, document cameras, in-room PCs) to displays or projectors, delivering clear, vibrant 4K visuals for in-room students. Integrated USB support ensures seamless connection for remote students, providing them with high-quality audio and video.            The intuitive touch control panel makes it easy for users to manage the system.</a:t>
            </a:r>
            <a:endParaRPr lang="en-US" altLang="zh-CN"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0" lvl="0" indent="-285750" algn="l" fontAlgn="ctr">
              <a:lnSpc>
                <a:spcPct val="100000"/>
              </a:lnSpc>
              <a:spcBef>
                <a:spcPts val="0"/>
              </a:spcBef>
              <a:spcAft>
                <a:spcPts val="800"/>
              </a:spcAft>
              <a:buSzPct val="100000"/>
              <a:buFont typeface="Wingdings" panose="05000000000000000000" charset="0"/>
              <a:buNone/>
            </a:pP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Benefits </a:t>
            </a:r>
            <a:r>
              <a:rPr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I</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nclude:</a:t>
            </a:r>
            <a:endPar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High-quality viewing experience</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Deliver up to 4K@60Hz resolution with fast, seamless switching and no black screen.</a:t>
            </a:r>
            <a:endPar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Provide professional audio performance</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Integrate with external audio DSPs, amplifiers, microphones, and ceiling speakers to enhance the audio experience.</a:t>
            </a:r>
            <a:endPar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Hybrid teaching &amp; meeting</a:t>
            </a:r>
            <a:r>
              <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Connect to camera, audio system, keyboard and mouse, we offer professional hybrid experience.</a:t>
            </a:r>
            <a:endPar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Dante (4x4)</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Built-in Dante technology to ensure seamless compatibility with other Dante-enabled devices</a:t>
            </a:r>
            <a: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endPar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Flexible control methods: </a:t>
            </a:r>
            <a:r>
              <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Enable control via touch panel, allowing professors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and</a:t>
            </a:r>
            <a:r>
              <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students to easily manage the entire system.</a:t>
            </a:r>
            <a:endPar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endPar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endPar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
        <p:nvSpPr>
          <p:cNvPr id="22"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9" name="文本框 6"/>
          <p:cNvSpPr txBox="1"/>
          <p:nvPr>
            <p:custDataLst>
              <p:tags r:id="rId4"/>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Typical Connection &amp; Applications</a:t>
            </a:r>
            <a:endParaRPr lang="en-US" sz="3200" b="1" dirty="0">
              <a:solidFill>
                <a:schemeClr val="lt1"/>
              </a:solidFill>
              <a:uFillTx/>
              <a:latin typeface="Montserrat" pitchFamily="2" charset="0"/>
              <a:ea typeface="微软雅黑" panose="020B0503020204020204" pitchFamily="34" charset="-122"/>
              <a:sym typeface="Roboto"/>
            </a:endParaRPr>
          </a:p>
        </p:txBody>
      </p:sp>
      <p:pic>
        <p:nvPicPr>
          <p:cNvPr id="2" name="图片 3"/>
          <p:cNvPicPr>
            <a:picLocks noChangeAspect="1"/>
          </p:cNvPicPr>
          <p:nvPr/>
        </p:nvPicPr>
        <p:blipFill>
          <a:blip r:embed="rId1"/>
          <a:srcRect l="3075" t="89536" r="69112" b="3615"/>
          <a:stretch>
            <a:fillRect/>
          </a:stretch>
        </p:blipFill>
        <p:spPr>
          <a:xfrm>
            <a:off x="5341620" y="5869305"/>
            <a:ext cx="2764155" cy="497954"/>
          </a:xfrm>
          <a:prstGeom prst="rect">
            <a:avLst/>
          </a:prstGeom>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7"/>
          <p:cNvSpPr/>
          <p:nvPr>
            <p:custDataLst>
              <p:tags r:id="rId1"/>
            </p:custDataLst>
          </p:nvPr>
        </p:nvSpPr>
        <p:spPr>
          <a:xfrm>
            <a:off x="0" y="0"/>
            <a:ext cx="12192000" cy="912114"/>
          </a:xfrm>
          <a:prstGeom prst="rect">
            <a:avLst/>
          </a:prstGeom>
          <a:solidFill>
            <a:srgbClr val="0B7935"/>
          </a:solidFill>
          <a:ln w="12700" cap="flat" cmpd="sng" algn="ctr">
            <a:solidFill>
              <a:schemeClr val="accent6"/>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8" name="文本框 6"/>
          <p:cNvSpPr txBox="1"/>
          <p:nvPr>
            <p:custDataLst>
              <p:tags r:id="rId2"/>
            </p:custDataLst>
          </p:nvPr>
        </p:nvSpPr>
        <p:spPr>
          <a:xfrm>
            <a:off x="457155" y="16954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Comparison with Other Competitors</a:t>
            </a:r>
            <a:endParaRPr lang="en-US" sz="3200" b="1" dirty="0">
              <a:solidFill>
                <a:schemeClr val="lt1"/>
              </a:solidFill>
              <a:uFillTx/>
              <a:latin typeface="Montserrat" pitchFamily="2" charset="0"/>
              <a:ea typeface="微软雅黑" panose="020B0503020204020204" pitchFamily="34" charset="-122"/>
              <a:sym typeface="Roboto"/>
            </a:endParaRPr>
          </a:p>
        </p:txBody>
      </p:sp>
      <p:graphicFrame>
        <p:nvGraphicFramePr>
          <p:cNvPr id="2" name="表格 1"/>
          <p:cNvGraphicFramePr>
            <a:graphicFrameLocks noGrp="1"/>
          </p:cNvGraphicFramePr>
          <p:nvPr>
            <p:custDataLst>
              <p:tags r:id="rId3"/>
            </p:custDataLst>
          </p:nvPr>
        </p:nvGraphicFramePr>
        <p:xfrm>
          <a:off x="1583689" y="1276350"/>
          <a:ext cx="8808086" cy="5196205"/>
        </p:xfrm>
        <a:graphic>
          <a:graphicData uri="http://schemas.openxmlformats.org/drawingml/2006/table">
            <a:tbl>
              <a:tblPr firstRow="1" bandRow="1">
                <a:tableStyleId>{5C22544A-7EE6-4342-B048-85BDC9FD1C3A}</a:tableStyleId>
              </a:tblPr>
              <a:tblGrid>
                <a:gridCol w="1516861"/>
                <a:gridCol w="2128675"/>
                <a:gridCol w="1501778"/>
                <a:gridCol w="1841497"/>
                <a:gridCol w="1819275"/>
              </a:tblGrid>
              <a:tr h="483870">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indent="0" algn="ctr">
                        <a:buNone/>
                      </a:pPr>
                      <a:r>
                        <a:rPr lang="en-US" sz="1000" b="1" dirty="0">
                          <a:solidFill>
                            <a:srgbClr val="000000"/>
                          </a:solidFill>
                          <a:latin typeface="Roboto" panose="02000000000000000000" charset="-122"/>
                        </a:rPr>
                        <a:t>Features</a:t>
                      </a:r>
                      <a:endParaRPr lang="en-US" altLang="en-US" sz="1000" b="1"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9BC2E6"/>
                    </a:solidFill>
                  </a:tcPr>
                </a:tc>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indent="0" algn="ctr">
                        <a:buNone/>
                      </a:pPr>
                      <a:r>
                        <a:rPr lang="en-US" sz="1000" b="1" dirty="0" err="1">
                          <a:solidFill>
                            <a:srgbClr val="000000"/>
                          </a:solidFill>
                          <a:latin typeface="Roboto" panose="02000000000000000000" charset="-122"/>
                        </a:rPr>
                        <a:t>Wyrestorm</a:t>
                      </a:r>
                      <a:endParaRPr lang="en-US" sz="1000" b="1" dirty="0">
                        <a:solidFill>
                          <a:srgbClr val="000000"/>
                        </a:solidFill>
                        <a:latin typeface="Roboto" panose="02000000000000000000" charset="-122"/>
                      </a:endParaRPr>
                    </a:p>
                    <a:p>
                      <a:pPr indent="0" algn="ctr">
                        <a:buNone/>
                      </a:pPr>
                      <a:r>
                        <a:rPr lang="en-US" altLang="en-US" sz="1000" b="1" dirty="0">
                          <a:solidFill>
                            <a:srgbClr val="000000"/>
                          </a:solidFill>
                          <a:latin typeface="Roboto" panose="02000000000000000000" charset="-122"/>
                        </a:rPr>
                        <a:t>(MX-0812-SCL)</a:t>
                      </a:r>
                      <a:endParaRPr lang="en-US" altLang="en-US" sz="1000" b="1"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6E0B4"/>
                    </a:solidFill>
                  </a:tcPr>
                </a:tc>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1000" b="1" kern="1200" dirty="0">
                          <a:solidFill>
                            <a:srgbClr val="000000"/>
                          </a:solidFill>
                          <a:latin typeface="Roboto" panose="02000000000000000000" charset="-122"/>
                          <a:ea typeface="+mn-ea"/>
                          <a:cs typeface="+mn-cs"/>
                        </a:rPr>
                        <a:t>Kramer</a:t>
                      </a:r>
                      <a:endParaRPr lang="en-US" altLang="en-US" sz="1000" b="1" kern="1200" dirty="0">
                        <a:solidFill>
                          <a:srgbClr val="000000"/>
                        </a:solidFill>
                        <a:latin typeface="Roboto" panose="02000000000000000000" charset="-122"/>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en-US" sz="1000" b="1" kern="1200" dirty="0">
                          <a:solidFill>
                            <a:srgbClr val="000000"/>
                          </a:solidFill>
                          <a:latin typeface="Roboto" panose="02000000000000000000" charset="-122"/>
                          <a:ea typeface="+mn-ea"/>
                          <a:cs typeface="+mn-cs"/>
                        </a:rPr>
                        <a:t>(VS-88H2A)</a:t>
                      </a:r>
                      <a:endParaRPr lang="en-US" altLang="en-US" sz="1000" b="1"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9BC2E6"/>
                    </a:solidFill>
                  </a:tcPr>
                </a:tc>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1000" b="1" kern="1200" dirty="0" err="1">
                          <a:solidFill>
                            <a:srgbClr val="000000"/>
                          </a:solidFill>
                          <a:latin typeface="Roboto" panose="02000000000000000000" charset="-122"/>
                          <a:ea typeface="+mn-ea"/>
                          <a:cs typeface="+mn-cs"/>
                        </a:rPr>
                        <a:t>Atlona</a:t>
                      </a:r>
                      <a:endParaRPr lang="en-US" altLang="en-US" sz="1000" b="1" kern="1200" dirty="0">
                        <a:solidFill>
                          <a:srgbClr val="000000"/>
                        </a:solidFill>
                        <a:latin typeface="Roboto" panose="02000000000000000000" charset="-122"/>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en-US" sz="1000" b="1" kern="1200" dirty="0">
                          <a:solidFill>
                            <a:srgbClr val="000000"/>
                          </a:solidFill>
                          <a:latin typeface="Roboto" panose="02000000000000000000" charset="-122"/>
                          <a:ea typeface="+mn-ea"/>
                          <a:cs typeface="+mn-cs"/>
                        </a:rPr>
                        <a:t>(AT-HDR-H2H-88MA)</a:t>
                      </a:r>
                      <a:endParaRPr lang="en-US" altLang="en-US" sz="1000" b="1"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9BC2E6"/>
                    </a:solidFill>
                  </a:tcPr>
                </a:tc>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1000" b="1" kern="1200" dirty="0" err="1">
                          <a:solidFill>
                            <a:srgbClr val="000000"/>
                          </a:solidFill>
                          <a:latin typeface="Roboto" panose="02000000000000000000" charset="-122"/>
                          <a:ea typeface="+mn-ea"/>
                          <a:cs typeface="+mn-cs"/>
                        </a:rPr>
                        <a:t>Aten</a:t>
                      </a:r>
                      <a:endParaRPr lang="en-US" altLang="en-US" sz="1000" b="1" kern="1200" dirty="0">
                        <a:solidFill>
                          <a:srgbClr val="000000"/>
                        </a:solidFill>
                        <a:latin typeface="Roboto" panose="02000000000000000000" charset="-122"/>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en-US" sz="1000" b="1" kern="1200" dirty="0">
                          <a:solidFill>
                            <a:srgbClr val="000000"/>
                          </a:solidFill>
                          <a:latin typeface="Roboto" panose="02000000000000000000" charset="-122"/>
                          <a:ea typeface="+mn-ea"/>
                          <a:cs typeface="+mn-cs"/>
                        </a:rPr>
                        <a:t>(VM5808HA)</a:t>
                      </a:r>
                      <a:endParaRPr lang="en-US" altLang="en-US" sz="1000" b="1"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9BC2E6"/>
                    </a:solidFill>
                  </a:tcPr>
                </a:tc>
              </a:tr>
              <a:tr h="22034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HDMI</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kern="1200" dirty="0">
                          <a:solidFill>
                            <a:srgbClr val="000000"/>
                          </a:solidFill>
                          <a:latin typeface="Roboto" panose="02000000000000000000" charset="-122"/>
                          <a:ea typeface="+mn-ea"/>
                          <a:cs typeface="+mn-cs"/>
                        </a:rPr>
                        <a:t>4K@60 444 8bit</a:t>
                      </a:r>
                      <a:endParaRPr lang="en-US" altLang="en-US" sz="1000" b="0"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b="0" kern="1200" dirty="0">
                          <a:solidFill>
                            <a:srgbClr val="000000"/>
                          </a:solidFill>
                          <a:latin typeface="Roboto" panose="02000000000000000000" charset="-122"/>
                          <a:ea typeface="+mn-ea"/>
                          <a:cs typeface="+mn-cs"/>
                        </a:rPr>
                        <a:t>4K@60 444 8bit</a:t>
                      </a:r>
                      <a:endParaRPr lang="en-US" altLang="en-US" sz="1000" b="0"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b="0" kern="1200" dirty="0">
                          <a:solidFill>
                            <a:srgbClr val="000000"/>
                          </a:solidFill>
                          <a:latin typeface="Roboto" panose="02000000000000000000" charset="-122"/>
                          <a:ea typeface="+mn-ea"/>
                          <a:cs typeface="+mn-cs"/>
                        </a:rPr>
                        <a:t>4K@60 420 10bit</a:t>
                      </a:r>
                      <a:endParaRPr lang="en-US" altLang="en-US" sz="1000" b="0"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4K@30</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220980">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HDCP</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indent="0" algn="ctr" defTabSz="914400" rtl="0" eaLnBrk="1" latinLnBrk="0" hangingPunct="1">
                        <a:buNone/>
                      </a:pPr>
                      <a:r>
                        <a:rPr lang="en-US" sz="1000" b="1" kern="1200" dirty="0">
                          <a:solidFill>
                            <a:srgbClr val="70AD47"/>
                          </a:solidFill>
                          <a:latin typeface="Roboto" panose="02000000000000000000" charset="-122"/>
                          <a:ea typeface="+mn-ea"/>
                          <a:cs typeface="+mn-cs"/>
                        </a:rPr>
                        <a:t>HDCP 2.3</a:t>
                      </a:r>
                      <a:endParaRPr lang="en-US" altLang="en-US" sz="1000" b="1" kern="1200" dirty="0">
                        <a:solidFill>
                          <a:srgbClr val="70AD47"/>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HDCP2.2</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1000" b="0" dirty="0">
                          <a:solidFill>
                            <a:srgbClr val="000000"/>
                          </a:solidFill>
                          <a:latin typeface="Roboto" panose="02000000000000000000" charset="-122"/>
                        </a:rPr>
                        <a:t>HDCP2.2</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HDCP 1.4</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53911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Video Wall</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zh-CN" sz="1000" b="1" kern="1200" dirty="0">
                          <a:solidFill>
                            <a:srgbClr val="70AD47"/>
                          </a:solidFill>
                          <a:latin typeface="Roboto" panose="02000000000000000000" charset="-122"/>
                          <a:ea typeface="+mn-ea"/>
                          <a:cs typeface="+mn-cs"/>
                        </a:rPr>
                        <a:t>Yes, M*N videowall layouts</a:t>
                      </a:r>
                      <a:br>
                        <a:rPr lang="en-US" altLang="zh-CN" sz="1000" b="1" kern="1200" dirty="0">
                          <a:solidFill>
                            <a:srgbClr val="70AD47"/>
                          </a:solidFill>
                          <a:latin typeface="Roboto" panose="02000000000000000000" charset="-122"/>
                          <a:ea typeface="+mn-ea"/>
                          <a:cs typeface="+mn-cs"/>
                        </a:rPr>
                      </a:br>
                      <a:r>
                        <a:rPr lang="en-US" altLang="zh-CN" sz="1000" b="1" kern="1200" dirty="0">
                          <a:solidFill>
                            <a:srgbClr val="70AD47"/>
                          </a:solidFill>
                          <a:latin typeface="Roboto" panose="02000000000000000000" charset="-122"/>
                          <a:ea typeface="+mn-ea"/>
                          <a:cs typeface="+mn-cs"/>
                        </a:rPr>
                        <a:t>(M,N&lt;=6 and M*N&lt;=12)</a:t>
                      </a:r>
                      <a:endParaRPr lang="en-US" altLang="en-US" sz="1000" b="1" kern="1200" dirty="0">
                        <a:solidFill>
                          <a:srgbClr val="70AD47"/>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kern="1200" dirty="0">
                          <a:solidFill>
                            <a:srgbClr val="000000"/>
                          </a:solidFill>
                          <a:latin typeface="Roboto" panose="02000000000000000000" charset="-122"/>
                          <a:ea typeface="+mn-ea"/>
                          <a:cs typeface="+mn-cs"/>
                        </a:rPr>
                        <a:t>Yes</a:t>
                      </a:r>
                      <a:endParaRPr lang="en-US" altLang="en-US" sz="1000" b="0"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35496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KVM/USB</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1" dirty="0">
                          <a:solidFill>
                            <a:srgbClr val="70AD47"/>
                          </a:solidFill>
                          <a:latin typeface="Roboto" panose="02000000000000000000" charset="-122"/>
                        </a:rPr>
                        <a:t>KVM Supports/USB3.0 + USB2.0</a:t>
                      </a:r>
                      <a:endParaRPr lang="en-US" altLang="en-US" sz="1000" b="1" dirty="0">
                        <a:solidFill>
                          <a:srgbClr val="70AD47"/>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281940">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Audio Input</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kern="1200" dirty="0">
                          <a:solidFill>
                            <a:srgbClr val="000000"/>
                          </a:solidFill>
                          <a:latin typeface="Roboto" panose="02000000000000000000" charset="-122"/>
                          <a:ea typeface="+mn-ea"/>
                          <a:cs typeface="+mn-cs"/>
                        </a:rPr>
                        <a:t>Dante</a:t>
                      </a:r>
                      <a:endParaRPr lang="en-US" altLang="en-US" sz="1000" b="0" kern="1200" dirty="0">
                        <a:solidFill>
                          <a:srgbClr val="000000"/>
                        </a:solidFill>
                        <a:latin typeface="Roboto" panose="02000000000000000000" charset="-122"/>
                        <a:ea typeface="+mn-ea"/>
                        <a:cs typeface="+mn-cs"/>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kern="1200" dirty="0">
                          <a:solidFill>
                            <a:srgbClr val="000000"/>
                          </a:solidFill>
                          <a:latin typeface="Roboto" panose="02000000000000000000" charset="-122"/>
                          <a:ea typeface="+mn-ea"/>
                          <a:cs typeface="+mn-cs"/>
                        </a:rPr>
                        <a:t>Audio IN</a:t>
                      </a:r>
                      <a:endParaRPr lang="en-US" altLang="en-US" sz="1000" b="0"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zh-CN"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31432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Audio Output</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LINE OUT , Dante OUT</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indent="0" algn="ctr" defTabSz="914400" rtl="0" eaLnBrk="1" latinLnBrk="0" hangingPunct="1">
                        <a:buNone/>
                      </a:pPr>
                      <a:r>
                        <a:rPr lang="en-US" altLang="zh-CN" sz="1000" b="0" kern="1200" dirty="0">
                          <a:solidFill>
                            <a:srgbClr val="000000"/>
                          </a:solidFill>
                          <a:latin typeface="Roboto" panose="02000000000000000000" charset="-122"/>
                          <a:ea typeface="+mn-ea"/>
                          <a:cs typeface="+mn-cs"/>
                        </a:rPr>
                        <a:t>Audio OUT</a:t>
                      </a:r>
                      <a:endParaRPr lang="en-US" altLang="en-US" sz="1000" b="0"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Audio </a:t>
                      </a:r>
                      <a:r>
                        <a:rPr lang="en-US" altLang="zh-CN" sz="1000" b="0" dirty="0">
                          <a:solidFill>
                            <a:srgbClr val="000000"/>
                          </a:solidFill>
                          <a:latin typeface="Roboto" panose="02000000000000000000" charset="-122"/>
                        </a:rPr>
                        <a:t>OUT</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zh-CN"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29527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Audio DSP</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indent="0" algn="ctr" defTabSz="914400" rtl="0" eaLnBrk="1" latinLnBrk="0" hangingPunct="1">
                        <a:buNone/>
                      </a:pPr>
                      <a:r>
                        <a:rPr lang="en-US" altLang="zh-CN" sz="1000" b="0" kern="1200" dirty="0">
                          <a:solidFill>
                            <a:srgbClr val="000000"/>
                          </a:solidFill>
                          <a:latin typeface="Roboto" panose="02000000000000000000" charset="-122"/>
                          <a:ea typeface="+mn-ea"/>
                          <a:cs typeface="+mn-cs"/>
                        </a:rPr>
                        <a:t>Yes</a:t>
                      </a:r>
                      <a:endParaRPr lang="en-US" altLang="en-US" sz="1000" b="0"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304800">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Audio Matrix</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12 x 8</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kern="1200" dirty="0">
                          <a:solidFill>
                            <a:srgbClr val="000000"/>
                          </a:solidFill>
                          <a:latin typeface="Roboto" panose="02000000000000000000" charset="-122"/>
                          <a:ea typeface="+mn-ea"/>
                          <a:cs typeface="+mn-cs"/>
                        </a:rPr>
                        <a:t>24 x 24</a:t>
                      </a:r>
                      <a:endParaRPr lang="en-US" altLang="en-US" sz="1000" b="0"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8 x 8</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indent="0" algn="ctr" defTabSz="914400" rtl="0" eaLnBrk="1" latinLnBrk="0" hangingPunct="1">
                        <a:buNone/>
                      </a:pPr>
                      <a:r>
                        <a:rPr lang="en-US" altLang="en-US" sz="1000" b="0" kern="1200" dirty="0">
                          <a:solidFill>
                            <a:srgbClr val="000000"/>
                          </a:solidFill>
                          <a:latin typeface="Roboto" panose="02000000000000000000" charset="-122"/>
                          <a:ea typeface="+mn-ea"/>
                          <a:cs typeface="+mn-cs"/>
                        </a:rPr>
                        <a:t>8 x 8</a:t>
                      </a:r>
                      <a:endParaRPr lang="en-US" altLang="en-US" sz="1000" b="0" kern="1200" dirty="0">
                        <a:solidFill>
                          <a:srgbClr val="000000"/>
                        </a:solidFill>
                        <a:latin typeface="Roboto" panose="02000000000000000000" charset="-122"/>
                        <a:ea typeface="+mn-ea"/>
                        <a:cs typeface="+mn-cs"/>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29527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ARC</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a:t>
                      </a:r>
                      <a:r>
                        <a:rPr lang="en-US" altLang="zh-CN" sz="1000" b="0" dirty="0">
                          <a:solidFill>
                            <a:srgbClr val="000000"/>
                          </a:solidFill>
                          <a:latin typeface="Roboto" panose="02000000000000000000" charset="-122"/>
                        </a:rPr>
                        <a:t>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323850">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Dante</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1" dirty="0">
                          <a:solidFill>
                            <a:srgbClr val="70AD47"/>
                          </a:solidFill>
                          <a:latin typeface="Roboto" panose="02000000000000000000" charset="-122"/>
                        </a:rPr>
                        <a:t>Dante 4*4</a:t>
                      </a:r>
                      <a:endParaRPr lang="en-US" altLang="en-US" sz="1000" b="1" dirty="0">
                        <a:solidFill>
                          <a:srgbClr val="70AD47"/>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33718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Seamless Switching</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31813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a:solidFill>
                            <a:srgbClr val="000000"/>
                          </a:solidFill>
                          <a:latin typeface="Roboto" panose="02000000000000000000" charset="-122"/>
                        </a:rPr>
                        <a:t>Scaler</a:t>
                      </a:r>
                      <a:endParaRPr lang="en-US" altLang="en-US" sz="1000" b="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30670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a:solidFill>
                            <a:srgbClr val="000000"/>
                          </a:solidFill>
                          <a:latin typeface="Roboto" panose="02000000000000000000" charset="-122"/>
                        </a:rPr>
                        <a:t>RS232</a:t>
                      </a:r>
                      <a:endParaRPr lang="en-US" altLang="en-US" sz="1000" b="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30543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IR</a:t>
                      </a:r>
                      <a:endParaRPr lang="en-US" altLang="en-US" sz="1000" b="0" dirty="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Yes</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No</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r h="294005">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a:solidFill>
                            <a:srgbClr val="000000"/>
                          </a:solidFill>
                          <a:latin typeface="Roboto" panose="02000000000000000000" charset="-122"/>
                        </a:rPr>
                        <a:t>Ethernet</a:t>
                      </a:r>
                      <a:endParaRPr lang="en-US" altLang="en-US" sz="1000" b="0">
                        <a:solidFill>
                          <a:srgbClr val="000000"/>
                        </a:solidFill>
                        <a:latin typeface="Roboto" panose="02000000000000000000" charset="-122"/>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1" kern="1200" dirty="0">
                          <a:solidFill>
                            <a:srgbClr val="70AD47"/>
                          </a:solidFill>
                          <a:latin typeface="Roboto" panose="02000000000000000000" charset="-122"/>
                          <a:ea typeface="+mn-ea"/>
                          <a:cs typeface="+mn-cs"/>
                        </a:rPr>
                        <a:t>2xLAN</a:t>
                      </a:r>
                      <a:endParaRPr lang="en-US" altLang="en-US" sz="1000" b="1" kern="1200" dirty="0">
                        <a:solidFill>
                          <a:srgbClr val="70AD47"/>
                        </a:solidFill>
                        <a:latin typeface="Roboto" panose="02000000000000000000" charset="-122"/>
                        <a:ea typeface="+mn-ea"/>
                        <a:cs typeface="+mn-cs"/>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1xLAN</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altLang="en-US" sz="1000" b="0" dirty="0">
                          <a:solidFill>
                            <a:srgbClr val="000000"/>
                          </a:solidFill>
                          <a:latin typeface="Roboto" panose="02000000000000000000" charset="-122"/>
                        </a:rPr>
                        <a:t>1xLAN</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indent="0" algn="ctr">
                        <a:buNone/>
                      </a:pPr>
                      <a:r>
                        <a:rPr lang="en-US" sz="1000" b="0" dirty="0">
                          <a:solidFill>
                            <a:srgbClr val="000000"/>
                          </a:solidFill>
                          <a:latin typeface="Roboto" panose="02000000000000000000" charset="-122"/>
                        </a:rPr>
                        <a:t>1xLAN</a:t>
                      </a:r>
                      <a:endParaRPr lang="en-US" altLang="en-US" sz="1000" b="0" dirty="0">
                        <a:solidFill>
                          <a:srgbClr val="000000"/>
                        </a:solidFill>
                        <a:latin typeface="Roboto" panose="02000000000000000000" charset="-122"/>
                      </a:endParaRPr>
                    </a:p>
                  </a:txBody>
                  <a:tcPr marL="12700" marR="12700" marT="12700" anchor="ctr">
                    <a:lnL w="12700" cap="flat" cmpd="sng" algn="ctr">
                      <a:solidFill>
                        <a:srgbClr val="FFFFFF"/>
                      </a:solidFill>
                      <a:prstDash val="solid"/>
                      <a:roun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AEFF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Quick Installation Guide</a:t>
            </a:r>
            <a:endParaRPr lang="en-US" sz="32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403860" y="1711960"/>
            <a:ext cx="6255385" cy="459232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Connect Interfaces: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Follow the standard product connection guidelines and customize connections based on your environment’s layout for optimal performance.</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0" lvl="0" indent="-285750" algn="l"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Start the Device: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Use SmartGUI to locate the device's IP address, then log into the Web-UI for easy equipment configuration.</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285750"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Create Your Video Wall:</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a:t>
            </a:r>
            <a:r>
              <a:rPr lang="en-US" sz="1800" spc="0" dirty="0">
                <a:ln w="3175">
                  <a:noFill/>
                  <a:prstDash val="dash"/>
                </a:ln>
                <a:solidFill>
                  <a:schemeClr val="dk1">
                    <a:lumMod val="75000"/>
                    <a:lumOff val="25000"/>
                  </a:schemeClr>
                </a:solidFill>
                <a:latin typeface="Roboto" charset="0"/>
                <a:ea typeface="Roboto" charset="0"/>
                <a:cs typeface="Arial" panose="020B0604020202020204" pitchFamily="34" charset="0"/>
              </a:rPr>
              <a:t>Create your layout using the Web-UI. For detailed instructions, refer to the user manual.</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0" lvl="0" indent="-285750" algn="l"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Enjoy Superior Visuals: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Experience stunning video clarity and immersive visuals tailored to your needs.</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0" algn="l" fontAlgn="ctr">
              <a:lnSpc>
                <a:spcPct val="100000"/>
              </a:lnSpc>
              <a:spcBef>
                <a:spcPts val="0"/>
              </a:spcBef>
              <a:spcAft>
                <a:spcPts val="800"/>
              </a:spcAft>
              <a:buSzPct val="100000"/>
              <a:buFont typeface="Wingdings" panose="05000000000000000000" charset="0"/>
            </a:pPr>
            <a:endParaRPr lang="en-US" sz="1800" i="1"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0" name="Title 6"/>
          <p:cNvSpPr txBox="1"/>
          <p:nvPr>
            <p:custDataLst>
              <p:tags r:id="rId5"/>
            </p:custDataLst>
          </p:nvPr>
        </p:nvSpPr>
        <p:spPr>
          <a:xfrm>
            <a:off x="457200" y="1290320"/>
            <a:ext cx="11070590" cy="5137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Wingdings" panose="05000000000000000000" charset="0"/>
            </a:pPr>
            <a:r>
              <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rPr>
              <a:t>Effortlessly set up your fast seamless matrix with simple steps, ensuring seamless configuration and an exceptional viewing experience.</a:t>
            </a:r>
            <a:endPar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p:txBody>
      </p:sp>
      <p:pic>
        <p:nvPicPr>
          <p:cNvPr id="2" name="图片 4"/>
          <p:cNvPicPr/>
          <p:nvPr/>
        </p:nvPicPr>
        <p:blipFill>
          <a:blip r:embed="rId6"/>
          <a:stretch>
            <a:fillRect/>
          </a:stretch>
        </p:blipFill>
        <p:spPr>
          <a:xfrm>
            <a:off x="6848475" y="2279015"/>
            <a:ext cx="4882723" cy="3068005"/>
          </a:xfrm>
          <a:prstGeom prst="rect">
            <a:avLst/>
          </a:prstGeom>
          <a:effectLst>
            <a:outerShdw blurRad="50800" dist="38100" dir="5400000" algn="t" rotWithShape="0">
              <a:prstClr val="black">
                <a:alpha val="40000"/>
              </a:prstClr>
            </a:outerShdw>
          </a:effectLst>
        </p:spPr>
      </p:pic>
    </p:spTree>
    <p:custDataLst>
      <p:tags r:id="rId7"/>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Important Notes for Installation</a:t>
            </a:r>
            <a:endParaRPr lang="en-US" sz="32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416605" y="1460659"/>
            <a:ext cx="5850846" cy="46285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00000"/>
              </a:lnSpc>
              <a:spcBef>
                <a:spcPts val="0"/>
              </a:spcBef>
              <a:spcAft>
                <a:spcPts val="800"/>
              </a:spcAft>
              <a:buSzPct val="100000"/>
              <a:buFont typeface="Arial" panose="020B0604020202020204" pitchFamily="34" charset="0"/>
              <a:buChar char="•"/>
            </a:pPr>
            <a:r>
              <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Ensure all cables are securely connected to avoid performance issues.</a:t>
            </a:r>
            <a:endPar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Check your network settings and confirm that the device is on the correct subnet.</a:t>
            </a:r>
            <a:endPar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Double-check configuration settings in the Web-UI to optimize display and functionality.</a:t>
            </a:r>
            <a:endPar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For complex installations, refer to the documentation or seek professional assistance if necessary.</a:t>
            </a:r>
            <a:endParaRPr lang="en-US" sz="20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pic>
        <p:nvPicPr>
          <p:cNvPr id="3" name="图片 4"/>
          <p:cNvPicPr/>
          <p:nvPr/>
        </p:nvPicPr>
        <p:blipFill>
          <a:blip r:embed="rId5"/>
          <a:stretch>
            <a:fillRect/>
          </a:stretch>
        </p:blipFill>
        <p:spPr>
          <a:xfrm>
            <a:off x="6848475" y="2279015"/>
            <a:ext cx="4882723" cy="3068005"/>
          </a:xfrm>
          <a:prstGeom prst="rect">
            <a:avLst/>
          </a:prstGeom>
          <a:effectLst>
            <a:outerShdw blurRad="50800" dist="38100" dir="5400000" algn="t" rotWithShape="0">
              <a:prstClr val="black">
                <a:alpha val="40000"/>
              </a:prstClr>
            </a:outerShdw>
          </a:effectLst>
        </p:spPr>
      </p:pic>
    </p:spTree>
    <p:custDataLst>
      <p:tags r:id="rId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Introduction of Web Configuration Interface</a:t>
            </a:r>
            <a:endParaRPr lang="en-US" sz="32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447630" y="1021778"/>
            <a:ext cx="10991895" cy="1338453"/>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Arial" panose="020B0604020202020204" pitchFamily="34" charset="0"/>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The Web UI of the MX-0812-SCL fast seamless matrix is designed for intuitive device management and control through any web browser. With the Web UI, you can easily configure and customize your videowall setup with the following features:</a:t>
            </a:r>
            <a:endPar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 name="Title 6"/>
          <p:cNvSpPr txBox="1"/>
          <p:nvPr>
            <p:custDataLst>
              <p:tags r:id="rId5"/>
            </p:custDataLst>
          </p:nvPr>
        </p:nvSpPr>
        <p:spPr>
          <a:xfrm>
            <a:off x="1632009" y="1840230"/>
            <a:ext cx="9439320" cy="46285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Arial" panose="020B0604020202020204" pitchFamily="34" charset="0"/>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Web UI Functionality:</a:t>
            </a:r>
            <a:endPar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Interface:</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Effortlessly manage device settings via a web browser.</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Setting up</a:t>
            </a: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Video routing, audio control, and USB settings or design custom video wall </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layouts.</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Control:</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Set up and adjust video inputs, outputs, and EDID profiles.</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0" algn="l" fontAlgn="ctr">
              <a:lnSpc>
                <a:spcPct val="100000"/>
              </a:lnSpc>
              <a:spcBef>
                <a:spcPts val="0"/>
              </a:spcBef>
              <a:spcAft>
                <a:spcPts val="800"/>
              </a:spcAft>
              <a:buSzPct val="100000"/>
              <a:buFont typeface="Arial" panose="020B0604020202020204" pitchFamily="34" charset="0"/>
            </a:pP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0" algn="l" fontAlgn="ctr">
              <a:lnSpc>
                <a:spcPct val="100000"/>
              </a:lnSpc>
              <a:spcBef>
                <a:spcPts val="0"/>
              </a:spcBef>
              <a:spcAft>
                <a:spcPts val="800"/>
              </a:spcAft>
              <a:buSzPct val="100000"/>
              <a:buFont typeface="Arial" panose="020B0604020202020204" pitchFamily="34" charset="0"/>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Web UI Configurations:</a:t>
            </a:r>
            <a:endPar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General Settings:</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Configure IP settings, manage security, and perform firmware updates.</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Video Inputs/Outputs: </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Manage HDMI sources, HDCP compliance, and EDID profiles.</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indent="-285750" fontAlgn="ctr">
              <a:lnSpc>
                <a:spcPct val="100000"/>
              </a:lnSpc>
              <a:spcBef>
                <a:spcPts val="0"/>
              </a:spcBef>
              <a:spcAft>
                <a:spcPts val="800"/>
              </a:spcAft>
              <a:buSzPct val="100000"/>
              <a:buFont typeface="Arial" panose="020B0604020202020204" pitchFamily="34" charset="0"/>
              <a:buChar char="•"/>
            </a:pPr>
            <a:r>
              <a:rPr lang="en-US" altLang="zh-CN" sz="16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Video wall Settings: </a:t>
            </a:r>
            <a:r>
              <a:rPr lang="en-US" altLang="zh-CN"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Easy setting up to create the custom video wall layout.</a:t>
            </a:r>
            <a:endParaRPr lang="en-US"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Control Settings:</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Enable RS-232 for device control and CEC for display control.</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Tree>
    <p:custDataLst>
      <p:tags r:id="rId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84293" y="1244739"/>
            <a:ext cx="4159582" cy="707885"/>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80645" y="1249051"/>
            <a:ext cx="12287885" cy="707886"/>
          </a:xfrm>
          <a:prstGeom prst="rect">
            <a:avLst/>
          </a:prstGeom>
          <a:noFill/>
        </p:spPr>
        <p:txBody>
          <a:bodyPr wrap="square" rtlCol="0">
            <a:spAutoFit/>
          </a:bodyPr>
          <a:lstStyle/>
          <a:p>
            <a:pPr algn="ctr"/>
            <a:r>
              <a:rPr lang="en-US" altLang="zh-CN" sz="4000" b="1" dirty="0">
                <a:latin typeface="Montserrat" pitchFamily="2" charset="0"/>
                <a:cs typeface="Arial" panose="020B0604020202020204" pitchFamily="34" charset="0"/>
              </a:rPr>
              <a:t>Q</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&amp;</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 Session</a:t>
            </a:r>
            <a:endParaRPr lang="en-US" altLang="zh-CN" dirty="0">
              <a:solidFill>
                <a:schemeClr val="tx1">
                  <a:lumMod val="75000"/>
                  <a:lumOff val="25000"/>
                </a:schemeClr>
              </a:solidFill>
              <a:latin typeface="Roboto" charset="0"/>
              <a:ea typeface="Roboto" charset="0"/>
              <a:cs typeface="Arial" panose="020B0604020202020204" pitchFamily="34" charset="0"/>
            </a:endParaRPr>
          </a:p>
        </p:txBody>
      </p:sp>
      <p:pic>
        <p:nvPicPr>
          <p:cNvPr id="7" name="图片 6"/>
          <p:cNvPicPr/>
          <p:nvPr/>
        </p:nvPicPr>
        <p:blipFill>
          <a:blip r:embed="rId1"/>
          <a:stretch>
            <a:fillRect/>
          </a:stretch>
        </p:blipFill>
        <p:spPr>
          <a:xfrm>
            <a:off x="2787332" y="2741688"/>
            <a:ext cx="6502400" cy="3588240"/>
          </a:xfrm>
          <a:prstGeom prst="rect">
            <a:avLst/>
          </a:prstGeom>
          <a:effectLst>
            <a:outerShdw blurRad="50800" dist="38100" dir="5400000" algn="t" rotWithShape="0">
              <a:prstClr val="black">
                <a:alpha val="40000"/>
              </a:prstClr>
            </a:outerShdw>
          </a:effectLst>
        </p:spPr>
      </p:pic>
      <p:pic>
        <p:nvPicPr>
          <p:cNvPr id="5" name="Google Shape;82;p1"/>
          <p:cNvPicPr preferRelativeResize="0"/>
          <p:nvPr/>
        </p:nvPicPr>
        <p:blipFill>
          <a:blip r:embed="rId2"/>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9"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0" name="文本框 6"/>
          <p:cNvSpPr txBox="1"/>
          <p:nvPr>
            <p:custDataLst>
              <p:tags r:id="rId4"/>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Final Thoughts</a:t>
            </a:r>
            <a:endParaRPr lang="en-US" sz="3200" b="1" dirty="0">
              <a:solidFill>
                <a:schemeClr val="lt1"/>
              </a:solidFill>
              <a:uFillTx/>
              <a:latin typeface="Montserrat" pitchFamily="2" charset="0"/>
              <a:ea typeface="微软雅黑" panose="020B0503020204020204" pitchFamily="34" charset="-122"/>
              <a:sym typeface="Roboto"/>
            </a:endParaRPr>
          </a:p>
        </p:txBody>
      </p:sp>
      <p:sp>
        <p:nvSpPr>
          <p:cNvPr id="4" name="文本框 1"/>
          <p:cNvSpPr txBox="1"/>
          <p:nvPr/>
        </p:nvSpPr>
        <p:spPr>
          <a:xfrm>
            <a:off x="-47944" y="2098778"/>
            <a:ext cx="12287885" cy="369332"/>
          </a:xfrm>
          <a:prstGeom prst="rect">
            <a:avLst/>
          </a:prstGeom>
          <a:noFill/>
        </p:spPr>
        <p:txBody>
          <a:bodyPr wrap="square" rtlCol="0">
            <a:spAutoFit/>
          </a:bodyPr>
          <a:lstStyle/>
          <a:p>
            <a:pPr algn="ctr"/>
            <a:r>
              <a:rPr lang="en-US" altLang="zh-CN" dirty="0">
                <a:solidFill>
                  <a:schemeClr val="tx1">
                    <a:lumMod val="75000"/>
                    <a:lumOff val="25000"/>
                  </a:schemeClr>
                </a:solidFill>
                <a:latin typeface="Roboto" charset="0"/>
                <a:ea typeface="Roboto" charset="0"/>
                <a:cs typeface="Arial" panose="020B0604020202020204" pitchFamily="34" charset="0"/>
              </a:rPr>
              <a:t>Got questions? Don’t hesitate to ask away.</a:t>
            </a:r>
            <a:endParaRPr lang="en-US" altLang="zh-CN" dirty="0">
              <a:solidFill>
                <a:schemeClr val="tx1">
                  <a:lumMod val="75000"/>
                  <a:lumOff val="25000"/>
                </a:schemeClr>
              </a:solidFill>
              <a:latin typeface="Roboto" charset="0"/>
              <a:ea typeface="Roboto"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02_1*f*1"/>
  <p:tag name="KSO_WM_TEMPLATE_CATEGORY" val="diagram"/>
  <p:tag name="KSO_WM_TEMPLATE_INDEX" val="20215802"/>
  <p:tag name="KSO_WM_UNIT_LAYERLEVEL" val="1"/>
  <p:tag name="KSO_WM_TAG_VERSION" val="1.0"/>
  <p:tag name="KSO_WM_BEAUTIFY_FLAG" val="#wm#"/>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d879e39fee614b88a76bb899d600b76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fcd4429fddf4fd9b6b9cae2bcdab05b"/>
  <p:tag name="KSO_WM_UNIT_SUPPORT_UNIT_TYPE" val="[&quot;d&quot;]"/>
  <p:tag name="KSO_WM_UNIT_TEXT_FILL_FORE_SCHEMECOLOR_INDEX_BRIGHTNESS" val="0.25"/>
  <p:tag name="KSO_WM_UNIT_TEXT_FILL_FORE_SCHEMECOLOR_INDEX" val="13"/>
  <p:tag name="KSO_WM_UNIT_TEXT_FILL_TYPE" val="1"/>
  <p:tag name="KSO_WM_TEMPLATE_ASSEMBLE_XID" val="60656ea94054ed1e2fb7fd45"/>
  <p:tag name="KSO_WM_TEMPLATE_ASSEMBLE_GROUPID" val="60656ea94054ed1e2fb7fd45"/>
</p:tagLst>
</file>

<file path=ppt/tags/tag8.xml><?xml version="1.0" encoding="utf-8"?>
<p:tagLst xmlns:p="http://schemas.openxmlformats.org/presentationml/2006/main">
  <p:tag name="KSO_WM_SLIDE_ID" val="diagram20215802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384"/>
  <p:tag name="KSO_WM_SLIDE_POSITION" val="0*0"/>
  <p:tag name="KSO_WM_TAG_VERSION" val="1.0"/>
  <p:tag name="KSO_WM_BEAUTIFY_FLAG" val="#wm#"/>
  <p:tag name="KSO_WM_TEMPLATE_CATEGORY" val="diagram"/>
  <p:tag name="KSO_WM_TEMPLATE_INDEX" val="20215802"/>
  <p:tag name="KSO_WM_SLIDE_LAYOUT" val="a_f"/>
  <p:tag name="KSO_WM_SLIDE_LAYOUT_CNT" val="1_1"/>
  <p:tag name="KSO_WM_SLIDE_LAYOUT_INFO" val="{&quot;id&quot;:&quot;2021-04-01T15:11:2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5:11:24&quot;,&quot;margin&quot;:{&quot;bottom&quot;:0.4230000674724579,&quot;left&quot;:1.2699999809265137,&quot;right&quot;:1.2699999809265137,&quot;top&quot;:0.4230000674724579},&quot;type&quot;:0},{&quot;id&quot;:&quot;2021-04-01T15:11:24&quot;,&quot;margin&quot;:{&quot;bottom&quot;:1.694000005722046,&quot;left&quot;:1.6929999589920044,&quot;right&quot;:1.6929999589920044,&quot;top&quot;:1.6929999589920044},&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78e478fb0c58a940c"/>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support_big_font&quot;:false,&quot;picture_toward&quot;:0,&quot;picture_dockside&quot;:[],&quot;fill_id&quot;:&quot;aae3729e0a0d44488f1a088171be5691&quot;,&quot;fill_align&quot;:&quot;cm&quot;,&quot;chip_types&quot;:[&quot;text&quot;,&quot;picture&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0656ea94054ed1e2fb7fd45"/>
  <p:tag name="KSO_WM_TEMPLATE_ASSEMBLE_GROUPID" val="60656ea94054ed1e2fb7fd45"/>
  <p:tag name="RESOURCE_RECORD_KEY" val="{&quot;13&quot;:[4364952],&quot;65&quot;:[20215802]}"/>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2"/>
  <p:tag name="KSO_WM_TEMPLATE_CATEGORY" val="diagram"/>
  <p:tag name="KSO_WM_TEMPLATE_INDEX" val="20215817"/>
  <p:tag name="KSO_WM_UNIT_LAYERLEVEL" val="1"/>
  <p:tag name="KSO_WM_TAG_VERSION" val="1.0"/>
  <p:tag name="KSO_WM_BEAUTIFY_FLAG" val="#wm#"/>
  <p:tag name="KSO_WM_UNIT_TYPE" val="i"/>
  <p:tag name="KSO_WM_UNIT_INDEX" val="2"/>
  <p:tag name="KSO_WM_UNIT_BLOCK" val="0"/>
  <p:tag name="KSO_WM_UNIT_SM_LIMIT_TYPE" val="0"/>
  <p:tag name="KSO_WM_UNIT_DEC_AREA_ID" val="c851648b610c4eed84725474f83dd781"/>
  <p:tag name="KSO_WM_UNIT_DECORATE_INFO" val="{&quot;DecorateInfoH&quot;:{&quot;IsAbs&quot;:true},&quot;DecorateInfoW&quot;:{&quot;IsAbs&quot;:true},&quot;DecorateInfoX&quot;:{&quot;IsAbs&quot;:true,&quot;Pos&quot;:2},&quot;DecorateInfoY&quot;:{&quot;IsAbs&quot;:true,&quot;Pos&quot;:2},&quot;ReferentInfo&quot;:{&quot;Id&quot;:&quot;fa1e37419f9b42fb86bdf596086272a2&quot;,&quot;X&quot;:{&quot;Pos&quot;:2},&quot;Y&quot;:{&quot;Pos&quot;:0}},&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3"/>
  <p:tag name="KSO_WM_TEMPLATE_CATEGORY" val="diagram"/>
  <p:tag name="KSO_WM_TEMPLATE_INDEX" val="20215817"/>
  <p:tag name="KSO_WM_UNIT_LAYERLEVEL" val="1"/>
  <p:tag name="KSO_WM_TAG_VERSION" val="1.0"/>
  <p:tag name="KSO_WM_BEAUTIFY_FLAG" val="#wm#"/>
  <p:tag name="KSO_WM_UNIT_TYPE" val="i"/>
  <p:tag name="KSO_WM_UNIT_INDEX" val="3"/>
  <p:tag name="KSO_WM_UNIT_BLOCK" val="0"/>
  <p:tag name="KSO_WM_UNIT_SM_LIMIT_TYPE" val="0"/>
  <p:tag name="KSO_WM_UNIT_DEC_AREA_ID" val="3104b9f4692049e9b18edec063ed2171"/>
  <p:tag name="KSO_WM_UNIT_DECORATE_INFO" val="{&quot;DecorateInfoH&quot;:{&quot;IsAbs&quot;:true},&quot;DecorateInfoW&quot;:{&quot;IsAbs&quot;:true},&quot;DecorateInfoX&quot;:{&quot;IsAbs&quot;:true,&quot;Pos&quot;:0},&quot;DecorateInfoY&quot;:{&quot;IsAbs&quot;:true,&quot;Pos&quot;:0},&quot;ReferentInfo&quot;:{&quot;Id&quot;:&quot;fa1e37419f9b42fb86bdf596086272a2&quot;,&quot;X&quot;:{&quot;Pos&quot;:0},&quot;Y&quot;:{&quot;Pos&quot;:2}},&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1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4.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5.xml><?xml version="1.0" encoding="utf-8"?>
<p:tagLst xmlns:p="http://schemas.openxmlformats.org/presentationml/2006/main">
  <p:tag name="KSO_WM_DIAGRAM_VIRTUALLY_FRAME" val="{&quot;height&quot;:275.25732283464566,&quot;left&quot;:98.6,&quot;top&quot;:79.59267716535433,&quot;width&quot;:795.4903937007873}"/>
</p:tagLst>
</file>

<file path=ppt/tags/tag16.xml><?xml version="1.0" encoding="utf-8"?>
<p:tagLst xmlns:p="http://schemas.openxmlformats.org/presentationml/2006/main">
  <p:tag name="KSO_WM_DIAGRAM_VIRTUALLY_FRAME" val="{&quot;height&quot;:275.25732283464566,&quot;left&quot;:98.6,&quot;top&quot;:79.59267716535433,&quot;width&quot;:795.4903937007873}"/>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0.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1.xml><?xml version="1.0" encoding="utf-8"?>
<p:tagLst xmlns:p="http://schemas.openxmlformats.org/presentationml/2006/main">
  <p:tag name="KSO_WM_DIAGRAM_VIRTUALLY_FRAME" val="{&quot;height&quot;:275.25732283464566,&quot;left&quot;:98.6,&quot;top&quot;:79.59267716535433,&quot;width&quot;:795.4903937007873}"/>
</p:tagLst>
</file>

<file path=ppt/tags/tag22.xml><?xml version="1.0" encoding="utf-8"?>
<p:tagLst xmlns:p="http://schemas.openxmlformats.org/presentationml/2006/main">
  <p:tag name="KSO_WM_DIAGRAM_VIRTUALLY_FRAME" val="{&quot;height&quot;:275.25732283464566,&quot;left&quot;:98.6,&quot;top&quot;:79.59267716535433,&quot;width&quot;:795.4903937007873}"/>
</p:tagLst>
</file>

<file path=ppt/tags/tag23.xml><?xml version="1.0" encoding="utf-8"?>
<p:tagLst xmlns:p="http://schemas.openxmlformats.org/presentationml/2006/main">
  <p:tag name="KSO_WM_DIAGRAM_VIRTUALLY_FRAME" val="{&quot;height&quot;:275.25732283464566,&quot;left&quot;:98.6,&quot;top&quot;:79.59267716535433,&quot;width&quot;:795.4903937007873}"/>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7.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9.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0.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3.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5.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6.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8.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9.xml><?xml version="1.0" encoding="utf-8"?>
<p:tagLst xmlns:p="http://schemas.openxmlformats.org/presentationml/2006/main">
  <p:tag name="TABLE_ENDDRAG_ORIGIN_RECT" val="497*449"/>
  <p:tag name="TABLE_ENDDRAG_RECT" val="40*71*497*449"/>
  <p:tag name="KSO_WM_UNIT_TABLE_BEAUTIFY" val="smartTable{491d2af9-c5b1-421d-9f04-e17d034ff5a8}"/>
</p:tagLst>
</file>

<file path=ppt/tags/tag40.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4.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7.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8.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0.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1.xml><?xml version="1.0" encoding="utf-8"?>
<p:tagLst xmlns:p="http://schemas.openxmlformats.org/presentationml/2006/main">
  <p:tag name="KSO_WM_UNIT_TABLE_BEAUTIFY" val="smartTable{33671635-7727-42b8-a911-18d60c804c3f}"/>
  <p:tag name="TABLE_ENDDRAG_ORIGIN_RECT" val="664*433"/>
  <p:tag name="TABLE_ENDDRAG_RECT" val="122*85*664*433"/>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6.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8.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60.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6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65.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7.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68.xml><?xml version="1.0" encoding="utf-8"?>
<p:tagLst xmlns:p="http://schemas.openxmlformats.org/presentationml/2006/main">
  <p:tag name="KSO_WPP_MARK_KEY" val="c375931c-43b0-4660-9707-23c1181ebb25"/>
  <p:tag name="COMMONDATA" val="eyJoZGlkIjoiYzQzNDIyYWRkODI1MTY1NWUxY2RiYThkODhjMzBkZj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1A8FBB3908BD4681554D596DADDBBC" ma:contentTypeVersion="19" ma:contentTypeDescription="Create a new document." ma:contentTypeScope="" ma:versionID="089862c3d7236b297f5be572ccb4bd9e">
  <xsd:schema xmlns:xsd="http://www.w3.org/2001/XMLSchema" xmlns:xs="http://www.w3.org/2001/XMLSchema" xmlns:p="http://schemas.microsoft.com/office/2006/metadata/properties" xmlns:ns2="d634ccb5-745a-4b19-b3da-83dafbb0f953" xmlns:ns3="fa7e1be7-6c27-4381-949e-b43a2eb5089a" targetNamespace="http://schemas.microsoft.com/office/2006/metadata/properties" ma:root="true" ma:fieldsID="38436fc1e1e78720b95f7a357a3e0114" ns2:_="" ns3:_="">
    <xsd:import namespace="d634ccb5-745a-4b19-b3da-83dafbb0f953"/>
    <xsd:import namespace="fa7e1be7-6c27-4381-949e-b43a2eb508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34ccb5-745a-4b19-b3da-83dafbb0f9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a840791-955a-45d0-8f77-cb775012b4d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7e1be7-6c27-4381-949e-b43a2eb5089a"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e5708c9-3083-478d-b2b5-d29c6e746420}" ma:internalName="TaxCatchAll" ma:showField="CatchAllData" ma:web="fa7e1be7-6c27-4381-949e-b43a2eb5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634ccb5-745a-4b19-b3da-83dafbb0f953">
      <Terms xmlns="http://schemas.microsoft.com/office/infopath/2007/PartnerControls"/>
    </lcf76f155ced4ddcb4097134ff3c332f>
    <TaxCatchAll xmlns="fa7e1be7-6c27-4381-949e-b43a2eb5089a" xsi:nil="true"/>
  </documentManagement>
</p:properties>
</file>

<file path=customXml/itemProps1.xml><?xml version="1.0" encoding="utf-8"?>
<ds:datastoreItem xmlns:ds="http://schemas.openxmlformats.org/officeDocument/2006/customXml" ds:itemID="{8574087A-CAE2-4F29-9742-79104DC87C48}"/>
</file>

<file path=customXml/itemProps2.xml><?xml version="1.0" encoding="utf-8"?>
<ds:datastoreItem xmlns:ds="http://schemas.openxmlformats.org/officeDocument/2006/customXml" ds:itemID="{A6098479-9AE1-4004-B76F-752B2C90A7EB}"/>
</file>

<file path=customXml/itemProps3.xml><?xml version="1.0" encoding="utf-8"?>
<ds:datastoreItem xmlns:ds="http://schemas.openxmlformats.org/officeDocument/2006/customXml" ds:itemID="{4C7B7DE9-2886-4BE5-BEB8-C15510F2CE77}"/>
</file>

<file path=docProps/app.xml><?xml version="1.0" encoding="utf-8"?>
<Properties xmlns="http://schemas.openxmlformats.org/officeDocument/2006/extended-properties" xmlns:vt="http://schemas.openxmlformats.org/officeDocument/2006/docPropsVTypes">
  <TotalTime>0</TotalTime>
  <Words>11416</Words>
  <Application>WPS 演示</Application>
  <PresentationFormat>Widescreen</PresentationFormat>
  <Paragraphs>464</Paragraphs>
  <Slides>16</Slides>
  <Notes>14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16</vt:i4>
      </vt:variant>
    </vt:vector>
  </HeadingPairs>
  <TitlesOfParts>
    <vt:vector size="34" baseType="lpstr">
      <vt:lpstr>Arial</vt:lpstr>
      <vt:lpstr>宋体</vt:lpstr>
      <vt:lpstr>Wingdings</vt:lpstr>
      <vt:lpstr>微软雅黑</vt:lpstr>
      <vt:lpstr>Montserrat</vt:lpstr>
      <vt:lpstr>Segoe Print</vt:lpstr>
      <vt:lpstr>Roboto</vt:lpstr>
      <vt:lpstr>Roboto</vt:lpstr>
      <vt:lpstr>Montserrat</vt:lpstr>
      <vt:lpstr>Arial</vt:lpstr>
      <vt:lpstr>Segoe UI</vt:lpstr>
      <vt:lpstr>Calibri</vt:lpstr>
      <vt:lpstr>Times New Roman</vt:lpstr>
      <vt:lpstr>Wingdings</vt:lpstr>
      <vt:lpstr>Roboto Lt</vt:lpstr>
      <vt:lpstr>Roboto</vt:lpstr>
      <vt:lpstr>Arial Unicode MS</vt:lpstr>
      <vt:lpstr>Office 主题</vt:lpstr>
      <vt:lpstr>MX-0812-SCL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MX-0812-SCL</dc:title>
  <dc:creator>proitav</dc:creator>
  <cp:lastModifiedBy>一心如初。</cp:lastModifiedBy>
  <cp:revision>64</cp:revision>
  <dcterms:created xsi:type="dcterms:W3CDTF">2024-12-26T00:56:00Z</dcterms:created>
  <dcterms:modified xsi:type="dcterms:W3CDTF">2025-03-13T08:10:49Z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4EC5DFC577A14C0B9DBE043337A229EC_13</vt:lpwstr>
  </property>
  <property fmtid="{D5CDD505-2E9C-101B-9397-08002B2CF9AE}" pid="3" name="KSOProductBuildVer">
    <vt:lpwstr>2052-12.1.0.20305</vt:lpwstr>
  </property>
  <property fmtid="{D5CDD505-2E9C-101B-9397-08002B2CF9AE}" pid="4" name="ContentTypeId">
    <vt:lpwstr>0x010100E01A8FBB3908BD4681554D596DADDBBC</vt:lpwstr>
  </property>
</Properties>
</file>