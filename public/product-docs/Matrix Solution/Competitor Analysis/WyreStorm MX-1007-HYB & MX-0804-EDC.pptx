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6" d="100"/>
          <a:sy n="156" d="100"/>
        </p:scale>
        <p:origin x="37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18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160411"/>
              </p:ext>
            </p:extLst>
          </p:nvPr>
        </p:nvGraphicFramePr>
        <p:xfrm>
          <a:off x="281571" y="1001268"/>
          <a:ext cx="8537153" cy="4549018"/>
        </p:xfrm>
        <a:graphic>
          <a:graphicData uri="http://schemas.openxmlformats.org/drawingml/2006/table">
            <a:tbl>
              <a:tblPr/>
              <a:tblGrid>
                <a:gridCol w="1378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3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89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Feature</a:t>
                      </a:r>
                      <a:endParaRPr lang="en-US" sz="7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WyreStorm</a:t>
                      </a:r>
                      <a:endParaRPr lang="en-US" sz="700" dirty="0">
                        <a:latin typeface="Aptos" panose="020B00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MX-1007-HYB / MX-0804-EDC</a:t>
                      </a:r>
                      <a:endParaRPr lang="en-US" sz="7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Extron DTP3</a:t>
                      </a:r>
                      <a:endParaRPr lang="en-US" sz="700" dirty="0">
                        <a:latin typeface="Aptos" panose="020B00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CrossPoint Series</a:t>
                      </a:r>
                      <a:endParaRPr lang="en-US" sz="7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Kramer</a:t>
                      </a:r>
                      <a:endParaRPr lang="en-US" sz="700" dirty="0">
                        <a:latin typeface="Aptos" panose="020B00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MTX3-88-PR-PRO</a:t>
                      </a:r>
                      <a:endParaRPr lang="en-US" sz="7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Product Type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Hybrid Matrix; 10×7 (MX-1007-HYB) or 8×4 (MX-0804-EDC); 1RU all-in-one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Configurable Matrix Switcher (6×6 to 8×4); HDMI + DTP3 twisted pair; 2U rack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8×8 All-in-One Hybrid Matrix; USB-C, HDMI, HDBaseT 3.0; H.264/H.265 stream out; 3U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Signal Transport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Uncompressed HDMI + HDBaseT 3.0 local; NHD 500 IP output for AV over IP expansion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Uncompressed — DTP3 over shielded CAT 6A; maximum signal fidelity; zero IP compression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Uncompressed HDMI + HDBaseT 3.0; H.264/H.265 network stream output (not full AV over IP)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Max Video Resolution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4K60 — built-in scaler 480p to 2160p on all outputs; NHD 500 output: 4K60 4:4:4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4K60 4:4:4 — all resolutions uncompressed; Extron Vector 4K scaling on all outputs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4K60 4:4:4, 18 Gbps; ProScale™ high-resolution scaling engine on all outputs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HDR Support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Full HDMI 2.0 HDR — Dolby Vision, HDR10, HLG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HDR, Deep Color 12-bit; HDMI 2.0b (18 Gbps); Dolby Vision, HLG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Full HDMI 2.0 HDR; HDCP 2.3; 4K60 4:4:4 on all inputs and outputs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Switching Latency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Fast &lt;1 second local switching (HDMI / HDBaseT); NHD IP switching &lt;1s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Ultra-low — uncompressed DTP3 transport; seamless switching via Vector 4K engine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Fast &lt;1 second clean switching; near-zero latency local uncompressed routing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Extension Range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HDBaseT 3.0 up to 100m (MX-1007-HYB); NHD 500 output for unlimited 1G IP reach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DTP3 over shielded CAT 6A — up to 330ft (100m); uncompressed at every resolution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HDBaseT 3.0 — up to 100m over CAT cable; 8 bidirectional configurable ports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AV over IP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Partial — NHD 500 output enables full AV over IP scalability over 1G network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No — proprietary DTP3 twisted pair only; no AV over IP matrix distribution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Partial — H.264/H.265 streaming output only; not a true AV over IP matrix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USB-C + Power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Yes — USB-C: 4K60, USB3.0/2.0, 1G network, PD3.0 up to 60W charging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Via separate DTP3 T 203 transmitter (60W); CrossPoint 642 itself has no USB-C port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Yes — USB-C with 60W charging; MST on first 2 inputs; 6 local USB-A device ports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Video Wall / Multiview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Via NHD 500 IP — up to 16×16 (256 screens); mosaic &amp; rotation via NHD Touch app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Via XTP CrossPoint integration; Vector 4K; logo keying; seamless transition effects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Yes — dual independent video wall + PiP, quad, split-screen multiview layouts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USB Routing / KVM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Yes — USB3.0 host switching; local USB-A device ports; KVM via NHD 500 IP routing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USB 2.0 extension over DTP3 links; remote USB host access to devices at endpoints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Yes — 6 local USB device ports; independent AV + USB routing; USB-follow-AV mode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Audio: Dante + Amp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Dante 4×4 integrated; 100W amp + DSP (MX-1007-HYB); DSP + balanced audio (MX-0804-EDC)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Dante + AES67 (CrossPoint 642); Extron ProDSP with AEC; power amplifier option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Dante + AES67; dual-zone power amplifier; full DSP with AEC + noise filtering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Control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WebUI / API, RS-232, NHD-CTL-PRO controller, SYGMA cloud (free)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Ethernet, RS-232, SIS commands; Extron GCP; ConfigTool software; built-in web server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RS-232, GPIO, Ethernet, relays; OWASP-grade security; Kramer Control integration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0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HDCP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2.3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2.3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2.3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Open Infrastructure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Yes — any standard 1G managed switch; SYGMA cloud; open NHD 500 ecosystem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No — proprietary DTP3/XTP ecosystem; requires matching Extron hardware throughout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No — requires Kramer Series 3 (EXT3/SWT3) endpoints for full HDBaseT ecosystem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Best Stand-Out Point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" panose="020B0004020202020204" pitchFamily="34" charset="0"/>
                        </a:rPr>
                        <a:t>USB-C 60W + HDBT local + NHD IP scalability + 100W amp + Dante 4×4 + SYGMA cloud</a:t>
                      </a:r>
                      <a:endParaRPr lang="en-US" sz="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Uncompressed at all resolutions over CAT 6A; Vector 4K + ProDSP + AEC; Extron-deep integration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8×8 all-in-one powerhouse; USB-C 60W + HDBT 3.0 + Dante + Dual amp/DSP + dual video wall</a:t>
                      </a:r>
                      <a:endParaRPr lang="en-US" sz="600" dirty="0">
                        <a:latin typeface="Aptos" panose="020B0004020202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59080" y="54635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WyreStorm MX-1007-HYB / MX-0804-EDC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03520" y="91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Comparison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052560" y="1001268"/>
            <a:ext cx="2971800" cy="4549015"/>
          </a:xfrm>
          <a:prstGeom prst="rect">
            <a:avLst/>
          </a:prstGeom>
          <a:solidFill>
            <a:schemeClr val="bg2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052560" y="1001268"/>
            <a:ext cx="2971800" cy="54864"/>
          </a:xfrm>
          <a:prstGeom prst="rect">
            <a:avLst/>
          </a:prstGeom>
          <a:solidFill>
            <a:srgbClr val="0B7935"/>
          </a:solidFill>
          <a:ln w="12700">
            <a:solidFill>
              <a:srgbClr val="0B7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96367" y="1196809"/>
            <a:ext cx="2788920" cy="2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Angle</a:t>
            </a:r>
            <a:endParaRPr lang="en-US" sz="9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9196367" y="1427528"/>
            <a:ext cx="2594156" cy="366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GB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MX-1007-HYB and MX-0804-EDC </a:t>
            </a: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are </a:t>
            </a:r>
            <a:r>
              <a:rPr lang="en-GB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WyreStorm’s</a:t>
            </a: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all-in-one hybrid matrix switchers for modern education and corporate spaces, combining local </a:t>
            </a:r>
            <a:r>
              <a:rPr lang="en-GB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HDBaseT</a:t>
            </a: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switching with the scalability of </a:t>
            </a:r>
            <a:r>
              <a:rPr lang="en-GB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NetworkHD</a:t>
            </a: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500 AV over IP.</a:t>
            </a:r>
          </a:p>
          <a:p>
            <a:pPr marL="0" indent="0" algn="l">
              <a:spcAft>
                <a:spcPts val="300"/>
              </a:spcAft>
              <a:buNone/>
            </a:pPr>
            <a:endParaRPr lang="en-GB" sz="68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Hybrid matrix + AV over IP scalability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Start with local </a:t>
            </a:r>
            <a:r>
              <a:rPr lang="en-GB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HDBaseT</a:t>
            </a: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switching, then expand to </a:t>
            </a:r>
            <a:r>
              <a:rPr lang="en-GB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NetworkHD</a:t>
            </a: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500 endpoints when more displays, overflow spaces, or wider distribution are needed.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68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NetworkHD</a:t>
            </a:r>
            <a:r>
              <a:rPr lang="en-GB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500 IP output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Bridges traditional matrix switching with genuine AV over IP, allowing systems to scale without replacing the core hardware.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Free SYGMA Cloud management</a:t>
            </a:r>
          </a:p>
          <a:p>
            <a:pPr algn="l">
              <a:spcAft>
                <a:spcPts val="300"/>
              </a:spcAft>
            </a:pP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Enables remote monitoring, firmware updates, and device management from anywhere, helping reduce site visits and simplify long-term support.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Built-in audio value on MX-1007-HYB</a:t>
            </a:r>
          </a:p>
          <a:p>
            <a:pPr algn="l">
              <a:spcAft>
                <a:spcPts val="300"/>
              </a:spcAft>
            </a:pP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 100W amplifier and Dante 4×4 audio reduce the need for separate DSP or amplifier hardware, saving rack space and lowering system cost.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USB-C, HDMI, and </a:t>
            </a:r>
            <a:r>
              <a:rPr lang="en-GB" sz="68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HDBaseT</a:t>
            </a:r>
            <a:r>
              <a:rPr lang="en-GB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connectivity</a:t>
            </a:r>
          </a:p>
          <a:p>
            <a:pPr algn="l">
              <a:spcAft>
                <a:spcPts val="300"/>
              </a:spcAft>
            </a:pP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Supports modern BYOD workflows with flexible input options for laptops, room PCs, and other presentation sources.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 1Gb network infrastructure</a:t>
            </a:r>
          </a:p>
          <a:p>
            <a:pPr algn="l">
              <a:spcAft>
                <a:spcPts val="300"/>
              </a:spcAft>
            </a:pPr>
            <a:r>
              <a:rPr lang="en-GB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NetworkHD</a:t>
            </a:r>
            <a:r>
              <a:rPr lang="en-GB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500 runs over standard managed switches, giving integrators more flexibility without being locked into a proprietary network ecosystem.</a:t>
            </a:r>
          </a:p>
          <a:p>
            <a:pPr algn="l">
              <a:spcAft>
                <a:spcPts val="300"/>
              </a:spcAft>
            </a:pPr>
            <a:endParaRPr lang="en-GB" sz="680" b="1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Against traditional </a:t>
            </a:r>
            <a:r>
              <a:rPr lang="en-US" sz="68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HDBaseT</a:t>
            </a: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matrix platforms:</a:t>
            </a:r>
            <a:b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WyreStorm’s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advantage is that the system does not stop at the room. It combines local switching, AV over IP scalability, cloud management, and flexible BYOD in one ecosystem.</a:t>
            </a:r>
            <a:endParaRPr lang="en-GB" sz="68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Aft>
                <a:spcPts val="300"/>
              </a:spcAft>
              <a:buNone/>
            </a:pPr>
            <a:endParaRPr lang="en-US" sz="68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82880" y="66751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AAAAAA"/>
                </a:solidFill>
              </a:rPr>
              <a:t>For internal use — competitor data sourced from publicly available product pages. Verify specifications before customer-facing use.</a:t>
            </a:r>
            <a:endParaRPr lang="en-US" sz="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014909-2611-4FCC-6DB6-005CDB414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985" y="91440"/>
            <a:ext cx="884663" cy="2846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34ccb5-745a-4b19-b3da-83dafbb0f953">
      <Terms xmlns="http://schemas.microsoft.com/office/infopath/2007/PartnerControls"/>
    </lcf76f155ced4ddcb4097134ff3c332f>
    <TaxCatchAll xmlns="fa7e1be7-6c27-4381-949e-b43a2eb5089a" xsi:nil="true"/>
  </documentManagement>
</p:properties>
</file>

<file path=customXml/itemProps1.xml><?xml version="1.0" encoding="utf-8"?>
<ds:datastoreItem xmlns:ds="http://schemas.openxmlformats.org/officeDocument/2006/customXml" ds:itemID="{FB3C273E-8D22-4A40-81EE-BF6E871C0D2F}"/>
</file>

<file path=customXml/itemProps2.xml><?xml version="1.0" encoding="utf-8"?>
<ds:datastoreItem xmlns:ds="http://schemas.openxmlformats.org/officeDocument/2006/customXml" ds:itemID="{095BD2EE-ACF9-440D-B70C-724F0F7BDC11}"/>
</file>

<file path=customXml/itemProps3.xml><?xml version="1.0" encoding="utf-8"?>
<ds:datastoreItem xmlns:ds="http://schemas.openxmlformats.org/officeDocument/2006/customXml" ds:itemID="{82207253-F614-4DED-9917-C1707B3C43F5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979</Words>
  <Application>Microsoft Office PowerPoint</Application>
  <PresentationFormat>Widescreen</PresentationFormat>
  <Paragraphs>88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Eva Beens</cp:lastModifiedBy>
  <cp:revision>5</cp:revision>
  <dcterms:created xsi:type="dcterms:W3CDTF">2026-05-05T04:48:13Z</dcterms:created>
  <dcterms:modified xsi:type="dcterms:W3CDTF">2026-05-18T06:29:56Z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0x010100E01A8FBB3908BD4681554D596DADDBBC</vt:lpwstr>
  </property>
</Properties>
</file>