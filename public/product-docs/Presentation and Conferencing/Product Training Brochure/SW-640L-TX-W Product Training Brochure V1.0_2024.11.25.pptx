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4.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4.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5.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6.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7.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8.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9.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0.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1.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 id="2147483663" r:id="rId6"/>
  </p:sldMasterIdLst>
  <p:notesMasterIdLst>
    <p:notesMasterId r:id="rId27"/>
  </p:notesMasterIdLst>
  <p:sldIdLst>
    <p:sldId id="257" r:id="rId7"/>
    <p:sldId id="1007" r:id="rId8"/>
    <p:sldId id="1008" r:id="rId9"/>
    <p:sldId id="260" r:id="rId10"/>
    <p:sldId id="1026" r:id="rId11"/>
    <p:sldId id="1053" r:id="rId12"/>
    <p:sldId id="1054" r:id="rId13"/>
    <p:sldId id="1055" r:id="rId14"/>
    <p:sldId id="1013" r:id="rId15"/>
    <p:sldId id="1014" r:id="rId16"/>
    <p:sldId id="1010" r:id="rId17"/>
    <p:sldId id="1011" r:id="rId18"/>
    <p:sldId id="1012" r:id="rId19"/>
    <p:sldId id="272" r:id="rId20"/>
    <p:sldId id="1069" r:id="rId21"/>
    <p:sldId id="1016" r:id="rId22"/>
    <p:sldId id="1017" r:id="rId23"/>
    <p:sldId id="1067" r:id="rId24"/>
    <p:sldId id="1023" r:id="rId25"/>
    <p:sldId id="984"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DF9"/>
    <a:srgbClr val="FAF9FD"/>
    <a:srgbClr val="F1E9F7"/>
    <a:srgbClr val="E6D7F1"/>
    <a:srgbClr val="DFCDED"/>
    <a:srgbClr val="E3E0F4"/>
    <a:srgbClr val="EAECCE"/>
    <a:srgbClr val="F3F2E1"/>
    <a:srgbClr val="CDE7ED"/>
    <a:srgbClr val="E1F1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8DA9AD-1C1F-2299-C415-E170C8EE106D}" v="423" dt="2026-03-06T01:58:00.63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mon Xie" userId="S::damon.xie@wyrestorm.com::2586a60d-c527-418a-b8cd-9c130bcf9bbc" providerId="AD" clId="Web-{0C8DA9AD-1C1F-2299-C415-E170C8EE106D}"/>
    <pc:docChg chg="addSld delSld modSld">
      <pc:chgData name="Damon Xie" userId="S::damon.xie@wyrestorm.com::2586a60d-c527-418a-b8cd-9c130bcf9bbc" providerId="AD" clId="Web-{0C8DA9AD-1C1F-2299-C415-E170C8EE106D}" dt="2026-03-06T01:58:00.636" v="345" actId="20577"/>
      <pc:docMkLst>
        <pc:docMk/>
      </pc:docMkLst>
      <pc:sldChg chg="modSp">
        <pc:chgData name="Damon Xie" userId="S::damon.xie@wyrestorm.com::2586a60d-c527-418a-b8cd-9c130bcf9bbc" providerId="AD" clId="Web-{0C8DA9AD-1C1F-2299-C415-E170C8EE106D}" dt="2026-03-06T01:49:21.180" v="202" actId="20577"/>
        <pc:sldMkLst>
          <pc:docMk/>
          <pc:sldMk cId="0" sldId="260"/>
        </pc:sldMkLst>
        <pc:spChg chg="mod">
          <ac:chgData name="Damon Xie" userId="S::damon.xie@wyrestorm.com::2586a60d-c527-418a-b8cd-9c130bcf9bbc" providerId="AD" clId="Web-{0C8DA9AD-1C1F-2299-C415-E170C8EE106D}" dt="2026-03-06T01:49:21.180" v="202" actId="20577"/>
          <ac:spMkLst>
            <pc:docMk/>
            <pc:sldMk cId="0" sldId="260"/>
            <ac:spMk id="9" creationId="{00000000-0000-0000-0000-000000000000}"/>
          </ac:spMkLst>
        </pc:spChg>
        <pc:spChg chg="mod">
          <ac:chgData name="Damon Xie" userId="S::damon.xie@wyrestorm.com::2586a60d-c527-418a-b8cd-9c130bcf9bbc" providerId="AD" clId="Web-{0C8DA9AD-1C1F-2299-C415-E170C8EE106D}" dt="2026-03-06T01:25:10.910" v="47" actId="20577"/>
          <ac:spMkLst>
            <pc:docMk/>
            <pc:sldMk cId="0" sldId="260"/>
            <ac:spMk id="18" creationId="{00000000-0000-0000-0000-000000000000}"/>
          </ac:spMkLst>
        </pc:spChg>
      </pc:sldChg>
      <pc:sldChg chg="delSp modSp">
        <pc:chgData name="Damon Xie" userId="S::damon.xie@wyrestorm.com::2586a60d-c527-418a-b8cd-9c130bcf9bbc" providerId="AD" clId="Web-{0C8DA9AD-1C1F-2299-C415-E170C8EE106D}" dt="2026-03-06T01:58:00.636" v="345" actId="20577"/>
        <pc:sldMkLst>
          <pc:docMk/>
          <pc:sldMk cId="0" sldId="1007"/>
        </pc:sldMkLst>
        <pc:spChg chg="mod">
          <ac:chgData name="Damon Xie" userId="S::damon.xie@wyrestorm.com::2586a60d-c527-418a-b8cd-9c130bcf9bbc" providerId="AD" clId="Web-{0C8DA9AD-1C1F-2299-C415-E170C8EE106D}" dt="2026-03-06T01:42:53.992" v="121" actId="1076"/>
          <ac:spMkLst>
            <pc:docMk/>
            <pc:sldMk cId="0" sldId="1007"/>
            <ac:spMk id="6" creationId="{00000000-0000-0000-0000-000000000000}"/>
          </ac:spMkLst>
        </pc:spChg>
        <pc:spChg chg="del mod">
          <ac:chgData name="Damon Xie" userId="S::damon.xie@wyrestorm.com::2586a60d-c527-418a-b8cd-9c130bcf9bbc" providerId="AD" clId="Web-{0C8DA9AD-1C1F-2299-C415-E170C8EE106D}" dt="2026-03-06T01:43:02.148" v="124"/>
          <ac:spMkLst>
            <pc:docMk/>
            <pc:sldMk cId="0" sldId="1007"/>
            <ac:spMk id="9" creationId="{00000000-0000-0000-0000-000000000000}"/>
          </ac:spMkLst>
        </pc:spChg>
        <pc:spChg chg="mod">
          <ac:chgData name="Damon Xie" userId="S::damon.xie@wyrestorm.com::2586a60d-c527-418a-b8cd-9c130bcf9bbc" providerId="AD" clId="Web-{0C8DA9AD-1C1F-2299-C415-E170C8EE106D}" dt="2026-03-06T01:44:40.211" v="143" actId="1076"/>
          <ac:spMkLst>
            <pc:docMk/>
            <pc:sldMk cId="0" sldId="1007"/>
            <ac:spMk id="10" creationId="{00000000-0000-0000-0000-000000000000}"/>
          </ac:spMkLst>
        </pc:spChg>
        <pc:spChg chg="mod">
          <ac:chgData name="Damon Xie" userId="S::damon.xie@wyrestorm.com::2586a60d-c527-418a-b8cd-9c130bcf9bbc" providerId="AD" clId="Web-{0C8DA9AD-1C1F-2299-C415-E170C8EE106D}" dt="2026-03-06T01:44:50.617" v="147" actId="1076"/>
          <ac:spMkLst>
            <pc:docMk/>
            <pc:sldMk cId="0" sldId="1007"/>
            <ac:spMk id="11" creationId="{00000000-0000-0000-0000-000000000000}"/>
          </ac:spMkLst>
        </pc:spChg>
        <pc:spChg chg="mod">
          <ac:chgData name="Damon Xie" userId="S::damon.xie@wyrestorm.com::2586a60d-c527-418a-b8cd-9c130bcf9bbc" providerId="AD" clId="Web-{0C8DA9AD-1C1F-2299-C415-E170C8EE106D}" dt="2026-03-06T01:44:52.789" v="148" actId="1076"/>
          <ac:spMkLst>
            <pc:docMk/>
            <pc:sldMk cId="0" sldId="1007"/>
            <ac:spMk id="12" creationId="{00000000-0000-0000-0000-000000000000}"/>
          </ac:spMkLst>
        </pc:spChg>
        <pc:spChg chg="mod">
          <ac:chgData name="Damon Xie" userId="S::damon.xie@wyrestorm.com::2586a60d-c527-418a-b8cd-9c130bcf9bbc" providerId="AD" clId="Web-{0C8DA9AD-1C1F-2299-C415-E170C8EE106D}" dt="2026-03-06T01:44:55.554" v="149" actId="1076"/>
          <ac:spMkLst>
            <pc:docMk/>
            <pc:sldMk cId="0" sldId="1007"/>
            <ac:spMk id="13" creationId="{00000000-0000-0000-0000-000000000000}"/>
          </ac:spMkLst>
        </pc:spChg>
        <pc:spChg chg="mod">
          <ac:chgData name="Damon Xie" userId="S::damon.xie@wyrestorm.com::2586a60d-c527-418a-b8cd-9c130bcf9bbc" providerId="AD" clId="Web-{0C8DA9AD-1C1F-2299-C415-E170C8EE106D}" dt="2026-03-06T01:44:57.945" v="150" actId="1076"/>
          <ac:spMkLst>
            <pc:docMk/>
            <pc:sldMk cId="0" sldId="1007"/>
            <ac:spMk id="14" creationId="{00000000-0000-0000-0000-000000000000}"/>
          </ac:spMkLst>
        </pc:spChg>
        <pc:spChg chg="mod">
          <ac:chgData name="Damon Xie" userId="S::damon.xie@wyrestorm.com::2586a60d-c527-418a-b8cd-9c130bcf9bbc" providerId="AD" clId="Web-{0C8DA9AD-1C1F-2299-C415-E170C8EE106D}" dt="2026-03-06T01:45:00.117" v="151" actId="1076"/>
          <ac:spMkLst>
            <pc:docMk/>
            <pc:sldMk cId="0" sldId="1007"/>
            <ac:spMk id="15" creationId="{00000000-0000-0000-0000-000000000000}"/>
          </ac:spMkLst>
        </pc:spChg>
        <pc:spChg chg="mod">
          <ac:chgData name="Damon Xie" userId="S::damon.xie@wyrestorm.com::2586a60d-c527-418a-b8cd-9c130bcf9bbc" providerId="AD" clId="Web-{0C8DA9AD-1C1F-2299-C415-E170C8EE106D}" dt="2026-03-06T01:58:00.636" v="345" actId="20577"/>
          <ac:spMkLst>
            <pc:docMk/>
            <pc:sldMk cId="0" sldId="1007"/>
            <ac:spMk id="22" creationId="{00000000-0000-0000-0000-000000000000}"/>
          </ac:spMkLst>
        </pc:spChg>
      </pc:sldChg>
      <pc:sldChg chg="modSp">
        <pc:chgData name="Damon Xie" userId="S::damon.xie@wyrestorm.com::2586a60d-c527-418a-b8cd-9c130bcf9bbc" providerId="AD" clId="Web-{0C8DA9AD-1C1F-2299-C415-E170C8EE106D}" dt="2026-03-06T01:45:17.805" v="155" actId="20577"/>
        <pc:sldMkLst>
          <pc:docMk/>
          <pc:sldMk cId="0" sldId="1008"/>
        </pc:sldMkLst>
        <pc:spChg chg="mod">
          <ac:chgData name="Damon Xie" userId="S::damon.xie@wyrestorm.com::2586a60d-c527-418a-b8cd-9c130bcf9bbc" providerId="AD" clId="Web-{0C8DA9AD-1C1F-2299-C415-E170C8EE106D}" dt="2026-03-06T01:45:17.805" v="155" actId="20577"/>
          <ac:spMkLst>
            <pc:docMk/>
            <pc:sldMk cId="0" sldId="1008"/>
            <ac:spMk id="14" creationId="{00000000-0000-0000-0000-000000000000}"/>
          </ac:spMkLst>
        </pc:spChg>
      </pc:sldChg>
      <pc:sldChg chg="addSp modSp">
        <pc:chgData name="Damon Xie" userId="S::damon.xie@wyrestorm.com::2586a60d-c527-418a-b8cd-9c130bcf9bbc" providerId="AD" clId="Web-{0C8DA9AD-1C1F-2299-C415-E170C8EE106D}" dt="2026-03-06T01:31:37.973" v="92"/>
        <pc:sldMkLst>
          <pc:docMk/>
          <pc:sldMk cId="0" sldId="1010"/>
        </pc:sldMkLst>
        <pc:spChg chg="add mod ord">
          <ac:chgData name="Damon Xie" userId="S::damon.xie@wyrestorm.com::2586a60d-c527-418a-b8cd-9c130bcf9bbc" providerId="AD" clId="Web-{0C8DA9AD-1C1F-2299-C415-E170C8EE106D}" dt="2026-03-06T01:31:03.426" v="90"/>
          <ac:spMkLst>
            <pc:docMk/>
            <pc:sldMk cId="0" sldId="1010"/>
            <ac:spMk id="5" creationId="{66C6F4CF-1052-E90B-74F7-5D9699B64E73}"/>
          </ac:spMkLst>
        </pc:spChg>
        <pc:picChg chg="add mod modCrop">
          <ac:chgData name="Damon Xie" userId="S::damon.xie@wyrestorm.com::2586a60d-c527-418a-b8cd-9c130bcf9bbc" providerId="AD" clId="Web-{0C8DA9AD-1C1F-2299-C415-E170C8EE106D}" dt="2026-03-06T01:31:37.973" v="92"/>
          <ac:picMkLst>
            <pc:docMk/>
            <pc:sldMk cId="0" sldId="1010"/>
            <ac:picMk id="4" creationId="{38600DF4-74DF-29E7-F138-2425AD7CE850}"/>
          </ac:picMkLst>
        </pc:picChg>
      </pc:sldChg>
      <pc:sldChg chg="modSp">
        <pc:chgData name="Damon Xie" userId="S::damon.xie@wyrestorm.com::2586a60d-c527-418a-b8cd-9c130bcf9bbc" providerId="AD" clId="Web-{0C8DA9AD-1C1F-2299-C415-E170C8EE106D}" dt="2026-03-06T01:55:27.698" v="340" actId="20577"/>
        <pc:sldMkLst>
          <pc:docMk/>
          <pc:sldMk cId="0" sldId="1011"/>
        </pc:sldMkLst>
        <pc:spChg chg="mod">
          <ac:chgData name="Damon Xie" userId="S::damon.xie@wyrestorm.com::2586a60d-c527-418a-b8cd-9c130bcf9bbc" providerId="AD" clId="Web-{0C8DA9AD-1C1F-2299-C415-E170C8EE106D}" dt="2026-03-06T01:50:41.008" v="211" actId="20577"/>
          <ac:spMkLst>
            <pc:docMk/>
            <pc:sldMk cId="0" sldId="1011"/>
            <ac:spMk id="9" creationId="{00000000-0000-0000-0000-000000000000}"/>
          </ac:spMkLst>
        </pc:spChg>
        <pc:spChg chg="mod">
          <ac:chgData name="Damon Xie" userId="S::damon.xie@wyrestorm.com::2586a60d-c527-418a-b8cd-9c130bcf9bbc" providerId="AD" clId="Web-{0C8DA9AD-1C1F-2299-C415-E170C8EE106D}" dt="2026-03-06T01:55:27.698" v="340" actId="20577"/>
          <ac:spMkLst>
            <pc:docMk/>
            <pc:sldMk cId="0" sldId="1011"/>
            <ac:spMk id="14" creationId="{00000000-0000-0000-0000-000000000000}"/>
          </ac:spMkLst>
        </pc:spChg>
      </pc:sldChg>
      <pc:sldChg chg="addSp delSp modSp">
        <pc:chgData name="Damon Xie" userId="S::damon.xie@wyrestorm.com::2586a60d-c527-418a-b8cd-9c130bcf9bbc" providerId="AD" clId="Web-{0C8DA9AD-1C1F-2299-C415-E170C8EE106D}" dt="2026-03-06T01:55:43.276" v="343" actId="14100"/>
        <pc:sldMkLst>
          <pc:docMk/>
          <pc:sldMk cId="0" sldId="1012"/>
        </pc:sldMkLst>
        <pc:spChg chg="add mod ord">
          <ac:chgData name="Damon Xie" userId="S::damon.xie@wyrestorm.com::2586a60d-c527-418a-b8cd-9c130bcf9bbc" providerId="AD" clId="Web-{0C8DA9AD-1C1F-2299-C415-E170C8EE106D}" dt="2026-03-06T01:32:42.145" v="110"/>
          <ac:spMkLst>
            <pc:docMk/>
            <pc:sldMk cId="0" sldId="1012"/>
            <ac:spMk id="4" creationId="{A9523BB6-6152-F5CB-57A8-474849D9419B}"/>
          </ac:spMkLst>
        </pc:spChg>
        <pc:spChg chg="mod">
          <ac:chgData name="Damon Xie" userId="S::damon.xie@wyrestorm.com::2586a60d-c527-418a-b8cd-9c130bcf9bbc" providerId="AD" clId="Web-{0C8DA9AD-1C1F-2299-C415-E170C8EE106D}" dt="2026-03-06T01:55:43.276" v="343" actId="14100"/>
          <ac:spMkLst>
            <pc:docMk/>
            <pc:sldMk cId="0" sldId="1012"/>
            <ac:spMk id="10" creationId="{00000000-0000-0000-0000-000000000000}"/>
          </ac:spMkLst>
        </pc:spChg>
        <pc:spChg chg="add mod ord">
          <ac:chgData name="Damon Xie" userId="S::damon.xie@wyrestorm.com::2586a60d-c527-418a-b8cd-9c130bcf9bbc" providerId="AD" clId="Web-{0C8DA9AD-1C1F-2299-C415-E170C8EE106D}" dt="2026-03-06T01:48:04.664" v="194" actId="14100"/>
          <ac:spMkLst>
            <pc:docMk/>
            <pc:sldMk cId="0" sldId="1012"/>
            <ac:spMk id="15" creationId="{6C7F5D28-A45B-556E-3314-124871A6B9E2}"/>
          </ac:spMkLst>
        </pc:spChg>
        <pc:spChg chg="mod">
          <ac:chgData name="Damon Xie" userId="S::damon.xie@wyrestorm.com::2586a60d-c527-418a-b8cd-9c130bcf9bbc" providerId="AD" clId="Web-{0C8DA9AD-1C1F-2299-C415-E170C8EE106D}" dt="2026-03-06T01:46:23.570" v="162" actId="20577"/>
          <ac:spMkLst>
            <pc:docMk/>
            <pc:sldMk cId="0" sldId="1012"/>
            <ac:spMk id="22" creationId="{00000000-0000-0000-0000-000000000000}"/>
          </ac:spMkLst>
        </pc:spChg>
        <pc:spChg chg="mod">
          <ac:chgData name="Damon Xie" userId="S::damon.xie@wyrestorm.com::2586a60d-c527-418a-b8cd-9c130bcf9bbc" providerId="AD" clId="Web-{0C8DA9AD-1C1F-2299-C415-E170C8EE106D}" dt="2026-03-06T01:27:09.347" v="53" actId="20577"/>
          <ac:spMkLst>
            <pc:docMk/>
            <pc:sldMk cId="0" sldId="1012"/>
            <ac:spMk id="25" creationId="{00000000-0000-0000-0000-000000000000}"/>
          </ac:spMkLst>
        </pc:spChg>
        <pc:picChg chg="add mod">
          <ac:chgData name="Damon Xie" userId="S::damon.xie@wyrestorm.com::2586a60d-c527-418a-b8cd-9c130bcf9bbc" providerId="AD" clId="Web-{0C8DA9AD-1C1F-2299-C415-E170C8EE106D}" dt="2026-03-06T01:27:17.082" v="56" actId="1076"/>
          <ac:picMkLst>
            <pc:docMk/>
            <pc:sldMk cId="0" sldId="1012"/>
            <ac:picMk id="2" creationId="{06541D9C-142D-AB4E-6191-BE173911415E}"/>
          </ac:picMkLst>
        </pc:picChg>
        <pc:picChg chg="add mod ord">
          <ac:chgData name="Damon Xie" userId="S::damon.xie@wyrestorm.com::2586a60d-c527-418a-b8cd-9c130bcf9bbc" providerId="AD" clId="Web-{0C8DA9AD-1C1F-2299-C415-E170C8EE106D}" dt="2026-03-06T01:32:23.598" v="107"/>
          <ac:picMkLst>
            <pc:docMk/>
            <pc:sldMk cId="0" sldId="1012"/>
            <ac:picMk id="8" creationId="{CB103591-DF87-31F6-9AAA-1F5BC3A62A04}"/>
          </ac:picMkLst>
        </pc:picChg>
        <pc:picChg chg="add mod">
          <ac:chgData name="Damon Xie" userId="S::damon.xie@wyrestorm.com::2586a60d-c527-418a-b8cd-9c130bcf9bbc" providerId="AD" clId="Web-{0C8DA9AD-1C1F-2299-C415-E170C8EE106D}" dt="2026-03-06T01:46:29.649" v="165" actId="1076"/>
          <ac:picMkLst>
            <pc:docMk/>
            <pc:sldMk cId="0" sldId="1012"/>
            <ac:picMk id="12" creationId="{EE316A0A-1EAC-3698-0DF0-FAEAD0906B9E}"/>
          </ac:picMkLst>
        </pc:picChg>
        <pc:picChg chg="add mod">
          <ac:chgData name="Damon Xie" userId="S::damon.xie@wyrestorm.com::2586a60d-c527-418a-b8cd-9c130bcf9bbc" providerId="AD" clId="Web-{0C8DA9AD-1C1F-2299-C415-E170C8EE106D}" dt="2026-03-06T01:47:53.149" v="192" actId="1076"/>
          <ac:picMkLst>
            <pc:docMk/>
            <pc:sldMk cId="0" sldId="1012"/>
            <ac:picMk id="14" creationId="{C7481E2D-7306-F0D4-261C-1439AE39FED6}"/>
          </ac:picMkLst>
        </pc:picChg>
        <pc:picChg chg="del mod">
          <ac:chgData name="Damon Xie" userId="S::damon.xie@wyrestorm.com::2586a60d-c527-418a-b8cd-9c130bcf9bbc" providerId="AD" clId="Web-{0C8DA9AD-1C1F-2299-C415-E170C8EE106D}" dt="2026-03-06T01:27:06.582" v="52"/>
          <ac:picMkLst>
            <pc:docMk/>
            <pc:sldMk cId="0" sldId="1012"/>
            <ac:picMk id="39" creationId="{00000000-0000-0000-0000-000000000000}"/>
          </ac:picMkLst>
        </pc:picChg>
        <pc:picChg chg="del">
          <ac:chgData name="Damon Xie" userId="S::damon.xie@wyrestorm.com::2586a60d-c527-418a-b8cd-9c130bcf9bbc" providerId="AD" clId="Web-{0C8DA9AD-1C1F-2299-C415-E170C8EE106D}" dt="2026-03-06T01:46:13.648" v="158"/>
          <ac:picMkLst>
            <pc:docMk/>
            <pc:sldMk cId="0" sldId="1012"/>
            <ac:picMk id="43" creationId="{00000000-0000-0000-0000-000000000000}"/>
          </ac:picMkLst>
        </pc:picChg>
      </pc:sldChg>
      <pc:sldChg chg="modSp">
        <pc:chgData name="Damon Xie" userId="S::damon.xie@wyrestorm.com::2586a60d-c527-418a-b8cd-9c130bcf9bbc" providerId="AD" clId="Web-{0C8DA9AD-1C1F-2299-C415-E170C8EE106D}" dt="2026-03-06T01:49:44.758" v="208"/>
        <pc:sldMkLst>
          <pc:docMk/>
          <pc:sldMk cId="0" sldId="1014"/>
        </pc:sldMkLst>
        <pc:graphicFrameChg chg="mod modGraphic">
          <ac:chgData name="Damon Xie" userId="S::damon.xie@wyrestorm.com::2586a60d-c527-418a-b8cd-9c130bcf9bbc" providerId="AD" clId="Web-{0C8DA9AD-1C1F-2299-C415-E170C8EE106D}" dt="2026-03-06T01:49:44.758" v="208"/>
          <ac:graphicFrameMkLst>
            <pc:docMk/>
            <pc:sldMk cId="0" sldId="1014"/>
            <ac:graphicFrameMk id="5" creationId="{00000000-0000-0000-0000-000000000000}"/>
          </ac:graphicFrameMkLst>
        </pc:graphicFrameChg>
      </pc:sldChg>
      <pc:sldChg chg="del">
        <pc:chgData name="Damon Xie" userId="S::damon.xie@wyrestorm.com::2586a60d-c527-418a-b8cd-9c130bcf9bbc" providerId="AD" clId="Web-{0C8DA9AD-1C1F-2299-C415-E170C8EE106D}" dt="2026-03-06T01:42:36.695" v="118"/>
        <pc:sldMkLst>
          <pc:docMk/>
          <pc:sldMk cId="0" sldId="1015"/>
        </pc:sldMkLst>
      </pc:sldChg>
      <pc:sldChg chg="modSp">
        <pc:chgData name="Damon Xie" userId="S::damon.xie@wyrestorm.com::2586a60d-c527-418a-b8cd-9c130bcf9bbc" providerId="AD" clId="Web-{0C8DA9AD-1C1F-2299-C415-E170C8EE106D}" dt="2026-03-06T01:41:39.163" v="116" actId="14100"/>
        <pc:sldMkLst>
          <pc:docMk/>
          <pc:sldMk cId="0" sldId="1016"/>
        </pc:sldMkLst>
        <pc:spChg chg="mod">
          <ac:chgData name="Damon Xie" userId="S::damon.xie@wyrestorm.com::2586a60d-c527-418a-b8cd-9c130bcf9bbc" providerId="AD" clId="Web-{0C8DA9AD-1C1F-2299-C415-E170C8EE106D}" dt="2026-03-06T01:41:39.163" v="116" actId="14100"/>
          <ac:spMkLst>
            <pc:docMk/>
            <pc:sldMk cId="0" sldId="1016"/>
            <ac:spMk id="14" creationId="{00000000-0000-0000-0000-000000000000}"/>
          </ac:spMkLst>
        </pc:spChg>
      </pc:sldChg>
      <pc:sldChg chg="add">
        <pc:chgData name="Damon Xie" userId="S::damon.xie@wyrestorm.com::2586a60d-c527-418a-b8cd-9c130bcf9bbc" providerId="AD" clId="Web-{0C8DA9AD-1C1F-2299-C415-E170C8EE106D}" dt="2026-03-06T01:42:07.351" v="117"/>
        <pc:sldMkLst>
          <pc:docMk/>
          <pc:sldMk cId="0" sldId="10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90828-D59D-4FB6-B526-44D0AEA8C2BD}" type="datetimeFigureOut">
              <a:rPr lang="zh-CN" altLang="en-US" smtClean="0"/>
              <a:t>2026/3/5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A306D-6C12-4E72-AF59-54F4E5C1E32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1. </a:t>
            </a:r>
            <a:r>
              <a:rPr lang="zh-CN" altLang="en-US"/>
              <a:t>更新封面，不需要展示产品；</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9</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13</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16</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17</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42A306D-6C12-4E72-AF59-54F4E5C1E327}" type="slidenum">
              <a:rPr lang="zh-CN" altLang="en-US" smtClean="0"/>
              <a:t>18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6111B7E-33AF-4B07-8A60-1A70837D531B}" type="datetimeFigureOut">
              <a:rPr lang="zh-CN" altLang="en-US" smtClean="0"/>
              <a:t>2026/3/5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49B56B-6286-4108-9151-EF4CD1753CAA}"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2026/3/5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111B7E-33AF-4B07-8A60-1A70837D531B}" type="datetimeFigureOut">
              <a:rPr lang="zh-CN" altLang="en-US" smtClean="0"/>
              <a:t>2026/3/5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49B56B-6286-4108-9151-EF4CD1753CA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111B7E-33AF-4B07-8A60-1A70837D531B}" type="datetimeFigureOut">
              <a:rPr lang="zh-CN" altLang="en-US" smtClean="0"/>
              <a:t>2026/3/5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49B56B-6286-4108-9151-EF4CD1753CA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111B7E-33AF-4B07-8A60-1A70837D531B}" type="datetimeFigureOut">
              <a:rPr lang="zh-CN" altLang="en-US" smtClean="0"/>
              <a:t>2026/3/5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49B56B-6286-4108-9151-EF4CD1753CA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xml"/><Relationship Id="rId7" Type="http://schemas.openxmlformats.org/officeDocument/2006/relationships/image" Target="../media/image1.jpeg"/><Relationship Id="rId12" Type="http://schemas.openxmlformats.org/officeDocument/2006/relationships/image" Target="../media/image5.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1.xml"/><Relationship Id="rId11" Type="http://schemas.openxmlformats.org/officeDocument/2006/relationships/image" Target="../media/image4.png"/><Relationship Id="rId5" Type="http://schemas.openxmlformats.org/officeDocument/2006/relationships/slideLayout" Target="../slideLayouts/slideLayout1.xml"/><Relationship Id="rId10" Type="http://schemas.openxmlformats.org/officeDocument/2006/relationships/image" Target="../media/image3.png"/><Relationship Id="rId4" Type="http://schemas.openxmlformats.org/officeDocument/2006/relationships/tags" Target="../tags/tag8.xml"/><Relationship Id="rId9"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xml"/><Relationship Id="rId7" Type="http://schemas.openxmlformats.org/officeDocument/2006/relationships/image" Target="../media/image1.jpe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tags" Target="../tags/tag12.xml"/></Relationships>
</file>

<file path=ppt/slides/_rels/slide3.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5.xml"/><Relationship Id="rId7" Type="http://schemas.openxmlformats.org/officeDocument/2006/relationships/slideLayout" Target="../slideLayouts/slideLayout14.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8.png"/><Relationship Id="rId5" Type="http://schemas.openxmlformats.org/officeDocument/2006/relationships/tags" Target="../tags/tag17.xml"/><Relationship Id="rId10" Type="http://schemas.openxmlformats.org/officeDocument/2006/relationships/image" Target="../media/image7.png"/><Relationship Id="rId4" Type="http://schemas.openxmlformats.org/officeDocument/2006/relationships/tags" Target="../tags/tag16.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tags" Target="../tags/tag21.xml"/><Relationship Id="rId7" Type="http://schemas.openxmlformats.org/officeDocument/2006/relationships/slideLayout" Target="../slideLayouts/slideLayout7.xml"/><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tags" Target="../tags/tag20.xml"/><Relationship Id="rId16" Type="http://schemas.openxmlformats.org/officeDocument/2006/relationships/image" Target="../media/image14.pn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9.png"/><Relationship Id="rId5" Type="http://schemas.openxmlformats.org/officeDocument/2006/relationships/tags" Target="../tags/tag23.xml"/><Relationship Id="rId15" Type="http://schemas.openxmlformats.org/officeDocument/2006/relationships/image" Target="../media/image13.png"/><Relationship Id="rId10" Type="http://schemas.openxmlformats.org/officeDocument/2006/relationships/image" Target="../media/image6.png"/><Relationship Id="rId19" Type="http://schemas.openxmlformats.org/officeDocument/2006/relationships/image" Target="../media/image17.png"/><Relationship Id="rId4" Type="http://schemas.openxmlformats.org/officeDocument/2006/relationships/tags" Target="../tags/tag22.xml"/><Relationship Id="rId9" Type="http://schemas.openxmlformats.org/officeDocument/2006/relationships/image" Target="../media/image1.jpe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6.png"/><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6.png"/><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6.png"/><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6.png"/><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39.xml"/><Relationship Id="rId7" Type="http://schemas.openxmlformats.org/officeDocument/2006/relationships/image" Target="../media/image18.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jpeg"/><Relationship Id="rId5" Type="http://schemas.openxmlformats.org/officeDocument/2006/relationships/notesSlide" Target="../notesSlides/notesSlide4.xml"/><Relationship Id="rId4" Type="http://schemas.openxmlformats.org/officeDocument/2006/relationships/slideLayout" Target="../slideLayouts/slideLayout14.xml"/><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image" Target="../media/image6.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1.jpeg"/><Relationship Id="rId5" Type="http://schemas.openxmlformats.org/officeDocument/2006/relationships/slideLayout" Target="../slideLayouts/slideLayout14.xml"/><Relationship Id="rId4" Type="http://schemas.openxmlformats.org/officeDocument/2006/relationships/tags" Target="../tags/tag43.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46.xml"/><Relationship Id="rId7" Type="http://schemas.openxmlformats.org/officeDocument/2006/relationships/image" Target="../media/image1.jpe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notesSlide" Target="../notesSlides/notesSlide5.xml"/><Relationship Id="rId5" Type="http://schemas.openxmlformats.org/officeDocument/2006/relationships/slideLayout" Target="../slideLayouts/slideLayout14.xml"/><Relationship Id="rId4" Type="http://schemas.openxmlformats.org/officeDocument/2006/relationships/tags" Target="../tags/tag47.xml"/><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50.xml"/><Relationship Id="rId7" Type="http://schemas.openxmlformats.org/officeDocument/2006/relationships/image" Target="../media/image22.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1.jpeg"/><Relationship Id="rId11" Type="http://schemas.openxmlformats.org/officeDocument/2006/relationships/image" Target="../media/image26.png"/><Relationship Id="rId5" Type="http://schemas.openxmlformats.org/officeDocument/2006/relationships/slideLayout" Target="../slideLayouts/slideLayout14.xml"/><Relationship Id="rId10" Type="http://schemas.openxmlformats.org/officeDocument/2006/relationships/image" Target="../media/image25.png"/><Relationship Id="rId4" Type="http://schemas.openxmlformats.org/officeDocument/2006/relationships/tags" Target="../tags/tag51.xml"/><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54.xml"/><Relationship Id="rId7" Type="http://schemas.openxmlformats.org/officeDocument/2006/relationships/image" Target="../media/image1.jpeg"/><Relationship Id="rId12" Type="http://schemas.openxmlformats.org/officeDocument/2006/relationships/image" Target="../media/image28.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notesSlide" Target="../notesSlides/notesSlide6.xml"/><Relationship Id="rId11" Type="http://schemas.openxmlformats.org/officeDocument/2006/relationships/image" Target="../media/image21.png"/><Relationship Id="rId5" Type="http://schemas.openxmlformats.org/officeDocument/2006/relationships/slideLayout" Target="../slideLayouts/slideLayout14.xml"/><Relationship Id="rId10" Type="http://schemas.openxmlformats.org/officeDocument/2006/relationships/image" Target="../media/image24.png"/><Relationship Id="rId4" Type="http://schemas.openxmlformats.org/officeDocument/2006/relationships/tags" Target="../tags/tag55.xml"/><Relationship Id="rId9"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1.jpeg"/><Relationship Id="rId5" Type="http://schemas.openxmlformats.org/officeDocument/2006/relationships/notesSlide" Target="../notesSlides/notesSlide7.xml"/><Relationship Id="rId4"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notesSlide" Target="../notesSlides/notesSlide8.xml"/><Relationship Id="rId4"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64.xml"/><Relationship Id="rId7" Type="http://schemas.openxmlformats.org/officeDocument/2006/relationships/image" Target="../media/image1.jpe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notesSlide" Target="../notesSlides/notesSlide9.xml"/><Relationship Id="rId5" Type="http://schemas.openxmlformats.org/officeDocument/2006/relationships/slideLayout" Target="../slideLayouts/slideLayout14.xml"/><Relationship Id="rId4" Type="http://schemas.openxmlformats.org/officeDocument/2006/relationships/tags" Target="../tags/tag65.xml"/><Relationship Id="rId9" Type="http://schemas.openxmlformats.org/officeDocument/2006/relationships/image" Target="../media/image29.png"/></Relationships>
</file>

<file path=ppt/slides/_rels/slide17.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68.xml"/><Relationship Id="rId7" Type="http://schemas.openxmlformats.org/officeDocument/2006/relationships/notesSlide" Target="../notesSlides/notesSlide10.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slideLayout" Target="../slideLayouts/slideLayout14.xml"/><Relationship Id="rId5" Type="http://schemas.openxmlformats.org/officeDocument/2006/relationships/tags" Target="../tags/tag70.xml"/><Relationship Id="rId10" Type="http://schemas.openxmlformats.org/officeDocument/2006/relationships/image" Target="../media/image30.jpeg"/><Relationship Id="rId4" Type="http://schemas.openxmlformats.org/officeDocument/2006/relationships/tags" Target="../tags/tag69.xml"/><Relationship Id="rId9" Type="http://schemas.openxmlformats.org/officeDocument/2006/relationships/image" Target="../media/image6.png"/></Relationships>
</file>

<file path=ppt/slides/_rels/slide18.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73.xml"/><Relationship Id="rId7" Type="http://schemas.openxmlformats.org/officeDocument/2006/relationships/notesSlide" Target="../notesSlides/notesSlide11.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slideLayout" Target="../slideLayouts/slideLayout2.xml"/><Relationship Id="rId5" Type="http://schemas.openxmlformats.org/officeDocument/2006/relationships/tags" Target="../tags/tag75.xml"/><Relationship Id="rId10" Type="http://schemas.openxmlformats.org/officeDocument/2006/relationships/image" Target="../media/image31.png"/><Relationship Id="rId4" Type="http://schemas.openxmlformats.org/officeDocument/2006/relationships/tags" Target="../tags/tag74.xml"/><Relationship Id="rId9" Type="http://schemas.openxmlformats.org/officeDocument/2006/relationships/image" Target="../media/image6.png"/></Relationships>
</file>

<file path=ppt/slides/_rels/slide19.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tags" Target="../tags/tag78.xml"/><Relationship Id="rId7" Type="http://schemas.openxmlformats.org/officeDocument/2006/relationships/image" Target="../media/image6.pn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7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6.png"/><Relationship Id="rId5" Type="http://schemas.openxmlformats.org/officeDocument/2006/relationships/image" Target="../media/image33.jpe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pic>
        <p:nvPicPr>
          <p:cNvPr id="6" name="Picture 5" descr="A person and person sitting in a room with a computer&#10;&#10;Description automatically generated"/>
          <p:cNvPicPr>
            <a:picLocks noChangeAspect="1"/>
          </p:cNvPicPr>
          <p:nvPr/>
        </p:nvPicPr>
        <p:blipFill>
          <a:blip r:embed="rId8">
            <a:extLst>
              <a:ext uri="{BEBA8EAE-BF5A-486C-A8C5-ECC9F3942E4B}">
                <a14:imgProps xmlns:a14="http://schemas.microsoft.com/office/drawing/2010/main">
                  <a14:imgLayer r:embed="rId9">
                    <a14:imgEffect>
                      <a14:brightnessContrast bright="13000" contrast="-49000"/>
                    </a14:imgEffect>
                    <a14:imgEffect>
                      <a14:saturation sat="16000"/>
                    </a14:imgEffect>
                    <a14:imgEffect>
                      <a14:sharpenSoften amount="-23000"/>
                    </a14:imgEffect>
                  </a14:imgLayer>
                </a14:imgProps>
              </a:ext>
              <a:ext uri="{28A0092B-C50C-407E-A947-70E740481C1C}">
                <a14:useLocalDpi xmlns:a14="http://schemas.microsoft.com/office/drawing/2010/main" val="0"/>
              </a:ext>
            </a:extLst>
          </a:blip>
          <a:stretch>
            <a:fillRect/>
          </a:stretch>
        </p:blipFill>
        <p:spPr>
          <a:xfrm>
            <a:off x="0" y="347153"/>
            <a:ext cx="12192000" cy="6120322"/>
          </a:xfrm>
          <a:prstGeom prst="rect">
            <a:avLst/>
          </a:prstGeom>
        </p:spPr>
      </p:pic>
      <p:sp>
        <p:nvSpPr>
          <p:cNvPr id="9" name="矩形 7"/>
          <p:cNvSpPr/>
          <p:nvPr>
            <p:custDataLst>
              <p:tags r:id="rId1"/>
            </p:custDataLst>
          </p:nvPr>
        </p:nvSpPr>
        <p:spPr>
          <a:xfrm>
            <a:off x="0" y="0"/>
            <a:ext cx="12192000" cy="1203942"/>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30" name="矩形 7"/>
          <p:cNvSpPr/>
          <p:nvPr>
            <p:custDataLst>
              <p:tags r:id="rId2"/>
            </p:custDataLst>
          </p:nvPr>
        </p:nvSpPr>
        <p:spPr>
          <a:xfrm>
            <a:off x="0" y="1086295"/>
            <a:ext cx="12192000" cy="4567763"/>
          </a:xfrm>
          <a:prstGeom prst="rect">
            <a:avLst/>
          </a:prstGeom>
          <a:solidFill>
            <a:srgbClr val="73B98F">
              <a:alpha val="5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0">
              <a:solidFill>
                <a:schemeClr val="accent6"/>
              </a:solidFill>
              <a:latin typeface="微软雅黑" panose="020B0503020204020204" pitchFamily="34" charset="-122"/>
              <a:ea typeface="微软雅黑" panose="020B0503020204020204" pitchFamily="34" charset="-122"/>
              <a:sym typeface="+mn-ea"/>
            </a:endParaRPr>
          </a:p>
        </p:txBody>
      </p:sp>
      <p:sp>
        <p:nvSpPr>
          <p:cNvPr id="22" name="文本框 20"/>
          <p:cNvSpPr txBox="1"/>
          <p:nvPr>
            <p:custDataLst>
              <p:tags r:id="rId3"/>
            </p:custDataLst>
          </p:nvPr>
        </p:nvSpPr>
        <p:spPr>
          <a:xfrm>
            <a:off x="399346" y="257682"/>
            <a:ext cx="4077404" cy="609600"/>
          </a:xfrm>
          <a:prstGeom prst="rect">
            <a:avLst/>
          </a:prstGeom>
          <a:noFill/>
        </p:spPr>
        <p:txBody>
          <a:bodyPr wrap="square" lIns="63500" tIns="25400" rIns="63500" bIns="25400" rtlCol="0" anchor="ctr" anchorCtr="0">
            <a:noAutofit/>
          </a:bodyPr>
          <a:lstStyle/>
          <a:p>
            <a:pPr marL="0" indent="0" algn="l">
              <a:lnSpc>
                <a:spcPct val="100000"/>
              </a:lnSpc>
              <a:spcBef>
                <a:spcPts val="0"/>
              </a:spcBef>
              <a:spcAft>
                <a:spcPts val="0"/>
              </a:spcAft>
              <a:buSzPct val="100000"/>
              <a:buNone/>
            </a:pPr>
            <a:r>
              <a:rPr lang="en-US" altLang="zh-CN" sz="3800" b="1" strike="noStrike">
                <a:solidFill>
                  <a:schemeClr val="lt1"/>
                </a:solidFill>
                <a:uFillTx/>
                <a:latin typeface="Montserrat" pitchFamily="2" charset="0"/>
                <a:ea typeface="微软雅黑" panose="020B0503020204020204" pitchFamily="34" charset="-122"/>
                <a:cs typeface="Roboto" charset="0"/>
                <a:sym typeface="Roboto"/>
              </a:rPr>
              <a:t>Product Guide</a:t>
            </a:r>
          </a:p>
        </p:txBody>
      </p:sp>
      <p:pic>
        <p:nvPicPr>
          <p:cNvPr id="10" name="Picture 9" descr="A close up of a device&#10;&#10;Description automatically generated"/>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18340179">
            <a:off x="7559418" y="837040"/>
            <a:ext cx="2928942" cy="5484430"/>
          </a:xfrm>
          <a:prstGeom prst="rect">
            <a:avLst/>
          </a:prstGeom>
          <a:effectLst>
            <a:outerShdw blurRad="393700" dist="939800" dir="5400000" sx="73000" sy="73000" algn="t" rotWithShape="0">
              <a:schemeClr val="bg2">
                <a:lumMod val="75000"/>
                <a:alpha val="78000"/>
              </a:schemeClr>
            </a:outerShdw>
          </a:effectLst>
        </p:spPr>
      </p:pic>
      <p:sp>
        <p:nvSpPr>
          <p:cNvPr id="2" name="Title 1"/>
          <p:cNvSpPr>
            <a:spLocks noGrp="1"/>
          </p:cNvSpPr>
          <p:nvPr>
            <p:ph type="ctrTitle"/>
          </p:nvPr>
        </p:nvSpPr>
        <p:spPr>
          <a:xfrm>
            <a:off x="4881065" y="198014"/>
            <a:ext cx="7063286" cy="503028"/>
          </a:xfrm>
        </p:spPr>
        <p:txBody>
          <a:bodyPr>
            <a:noAutofit/>
          </a:bodyPr>
          <a:lstStyle/>
          <a:p>
            <a:r>
              <a:rPr lang="en-US" sz="2600" b="1">
                <a:solidFill>
                  <a:schemeClr val="bg1"/>
                </a:solidFill>
                <a:latin typeface="Roboto" charset="0"/>
                <a:ea typeface="Roboto"/>
                <a:cs typeface="Roboto" charset="0"/>
                <a:sym typeface="+mn-ea"/>
              </a:rPr>
              <a:t>SW-640L-TX-W</a:t>
            </a:r>
            <a:r>
              <a:rPr lang="en-US" sz="3200" b="1">
                <a:solidFill>
                  <a:schemeClr val="bg1"/>
                </a:solidFill>
                <a:latin typeface="Roboto" charset="0"/>
                <a:ea typeface="Roboto"/>
                <a:cs typeface="Roboto" charset="0"/>
                <a:sym typeface="+mn-ea"/>
              </a:rPr>
              <a:t> </a:t>
            </a:r>
            <a:r>
              <a:rPr lang="en-US" sz="2300" b="1">
                <a:solidFill>
                  <a:schemeClr val="accent6">
                    <a:lumMod val="40000"/>
                    <a:lumOff val="60000"/>
                  </a:schemeClr>
                </a:solidFill>
                <a:latin typeface="Roboto" charset="0"/>
                <a:ea typeface="Roboto"/>
                <a:cs typeface="Roboto" charset="0"/>
                <a:sym typeface="+mn-ea"/>
              </a:rPr>
              <a:t>&amp;</a:t>
            </a:r>
            <a:r>
              <a:rPr lang="en-US" sz="3200" b="1">
                <a:solidFill>
                  <a:schemeClr val="bg1"/>
                </a:solidFill>
                <a:latin typeface="Roboto" charset="0"/>
                <a:ea typeface="Roboto"/>
                <a:cs typeface="Roboto" charset="0"/>
                <a:sym typeface="+mn-ea"/>
              </a:rPr>
              <a:t> </a:t>
            </a:r>
            <a:r>
              <a:rPr lang="en-US" sz="2600" b="1">
                <a:solidFill>
                  <a:schemeClr val="bg1"/>
                </a:solidFill>
                <a:latin typeface="Roboto" charset="0"/>
                <a:ea typeface="Roboto"/>
                <a:cs typeface="Roboto" charset="0"/>
                <a:sym typeface="+mn-ea"/>
              </a:rPr>
              <a:t>APO-DG2 / APO-DG2-PRO</a:t>
            </a:r>
            <a:endParaRPr lang="zh-CN" altLang="en-US" sz="2600" b="1">
              <a:solidFill>
                <a:schemeClr val="bg1"/>
              </a:solidFill>
              <a:latin typeface="Roboto" charset="0"/>
              <a:ea typeface="宋体" panose="02010600030101010101" pitchFamily="2" charset="-122"/>
              <a:cs typeface="Roboto" charset="0"/>
              <a:sym typeface="+mn-ea"/>
            </a:endParaRPr>
          </a:p>
        </p:txBody>
      </p:sp>
      <p:sp>
        <p:nvSpPr>
          <p:cNvPr id="3" name="Title 1"/>
          <p:cNvSpPr txBox="1"/>
          <p:nvPr/>
        </p:nvSpPr>
        <p:spPr>
          <a:xfrm>
            <a:off x="5980748" y="505913"/>
            <a:ext cx="6543720" cy="43466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800">
                <a:solidFill>
                  <a:schemeClr val="accent6">
                    <a:lumMod val="40000"/>
                    <a:lumOff val="60000"/>
                  </a:schemeClr>
                </a:solidFill>
                <a:latin typeface="Roboto" charset="0"/>
                <a:ea typeface="Roboto"/>
                <a:cs typeface="Roboto" charset="0"/>
              </a:rPr>
              <a:t>Wireless Presentation and Conferencing System</a:t>
            </a:r>
            <a:endParaRPr lang="zh-CN" altLang="en-US" sz="1800">
              <a:solidFill>
                <a:schemeClr val="accent6">
                  <a:lumMod val="40000"/>
                  <a:lumOff val="60000"/>
                </a:schemeClr>
              </a:solidFill>
              <a:latin typeface="Roboto" charset="0"/>
              <a:ea typeface="宋体" panose="02010600030101010101" pitchFamily="2" charset="-122"/>
              <a:cs typeface="Roboto" charset="0"/>
              <a:sym typeface="+mn-ea"/>
            </a:endParaRPr>
          </a:p>
        </p:txBody>
      </p:sp>
      <p:sp>
        <p:nvSpPr>
          <p:cNvPr id="13" name="矩形 7"/>
          <p:cNvSpPr/>
          <p:nvPr>
            <p:custDataLst>
              <p:tags r:id="rId4"/>
            </p:custDataLst>
          </p:nvPr>
        </p:nvSpPr>
        <p:spPr>
          <a:xfrm>
            <a:off x="0" y="5654059"/>
            <a:ext cx="12192000" cy="120343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8" name="Picture 7" descr="A back of a black device&#10;&#10;Description automatically generated"/>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400095" y="-289218"/>
            <a:ext cx="13753689" cy="7736946"/>
          </a:xfrm>
          <a:prstGeom prst="rect">
            <a:avLst/>
          </a:prstGeom>
        </p:spPr>
      </p:pic>
      <p:pic>
        <p:nvPicPr>
          <p:cNvPr id="26" name="Picture 25" descr="A picture containing text, clock&#10;&#10;Description automatically generated"/>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99346" y="5877970"/>
            <a:ext cx="4315581" cy="863114"/>
          </a:xfrm>
          <a:prstGeom prst="rect">
            <a:avLst/>
          </a:prstGeom>
        </p:spPr>
      </p:pic>
      <p:sp>
        <p:nvSpPr>
          <p:cNvPr id="19" name="Title 1"/>
          <p:cNvSpPr txBox="1"/>
          <p:nvPr/>
        </p:nvSpPr>
        <p:spPr>
          <a:xfrm>
            <a:off x="6616271" y="5849316"/>
            <a:ext cx="5691024" cy="81161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i="1">
                <a:latin typeface="Montserrat"/>
                <a:ea typeface="Roboto"/>
                <a:cs typeface="Arial" panose="020B0604020202020204"/>
              </a:rPr>
              <a:t>Award-Winning Audio-Visual</a:t>
            </a:r>
            <a:br>
              <a:rPr lang="en-US" sz="2400" b="1" i="1">
                <a:latin typeface="Montserrat" pitchFamily="2" charset="77"/>
                <a:ea typeface="Roboto"/>
                <a:cs typeface="Arial" panose="020B0604020202020204"/>
              </a:rPr>
            </a:br>
            <a:r>
              <a:rPr lang="en-US" sz="2400" b="1" i="1">
                <a:latin typeface="Montserrat"/>
                <a:ea typeface="Roboto"/>
                <a:cs typeface="Arial" panose="020B0604020202020204"/>
              </a:rPr>
              <a:t>Solutions Manufacturer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40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2000"/>
                                        <p:tgtEl>
                                          <p:spTgt spid="26"/>
                                        </p:tgtEl>
                                      </p:cBhvr>
                                    </p:animEffect>
                                    <p:anim calcmode="lin" valueType="num">
                                      <p:cBhvr>
                                        <p:cTn id="15" dur="2000" fill="hold"/>
                                        <p:tgtEl>
                                          <p:spTgt spid="26"/>
                                        </p:tgtEl>
                                        <p:attrNameLst>
                                          <p:attrName>ppt_x</p:attrName>
                                        </p:attrNameLst>
                                      </p:cBhvr>
                                      <p:tavLst>
                                        <p:tav tm="0">
                                          <p:val>
                                            <p:strVal val="#ppt_x"/>
                                          </p:val>
                                        </p:tav>
                                        <p:tav tm="100000">
                                          <p:val>
                                            <p:strVal val="#ppt_x"/>
                                          </p:val>
                                        </p:tav>
                                      </p:tavLst>
                                    </p:anim>
                                    <p:anim calcmode="lin" valueType="num">
                                      <p:cBhvr>
                                        <p:cTn id="16" dur="2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5"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21" name="文本框 20"/>
          <p:cNvSpPr txBox="1"/>
          <p:nvPr>
            <p:custDataLst>
              <p:tags r:id="rId3"/>
            </p:custDataLst>
          </p:nvPr>
        </p:nvSpPr>
        <p:spPr>
          <a:xfrm>
            <a:off x="457155" y="16192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altLang="zh-CN" sz="3200" b="1" strike="noStrike">
                <a:solidFill>
                  <a:schemeClr val="lt1"/>
                </a:solidFill>
                <a:uFillTx/>
                <a:latin typeface="Montserrat" pitchFamily="2" charset="0"/>
                <a:ea typeface="微软雅黑" panose="020B0503020204020204" pitchFamily="34" charset="-122"/>
                <a:cs typeface="Roboto" charset="0"/>
                <a:sym typeface="Roboto"/>
              </a:rPr>
              <a:t>Contents</a:t>
            </a:r>
          </a:p>
        </p:txBody>
      </p:sp>
      <p:pic>
        <p:nvPicPr>
          <p:cNvPr id="2" name="Google Shape;82;p1"/>
          <p:cNvPicPr preferRelativeResize="0"/>
          <p:nvPr/>
        </p:nvPicPr>
        <p:blipFill>
          <a:blip r:embed="rId8"/>
          <a:stretch>
            <a:fillRect/>
          </a:stretch>
        </p:blipFill>
        <p:spPr>
          <a:xfrm>
            <a:off x="9652104" y="6056488"/>
            <a:ext cx="2241019" cy="440200"/>
          </a:xfrm>
          <a:prstGeom prst="rect">
            <a:avLst/>
          </a:prstGeom>
          <a:noFill/>
          <a:ln>
            <a:noFill/>
          </a:ln>
        </p:spPr>
      </p:pic>
      <p:sp>
        <p:nvSpPr>
          <p:cNvPr id="3"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6" name="Rectangle 5"/>
          <p:cNvSpPr/>
          <p:nvPr/>
        </p:nvSpPr>
        <p:spPr>
          <a:xfrm>
            <a:off x="3031795" y="1439930"/>
            <a:ext cx="5950280"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599913" y="2063154"/>
            <a:ext cx="48263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022393" y="4095183"/>
            <a:ext cx="396908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060550" y="4741323"/>
            <a:ext cx="80648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4514313" y="5376402"/>
            <a:ext cx="29975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535774" y="2735104"/>
            <a:ext cx="4948464"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276063" y="3431019"/>
            <a:ext cx="54740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6"/>
          <p:cNvSpPr txBox="1"/>
          <p:nvPr>
            <p:custDataLst>
              <p:tags r:id="rId4"/>
            </p:custDataLst>
          </p:nvPr>
        </p:nvSpPr>
        <p:spPr>
          <a:xfrm>
            <a:off x="1840575" y="1503722"/>
            <a:ext cx="8357299" cy="4412721"/>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ctr" fontAlgn="ctr">
              <a:lnSpc>
                <a:spcPts val="4500"/>
              </a:lnSpc>
              <a:spcBef>
                <a:spcPts val="0"/>
              </a:spcBef>
              <a:spcAft>
                <a:spcPts val="800"/>
              </a:spcAft>
              <a:buSzPct val="100000"/>
            </a:pPr>
            <a:r>
              <a:rPr lang="en-US" altLang="zh-CN" sz="2800" b="1" strike="noStrike" spc="0">
                <a:ln w="3175">
                  <a:noFill/>
                  <a:prstDash val="dash"/>
                </a:ln>
                <a:solidFill>
                  <a:schemeClr val="dk1">
                    <a:lumMod val="75000"/>
                    <a:lumOff val="25000"/>
                  </a:schemeClr>
                </a:solidFill>
                <a:uFillTx/>
                <a:latin typeface="Roboto"/>
                <a:ea typeface="Roboto"/>
                <a:cs typeface="Arial"/>
                <a:sym typeface="+mn-ea"/>
              </a:rPr>
              <a:t>Product </a:t>
            </a:r>
            <a:r>
              <a:rPr lang="en-US" altLang="zh-CN" sz="2800" b="1" spc="0">
                <a:ln w="3175">
                  <a:noFill/>
                  <a:prstDash val="dash"/>
                </a:ln>
                <a:solidFill>
                  <a:schemeClr val="dk1">
                    <a:lumMod val="75000"/>
                    <a:lumOff val="25000"/>
                  </a:schemeClr>
                </a:solidFill>
                <a:latin typeface="Roboto"/>
                <a:ea typeface="Roboto"/>
                <a:cs typeface="Arial"/>
                <a:sym typeface="+mn-ea"/>
              </a:rPr>
              <a:t>Overview</a:t>
            </a:r>
            <a:r>
              <a:rPr lang="en-US" altLang="zh-CN" sz="2800" b="1" strike="noStrike" spc="0">
                <a:ln w="3175">
                  <a:noFill/>
                  <a:prstDash val="dash"/>
                </a:ln>
                <a:solidFill>
                  <a:schemeClr val="dk1">
                    <a:lumMod val="75000"/>
                    <a:lumOff val="25000"/>
                  </a:schemeClr>
                </a:solidFill>
                <a:uFillTx/>
                <a:latin typeface="Roboto"/>
                <a:ea typeface="Roboto"/>
                <a:cs typeface="Arial"/>
                <a:sym typeface="+mn-ea"/>
              </a:rPr>
              <a:t> &amp; Key Features</a:t>
            </a:r>
          </a:p>
          <a:p>
            <a:pPr lvl="0" algn="ctr" fontAlgn="ctr">
              <a:lnSpc>
                <a:spcPts val="4500"/>
              </a:lnSpc>
              <a:spcBef>
                <a:spcPts val="0"/>
              </a:spcBef>
              <a:spcAft>
                <a:spcPts val="800"/>
              </a:spcAft>
              <a:buSzPct val="100000"/>
            </a:pPr>
            <a:r>
              <a:rPr lang="en-US" altLang="zh-CN" sz="2800" b="1" strike="noStrike"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Why Choose Us?</a:t>
            </a:r>
          </a:p>
          <a:p>
            <a:pPr lvl="0" algn="ctr" fontAlgn="ctr">
              <a:lnSpc>
                <a:spcPts val="4500"/>
              </a:lnSpc>
              <a:spcBef>
                <a:spcPts val="0"/>
              </a:spcBef>
              <a:spcAft>
                <a:spcPts val="800"/>
              </a:spcAft>
              <a:buSzPct val="100000"/>
            </a:pPr>
            <a:r>
              <a:rPr altLang="zh-CN" sz="28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 &amp; Specifications</a:t>
            </a:r>
            <a:endParaRPr lang="en-US" altLang="zh-CN" sz="2800" b="1" strike="noStrike"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&amp; Applications </a:t>
            </a:r>
          </a:p>
          <a:p>
            <a:pPr lvl="0" algn="ctr" fontAlgn="ctr">
              <a:lnSpc>
                <a:spcPts val="4500"/>
              </a:lnSpc>
              <a:spcBef>
                <a:spcPts val="0"/>
              </a:spcBef>
              <a:spcAft>
                <a:spcPts val="800"/>
              </a:spcAft>
              <a:buSzPct val="100000"/>
            </a:pPr>
            <a:r>
              <a:rPr lang="en-US" altLang="zh-CN" sz="2800" b="1" spc="0">
                <a:ln w="3175">
                  <a:noFill/>
                  <a:prstDash val="dash"/>
                </a:ln>
                <a:solidFill>
                  <a:schemeClr val="dk1">
                    <a:lumMod val="75000"/>
                    <a:lumOff val="25000"/>
                  </a:schemeClr>
                </a:solidFill>
                <a:latin typeface="Roboto"/>
                <a:ea typeface="Roboto"/>
                <a:cs typeface="Arial"/>
                <a:sym typeface="+mn-ea"/>
              </a:rPr>
              <a:t>Comparison</a:t>
            </a:r>
            <a:r>
              <a:rPr lang="en-US" altLang="zh-CN" sz="2800" b="1" strike="noStrike" spc="0">
                <a:ln w="3175">
                  <a:noFill/>
                  <a:prstDash val="dash"/>
                </a:ln>
                <a:solidFill>
                  <a:schemeClr val="dk1">
                    <a:lumMod val="75000"/>
                    <a:lumOff val="25000"/>
                  </a:schemeClr>
                </a:solidFill>
                <a:uFillTx/>
                <a:latin typeface="Roboto"/>
                <a:ea typeface="Roboto"/>
                <a:cs typeface="Arial"/>
                <a:sym typeface="+mn-ea"/>
              </a:rPr>
              <a:t> Analysis</a:t>
            </a:r>
            <a:endParaRPr lang="en-US" altLang="zh-CN" sz="2800" b="1" strike="noStrike" spc="0">
              <a:ln w="3175">
                <a:noFill/>
                <a:prstDash val="dash"/>
              </a:ln>
              <a:solidFill>
                <a:schemeClr val="dk1">
                  <a:lumMod val="75000"/>
                  <a:lumOff val="25000"/>
                </a:schemeClr>
              </a:solidFill>
              <a:uFillTx/>
              <a:latin typeface="Roboto"/>
              <a:ea typeface="Roboto"/>
              <a:cs typeface="Arial"/>
            </a:endParaRPr>
          </a:p>
          <a:p>
            <a:pPr lvl="0" algn="ctr" fontAlgn="ctr">
              <a:lnSpc>
                <a:spcPts val="4500"/>
              </a:lnSpc>
              <a:spcBef>
                <a:spcPts val="0"/>
              </a:spcBef>
              <a:spcAft>
                <a:spcPts val="800"/>
              </a:spcAft>
              <a:buSzPct val="100000"/>
            </a:pPr>
            <a:r>
              <a:rPr lang="en-US" altLang="zh-CN" sz="2800" b="1" strike="noStrike"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Quick Installation Guide &amp; Web UI Introduction</a:t>
            </a:r>
          </a:p>
          <a:p>
            <a:pPr lvl="0" algn="ctr" fontAlgn="ctr">
              <a:lnSpc>
                <a:spcPts val="4500"/>
              </a:lnSpc>
              <a:spcBef>
                <a:spcPts val="0"/>
              </a:spcBef>
              <a:spcAft>
                <a:spcPts val="800"/>
              </a:spcAft>
              <a:buSzPct val="100000"/>
            </a:pPr>
            <a:r>
              <a:rPr lang="en-US" altLang="zh-CN" sz="2800" b="1" strike="noStrike"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 &amp; A Session</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cxnSp>
        <p:nvCxnSpPr>
          <p:cNvPr id="11" name="直接连接符 10"/>
          <p:cNvCxnSpPr/>
          <p:nvPr>
            <p:custDataLst>
              <p:tags r:id="rId3"/>
            </p:custDataLst>
          </p:nvPr>
        </p:nvCxnSpPr>
        <p:spPr>
          <a:xfrm>
            <a:off x="8904655" y="1635474"/>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cxnSp>
        <p:nvCxnSpPr>
          <p:cNvPr id="12" name="直接连接符 11"/>
          <p:cNvCxnSpPr/>
          <p:nvPr>
            <p:custDataLst>
              <p:tags r:id="rId4"/>
            </p:custDataLst>
          </p:nvPr>
        </p:nvCxnSpPr>
        <p:spPr>
          <a:xfrm>
            <a:off x="5829257" y="5517369"/>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sp>
        <p:nvSpPr>
          <p:cNvPr id="7" name="文本框 6"/>
          <p:cNvSpPr txBox="1"/>
          <p:nvPr>
            <p:custDataLst>
              <p:tags r:id="rId5"/>
            </p:custDataLst>
          </p:nvPr>
        </p:nvSpPr>
        <p:spPr>
          <a:xfrm>
            <a:off x="457155" y="15557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Product Overview</a:t>
            </a:r>
          </a:p>
        </p:txBody>
      </p:sp>
      <p:pic>
        <p:nvPicPr>
          <p:cNvPr id="3" name="Google Shape;82;p1"/>
          <p:cNvPicPr preferRelativeResize="0"/>
          <p:nvPr/>
        </p:nvPicPr>
        <p:blipFill>
          <a:blip r:embed="rId9"/>
          <a:stretch>
            <a:fillRect/>
          </a:stretch>
        </p:blipFill>
        <p:spPr>
          <a:xfrm>
            <a:off x="9652104" y="6056488"/>
            <a:ext cx="2241019" cy="440200"/>
          </a:xfrm>
          <a:prstGeom prst="rect">
            <a:avLst/>
          </a:prstGeom>
          <a:noFill/>
          <a:ln>
            <a:noFill/>
          </a:ln>
        </p:spPr>
      </p:pic>
      <p:sp>
        <p:nvSpPr>
          <p:cNvPr id="14" name="Title 6"/>
          <p:cNvSpPr txBox="1"/>
          <p:nvPr>
            <p:custDataLst>
              <p:tags r:id="rId6"/>
            </p:custDataLst>
          </p:nvPr>
        </p:nvSpPr>
        <p:spPr>
          <a:xfrm>
            <a:off x="5765164" y="1843262"/>
            <a:ext cx="5862319" cy="350710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ts val="2600"/>
              </a:lnSpc>
              <a:spcBef>
                <a:spcPts val="0"/>
              </a:spcBef>
              <a:spcAft>
                <a:spcPts val="800"/>
              </a:spcAft>
              <a:buSzPct val="100000"/>
              <a:buFont typeface="Wingdings" panose="05000000000000000000" charset="0"/>
              <a:buNone/>
            </a:pPr>
            <a:r>
              <a:rPr sz="29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Powerful Wireless Presentation and Conferencing System</a:t>
            </a:r>
          </a:p>
          <a:p>
            <a:pPr marL="0" lvl="0" indent="-285750" algn="l" fontAlgn="ctr">
              <a:lnSpc>
                <a:spcPct val="120000"/>
              </a:lnSpc>
              <a:spcBef>
                <a:spcPts val="0"/>
              </a:spcBef>
              <a:spcAft>
                <a:spcPts val="800"/>
              </a:spcAft>
              <a:buSzPct val="100000"/>
              <a:buFont typeface="Wingdings" panose="05000000000000000000" charset="0"/>
              <a:buNone/>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The “SW-640L-TX-W” wireless presentation switcher, when paired with the APO-DG2 or APO-DG2-PRO USB-C casting dongle, forms a powerful 4K wireless presentation and conferencing system. This setup ensures a seamless and superior hybrid meeting experience.</a:t>
            </a:r>
          </a:p>
          <a:p>
            <a:pPr marL="0" lvl="0" indent="-285750" algn="l" fontAlgn="ctr">
              <a:lnSpc>
                <a:spcPct val="120000"/>
              </a:lnSpc>
              <a:spcBef>
                <a:spcPts val="0"/>
              </a:spcBef>
              <a:spcAft>
                <a:spcPts val="800"/>
              </a:spcAft>
              <a:buSzPct val="100000"/>
              <a:buFont typeface="Wingdings" panose="05000000000000000000" charset="0"/>
              <a:buNone/>
            </a:pPr>
            <a:r>
              <a:rPr lang="en-US" sz="1400" spc="0">
                <a:ln w="3175">
                  <a:noFill/>
                  <a:prstDash val="dash"/>
                </a:ln>
                <a:solidFill>
                  <a:schemeClr val="dk1">
                    <a:lumMod val="75000"/>
                    <a:lumOff val="25000"/>
                  </a:schemeClr>
                </a:solidFill>
                <a:uFillTx/>
                <a:latin typeface="Roboto"/>
                <a:ea typeface="Roboto"/>
                <a:cs typeface="Arial"/>
              </a:rPr>
              <a:t>Built on the strengths of its predecessors, </a:t>
            </a:r>
            <a:r>
              <a:rPr lang="en-US" sz="1400" spc="0">
                <a:ln w="3175">
                  <a:noFill/>
                  <a:prstDash val="dash"/>
                </a:ln>
                <a:solidFill>
                  <a:schemeClr val="dk1">
                    <a:lumMod val="75000"/>
                    <a:lumOff val="25000"/>
                  </a:schemeClr>
                </a:solidFill>
                <a:latin typeface="Roboto"/>
                <a:ea typeface="Roboto"/>
                <a:cs typeface="Arial"/>
              </a:rPr>
              <a:t>the</a:t>
            </a:r>
            <a:r>
              <a:rPr lang="en-US" sz="1400" spc="0">
                <a:ln w="3175">
                  <a:noFill/>
                  <a:prstDash val="dash"/>
                </a:ln>
                <a:solidFill>
                  <a:schemeClr val="dk1">
                    <a:lumMod val="75000"/>
                    <a:lumOff val="25000"/>
                  </a:schemeClr>
                </a:solidFill>
                <a:uFillTx/>
                <a:latin typeface="Roboto"/>
                <a:ea typeface="Roboto"/>
                <a:cs typeface="Arial"/>
              </a:rPr>
              <a:t> </a:t>
            </a:r>
            <a:r>
              <a:rPr lang="en-US" sz="1400" b="1" spc="0">
                <a:ln w="3175">
                  <a:noFill/>
                  <a:prstDash val="dash"/>
                </a:ln>
                <a:solidFill>
                  <a:schemeClr val="dk1">
                    <a:lumMod val="75000"/>
                    <a:lumOff val="25000"/>
                  </a:schemeClr>
                </a:solidFill>
                <a:uFillTx/>
                <a:latin typeface="Roboto"/>
                <a:ea typeface="Roboto"/>
                <a:cs typeface="Arial"/>
              </a:rPr>
              <a:t>SW-640L-TX-W</a:t>
            </a:r>
            <a:r>
              <a:rPr lang="en-US" sz="1400" spc="0">
                <a:ln w="3175">
                  <a:noFill/>
                  <a:prstDash val="dash"/>
                </a:ln>
                <a:solidFill>
                  <a:schemeClr val="dk1">
                    <a:lumMod val="75000"/>
                    <a:lumOff val="25000"/>
                  </a:schemeClr>
                </a:solidFill>
                <a:uFillTx/>
                <a:latin typeface="Roboto"/>
                <a:ea typeface="Roboto"/>
                <a:cs typeface="Arial"/>
              </a:rPr>
              <a:t> offers 2x full-featured USB-C inputs and 2x HDMI inputs/outputs, providing unparalleled flexibility and options.</a:t>
            </a:r>
          </a:p>
          <a:p>
            <a:pPr marL="0" lvl="0" indent="-285750" algn="l" fontAlgn="ctr">
              <a:lnSpc>
                <a:spcPct val="120000"/>
              </a:lnSpc>
              <a:spcBef>
                <a:spcPts val="0"/>
              </a:spcBef>
              <a:spcAft>
                <a:spcPts val="800"/>
              </a:spcAft>
              <a:buSzPct val="100000"/>
              <a:buFont typeface="Wingdings" panose="05000000000000000000" charset="0"/>
              <a:buNone/>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This system is ideal for small to medium-sized meeting rooms and classrooms, effortlessly meeting diverse practical needs and enhancing overall efficiency.</a:t>
            </a:r>
          </a:p>
        </p:txBody>
      </p:sp>
      <p:sp>
        <p:nvSpPr>
          <p:cNvPr id="2"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pic>
        <p:nvPicPr>
          <p:cNvPr id="6" name="Picture 5" descr="A back of a black device&#10;&#10;Description automatically generated"/>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755387" y="1446673"/>
            <a:ext cx="11279763" cy="6345275"/>
          </a:xfrm>
          <a:prstGeom prst="rect">
            <a:avLst/>
          </a:prstGeom>
        </p:spPr>
      </p:pic>
      <p:pic>
        <p:nvPicPr>
          <p:cNvPr id="5" name="Picture 4" descr="A close up of a device&#10;&#10;Description automatically generated"/>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4995488">
            <a:off x="1710978" y="221901"/>
            <a:ext cx="2347034" cy="4394810"/>
          </a:xfrm>
          <a:prstGeom prst="rect">
            <a:avLst/>
          </a:prstGeom>
          <a:effectLst>
            <a:outerShdw blurRad="50800" dist="38100" dir="5400000" algn="t" rotWithShape="0">
              <a:prstClr val="black">
                <a:alpha val="40000"/>
              </a:prstClr>
            </a:outerShdw>
          </a:effectLst>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18" name="文本框 17"/>
          <p:cNvSpPr txBox="1"/>
          <p:nvPr>
            <p:custDataLst>
              <p:tags r:id="rId1"/>
            </p:custDataLst>
          </p:nvPr>
        </p:nvSpPr>
        <p:spPr>
          <a:xfrm>
            <a:off x="1377950" y="1276350"/>
            <a:ext cx="4599940" cy="2964722"/>
          </a:xfrm>
          <a:prstGeom prst="rect">
            <a:avLst/>
          </a:prstGeom>
          <a:noFill/>
        </p:spPr>
        <p:txBody>
          <a:bodyPr wrap="square" lIns="91440" tIns="45720" rIns="91440" bIns="45720" rtlCol="0" anchor="t">
            <a:spAutoFit/>
          </a:bodyPr>
          <a:lstStyle/>
          <a:p>
            <a:pPr indent="0" algn="l" fontAlgn="auto">
              <a:lnSpc>
                <a:spcPts val="1500"/>
              </a:lnSpc>
              <a:spcBef>
                <a:spcPts val="0"/>
              </a:spcBef>
              <a:spcAft>
                <a:spcPts val="0"/>
              </a:spcAft>
              <a:buClrTx/>
              <a:buSzTx/>
              <a:buFont typeface="Wingdings" panose="05000000000000000000" pitchFamily="2" charset="2"/>
              <a:buNone/>
            </a:pPr>
            <a:r>
              <a:rPr lang="en-US" sz="1400" b="1">
                <a:solidFill>
                  <a:srgbClr val="0B7935"/>
                </a:solidFill>
                <a:latin typeface="Roboto" charset="0"/>
                <a:ea typeface="Roboto" charset="0"/>
                <a:cs typeface="Roboto" charset="0"/>
                <a:sym typeface="+mn-ea"/>
              </a:rPr>
              <a:t>Comprehensive Input Options</a:t>
            </a:r>
          </a:p>
          <a:p>
            <a:pPr indent="0" algn="l" fontAlgn="auto">
              <a:lnSpc>
                <a:spcPts val="1500"/>
              </a:lnSpc>
              <a:spcBef>
                <a:spcPts val="0"/>
              </a:spcBef>
              <a:spcAft>
                <a:spcPts val="0"/>
              </a:spcAft>
              <a:buClrTx/>
              <a:buSzTx/>
              <a:buFont typeface="Wingdings" panose="05000000000000000000" pitchFamily="2" charset="2"/>
              <a:buNone/>
            </a:pPr>
            <a:r>
              <a:rPr lang="en-US" altLang="zh-CN" sz="1200">
                <a:solidFill>
                  <a:schemeClr val="tx1">
                    <a:lumMod val="75000"/>
                    <a:lumOff val="25000"/>
                  </a:schemeClr>
                </a:solidFill>
                <a:latin typeface="Arial" panose="020B0604020202020204" pitchFamily="34" charset="0"/>
                <a:ea typeface="Roboto" charset="0"/>
                <a:cs typeface="Arial" panose="020B0604020202020204" pitchFamily="34" charset="0"/>
                <a:sym typeface="+mn-ea"/>
              </a:rPr>
              <a:t>Offers a variety of inputs, including USB-C and HDMI, ensuring compatibility with devices used in conferences, meetings, and educational settings.</a:t>
            </a:r>
          </a:p>
          <a:p>
            <a:pPr indent="0" algn="l" fontAlgn="auto">
              <a:lnSpc>
                <a:spcPts val="1500"/>
              </a:lnSpc>
              <a:spcBef>
                <a:spcPts val="0"/>
              </a:spcBef>
              <a:spcAft>
                <a:spcPts val="0"/>
              </a:spcAft>
              <a:buClrTx/>
              <a:buSzTx/>
              <a:buFont typeface="Wingdings" panose="05000000000000000000" pitchFamily="2" charset="2"/>
              <a:buNone/>
            </a:pPr>
            <a:endParaRPr lang="en-US" sz="1200" b="1">
              <a:solidFill>
                <a:srgbClr val="71BF44"/>
              </a:solidFill>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sz="1400" b="1">
                <a:solidFill>
                  <a:srgbClr val="0B7935"/>
                </a:solidFill>
                <a:latin typeface="Roboto" charset="0"/>
                <a:ea typeface="Roboto" charset="0"/>
                <a:cs typeface="Roboto" charset="0"/>
                <a:sym typeface="+mn-ea"/>
              </a:rPr>
              <a:t>Full-Featured USB-C Support</a:t>
            </a:r>
          </a:p>
          <a:p>
            <a:pPr>
              <a:lnSpc>
                <a:spcPts val="1500"/>
              </a:lnSpc>
            </a:pPr>
            <a:r>
              <a:rPr lang="en-US" altLang="zh-CN" sz="1200">
                <a:solidFill>
                  <a:schemeClr val="tx1">
                    <a:lumMod val="75000"/>
                    <a:lumOff val="25000"/>
                  </a:schemeClr>
                </a:solidFill>
                <a:latin typeface="Arial"/>
                <a:ea typeface="Roboto"/>
                <a:cs typeface="Arial"/>
                <a:sym typeface="+mn-ea"/>
              </a:rPr>
              <a:t>The USB-C port provides 60w charging, network, video, and USB transmission through a single cable, simplifying connections and maintaining a clean and tidy workspace.</a:t>
            </a:r>
            <a:endParaRPr lang="en-US" altLang="zh-CN" sz="1200">
              <a:solidFill>
                <a:schemeClr val="tx1">
                  <a:lumMod val="75000"/>
                  <a:lumOff val="25000"/>
                </a:schemeClr>
              </a:solidFill>
              <a:latin typeface="Arial"/>
              <a:ea typeface="Roboto"/>
              <a:cs typeface="Arial"/>
            </a:endParaRPr>
          </a:p>
          <a:p>
            <a:pPr indent="0" algn="l" fontAlgn="auto">
              <a:lnSpc>
                <a:spcPts val="1500"/>
              </a:lnSpc>
              <a:spcBef>
                <a:spcPts val="0"/>
              </a:spcBef>
              <a:spcAft>
                <a:spcPts val="0"/>
              </a:spcAft>
              <a:buClrTx/>
              <a:buSzTx/>
              <a:buFont typeface="Wingdings" panose="05000000000000000000" pitchFamily="2" charset="2"/>
              <a:buNone/>
            </a:pPr>
            <a:endParaRPr lang="en-US" altLang="zh-CN" sz="1200">
              <a:latin typeface="Roboto" charset="0"/>
              <a:ea typeface="Roboto" charset="0"/>
              <a:cs typeface="Roboto" charset="0"/>
              <a:sym typeface="+mn-ea"/>
            </a:endParaRPr>
          </a:p>
          <a:p>
            <a:pPr>
              <a:lnSpc>
                <a:spcPts val="1500"/>
              </a:lnSpc>
            </a:pPr>
            <a:r>
              <a:rPr lang="en-US" sz="1400" b="1">
                <a:solidFill>
                  <a:srgbClr val="0B7935"/>
                </a:solidFill>
                <a:latin typeface="Roboto"/>
                <a:ea typeface="Roboto"/>
                <a:cs typeface="Roboto"/>
                <a:sym typeface="+mn-ea"/>
              </a:rPr>
              <a:t>Multiview &amp; MST Support </a:t>
            </a:r>
            <a:endParaRPr lang="en-US" sz="1200" spc="40">
              <a:ln w="3175">
                <a:noFill/>
                <a:prstDash val="dash"/>
              </a:ln>
              <a:solidFill>
                <a:schemeClr val="tx1">
                  <a:lumMod val="75000"/>
                  <a:lumOff val="25000"/>
                </a:schemeClr>
              </a:solidFill>
              <a:latin typeface="Arial"/>
              <a:ea typeface="微软雅黑"/>
              <a:cs typeface="Arial"/>
              <a:sym typeface="+mn-ea"/>
            </a:endParaRPr>
          </a:p>
          <a:p>
            <a:pPr>
              <a:lnSpc>
                <a:spcPts val="1500"/>
              </a:lnSpc>
            </a:pPr>
            <a:r>
              <a:rPr lang="en-US" altLang="zh-CN" sz="1200">
                <a:solidFill>
                  <a:schemeClr val="tx1">
                    <a:lumMod val="75000"/>
                    <a:lumOff val="25000"/>
                  </a:schemeClr>
                </a:solidFill>
                <a:latin typeface="Arial"/>
                <a:ea typeface="Roboto"/>
                <a:cs typeface="Arial"/>
                <a:sym typeface="+mn-ea"/>
              </a:rPr>
              <a:t>Displays up to 4 video sources simultaneously when single screen connection. MST over one USB-C cable p</a:t>
            </a:r>
            <a:r>
              <a:rPr sz="1200" spc="40">
                <a:ln w="3175">
                  <a:noFill/>
                  <a:prstDash val="dash"/>
                </a:ln>
                <a:solidFill>
                  <a:schemeClr val="dk1">
                    <a:lumMod val="75000"/>
                    <a:lumOff val="25000"/>
                  </a:schemeClr>
                </a:solidFill>
                <a:uFillTx/>
                <a:latin typeface="Arial"/>
                <a:ea typeface="微软雅黑"/>
                <a:cs typeface="Arial"/>
                <a:sym typeface="+mn-ea"/>
              </a:rPr>
              <a:t>rovides</a:t>
            </a:r>
            <a:r>
              <a:rPr lang="en-US" altLang="zh-CN" sz="1200" spc="40">
                <a:ln w="3175">
                  <a:noFill/>
                  <a:prstDash val="dash"/>
                </a:ln>
                <a:solidFill>
                  <a:schemeClr val="dk1">
                    <a:lumMod val="75000"/>
                    <a:lumOff val="25000"/>
                  </a:schemeClr>
                </a:solidFill>
                <a:latin typeface="Arial"/>
                <a:ea typeface="微软雅黑"/>
                <a:cs typeface="Arial"/>
                <a:sym typeface="+mn-ea"/>
              </a:rPr>
              <a:t> </a:t>
            </a:r>
            <a:r>
              <a:rPr lang="en-US" sz="1200" spc="40">
                <a:ln w="3175">
                  <a:noFill/>
                  <a:prstDash val="dash"/>
                </a:ln>
                <a:solidFill>
                  <a:schemeClr val="dk1">
                    <a:lumMod val="75000"/>
                    <a:lumOff val="25000"/>
                  </a:schemeClr>
                </a:solidFill>
                <a:latin typeface="Arial"/>
                <a:ea typeface="微软雅黑"/>
                <a:cs typeface="Arial"/>
                <a:sym typeface="+mn-ea"/>
              </a:rPr>
              <a:t>two extension displays</a:t>
            </a:r>
            <a:r>
              <a:rPr sz="1200" spc="40">
                <a:ln w="3175">
                  <a:noFill/>
                  <a:prstDash val="dash"/>
                </a:ln>
                <a:solidFill>
                  <a:schemeClr val="dk1">
                    <a:lumMod val="75000"/>
                    <a:lumOff val="25000"/>
                  </a:schemeClr>
                </a:solidFill>
                <a:uFillTx/>
                <a:latin typeface="Arial"/>
                <a:ea typeface="微软雅黑"/>
                <a:cs typeface="Arial"/>
                <a:sym typeface="+mn-ea"/>
              </a:rPr>
              <a:t> </a:t>
            </a:r>
            <a:r>
              <a:rPr lang="en-US" sz="1200" spc="40">
                <a:ln w="3175">
                  <a:noFill/>
                  <a:prstDash val="dash"/>
                </a:ln>
                <a:solidFill>
                  <a:schemeClr val="dk1">
                    <a:lumMod val="75000"/>
                    <a:lumOff val="25000"/>
                  </a:schemeClr>
                </a:solidFill>
                <a:uFillTx/>
                <a:latin typeface="Arial"/>
                <a:ea typeface="微软雅黑"/>
                <a:cs typeface="Arial"/>
                <a:sym typeface="+mn-ea"/>
              </a:rPr>
              <a:t>with dual HDMI outputs.</a:t>
            </a:r>
            <a:endParaRPr sz="1200" spc="40">
              <a:ln w="3175">
                <a:noFill/>
                <a:prstDash val="dash"/>
              </a:ln>
              <a:solidFill>
                <a:schemeClr val="dk1">
                  <a:lumMod val="75000"/>
                  <a:lumOff val="25000"/>
                </a:schemeClr>
              </a:solidFill>
              <a:uFillTx/>
              <a:latin typeface="Arial"/>
              <a:ea typeface="微软雅黑"/>
              <a:cs typeface="Arial"/>
            </a:endParaRPr>
          </a:p>
          <a:p>
            <a:pPr algn="l" fontAlgn="auto">
              <a:lnSpc>
                <a:spcPts val="1500"/>
              </a:lnSpc>
              <a:spcBef>
                <a:spcPts val="0"/>
              </a:spcBef>
              <a:spcAft>
                <a:spcPts val="0"/>
              </a:spcAft>
              <a:buClrTx/>
              <a:buSzTx/>
              <a:buFont typeface="Wingdings" panose="05000000000000000000" pitchFamily="2" charset="2"/>
              <a:buNone/>
            </a:pPr>
            <a:endParaRPr lang="en-US" altLang="zh-CN" sz="120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8" name="文本框 7"/>
          <p:cNvSpPr txBox="1"/>
          <p:nvPr>
            <p:custDataLst>
              <p:tags r:id="rId2"/>
            </p:custDataLst>
          </p:nvPr>
        </p:nvSpPr>
        <p:spPr>
          <a:xfrm>
            <a:off x="6875023" y="1121952"/>
            <a:ext cx="4599940" cy="2002921"/>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endParaRPr lang="en-US" sz="1200" b="1">
              <a:solidFill>
                <a:srgbClr val="71BF44"/>
              </a:solidFill>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sz="1400" b="1">
                <a:solidFill>
                  <a:srgbClr val="0B7935"/>
                </a:solidFill>
                <a:latin typeface="Roboto" charset="0"/>
                <a:ea typeface="Roboto" charset="0"/>
                <a:cs typeface="Roboto" charset="0"/>
                <a:sym typeface="+mn-ea"/>
              </a:rPr>
              <a:t>Reliable and High-Quality Resolution</a:t>
            </a:r>
          </a:p>
          <a:p>
            <a:pPr indent="0" algn="l" fontAlgn="auto">
              <a:lnSpc>
                <a:spcPts val="1500"/>
              </a:lnSpc>
              <a:spcBef>
                <a:spcPts val="0"/>
              </a:spcBef>
              <a:spcAft>
                <a:spcPts val="0"/>
              </a:spcAft>
              <a:buClrTx/>
              <a:buSzTx/>
              <a:buFont typeface="Wingdings" panose="05000000000000000000" pitchFamily="2" charset="2"/>
              <a:buNone/>
            </a:pPr>
            <a:r>
              <a:rPr lang="en-US" altLang="zh-CN" sz="1200">
                <a:solidFill>
                  <a:schemeClr val="tx1">
                    <a:lumMod val="75000"/>
                    <a:lumOff val="25000"/>
                  </a:schemeClr>
                </a:solidFill>
                <a:latin typeface="Arial" panose="020B0604020202020204" pitchFamily="34" charset="0"/>
                <a:ea typeface="Roboto" charset="0"/>
                <a:cs typeface="Arial" panose="020B0604020202020204" pitchFamily="34" charset="0"/>
                <a:sym typeface="+mn-ea"/>
              </a:rPr>
              <a:t>4K resolution guarantees sharp and clear video, delivering a fully immersive presentation experience.</a:t>
            </a:r>
          </a:p>
          <a:p>
            <a:pPr indent="0" algn="l" fontAlgn="auto">
              <a:lnSpc>
                <a:spcPts val="1500"/>
              </a:lnSpc>
              <a:spcBef>
                <a:spcPts val="0"/>
              </a:spcBef>
              <a:spcAft>
                <a:spcPts val="0"/>
              </a:spcAft>
              <a:buClrTx/>
              <a:buSzTx/>
              <a:buFont typeface="Wingdings" panose="05000000000000000000" pitchFamily="2" charset="2"/>
              <a:buNone/>
            </a:pPr>
            <a:endParaRPr lang="en-US" sz="1200" b="1">
              <a:solidFill>
                <a:srgbClr val="71BF44"/>
              </a:solidFill>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sz="1400" b="1">
                <a:solidFill>
                  <a:srgbClr val="0B7935"/>
                </a:solidFill>
                <a:latin typeface="Roboto" charset="0"/>
                <a:ea typeface="Roboto" charset="0"/>
                <a:cs typeface="Roboto" charset="0"/>
                <a:sym typeface="+mn-ea"/>
              </a:rPr>
              <a:t>Balanced Audio De-embedding</a:t>
            </a:r>
          </a:p>
          <a:p>
            <a:pPr algn="l" fontAlgn="auto">
              <a:lnSpc>
                <a:spcPts val="1500"/>
              </a:lnSpc>
              <a:spcBef>
                <a:spcPts val="0"/>
              </a:spcBef>
              <a:spcAft>
                <a:spcPts val="0"/>
              </a:spcAft>
              <a:buClrTx/>
              <a:buSzTx/>
              <a:buFont typeface="Wingdings" panose="05000000000000000000" pitchFamily="2" charset="2"/>
              <a:buNone/>
            </a:pPr>
            <a:r>
              <a:rPr lang="en-US" altLang="zh-CN" sz="1200">
                <a:solidFill>
                  <a:schemeClr val="tx1">
                    <a:lumMod val="75000"/>
                    <a:lumOff val="25000"/>
                  </a:schemeClr>
                </a:solidFill>
                <a:latin typeface="Arial" panose="020B0604020202020204" pitchFamily="34" charset="0"/>
                <a:ea typeface="Roboto" charset="0"/>
                <a:cs typeface="Arial" panose="020B0604020202020204" pitchFamily="34" charset="0"/>
                <a:sym typeface="+mn-ea"/>
              </a:rPr>
              <a:t>Independent de-embedding audio works seamlessly with external audio systems. When paired with a professional amplifier, speaker, and mic, it creates a more immersive audio experience for presenters and participants.</a:t>
            </a:r>
          </a:p>
        </p:txBody>
      </p:sp>
      <p:sp>
        <p:nvSpPr>
          <p:cNvPr id="6" name="文本框 5"/>
          <p:cNvSpPr txBox="1"/>
          <p:nvPr>
            <p:custDataLst>
              <p:tags r:id="rId3"/>
            </p:custDataLst>
          </p:nvPr>
        </p:nvSpPr>
        <p:spPr>
          <a:xfrm>
            <a:off x="1351915" y="4101465"/>
            <a:ext cx="4622800" cy="2399665"/>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r>
              <a:rPr lang="en-US" sz="1400" b="1">
                <a:solidFill>
                  <a:srgbClr val="0B7935"/>
                </a:solidFill>
                <a:latin typeface="Roboto" charset="0"/>
                <a:ea typeface="Roboto" charset="0"/>
                <a:cs typeface="Roboto" charset="0"/>
                <a:sym typeface="+mn-ea"/>
              </a:rPr>
              <a:t>KVM Switch for Display</a:t>
            </a:r>
          </a:p>
          <a:p>
            <a:pPr algn="l" fontAlgn="auto">
              <a:lnSpc>
                <a:spcPts val="1500"/>
              </a:lnSpc>
              <a:spcBef>
                <a:spcPts val="0"/>
              </a:spcBef>
              <a:spcAft>
                <a:spcPts val="0"/>
              </a:spcAft>
              <a:buClrTx/>
              <a:buSzTx/>
              <a:buFont typeface="Wingdings" panose="05000000000000000000" pitchFamily="2" charset="2"/>
              <a:buNone/>
            </a:pPr>
            <a:r>
              <a:rPr lang="en-US" altLang="zh-CN" sz="1200">
                <a:solidFill>
                  <a:schemeClr val="tx1">
                    <a:lumMod val="75000"/>
                    <a:lumOff val="25000"/>
                  </a:schemeClr>
                </a:solidFill>
                <a:latin typeface="Arial" panose="020B0604020202020204" pitchFamily="34" charset="0"/>
                <a:ea typeface="Roboto" charset="0"/>
                <a:cs typeface="Arial" panose="020B0604020202020204" pitchFamily="34" charset="0"/>
                <a:sym typeface="+mn-ea"/>
              </a:rPr>
              <a:t>Includes USB 3.0 (Device and Host) ports for cameras, speakerphones, and keyboards. Perfect for hybrid meetings and education, it simplifies cable management and allows easy switching between devices using a single hub, streamlining workflows.</a:t>
            </a:r>
          </a:p>
          <a:p>
            <a:pPr indent="0" algn="l" fontAlgn="auto">
              <a:lnSpc>
                <a:spcPts val="1500"/>
              </a:lnSpc>
              <a:spcBef>
                <a:spcPts val="0"/>
              </a:spcBef>
              <a:spcAft>
                <a:spcPts val="0"/>
              </a:spcAft>
              <a:buClrTx/>
              <a:buSzTx/>
              <a:buFont typeface="Wingdings" panose="05000000000000000000" pitchFamily="2" charset="2"/>
              <a:buNone/>
            </a:pPr>
            <a:endParaRPr lang="en-US" altLang="zh-CN" sz="1200">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sz="1400" b="1">
                <a:solidFill>
                  <a:srgbClr val="0B7935"/>
                </a:solidFill>
                <a:latin typeface="Roboto" charset="0"/>
                <a:ea typeface="Roboto" charset="0"/>
                <a:cs typeface="Roboto" charset="0"/>
                <a:sym typeface="+mn-ea"/>
              </a:rPr>
              <a:t>Centralized Control and Automation</a:t>
            </a:r>
          </a:p>
          <a:p>
            <a:pPr indent="0" algn="l" fontAlgn="auto">
              <a:lnSpc>
                <a:spcPts val="1500"/>
              </a:lnSpc>
              <a:spcBef>
                <a:spcPts val="0"/>
              </a:spcBef>
              <a:spcAft>
                <a:spcPts val="0"/>
              </a:spcAft>
              <a:buClrTx/>
              <a:buSzTx/>
              <a:buFont typeface="Wingdings" panose="05000000000000000000" pitchFamily="2" charset="2"/>
              <a:buNone/>
            </a:pPr>
            <a:r>
              <a:rPr lang="en-US" altLang="zh-CN" sz="1200">
                <a:solidFill>
                  <a:schemeClr val="tx1">
                    <a:lumMod val="75000"/>
                    <a:lumOff val="25000"/>
                  </a:schemeClr>
                </a:solidFill>
                <a:latin typeface="Arial" panose="020B0604020202020204" pitchFamily="34" charset="0"/>
                <a:ea typeface="Roboto" charset="0"/>
                <a:cs typeface="Arial" panose="020B0604020202020204" pitchFamily="34" charset="0"/>
                <a:sym typeface="+mn-ea"/>
              </a:rPr>
              <a:t>Offers various control methods, such as RS232, Relay, API, and Web-UI, enabling remote monitoring and control of the presentation system. Provides real-time access to system status, configuration, and performance.</a:t>
            </a:r>
          </a:p>
        </p:txBody>
      </p:sp>
      <p:sp>
        <p:nvSpPr>
          <p:cNvPr id="9" name="文本框 8"/>
          <p:cNvSpPr txBox="1"/>
          <p:nvPr>
            <p:custDataLst>
              <p:tags r:id="rId4"/>
            </p:custDataLst>
          </p:nvPr>
        </p:nvSpPr>
        <p:spPr>
          <a:xfrm>
            <a:off x="6875145" y="3268345"/>
            <a:ext cx="4882039" cy="1810560"/>
          </a:xfrm>
          <a:prstGeom prst="rect">
            <a:avLst/>
          </a:prstGeom>
          <a:noFill/>
        </p:spPr>
        <p:txBody>
          <a:bodyPr wrap="square" lIns="91440" tIns="45720" rIns="91440" bIns="45720" rtlCol="0" anchor="t">
            <a:spAutoFit/>
          </a:bodyPr>
          <a:lstStyle/>
          <a:p>
            <a:pPr indent="0" algn="l" fontAlgn="auto">
              <a:lnSpc>
                <a:spcPts val="1500"/>
              </a:lnSpc>
              <a:spcBef>
                <a:spcPts val="0"/>
              </a:spcBef>
              <a:spcAft>
                <a:spcPts val="0"/>
              </a:spcAft>
              <a:buClrTx/>
              <a:buSzTx/>
              <a:buFont typeface="Wingdings" panose="05000000000000000000" pitchFamily="2" charset="2"/>
              <a:buNone/>
            </a:pPr>
            <a:r>
              <a:rPr lang="en-US" sz="1400" b="1">
                <a:solidFill>
                  <a:srgbClr val="0B7935"/>
                </a:solidFill>
                <a:latin typeface="Roboto"/>
                <a:ea typeface="Roboto"/>
                <a:cs typeface="Roboto"/>
                <a:sym typeface="+mn-ea"/>
              </a:rPr>
              <a:t>Versatile and </a:t>
            </a:r>
            <a:r>
              <a:rPr lang="en-US" sz="1400" b="1" err="1">
                <a:solidFill>
                  <a:srgbClr val="0B7935"/>
                </a:solidFill>
                <a:latin typeface="Roboto"/>
                <a:ea typeface="Roboto"/>
                <a:cs typeface="Roboto"/>
                <a:sym typeface="+mn-ea"/>
              </a:rPr>
              <a:t>Flexbile</a:t>
            </a:r>
            <a:r>
              <a:rPr lang="en-US" sz="1400" b="1">
                <a:solidFill>
                  <a:srgbClr val="0B7935"/>
                </a:solidFill>
                <a:latin typeface="Roboto"/>
                <a:ea typeface="Roboto"/>
                <a:cs typeface="Roboto"/>
                <a:sym typeface="+mn-ea"/>
              </a:rPr>
              <a:t> Ethernet</a:t>
            </a:r>
          </a:p>
          <a:p>
            <a:pPr indent="0" algn="l" fontAlgn="auto">
              <a:lnSpc>
                <a:spcPts val="1500"/>
              </a:lnSpc>
              <a:spcBef>
                <a:spcPts val="0"/>
              </a:spcBef>
              <a:spcAft>
                <a:spcPts val="0"/>
              </a:spcAft>
              <a:buClrTx/>
              <a:buSzTx/>
              <a:buFont typeface="Wingdings" panose="05000000000000000000" pitchFamily="2" charset="2"/>
              <a:buNone/>
            </a:pPr>
            <a:r>
              <a:rPr lang="en-US" altLang="zh-CN" sz="1200">
                <a:solidFill>
                  <a:schemeClr val="tx1">
                    <a:lumMod val="75000"/>
                    <a:lumOff val="25000"/>
                  </a:schemeClr>
                </a:solidFill>
                <a:latin typeface="Arial" panose="020B0604020202020204" pitchFamily="34" charset="0"/>
                <a:ea typeface="Roboto" charset="0"/>
                <a:cs typeface="Arial" panose="020B0604020202020204" pitchFamily="34" charset="0"/>
                <a:sym typeface="+mn-ea"/>
              </a:rPr>
              <a:t>Advanced Ethernet capabilities provide a reliable network environment, enhancing interactive experiences, especially during hybrid meetings and education. Ethernet Bridge and Ethernet Isolation ensure a stable and secure usage experience.</a:t>
            </a:r>
          </a:p>
          <a:p>
            <a:pPr indent="0" algn="l" fontAlgn="auto">
              <a:lnSpc>
                <a:spcPts val="1500"/>
              </a:lnSpc>
              <a:spcBef>
                <a:spcPts val="0"/>
              </a:spcBef>
              <a:spcAft>
                <a:spcPts val="0"/>
              </a:spcAft>
              <a:buClrTx/>
              <a:buSzTx/>
              <a:buFont typeface="Wingdings" panose="05000000000000000000" pitchFamily="2" charset="2"/>
              <a:buNone/>
            </a:pPr>
            <a:endParaRPr lang="en-US" altLang="zh-CN" sz="1200">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altLang="zh-CN" sz="1400" b="1">
                <a:solidFill>
                  <a:srgbClr val="0B7935"/>
                </a:solidFill>
                <a:latin typeface="Roboto" charset="0"/>
                <a:ea typeface="Roboto" charset="0"/>
                <a:cs typeface="Roboto" charset="0"/>
                <a:sym typeface="+mn-ea"/>
              </a:rPr>
              <a:t>Wireless Casting Support</a:t>
            </a:r>
          </a:p>
          <a:p>
            <a:pPr algn="l">
              <a:lnSpc>
                <a:spcPts val="1500"/>
              </a:lnSpc>
              <a:spcBef>
                <a:spcPts val="0"/>
              </a:spcBef>
              <a:spcAft>
                <a:spcPts val="0"/>
              </a:spcAft>
              <a:buClrTx/>
              <a:buSzTx/>
              <a:buFont typeface="Wingdings" panose="05000000000000000000" pitchFamily="2" charset="2"/>
            </a:pPr>
            <a:r>
              <a:rPr lang="en-US" altLang="zh-CN" sz="1200">
                <a:solidFill>
                  <a:schemeClr val="tx1">
                    <a:lumMod val="75000"/>
                    <a:lumOff val="25000"/>
                  </a:schemeClr>
                </a:solidFill>
                <a:latin typeface="Arial"/>
                <a:ea typeface="Roboto"/>
                <a:cs typeface="Arial"/>
                <a:sym typeface="+mn-ea"/>
              </a:rPr>
              <a:t>Supports multiple presentation methods for classes or meetings, including Airplay mirroring, Miracast, and Dongle. </a:t>
            </a:r>
            <a:endParaRPr lang="en-US" altLang="zh-CN" sz="1200">
              <a:solidFill>
                <a:schemeClr val="tx1">
                  <a:lumMod val="75000"/>
                  <a:lumOff val="25000"/>
                </a:schemeClr>
              </a:solidFill>
              <a:latin typeface="Arial"/>
              <a:ea typeface="Roboto"/>
              <a:cs typeface="Arial"/>
            </a:endParaRPr>
          </a:p>
        </p:txBody>
      </p:sp>
      <p:sp>
        <p:nvSpPr>
          <p:cNvPr id="22" name="矩形 7"/>
          <p:cNvSpPr/>
          <p:nvPr>
            <p:custDataLst>
              <p:tags r:id="rId5"/>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10" name="Google Shape;82;p1"/>
          <p:cNvPicPr preferRelativeResize="0"/>
          <p:nvPr/>
        </p:nvPicPr>
        <p:blipFill>
          <a:blip r:embed="rId10"/>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21" name="文本框 6"/>
          <p:cNvSpPr txBox="1"/>
          <p:nvPr>
            <p:custDataLst>
              <p:tags r:id="rId6"/>
            </p:custDataLst>
          </p:nvPr>
        </p:nvSpPr>
        <p:spPr>
          <a:xfrm>
            <a:off x="457155" y="16319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Main Features</a:t>
            </a:r>
          </a:p>
        </p:txBody>
      </p:sp>
      <p:pic>
        <p:nvPicPr>
          <p:cNvPr id="29" name="Picture 28" descr="A close up of a logo&#10;&#10;Description automatically generated"/>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337556" y="1376456"/>
            <a:ext cx="501271" cy="319960"/>
          </a:xfrm>
          <a:prstGeom prst="rect">
            <a:avLst/>
          </a:prstGeom>
        </p:spPr>
      </p:pic>
      <p:pic>
        <p:nvPicPr>
          <p:cNvPr id="31" name="Picture 30"/>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03716" y="2138768"/>
            <a:ext cx="528419" cy="480382"/>
          </a:xfrm>
          <a:prstGeom prst="rect">
            <a:avLst/>
          </a:prstGeom>
        </p:spPr>
      </p:pic>
      <p:pic>
        <p:nvPicPr>
          <p:cNvPr id="33" name="Picture 32" descr="A black background with arrows pointing to a symbol&#10;&#10;Description automatically generated"/>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98195" y="2263682"/>
            <a:ext cx="556469" cy="439318"/>
          </a:xfrm>
          <a:prstGeom prst="rect">
            <a:avLst/>
          </a:prstGeom>
        </p:spPr>
      </p:pic>
      <p:pic>
        <p:nvPicPr>
          <p:cNvPr id="35" name="Picture 34" descr="A black background with arrows&#10;&#10;Description automatically generated"/>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27195" y="4052330"/>
            <a:ext cx="638219" cy="589125"/>
          </a:xfrm>
          <a:prstGeom prst="rect">
            <a:avLst/>
          </a:prstGeom>
        </p:spPr>
      </p:pic>
      <p:pic>
        <p:nvPicPr>
          <p:cNvPr id="37" name="Picture 36" descr="A logo with lines and dots&#10;&#10;Description automatically generated"/>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18595" y="5466981"/>
            <a:ext cx="475200" cy="432001"/>
          </a:xfrm>
          <a:prstGeom prst="rect">
            <a:avLst/>
          </a:prstGeom>
        </p:spPr>
      </p:pic>
      <p:pic>
        <p:nvPicPr>
          <p:cNvPr id="39" name="Picture 38" descr="A black and grey square with white rectangles&#10;&#10;Description automatically generated"/>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79569" y="3220360"/>
            <a:ext cx="535365" cy="391730"/>
          </a:xfrm>
          <a:prstGeom prst="rect">
            <a:avLst/>
          </a:prstGeom>
        </p:spPr>
      </p:pic>
      <p:pic>
        <p:nvPicPr>
          <p:cNvPr id="41" name="Picture 40" descr="A black and white logo&#10;&#10;Description automatically generated"/>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271404" y="3325580"/>
            <a:ext cx="631141" cy="461811"/>
          </a:xfrm>
          <a:prstGeom prst="rect">
            <a:avLst/>
          </a:prstGeom>
        </p:spPr>
      </p:pic>
      <p:pic>
        <p:nvPicPr>
          <p:cNvPr id="43" name="Picture 42" descr="A black and white background with circles and dots&#10;&#10;Description automatically generated"/>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27195" y="1333305"/>
            <a:ext cx="516314" cy="424368"/>
          </a:xfrm>
          <a:prstGeom prst="rect">
            <a:avLst/>
          </a:prstGeom>
        </p:spPr>
      </p:pic>
      <p:pic>
        <p:nvPicPr>
          <p:cNvPr id="45" name="Picture 44" descr="A wifi symbol on a black background&#10;&#10;Description automatically generated"/>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264325" y="4346892"/>
            <a:ext cx="638220" cy="540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400" b="1">
                <a:solidFill>
                  <a:schemeClr val="lt1"/>
                </a:solidFill>
                <a:uFillTx/>
                <a:latin typeface="Montserrat" pitchFamily="2" charset="0"/>
                <a:ea typeface="微软雅黑" panose="020B0503020204020204" pitchFamily="34" charset="-122"/>
                <a:sym typeface="Roboto"/>
              </a:rPr>
              <a:t>Why Choose Us:  1. One-Click Wireless Conferencing</a:t>
            </a:r>
          </a:p>
        </p:txBody>
      </p:sp>
      <p:sp>
        <p:nvSpPr>
          <p:cNvPr id="5" name="文本框 4"/>
          <p:cNvSpPr txBox="1"/>
          <p:nvPr/>
        </p:nvSpPr>
        <p:spPr>
          <a:xfrm>
            <a:off x="868657" y="1274686"/>
            <a:ext cx="10184154" cy="717264"/>
          </a:xfrm>
          <a:prstGeom prst="rect">
            <a:avLst/>
          </a:prstGeom>
          <a:noFill/>
        </p:spPr>
        <p:txBody>
          <a:bodyPr wrap="square" rtlCol="0">
            <a:noAutofit/>
          </a:bodyPr>
          <a:lstStyle/>
          <a:p>
            <a:pPr indent="0" fontAlgn="auto">
              <a:buFont typeface="Wingdings" panose="05000000000000000000" charset="0"/>
              <a:buNone/>
            </a:pPr>
            <a:r>
              <a:rPr sz="2000" b="1">
                <a:solidFill>
                  <a:schemeClr val="tx1">
                    <a:lumMod val="75000"/>
                    <a:lumOff val="25000"/>
                  </a:schemeClr>
                </a:solidFill>
                <a:latin typeface="Roboto" charset="0"/>
                <a:ea typeface="Roboto" charset="0"/>
                <a:cs typeface="Arial" panose="020B0604020202020204" pitchFamily="34" charset="0"/>
              </a:rPr>
              <a:t>Transform your meeting room with one-click wireless conferencing, ensuring easy connectivity,</a:t>
            </a:r>
            <a:r>
              <a:rPr lang="en-US" sz="2000" b="1">
                <a:solidFill>
                  <a:schemeClr val="tx1">
                    <a:lumMod val="75000"/>
                    <a:lumOff val="25000"/>
                  </a:schemeClr>
                </a:solidFill>
                <a:latin typeface="Roboto" charset="0"/>
                <a:ea typeface="Roboto" charset="0"/>
                <a:cs typeface="Arial" panose="020B0604020202020204" pitchFamily="34" charset="0"/>
              </a:rPr>
              <a:t> </a:t>
            </a:r>
            <a:r>
              <a:rPr sz="2000" b="1">
                <a:solidFill>
                  <a:schemeClr val="tx1">
                    <a:lumMod val="75000"/>
                    <a:lumOff val="25000"/>
                  </a:schemeClr>
                </a:solidFill>
                <a:latin typeface="Roboto" charset="0"/>
                <a:ea typeface="Roboto" charset="0"/>
                <a:cs typeface="Arial" panose="020B0604020202020204" pitchFamily="34" charset="0"/>
              </a:rPr>
              <a:t>seamless integration, and enhanced productivity.</a:t>
            </a:r>
            <a:endParaRPr lang="en-US" sz="2000" b="1">
              <a:solidFill>
                <a:schemeClr val="tx1">
                  <a:lumMod val="75000"/>
                  <a:lumOff val="25000"/>
                </a:schemeClr>
              </a:solidFill>
              <a:latin typeface="Roboto" charset="0"/>
              <a:ea typeface="Roboto" charset="0"/>
              <a:cs typeface="Arial" panose="020B0604020202020204" pitchFamily="34" charset="0"/>
            </a:endParaRPr>
          </a:p>
        </p:txBody>
      </p:sp>
      <p:pic>
        <p:nvPicPr>
          <p:cNvPr id="4"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46" name="Rectangle 45"/>
          <p:cNvSpPr/>
          <p:nvPr/>
        </p:nvSpPr>
        <p:spPr>
          <a:xfrm>
            <a:off x="932968" y="2381249"/>
            <a:ext cx="4791557" cy="143926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932968" y="4283663"/>
            <a:ext cx="4791557" cy="150958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64845" y="2181791"/>
            <a:ext cx="2597480"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文本框 4"/>
          <p:cNvSpPr txBox="1"/>
          <p:nvPr/>
        </p:nvSpPr>
        <p:spPr>
          <a:xfrm>
            <a:off x="916279" y="2219890"/>
            <a:ext cx="3945509"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Effortless Connectivity</a:t>
            </a:r>
            <a:endParaRPr lang="en-US" sz="1600">
              <a:solidFill>
                <a:schemeClr val="tx1">
                  <a:lumMod val="75000"/>
                  <a:lumOff val="25000"/>
                </a:schemeClr>
              </a:solidFill>
              <a:latin typeface="Roboto" charset="0"/>
              <a:ea typeface="Roboto" charset="0"/>
              <a:cs typeface="Arial" panose="020B0604020202020204" pitchFamily="34" charset="0"/>
            </a:endParaRPr>
          </a:p>
        </p:txBody>
      </p:sp>
      <p:sp>
        <p:nvSpPr>
          <p:cNvPr id="50" name="Rectangle 49"/>
          <p:cNvSpPr/>
          <p:nvPr/>
        </p:nvSpPr>
        <p:spPr>
          <a:xfrm>
            <a:off x="6377229" y="2395505"/>
            <a:ext cx="4791557" cy="143926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6377229" y="4297919"/>
            <a:ext cx="4791557" cy="150958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文本框 4"/>
          <p:cNvSpPr txBox="1"/>
          <p:nvPr/>
        </p:nvSpPr>
        <p:spPr>
          <a:xfrm>
            <a:off x="1124483" y="2729651"/>
            <a:ext cx="4209516"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With just a single click of the button on the</a:t>
            </a:r>
          </a:p>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APO-DG2/APO-DG2-PRO USB-C dongle, you can control your USB conferencing devices wirelessly, eliminating the hassle of tangled cables.</a:t>
            </a:r>
          </a:p>
        </p:txBody>
      </p:sp>
      <p:sp>
        <p:nvSpPr>
          <p:cNvPr id="53" name="Rectangle 52"/>
          <p:cNvSpPr/>
          <p:nvPr/>
        </p:nvSpPr>
        <p:spPr>
          <a:xfrm>
            <a:off x="6200774" y="2181791"/>
            <a:ext cx="2438401"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文本框 4"/>
          <p:cNvSpPr txBox="1"/>
          <p:nvPr/>
        </p:nvSpPr>
        <p:spPr>
          <a:xfrm>
            <a:off x="6352209" y="2219890"/>
            <a:ext cx="3587853"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Seamless Integration</a:t>
            </a:r>
            <a:endParaRPr lang="en-US" sz="1600">
              <a:solidFill>
                <a:schemeClr val="tx1">
                  <a:lumMod val="75000"/>
                  <a:lumOff val="25000"/>
                </a:schemeClr>
              </a:solidFill>
              <a:latin typeface="Roboto" charset="0"/>
              <a:ea typeface="Roboto" charset="0"/>
              <a:cs typeface="Arial" panose="020B0604020202020204" pitchFamily="34" charset="0"/>
            </a:endParaRPr>
          </a:p>
        </p:txBody>
      </p:sp>
      <p:sp>
        <p:nvSpPr>
          <p:cNvPr id="55" name="文本框 4"/>
          <p:cNvSpPr txBox="1"/>
          <p:nvPr/>
        </p:nvSpPr>
        <p:spPr>
          <a:xfrm>
            <a:off x="6531838" y="2729651"/>
            <a:ext cx="4117112"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Works flawlessly with cameras, speakerphones, video bars, touch-screen panels, and other USB 3.0 peripherals, delivering a seamless and superior hybrid meeting experience.</a:t>
            </a:r>
          </a:p>
        </p:txBody>
      </p:sp>
      <p:sp>
        <p:nvSpPr>
          <p:cNvPr id="56" name="Rectangle 55"/>
          <p:cNvSpPr/>
          <p:nvPr/>
        </p:nvSpPr>
        <p:spPr>
          <a:xfrm>
            <a:off x="764845" y="4105421"/>
            <a:ext cx="2187905"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文本框 4"/>
          <p:cNvSpPr txBox="1"/>
          <p:nvPr/>
        </p:nvSpPr>
        <p:spPr>
          <a:xfrm>
            <a:off x="916280" y="4143520"/>
            <a:ext cx="2036470"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Boost Productivity</a:t>
            </a:r>
            <a:endParaRPr lang="en-US" sz="1600">
              <a:solidFill>
                <a:schemeClr val="tx1">
                  <a:lumMod val="75000"/>
                  <a:lumOff val="25000"/>
                </a:schemeClr>
              </a:solidFill>
              <a:latin typeface="Roboto" charset="0"/>
              <a:ea typeface="Roboto" charset="0"/>
              <a:cs typeface="Arial" panose="020B0604020202020204" pitchFamily="34" charset="0"/>
            </a:endParaRPr>
          </a:p>
        </p:txBody>
      </p:sp>
      <p:sp>
        <p:nvSpPr>
          <p:cNvPr id="58" name="文本框 4"/>
          <p:cNvSpPr txBox="1"/>
          <p:nvPr/>
        </p:nvSpPr>
        <p:spPr>
          <a:xfrm>
            <a:off x="1124482" y="4739006"/>
            <a:ext cx="4209517"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Quickly transition between meetings with minimal setup time, ensuring a smooth and productive workflow.</a:t>
            </a:r>
          </a:p>
        </p:txBody>
      </p:sp>
      <p:sp>
        <p:nvSpPr>
          <p:cNvPr id="59" name="Rectangle 58"/>
          <p:cNvSpPr/>
          <p:nvPr/>
        </p:nvSpPr>
        <p:spPr>
          <a:xfrm>
            <a:off x="6200774" y="4105421"/>
            <a:ext cx="2886078"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文本框 4"/>
          <p:cNvSpPr txBox="1"/>
          <p:nvPr/>
        </p:nvSpPr>
        <p:spPr>
          <a:xfrm>
            <a:off x="6352210" y="4143520"/>
            <a:ext cx="4115765"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High-Quality Performance</a:t>
            </a:r>
            <a:endParaRPr lang="en-US" sz="1600">
              <a:solidFill>
                <a:schemeClr val="tx1">
                  <a:lumMod val="75000"/>
                  <a:lumOff val="25000"/>
                </a:schemeClr>
              </a:solidFill>
              <a:latin typeface="Roboto" charset="0"/>
              <a:ea typeface="Roboto" charset="0"/>
              <a:cs typeface="Arial" panose="020B0604020202020204" pitchFamily="34" charset="0"/>
            </a:endParaRPr>
          </a:p>
        </p:txBody>
      </p:sp>
      <p:sp>
        <p:nvSpPr>
          <p:cNvPr id="61" name="文本框 4"/>
          <p:cNvSpPr txBox="1"/>
          <p:nvPr/>
        </p:nvSpPr>
        <p:spPr>
          <a:xfrm>
            <a:off x="6531837" y="4739006"/>
            <a:ext cx="4193313"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Guarantees clear and reliable audio-visual communication, essential for effective collaboration and decision-making.</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lstStyle/>
          <a:p>
            <a:pPr marL="0" indent="0" algn="l">
              <a:lnSpc>
                <a:spcPct val="100000"/>
              </a:lnSpc>
              <a:spcBef>
                <a:spcPts val="0"/>
              </a:spcBef>
              <a:spcAft>
                <a:spcPts val="0"/>
              </a:spcAft>
              <a:buSzPct val="100000"/>
              <a:buNone/>
            </a:pPr>
            <a:r>
              <a:rPr lang="en-US" sz="2400" b="1">
                <a:solidFill>
                  <a:schemeClr val="lt1"/>
                </a:solidFill>
                <a:uFillTx/>
                <a:latin typeface="Montserrat" pitchFamily="2" charset="0"/>
                <a:ea typeface="微软雅黑" panose="020B0503020204020204" pitchFamily="34" charset="-122"/>
                <a:sym typeface="Roboto"/>
              </a:rPr>
              <a:t>Why Choose Us:  2. Easy Sharing and Collaboration for Everyone</a:t>
            </a:r>
          </a:p>
        </p:txBody>
      </p:sp>
      <p:pic>
        <p:nvPicPr>
          <p:cNvPr id="4"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23" name="文本框 4"/>
          <p:cNvSpPr txBox="1"/>
          <p:nvPr/>
        </p:nvSpPr>
        <p:spPr>
          <a:xfrm>
            <a:off x="868657" y="1274686"/>
            <a:ext cx="10184154" cy="717264"/>
          </a:xfrm>
          <a:prstGeom prst="rect">
            <a:avLst/>
          </a:prstGeom>
          <a:noFill/>
        </p:spPr>
        <p:txBody>
          <a:bodyPr wrap="square" rtlCol="0">
            <a:noAutofit/>
          </a:bodyPr>
          <a:lstStyle/>
          <a:p>
            <a:pPr indent="0" fontAlgn="auto">
              <a:buFont typeface="Wingdings" panose="05000000000000000000" charset="0"/>
              <a:buNone/>
            </a:pPr>
            <a:r>
              <a:rPr lang="en-US" sz="2000" b="1">
                <a:solidFill>
                  <a:schemeClr val="tx1">
                    <a:lumMod val="75000"/>
                    <a:lumOff val="25000"/>
                  </a:schemeClr>
                </a:solidFill>
                <a:latin typeface="Roboto" charset="0"/>
                <a:ea typeface="Roboto" charset="0"/>
                <a:cs typeface="Arial" panose="020B0604020202020204" pitchFamily="34" charset="0"/>
              </a:rPr>
              <a:t>Make screen sharing, collaboration, and interaction easier for everyone, supporting various devices and operating systems to enhance interaction and engagement.</a:t>
            </a:r>
          </a:p>
        </p:txBody>
      </p:sp>
      <p:sp>
        <p:nvSpPr>
          <p:cNvPr id="24" name="Rectangle 23"/>
          <p:cNvSpPr/>
          <p:nvPr/>
        </p:nvSpPr>
        <p:spPr>
          <a:xfrm>
            <a:off x="932968" y="2381249"/>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932968" y="4283663"/>
            <a:ext cx="4791557" cy="150958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764845" y="2181791"/>
            <a:ext cx="2826080"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4"/>
          <p:cNvSpPr txBox="1"/>
          <p:nvPr/>
        </p:nvSpPr>
        <p:spPr>
          <a:xfrm>
            <a:off x="916279" y="2219890"/>
            <a:ext cx="2544141"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Multiple Casting Methods</a:t>
            </a:r>
            <a:endParaRPr lang="en-US" sz="1600">
              <a:solidFill>
                <a:schemeClr val="tx1">
                  <a:lumMod val="75000"/>
                  <a:lumOff val="25000"/>
                </a:schemeClr>
              </a:solidFill>
              <a:latin typeface="Roboto" charset="0"/>
              <a:ea typeface="Roboto" charset="0"/>
              <a:cs typeface="Arial" panose="020B0604020202020204" pitchFamily="34" charset="0"/>
            </a:endParaRPr>
          </a:p>
        </p:txBody>
      </p:sp>
      <p:sp>
        <p:nvSpPr>
          <p:cNvPr id="28" name="Rectangle 27"/>
          <p:cNvSpPr/>
          <p:nvPr/>
        </p:nvSpPr>
        <p:spPr>
          <a:xfrm>
            <a:off x="6377229" y="2395505"/>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6377229" y="4297919"/>
            <a:ext cx="4791557" cy="150958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4"/>
          <p:cNvSpPr txBox="1"/>
          <p:nvPr/>
        </p:nvSpPr>
        <p:spPr>
          <a:xfrm>
            <a:off x="1124483" y="2805851"/>
            <a:ext cx="3983762"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Supports </a:t>
            </a:r>
            <a:r>
              <a:rPr lang="en-US" sz="1400" err="1">
                <a:solidFill>
                  <a:schemeClr val="tx1">
                    <a:lumMod val="75000"/>
                    <a:lumOff val="25000"/>
                  </a:schemeClr>
                </a:solidFill>
                <a:latin typeface="Roboto" charset="0"/>
                <a:ea typeface="Roboto" charset="0"/>
                <a:cs typeface="Arial" panose="020B0604020202020204" pitchFamily="34" charset="0"/>
              </a:rPr>
              <a:t>AirPlay</a:t>
            </a:r>
            <a:r>
              <a:rPr lang="en-US" sz="1400">
                <a:solidFill>
                  <a:schemeClr val="tx1">
                    <a:lumMod val="75000"/>
                    <a:lumOff val="25000"/>
                  </a:schemeClr>
                </a:solidFill>
                <a:latin typeface="Roboto" charset="0"/>
                <a:ea typeface="Roboto" charset="0"/>
                <a:cs typeface="Arial" panose="020B0604020202020204" pitchFamily="34" charset="0"/>
              </a:rPr>
              <a:t>, Miracast, USB-C dongle, and HDMI/USB-C wired connection, catering to various user preferences and devices.</a:t>
            </a:r>
          </a:p>
        </p:txBody>
      </p:sp>
      <p:sp>
        <p:nvSpPr>
          <p:cNvPr id="31" name="Rectangle 30"/>
          <p:cNvSpPr/>
          <p:nvPr/>
        </p:nvSpPr>
        <p:spPr>
          <a:xfrm>
            <a:off x="6200774" y="2181791"/>
            <a:ext cx="2657476"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4"/>
          <p:cNvSpPr txBox="1"/>
          <p:nvPr/>
        </p:nvSpPr>
        <p:spPr>
          <a:xfrm>
            <a:off x="6352210" y="2219890"/>
            <a:ext cx="3477590"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Universal Compatibility</a:t>
            </a:r>
            <a:endParaRPr lang="en-US" sz="1600">
              <a:solidFill>
                <a:schemeClr val="tx1">
                  <a:lumMod val="75000"/>
                  <a:lumOff val="25000"/>
                </a:schemeClr>
              </a:solidFill>
              <a:latin typeface="Roboto" charset="0"/>
              <a:ea typeface="Roboto" charset="0"/>
              <a:cs typeface="Arial" panose="020B0604020202020204" pitchFamily="34" charset="0"/>
            </a:endParaRPr>
          </a:p>
        </p:txBody>
      </p:sp>
      <p:sp>
        <p:nvSpPr>
          <p:cNvPr id="33" name="文本框 4"/>
          <p:cNvSpPr txBox="1"/>
          <p:nvPr/>
        </p:nvSpPr>
        <p:spPr>
          <a:xfrm>
            <a:off x="6531838" y="2796326"/>
            <a:ext cx="4117112"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Works seamlessly with laptops, tablets,</a:t>
            </a:r>
          </a:p>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and smartphones, supporting major operating systems like Windows, macOS, and Android.</a:t>
            </a:r>
          </a:p>
        </p:txBody>
      </p:sp>
      <p:sp>
        <p:nvSpPr>
          <p:cNvPr id="34" name="Rectangle 33"/>
          <p:cNvSpPr/>
          <p:nvPr/>
        </p:nvSpPr>
        <p:spPr>
          <a:xfrm>
            <a:off x="764845" y="4105421"/>
            <a:ext cx="2340305"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文本框 4"/>
          <p:cNvSpPr txBox="1"/>
          <p:nvPr/>
        </p:nvSpPr>
        <p:spPr>
          <a:xfrm>
            <a:off x="916280" y="4143520"/>
            <a:ext cx="2036470"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Interactive Learning</a:t>
            </a:r>
            <a:endParaRPr lang="en-US" sz="1600">
              <a:solidFill>
                <a:schemeClr val="tx1">
                  <a:lumMod val="75000"/>
                  <a:lumOff val="25000"/>
                </a:schemeClr>
              </a:solidFill>
              <a:latin typeface="Roboto" charset="0"/>
              <a:ea typeface="Roboto" charset="0"/>
              <a:cs typeface="Arial" panose="020B0604020202020204" pitchFamily="34" charset="0"/>
            </a:endParaRPr>
          </a:p>
        </p:txBody>
      </p:sp>
      <p:sp>
        <p:nvSpPr>
          <p:cNvPr id="36" name="文本框 4"/>
          <p:cNvSpPr txBox="1"/>
          <p:nvPr/>
        </p:nvSpPr>
        <p:spPr>
          <a:xfrm>
            <a:off x="1124482" y="4739006"/>
            <a:ext cx="4209517"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Perfect for classrooms, enabling teachers to quickly showcase teaching content while allowing students to interact using their own devices.</a:t>
            </a:r>
          </a:p>
        </p:txBody>
      </p:sp>
      <p:sp>
        <p:nvSpPr>
          <p:cNvPr id="37" name="Rectangle 36"/>
          <p:cNvSpPr/>
          <p:nvPr/>
        </p:nvSpPr>
        <p:spPr>
          <a:xfrm>
            <a:off x="6200774" y="4105421"/>
            <a:ext cx="2544141"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文本框 4"/>
          <p:cNvSpPr txBox="1"/>
          <p:nvPr/>
        </p:nvSpPr>
        <p:spPr>
          <a:xfrm>
            <a:off x="6352210" y="4143520"/>
            <a:ext cx="2392705"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Engage Your Audience</a:t>
            </a:r>
            <a:endParaRPr lang="en-US" sz="1600">
              <a:solidFill>
                <a:schemeClr val="tx1">
                  <a:lumMod val="75000"/>
                  <a:lumOff val="25000"/>
                </a:schemeClr>
              </a:solidFill>
              <a:latin typeface="Roboto" charset="0"/>
              <a:ea typeface="Roboto" charset="0"/>
              <a:cs typeface="Arial" panose="020B0604020202020204" pitchFamily="34" charset="0"/>
            </a:endParaRPr>
          </a:p>
        </p:txBody>
      </p:sp>
      <p:sp>
        <p:nvSpPr>
          <p:cNvPr id="39" name="文本框 4"/>
          <p:cNvSpPr txBox="1"/>
          <p:nvPr/>
        </p:nvSpPr>
        <p:spPr>
          <a:xfrm>
            <a:off x="6531837" y="4739006"/>
            <a:ext cx="4193313"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Multiview support displays up to 4 sources simultaneously, making collaborative work and data comparison easier and more efficient.</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400" b="1">
                <a:solidFill>
                  <a:schemeClr val="lt1"/>
                </a:solidFill>
                <a:uFillTx/>
                <a:latin typeface="Montserrat" pitchFamily="2" charset="0"/>
                <a:ea typeface="微软雅黑" panose="020B0503020204020204" pitchFamily="34" charset="-122"/>
                <a:sym typeface="Roboto"/>
              </a:rPr>
              <a:t>Why Choose Us:  3. Plug &amp; Play, Guest-Friendly</a:t>
            </a:r>
          </a:p>
        </p:txBody>
      </p:sp>
      <p:sp>
        <p:nvSpPr>
          <p:cNvPr id="24" name="Rectangle 23"/>
          <p:cNvSpPr/>
          <p:nvPr/>
        </p:nvSpPr>
        <p:spPr>
          <a:xfrm>
            <a:off x="932968" y="2381249"/>
            <a:ext cx="4791557" cy="1439265"/>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932968" y="4283663"/>
            <a:ext cx="4791557" cy="1509585"/>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3" name="Rectangle 2"/>
          <p:cNvSpPr/>
          <p:nvPr/>
        </p:nvSpPr>
        <p:spPr>
          <a:xfrm>
            <a:off x="764845" y="2181791"/>
            <a:ext cx="2016455"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4"/>
          <p:cNvSpPr txBox="1"/>
          <p:nvPr/>
        </p:nvSpPr>
        <p:spPr>
          <a:xfrm>
            <a:off x="916280" y="2219890"/>
            <a:ext cx="1769770"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Simplified Setup</a:t>
            </a:r>
            <a:endParaRPr sz="1600">
              <a:solidFill>
                <a:schemeClr val="tx1">
                  <a:lumMod val="75000"/>
                  <a:lumOff val="25000"/>
                </a:schemeClr>
              </a:solidFill>
              <a:latin typeface="Roboto" charset="0"/>
              <a:ea typeface="Roboto" charset="0"/>
              <a:cs typeface="Arial" panose="020B0604020202020204" pitchFamily="34" charset="0"/>
            </a:endParaRPr>
          </a:p>
        </p:txBody>
      </p:sp>
      <p:sp>
        <p:nvSpPr>
          <p:cNvPr id="26" name="Rectangle 25"/>
          <p:cNvSpPr/>
          <p:nvPr/>
        </p:nvSpPr>
        <p:spPr>
          <a:xfrm>
            <a:off x="6377229" y="2395505"/>
            <a:ext cx="4791557" cy="1439265"/>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377229" y="4297919"/>
            <a:ext cx="4791557" cy="1509585"/>
          </a:xfrm>
          <a:prstGeom prst="rect">
            <a:avLst/>
          </a:prstGeom>
          <a:solidFill>
            <a:srgbClr val="EA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4"/>
          <p:cNvSpPr txBox="1"/>
          <p:nvPr/>
        </p:nvSpPr>
        <p:spPr>
          <a:xfrm>
            <a:off x="1124483" y="2805851"/>
            <a:ext cx="3983762"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Plug-and-play functionality means guests can easily connect without the need for additional software or complex configurations.</a:t>
            </a:r>
          </a:p>
        </p:txBody>
      </p:sp>
      <p:sp>
        <p:nvSpPr>
          <p:cNvPr id="12" name="Rectangle 11"/>
          <p:cNvSpPr/>
          <p:nvPr/>
        </p:nvSpPr>
        <p:spPr>
          <a:xfrm>
            <a:off x="6200774" y="2181791"/>
            <a:ext cx="2544141"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4"/>
          <p:cNvSpPr txBox="1"/>
          <p:nvPr/>
        </p:nvSpPr>
        <p:spPr>
          <a:xfrm>
            <a:off x="6352210" y="2219890"/>
            <a:ext cx="4059962"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Versatile Input Options</a:t>
            </a:r>
            <a:endParaRPr sz="1600">
              <a:solidFill>
                <a:schemeClr val="tx1">
                  <a:lumMod val="75000"/>
                  <a:lumOff val="25000"/>
                </a:schemeClr>
              </a:solidFill>
              <a:latin typeface="Roboto" charset="0"/>
              <a:ea typeface="Roboto" charset="0"/>
              <a:cs typeface="Arial" panose="020B0604020202020204" pitchFamily="34" charset="0"/>
            </a:endParaRPr>
          </a:p>
        </p:txBody>
      </p:sp>
      <p:sp>
        <p:nvSpPr>
          <p:cNvPr id="14" name="文本框 4"/>
          <p:cNvSpPr txBox="1"/>
          <p:nvPr/>
        </p:nvSpPr>
        <p:spPr>
          <a:xfrm>
            <a:off x="6531837" y="2805851"/>
            <a:ext cx="4535679"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Featuring 2x full-featured USB-C ports (60W PD for guests’ laptops) and 2x HDMI inputs, it provides unparalleled flexibility for various presentation needs.</a:t>
            </a:r>
          </a:p>
        </p:txBody>
      </p:sp>
      <p:sp>
        <p:nvSpPr>
          <p:cNvPr id="16" name="Rectangle 15"/>
          <p:cNvSpPr/>
          <p:nvPr/>
        </p:nvSpPr>
        <p:spPr>
          <a:xfrm>
            <a:off x="764845" y="4105421"/>
            <a:ext cx="2283155"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文本框 4"/>
          <p:cNvSpPr txBox="1"/>
          <p:nvPr/>
        </p:nvSpPr>
        <p:spPr>
          <a:xfrm>
            <a:off x="916280" y="4143520"/>
            <a:ext cx="2036470"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Present in Seconds</a:t>
            </a:r>
            <a:endParaRPr sz="1600">
              <a:solidFill>
                <a:schemeClr val="tx1">
                  <a:lumMod val="75000"/>
                  <a:lumOff val="25000"/>
                </a:schemeClr>
              </a:solidFill>
              <a:latin typeface="Roboto" charset="0"/>
              <a:ea typeface="Roboto" charset="0"/>
              <a:cs typeface="Arial" panose="020B0604020202020204" pitchFamily="34" charset="0"/>
            </a:endParaRPr>
          </a:p>
        </p:txBody>
      </p:sp>
      <p:sp>
        <p:nvSpPr>
          <p:cNvPr id="18" name="文本框 4"/>
          <p:cNvSpPr txBox="1"/>
          <p:nvPr/>
        </p:nvSpPr>
        <p:spPr>
          <a:xfrm>
            <a:off x="1124483" y="4748531"/>
            <a:ext cx="3983762"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Guests can simply pick up the dongle on the table and instantly share their screen, ensuring a swift and efficient presentation process.</a:t>
            </a:r>
          </a:p>
        </p:txBody>
      </p:sp>
      <p:sp>
        <p:nvSpPr>
          <p:cNvPr id="20" name="Rectangle 19"/>
          <p:cNvSpPr/>
          <p:nvPr/>
        </p:nvSpPr>
        <p:spPr>
          <a:xfrm>
            <a:off x="6200774" y="4105421"/>
            <a:ext cx="2657476" cy="427428"/>
          </a:xfrm>
          <a:prstGeom prst="rect">
            <a:avLst/>
          </a:prstGeom>
          <a:solidFill>
            <a:srgbClr val="F3F2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4"/>
          <p:cNvSpPr txBox="1"/>
          <p:nvPr/>
        </p:nvSpPr>
        <p:spPr>
          <a:xfrm>
            <a:off x="6352210" y="4143520"/>
            <a:ext cx="2392705"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Secure Network Access</a:t>
            </a:r>
            <a:endParaRPr sz="1600">
              <a:solidFill>
                <a:schemeClr val="tx1">
                  <a:lumMod val="75000"/>
                  <a:lumOff val="25000"/>
                </a:schemeClr>
              </a:solidFill>
              <a:latin typeface="Roboto" charset="0"/>
              <a:ea typeface="Roboto" charset="0"/>
              <a:cs typeface="Arial" panose="020B0604020202020204" pitchFamily="34" charset="0"/>
            </a:endParaRPr>
          </a:p>
        </p:txBody>
      </p:sp>
      <p:sp>
        <p:nvSpPr>
          <p:cNvPr id="22" name="文本框 4"/>
          <p:cNvSpPr txBox="1"/>
          <p:nvPr/>
        </p:nvSpPr>
        <p:spPr>
          <a:xfrm>
            <a:off x="6531837" y="4615181"/>
            <a:ext cx="4193313" cy="1007064"/>
          </a:xfrm>
          <a:prstGeom prst="rect">
            <a:avLst/>
          </a:prstGeom>
          <a:noFill/>
        </p:spPr>
        <p:txBody>
          <a:bodyPr wrap="square" rtlCol="0">
            <a:noAutofit/>
          </a:bodyPr>
          <a:lstStyle/>
          <a:p>
            <a:pPr indent="0" fontAlgn="auto">
              <a:buFont typeface="Wingdings" panose="05000000000000000000" charset="0"/>
              <a:buNone/>
            </a:pPr>
            <a:r>
              <a:rPr lang="en-US" sz="1300">
                <a:solidFill>
                  <a:schemeClr val="tx1">
                    <a:lumMod val="75000"/>
                    <a:lumOff val="25000"/>
                  </a:schemeClr>
                </a:solidFill>
                <a:latin typeface="Roboto" charset="0"/>
                <a:ea typeface="Roboto" charset="0"/>
                <a:cs typeface="Arial" panose="020B0604020202020204" pitchFamily="34" charset="0"/>
              </a:rPr>
              <a:t>Switch to “Isolated Mode” for network settings when you need to separate your internal network with guests’ network. It ensures your guests can access network securely and stably, even while you are configuring the system.</a:t>
            </a:r>
            <a:endParaRPr sz="1300">
              <a:solidFill>
                <a:schemeClr val="tx1">
                  <a:lumMod val="75000"/>
                  <a:lumOff val="25000"/>
                </a:schemeClr>
              </a:solidFill>
              <a:latin typeface="Roboto" charset="0"/>
              <a:ea typeface="Roboto" charset="0"/>
              <a:cs typeface="Arial" panose="020B0604020202020204" pitchFamily="34" charset="0"/>
            </a:endParaRPr>
          </a:p>
        </p:txBody>
      </p:sp>
      <p:sp>
        <p:nvSpPr>
          <p:cNvPr id="23" name="文本框 4"/>
          <p:cNvSpPr txBox="1"/>
          <p:nvPr/>
        </p:nvSpPr>
        <p:spPr>
          <a:xfrm>
            <a:off x="868657" y="1274686"/>
            <a:ext cx="10184154" cy="717264"/>
          </a:xfrm>
          <a:prstGeom prst="rect">
            <a:avLst/>
          </a:prstGeom>
          <a:noFill/>
        </p:spPr>
        <p:txBody>
          <a:bodyPr wrap="square" rtlCol="0">
            <a:noAutofit/>
          </a:bodyPr>
          <a:lstStyle/>
          <a:p>
            <a:pPr indent="0" fontAlgn="auto">
              <a:buFont typeface="Wingdings" panose="05000000000000000000" charset="0"/>
              <a:buNone/>
            </a:pPr>
            <a:r>
              <a:rPr lang="en-US" sz="2000" b="1">
                <a:solidFill>
                  <a:schemeClr val="tx1">
                    <a:lumMod val="75000"/>
                    <a:lumOff val="25000"/>
                  </a:schemeClr>
                </a:solidFill>
                <a:latin typeface="Roboto" charset="0"/>
                <a:ea typeface="Roboto" charset="0"/>
                <a:cs typeface="Arial" panose="020B0604020202020204" pitchFamily="34" charset="0"/>
              </a:rPr>
              <a:t>Simplify setup with plug-and-play functionality, making it easy for guests to connect and present without any hassle.</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400" b="1">
                <a:solidFill>
                  <a:schemeClr val="lt1"/>
                </a:solidFill>
                <a:uFillTx/>
                <a:latin typeface="Montserrat" pitchFamily="2" charset="0"/>
                <a:ea typeface="微软雅黑" panose="020B0503020204020204" pitchFamily="34" charset="-122"/>
                <a:sym typeface="Roboto"/>
              </a:rPr>
              <a:t>Why Choose Us:  4. Effortless Device Management</a:t>
            </a:r>
          </a:p>
        </p:txBody>
      </p:sp>
      <p:pic>
        <p:nvPicPr>
          <p:cNvPr id="4"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2" name="Rectangle 1"/>
          <p:cNvSpPr/>
          <p:nvPr/>
        </p:nvSpPr>
        <p:spPr>
          <a:xfrm>
            <a:off x="932968" y="2381249"/>
            <a:ext cx="4791557" cy="1439265"/>
          </a:xfrm>
          <a:prstGeom prst="rect">
            <a:avLst/>
          </a:prstGeom>
          <a:solidFill>
            <a:srgbClr val="F1E9F7"/>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932968" y="4283663"/>
            <a:ext cx="4791557" cy="1584675"/>
          </a:xfrm>
          <a:prstGeom prst="rect">
            <a:avLst/>
          </a:prstGeom>
          <a:solidFill>
            <a:srgbClr val="F1E9F7"/>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64845" y="2181791"/>
            <a:ext cx="2283155" cy="427428"/>
          </a:xfrm>
          <a:prstGeom prst="rect">
            <a:avLst/>
          </a:prstGeom>
          <a:solidFill>
            <a:srgbClr val="EFED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4"/>
          <p:cNvSpPr txBox="1"/>
          <p:nvPr/>
        </p:nvSpPr>
        <p:spPr>
          <a:xfrm>
            <a:off x="916279" y="2219890"/>
            <a:ext cx="3455695"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Centralized Control</a:t>
            </a:r>
            <a:endParaRPr sz="1600">
              <a:solidFill>
                <a:schemeClr val="tx1">
                  <a:lumMod val="75000"/>
                  <a:lumOff val="25000"/>
                </a:schemeClr>
              </a:solidFill>
              <a:latin typeface="Roboto" charset="0"/>
              <a:ea typeface="Roboto" charset="0"/>
              <a:cs typeface="Arial" panose="020B0604020202020204" pitchFamily="34" charset="0"/>
            </a:endParaRPr>
          </a:p>
        </p:txBody>
      </p:sp>
      <p:sp>
        <p:nvSpPr>
          <p:cNvPr id="11" name="Rectangle 10"/>
          <p:cNvSpPr/>
          <p:nvPr/>
        </p:nvSpPr>
        <p:spPr>
          <a:xfrm>
            <a:off x="6377229" y="2395505"/>
            <a:ext cx="4791557" cy="1439265"/>
          </a:xfrm>
          <a:prstGeom prst="rect">
            <a:avLst/>
          </a:prstGeom>
          <a:solidFill>
            <a:srgbClr val="F1E9F7"/>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377229" y="4297919"/>
            <a:ext cx="4791557" cy="1584675"/>
          </a:xfrm>
          <a:prstGeom prst="rect">
            <a:avLst/>
          </a:prstGeom>
          <a:solidFill>
            <a:srgbClr val="F1E9F7"/>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4"/>
          <p:cNvSpPr txBox="1"/>
          <p:nvPr/>
        </p:nvSpPr>
        <p:spPr>
          <a:xfrm>
            <a:off x="1124482" y="2729651"/>
            <a:ext cx="4133317"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Manage and monitor all connected devices through an intuitive web interface or all-in-one touchpad controller, simplifying the administration process.</a:t>
            </a:r>
          </a:p>
        </p:txBody>
      </p:sp>
      <p:sp>
        <p:nvSpPr>
          <p:cNvPr id="14" name="Rectangle 13"/>
          <p:cNvSpPr/>
          <p:nvPr/>
        </p:nvSpPr>
        <p:spPr>
          <a:xfrm>
            <a:off x="6200774" y="2181791"/>
            <a:ext cx="2544141" cy="427428"/>
          </a:xfrm>
          <a:prstGeom prst="rect">
            <a:avLst/>
          </a:prstGeom>
          <a:solidFill>
            <a:srgbClr val="EFED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4"/>
          <p:cNvSpPr txBox="1"/>
          <p:nvPr/>
        </p:nvSpPr>
        <p:spPr>
          <a:xfrm>
            <a:off x="6352210" y="2219890"/>
            <a:ext cx="4059962"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Remote Configuration</a:t>
            </a:r>
            <a:endParaRPr sz="1600">
              <a:solidFill>
                <a:schemeClr val="tx1">
                  <a:lumMod val="75000"/>
                  <a:lumOff val="25000"/>
                </a:schemeClr>
              </a:solidFill>
              <a:latin typeface="Roboto" charset="0"/>
              <a:ea typeface="Roboto" charset="0"/>
              <a:cs typeface="Arial" panose="020B0604020202020204" pitchFamily="34" charset="0"/>
            </a:endParaRPr>
          </a:p>
        </p:txBody>
      </p:sp>
      <p:sp>
        <p:nvSpPr>
          <p:cNvPr id="16" name="文本框 4"/>
          <p:cNvSpPr txBox="1"/>
          <p:nvPr/>
        </p:nvSpPr>
        <p:spPr>
          <a:xfrm>
            <a:off x="6531837" y="2805851"/>
            <a:ext cx="4535679" cy="1007064"/>
          </a:xfrm>
          <a:prstGeom prst="rect">
            <a:avLst/>
          </a:prstGeom>
          <a:noFill/>
        </p:spPr>
        <p:txBody>
          <a:bodyPr wrap="square" rtlCol="0">
            <a:noAutofit/>
          </a:bodyPr>
          <a:lstStyle/>
          <a:p>
            <a:pPr indent="0" fontAlgn="auto">
              <a:buFont typeface="Wingdings" panose="05000000000000000000" charset="0"/>
              <a:buNone/>
            </a:pPr>
            <a:r>
              <a:rPr lang="en-US" sz="1400">
                <a:solidFill>
                  <a:schemeClr val="tx1">
                    <a:lumMod val="75000"/>
                    <a:lumOff val="25000"/>
                  </a:schemeClr>
                </a:solidFill>
                <a:latin typeface="Roboto" charset="0"/>
                <a:ea typeface="Roboto" charset="0"/>
                <a:cs typeface="Arial" panose="020B0604020202020204" pitchFamily="34" charset="0"/>
              </a:rPr>
              <a:t>Configure the system remotely via SYGMA cloud device management, ensuring that everything runs smoothly without needing to be physically present.</a:t>
            </a:r>
          </a:p>
        </p:txBody>
      </p:sp>
      <p:sp>
        <p:nvSpPr>
          <p:cNvPr id="17" name="Rectangle 16"/>
          <p:cNvSpPr/>
          <p:nvPr/>
        </p:nvSpPr>
        <p:spPr>
          <a:xfrm>
            <a:off x="764845" y="4105421"/>
            <a:ext cx="2807030" cy="427428"/>
          </a:xfrm>
          <a:prstGeom prst="rect">
            <a:avLst/>
          </a:prstGeom>
          <a:solidFill>
            <a:srgbClr val="EFED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4"/>
          <p:cNvSpPr txBox="1"/>
          <p:nvPr/>
        </p:nvSpPr>
        <p:spPr>
          <a:xfrm>
            <a:off x="916280" y="4143520"/>
            <a:ext cx="3455694"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Flexible Network Settings</a:t>
            </a:r>
            <a:endParaRPr sz="1600">
              <a:solidFill>
                <a:schemeClr val="tx1">
                  <a:lumMod val="75000"/>
                  <a:lumOff val="25000"/>
                </a:schemeClr>
              </a:solidFill>
              <a:latin typeface="Roboto" charset="0"/>
              <a:ea typeface="Roboto" charset="0"/>
              <a:cs typeface="Arial" panose="020B0604020202020204" pitchFamily="34" charset="0"/>
            </a:endParaRPr>
          </a:p>
        </p:txBody>
      </p:sp>
      <p:sp>
        <p:nvSpPr>
          <p:cNvPr id="19" name="文本框 4"/>
          <p:cNvSpPr txBox="1"/>
          <p:nvPr/>
        </p:nvSpPr>
        <p:spPr>
          <a:xfrm>
            <a:off x="1124482" y="4596792"/>
            <a:ext cx="4419067" cy="1194408"/>
          </a:xfrm>
          <a:prstGeom prst="rect">
            <a:avLst/>
          </a:prstGeom>
          <a:noFill/>
        </p:spPr>
        <p:txBody>
          <a:bodyPr wrap="square" rtlCol="0">
            <a:noAutofit/>
          </a:bodyPr>
          <a:lstStyle/>
          <a:p>
            <a:pPr indent="0" fontAlgn="auto">
              <a:buFont typeface="Wingdings" panose="05000000000000000000" charset="0"/>
              <a:buNone/>
            </a:pPr>
            <a:r>
              <a:rPr lang="en-US" sz="1200">
                <a:solidFill>
                  <a:schemeClr val="tx1">
                    <a:lumMod val="75000"/>
                    <a:lumOff val="25000"/>
                  </a:schemeClr>
                </a:solidFill>
                <a:latin typeface="Roboto" charset="0"/>
                <a:ea typeface="Roboto" charset="0"/>
                <a:cs typeface="Arial" panose="020B0604020202020204" pitchFamily="34" charset="0"/>
              </a:rPr>
              <a:t>The presentation device is engineered with 3x Ethernet ports. Switch to “Isolated Mode” for enhanced security and network stability, ideal when you need to separate your internal network with guests’ network. Or, go for “Transparent Mode” for hassle-free networking and flexible connections, perfect for efficient communication without restrictions.</a:t>
            </a:r>
          </a:p>
        </p:txBody>
      </p:sp>
      <p:sp>
        <p:nvSpPr>
          <p:cNvPr id="20" name="Rectangle 19"/>
          <p:cNvSpPr/>
          <p:nvPr/>
        </p:nvSpPr>
        <p:spPr>
          <a:xfrm>
            <a:off x="6200774" y="4105421"/>
            <a:ext cx="2657476" cy="427428"/>
          </a:xfrm>
          <a:prstGeom prst="rect">
            <a:avLst/>
          </a:prstGeom>
          <a:solidFill>
            <a:srgbClr val="EFED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4"/>
          <p:cNvSpPr txBox="1"/>
          <p:nvPr/>
        </p:nvSpPr>
        <p:spPr>
          <a:xfrm>
            <a:off x="6352210" y="4143520"/>
            <a:ext cx="2392705" cy="323285"/>
          </a:xfrm>
          <a:prstGeom prst="rect">
            <a:avLst/>
          </a:prstGeom>
          <a:noFill/>
        </p:spPr>
        <p:txBody>
          <a:bodyPr wrap="square" rtlCol="0">
            <a:noAutofit/>
          </a:bodyPr>
          <a:lstStyle/>
          <a:p>
            <a:pPr fontAlgn="auto">
              <a:lnSpc>
                <a:spcPts val="2100"/>
              </a:lnSpc>
            </a:pPr>
            <a:r>
              <a:rPr lang="en-US" sz="1600" b="1">
                <a:solidFill>
                  <a:schemeClr val="tx1">
                    <a:lumMod val="75000"/>
                    <a:lumOff val="25000"/>
                  </a:schemeClr>
                </a:solidFill>
                <a:latin typeface="Roboto" charset="0"/>
                <a:ea typeface="Roboto" charset="0"/>
                <a:cs typeface="Arial" panose="020B0604020202020204" pitchFamily="34" charset="0"/>
              </a:rPr>
              <a:t>More Advanced Control</a:t>
            </a:r>
            <a:endParaRPr sz="1600">
              <a:solidFill>
                <a:schemeClr val="tx1">
                  <a:lumMod val="75000"/>
                  <a:lumOff val="25000"/>
                </a:schemeClr>
              </a:solidFill>
              <a:latin typeface="Roboto" charset="0"/>
              <a:ea typeface="Roboto" charset="0"/>
              <a:cs typeface="Arial" panose="020B0604020202020204" pitchFamily="34" charset="0"/>
            </a:endParaRPr>
          </a:p>
        </p:txBody>
      </p:sp>
      <p:sp>
        <p:nvSpPr>
          <p:cNvPr id="22" name="文本框 4"/>
          <p:cNvSpPr txBox="1"/>
          <p:nvPr/>
        </p:nvSpPr>
        <p:spPr>
          <a:xfrm>
            <a:off x="6531837" y="4605656"/>
            <a:ext cx="4355238" cy="1276938"/>
          </a:xfrm>
          <a:prstGeom prst="rect">
            <a:avLst/>
          </a:prstGeom>
          <a:noFill/>
        </p:spPr>
        <p:txBody>
          <a:bodyPr wrap="square" rtlCol="0">
            <a:noAutofit/>
          </a:bodyPr>
          <a:lstStyle/>
          <a:p>
            <a:pPr indent="0" fontAlgn="auto">
              <a:buFont typeface="Wingdings" panose="05000000000000000000" charset="0"/>
              <a:buNone/>
            </a:pPr>
            <a:r>
              <a:rPr lang="en-US" sz="1200">
                <a:solidFill>
                  <a:schemeClr val="tx1">
                    <a:lumMod val="75000"/>
                    <a:lumOff val="25000"/>
                  </a:schemeClr>
                </a:solidFill>
                <a:latin typeface="Roboto" charset="0"/>
                <a:ea typeface="Roboto" charset="0"/>
                <a:cs typeface="Arial" panose="020B0604020202020204" pitchFamily="34" charset="0"/>
              </a:rPr>
              <a:t>Utilize the "mute" port to connect to a PA sensor, allowing for quick muting of audio on HDMI OUT 1-2 and analog audio outputs during emergency broadcasts. Additionally, the "Relay Out" interface enables connection to a relay device for controlling functions such as raising or lowering the projection screen.</a:t>
            </a:r>
            <a:endParaRPr sz="1200">
              <a:solidFill>
                <a:schemeClr val="tx1">
                  <a:lumMod val="75000"/>
                  <a:lumOff val="25000"/>
                </a:schemeClr>
              </a:solidFill>
              <a:latin typeface="Roboto" charset="0"/>
              <a:ea typeface="Roboto" charset="0"/>
              <a:cs typeface="Arial" panose="020B0604020202020204" pitchFamily="34" charset="0"/>
            </a:endParaRPr>
          </a:p>
        </p:txBody>
      </p:sp>
      <p:sp>
        <p:nvSpPr>
          <p:cNvPr id="23" name="文本框 4"/>
          <p:cNvSpPr txBox="1"/>
          <p:nvPr/>
        </p:nvSpPr>
        <p:spPr>
          <a:xfrm>
            <a:off x="868657" y="1274686"/>
            <a:ext cx="10184154" cy="717264"/>
          </a:xfrm>
          <a:prstGeom prst="rect">
            <a:avLst/>
          </a:prstGeom>
          <a:noFill/>
        </p:spPr>
        <p:txBody>
          <a:bodyPr wrap="square" rtlCol="0">
            <a:noAutofit/>
          </a:bodyPr>
          <a:lstStyle/>
          <a:p>
            <a:pPr indent="0" fontAlgn="auto">
              <a:buFont typeface="Wingdings" panose="05000000000000000000" charset="0"/>
              <a:buNone/>
            </a:pPr>
            <a:r>
              <a:rPr lang="en-US" sz="2000" b="1">
                <a:solidFill>
                  <a:schemeClr val="tx1">
                    <a:lumMod val="75000"/>
                    <a:lumOff val="25000"/>
                  </a:schemeClr>
                </a:solidFill>
                <a:latin typeface="Roboto" charset="0"/>
                <a:ea typeface="Roboto" charset="0"/>
                <a:cs typeface="Arial" panose="020B0604020202020204" pitchFamily="34" charset="0"/>
              </a:rPr>
              <a:t>Centralize and simplify device management to ensure a smooth and efficient operation for all your conferencing needs.</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644464" y="1083565"/>
            <a:ext cx="7108885" cy="2627585"/>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a:blip r:embed="rId7"/>
          <a:srcRect t="5323" b="3659"/>
          <a:stretch>
            <a:fillRect/>
          </a:stretch>
        </p:blipFill>
        <p:spPr>
          <a:xfrm>
            <a:off x="829220" y="1171575"/>
            <a:ext cx="6756460" cy="2468880"/>
          </a:xfrm>
          <a:prstGeom prst="rect">
            <a:avLst/>
          </a:prstGeom>
        </p:spPr>
      </p:pic>
      <p:sp>
        <p:nvSpPr>
          <p:cNvPr id="19"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Interface of the Product</a:t>
            </a:r>
          </a:p>
        </p:txBody>
      </p:sp>
      <p:sp>
        <p:nvSpPr>
          <p:cNvPr id="4" name="文本框 3"/>
          <p:cNvSpPr txBox="1"/>
          <p:nvPr/>
        </p:nvSpPr>
        <p:spPr>
          <a:xfrm>
            <a:off x="8207632" y="1949974"/>
            <a:ext cx="3400425" cy="4498833"/>
          </a:xfrm>
          <a:prstGeom prst="rect">
            <a:avLst/>
          </a:prstGeom>
          <a:noFill/>
        </p:spPr>
        <p:txBody>
          <a:bodyPr wrap="square" rtlCol="0">
            <a:noAutofit/>
          </a:bodyPr>
          <a:lstStyle/>
          <a:p>
            <a:pPr>
              <a:lnSpc>
                <a:spcPts val="500"/>
              </a:lnSpc>
            </a:pPr>
            <a:r>
              <a:rPr lang="en-US" b="1">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3 Ethernet Ports</a:t>
            </a:r>
            <a:endParaRPr lang="en-US">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800"/>
              </a:lnSpc>
            </a:pPr>
            <a:endParaRPr lang="en-US" sz="160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1800"/>
              </a:lnSpc>
            </a:pPr>
            <a:r>
              <a:rPr lang="en-US" sz="160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Ensures secure and stable network access for guests using their PCs, while allowing easy configuration of the system via a web interface. </a:t>
            </a:r>
          </a:p>
          <a:p>
            <a:endParaRPr lang="en-US" sz="115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r>
              <a:rPr lang="en-US" b="1">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Mute</a:t>
            </a:r>
          </a:p>
          <a:p>
            <a:pPr>
              <a:lnSpc>
                <a:spcPts val="500"/>
              </a:lnSpc>
            </a:pPr>
            <a:endParaRPr lang="en-US" sz="200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1800"/>
              </a:lnSpc>
            </a:pPr>
            <a:r>
              <a:rPr lang="en-US" sz="160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Connect to the PA sensor to quickly mute audio on HDMI OUT 1-2 and analog audio out, in case of an emergency broadcast.</a:t>
            </a:r>
          </a:p>
          <a:p>
            <a:endParaRPr lang="en-US" sz="115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r>
              <a:rPr lang="en-US" b="1">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Relay Out</a:t>
            </a:r>
          </a:p>
          <a:p>
            <a:pPr>
              <a:lnSpc>
                <a:spcPts val="500"/>
              </a:lnSpc>
            </a:pPr>
            <a:endParaRPr lang="en-US" sz="200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a:lnSpc>
                <a:spcPts val="1800"/>
              </a:lnSpc>
            </a:pPr>
            <a:r>
              <a:rPr lang="en-US" sz="160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Connect to a relay device for relay control, such as raising or lowering the projection screen.</a:t>
            </a:r>
          </a:p>
        </p:txBody>
      </p:sp>
      <p:sp>
        <p:nvSpPr>
          <p:cNvPr id="9" name="文本框 8"/>
          <p:cNvSpPr txBox="1"/>
          <p:nvPr/>
        </p:nvSpPr>
        <p:spPr>
          <a:xfrm>
            <a:off x="6608762" y="1157767"/>
            <a:ext cx="1986280" cy="307777"/>
          </a:xfrm>
          <a:prstGeom prst="rect">
            <a:avLst/>
          </a:prstGeom>
          <a:noFill/>
        </p:spPr>
        <p:txBody>
          <a:bodyPr wrap="square" rtlCol="0">
            <a:spAutoFit/>
          </a:bodyPr>
          <a:lstStyle/>
          <a:p>
            <a:r>
              <a:rPr lang="en-US" altLang="zh-CN" sz="1400" b="1">
                <a:latin typeface="Roboto" charset="0"/>
                <a:cs typeface="Roboto" charset="0"/>
              </a:rPr>
              <a:t>Front Panel</a:t>
            </a:r>
          </a:p>
        </p:txBody>
      </p:sp>
      <p:sp>
        <p:nvSpPr>
          <p:cNvPr id="15" name="文本框 8"/>
          <p:cNvSpPr txBox="1"/>
          <p:nvPr/>
        </p:nvSpPr>
        <p:spPr>
          <a:xfrm>
            <a:off x="8207632" y="1227695"/>
            <a:ext cx="1986280" cy="460375"/>
          </a:xfrm>
          <a:prstGeom prst="rect">
            <a:avLst/>
          </a:prstGeom>
          <a:noFill/>
        </p:spPr>
        <p:txBody>
          <a:bodyPr wrap="square" rtlCol="0">
            <a:spAutoFit/>
          </a:bodyPr>
          <a:lstStyle/>
          <a:p>
            <a:r>
              <a:rPr lang="en-US" altLang="zh-CN" sz="2400" b="1" u="sng">
                <a:latin typeface="Roboto" charset="0"/>
                <a:cs typeface="Roboto" charset="0"/>
              </a:rPr>
              <a:t>Featuring:</a:t>
            </a:r>
          </a:p>
        </p:txBody>
      </p:sp>
      <p:pic>
        <p:nvPicPr>
          <p:cNvPr id="16" name="Google Shape;82;p1"/>
          <p:cNvPicPr preferRelativeResize="0"/>
          <p:nvPr/>
        </p:nvPicPr>
        <p:blipFill>
          <a:blip r:embed="rId8"/>
          <a:stretch>
            <a:fillRect/>
          </a:stretch>
        </p:blipFill>
        <p:spPr>
          <a:xfrm>
            <a:off x="9652104" y="6056488"/>
            <a:ext cx="2241019" cy="440200"/>
          </a:xfrm>
          <a:prstGeom prst="rect">
            <a:avLst/>
          </a:prstGeom>
          <a:noFill/>
          <a:ln>
            <a:noFill/>
          </a:ln>
        </p:spPr>
      </p:pic>
      <p:sp>
        <p:nvSpPr>
          <p:cNvPr id="17"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5" name="Rectangle 4"/>
          <p:cNvSpPr/>
          <p:nvPr/>
        </p:nvSpPr>
        <p:spPr>
          <a:xfrm>
            <a:off x="644464" y="3868461"/>
            <a:ext cx="7108885" cy="2818087"/>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9"/>
          <a:srcRect l="-139" t="6707" r="749" b="2793"/>
          <a:stretch>
            <a:fillRect/>
          </a:stretch>
        </p:blipFill>
        <p:spPr>
          <a:xfrm>
            <a:off x="867320" y="4017645"/>
            <a:ext cx="6400800" cy="2651760"/>
          </a:xfrm>
          <a:prstGeom prst="rect">
            <a:avLst/>
          </a:prstGeom>
          <a:ln>
            <a:noFill/>
          </a:ln>
        </p:spPr>
      </p:pic>
      <p:sp>
        <p:nvSpPr>
          <p:cNvPr id="10" name="文本框 9"/>
          <p:cNvSpPr txBox="1"/>
          <p:nvPr/>
        </p:nvSpPr>
        <p:spPr>
          <a:xfrm>
            <a:off x="6666547" y="3927899"/>
            <a:ext cx="1851660" cy="307777"/>
          </a:xfrm>
          <a:prstGeom prst="rect">
            <a:avLst/>
          </a:prstGeom>
          <a:noFill/>
        </p:spPr>
        <p:txBody>
          <a:bodyPr wrap="square" rtlCol="0" anchor="t">
            <a:spAutoFit/>
          </a:bodyPr>
          <a:lstStyle/>
          <a:p>
            <a:r>
              <a:rPr lang="en-US" altLang="zh-CN" sz="1400" b="1">
                <a:latin typeface="Roboto" charset="0"/>
                <a:cs typeface="Roboto" charset="0"/>
                <a:sym typeface="+mn-ea"/>
              </a:rPr>
              <a:t>Rear Panel</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10"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Specifications &amp; Packing List</a:t>
            </a:r>
          </a:p>
        </p:txBody>
      </p:sp>
      <p:graphicFrame>
        <p:nvGraphicFramePr>
          <p:cNvPr id="5" name="表格 4"/>
          <p:cNvGraphicFramePr>
            <a:graphicFrameLocks noGrp="1"/>
          </p:cNvGraphicFramePr>
          <p:nvPr>
            <p:custDataLst>
              <p:tags r:id="rId4"/>
            </p:custDataLst>
            <p:extLst>
              <p:ext uri="{D42A27DB-BD31-4B8C-83A1-F6EECF244321}">
                <p14:modId xmlns:p14="http://schemas.microsoft.com/office/powerpoint/2010/main" val="1600114115"/>
              </p:ext>
            </p:extLst>
          </p:nvPr>
        </p:nvGraphicFramePr>
        <p:xfrm>
          <a:off x="508001" y="1428750"/>
          <a:ext cx="6369050" cy="493395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834834">
                  <a:extLst>
                    <a:ext uri="{9D8B030D-6E8A-4147-A177-3AD203B41FA5}">
                      <a16:colId xmlns:a16="http://schemas.microsoft.com/office/drawing/2014/main" val="20000"/>
                    </a:ext>
                  </a:extLst>
                </a:gridCol>
                <a:gridCol w="4534216">
                  <a:extLst>
                    <a:ext uri="{9D8B030D-6E8A-4147-A177-3AD203B41FA5}">
                      <a16:colId xmlns:a16="http://schemas.microsoft.com/office/drawing/2014/main" val="20001"/>
                    </a:ext>
                  </a:extLst>
                </a:gridCol>
              </a:tblGrid>
              <a:tr h="371010">
                <a:tc gridSpan="2">
                  <a:txBody>
                    <a:bodyPr/>
                    <a:lstStyle/>
                    <a:p>
                      <a:r>
                        <a:rPr lang="en-US" altLang="zh-CN" sz="1600">
                          <a:latin typeface="Roboto" charset="0"/>
                          <a:ea typeface="Roboto" charset="0"/>
                          <a:cs typeface="Arial" panose="020B0604020202020204" pitchFamily="34" charset="0"/>
                        </a:rPr>
                        <a:t>Main Specifications</a:t>
                      </a:r>
                    </a:p>
                  </a:txBody>
                  <a:tcPr anchor="ctr">
                    <a:solidFill>
                      <a:srgbClr val="0B7935"/>
                    </a:solidFill>
                  </a:tcPr>
                </a:tc>
                <a:tc hMerge="1">
                  <a:txBody>
                    <a:bodyPr/>
                    <a:lstStyle/>
                    <a:p>
                      <a:endParaRPr lang="en-US"/>
                    </a:p>
                  </a:txBody>
                  <a:tcPr/>
                </a:tc>
                <a:extLst>
                  <a:ext uri="{0D108BD9-81ED-4DB2-BD59-A6C34878D82A}">
                    <a16:rowId xmlns:a16="http://schemas.microsoft.com/office/drawing/2014/main" val="10000"/>
                  </a:ext>
                </a:extLst>
              </a:tr>
              <a:tr h="337970">
                <a:tc>
                  <a:txBody>
                    <a:bodyPr/>
                    <a:lstStyle/>
                    <a:p>
                      <a:r>
                        <a:rPr lang="en-US" altLang="zh-CN" sz="1400">
                          <a:latin typeface="Roboto" charset="0"/>
                          <a:ea typeface="Roboto" charset="0"/>
                          <a:cs typeface="Arial" panose="020B0604020202020204" pitchFamily="34" charset="0"/>
                        </a:rPr>
                        <a:t>Input Video Port </a:t>
                      </a:r>
                    </a:p>
                  </a:txBody>
                  <a:tcPr anchor="ctr">
                    <a:solidFill>
                      <a:srgbClr val="D6E5D5"/>
                    </a:solidFill>
                  </a:tcPr>
                </a:tc>
                <a:tc>
                  <a:txBody>
                    <a:bodyPr/>
                    <a:lstStyle/>
                    <a:p>
                      <a:r>
                        <a:rPr lang="en-US" altLang="zh-CN" sz="1400">
                          <a:latin typeface="Roboto" charset="0"/>
                          <a:ea typeface="Roboto" charset="0"/>
                          <a:cs typeface="Arial" panose="020B0604020202020204" pitchFamily="34" charset="0"/>
                        </a:rPr>
                        <a:t>2x USB-C, 2x HDMI</a:t>
                      </a:r>
                    </a:p>
                  </a:txBody>
                  <a:tcPr anchor="ctr">
                    <a:solidFill>
                      <a:srgbClr val="D6E5D5"/>
                    </a:solidFill>
                  </a:tcPr>
                </a:tc>
                <a:extLst>
                  <a:ext uri="{0D108BD9-81ED-4DB2-BD59-A6C34878D82A}">
                    <a16:rowId xmlns:a16="http://schemas.microsoft.com/office/drawing/2014/main" val="10001"/>
                  </a:ext>
                </a:extLst>
              </a:tr>
              <a:tr h="337282">
                <a:tc>
                  <a:txBody>
                    <a:bodyPr/>
                    <a:lstStyle/>
                    <a:p>
                      <a:r>
                        <a:rPr lang="en-US" altLang="zh-CN" sz="1400">
                          <a:latin typeface="Roboto" charset="0"/>
                          <a:ea typeface="Roboto" charset="0"/>
                          <a:cs typeface="Arial" panose="020B0604020202020204" pitchFamily="34" charset="0"/>
                        </a:rPr>
                        <a:t>Output Video Port </a:t>
                      </a:r>
                    </a:p>
                  </a:txBody>
                  <a:tcPr anchor="ctr">
                    <a:solidFill>
                      <a:srgbClr val="E3F2E2"/>
                    </a:solidFill>
                  </a:tcPr>
                </a:tc>
                <a:tc>
                  <a:txBody>
                    <a:bodyPr/>
                    <a:lstStyle/>
                    <a:p>
                      <a:r>
                        <a:rPr lang="en-US" altLang="zh-CN" sz="1400">
                          <a:latin typeface="Roboto" charset="0"/>
                          <a:ea typeface="Roboto" charset="0"/>
                          <a:cs typeface="Arial" panose="020B0604020202020204" pitchFamily="34" charset="0"/>
                        </a:rPr>
                        <a:t>2x HDMI</a:t>
                      </a:r>
                    </a:p>
                  </a:txBody>
                  <a:tcPr anchor="ctr">
                    <a:solidFill>
                      <a:srgbClr val="E3F2E2"/>
                    </a:solidFill>
                  </a:tcPr>
                </a:tc>
                <a:extLst>
                  <a:ext uri="{0D108BD9-81ED-4DB2-BD59-A6C34878D82A}">
                    <a16:rowId xmlns:a16="http://schemas.microsoft.com/office/drawing/2014/main" val="10002"/>
                  </a:ext>
                </a:extLst>
              </a:tr>
              <a:tr h="576132">
                <a:tc>
                  <a:txBody>
                    <a:bodyPr/>
                    <a:lstStyle/>
                    <a:p>
                      <a:r>
                        <a:rPr lang="en-US" altLang="zh-CN" sz="1400">
                          <a:latin typeface="Roboto" charset="0"/>
                          <a:ea typeface="Roboto" charset="0"/>
                          <a:cs typeface="Arial" panose="020B0604020202020204" pitchFamily="34" charset="0"/>
                        </a:rPr>
                        <a:t>Output Video Signal</a:t>
                      </a:r>
                    </a:p>
                  </a:txBody>
                  <a:tcPr anchor="ctr">
                    <a:solidFill>
                      <a:srgbClr val="D6E5D5"/>
                    </a:solidFill>
                  </a:tcPr>
                </a:tc>
                <a:tc>
                  <a:txBody>
                    <a:bodyPr/>
                    <a:lstStyle/>
                    <a:p>
                      <a:r>
                        <a:rPr lang="en-US" altLang="zh-CN" sz="1400">
                          <a:latin typeface="Roboto" charset="0"/>
                          <a:ea typeface="Roboto" charset="0"/>
                          <a:cs typeface="Arial" panose="020B0604020202020204" pitchFamily="34" charset="0"/>
                        </a:rPr>
                        <a:t>HDMI OUT 1: HDMI 2.0, HDCP 2.2</a:t>
                      </a:r>
                    </a:p>
                    <a:p>
                      <a:r>
                        <a:rPr lang="en-US" altLang="zh-CN" sz="1400">
                          <a:latin typeface="Roboto" charset="0"/>
                          <a:ea typeface="Roboto" charset="0"/>
                          <a:cs typeface="Arial" panose="020B0604020202020204" pitchFamily="34" charset="0"/>
                        </a:rPr>
                        <a:t>HDMI OUT 2: HDMI 1.4, HDCP 1.4</a:t>
                      </a:r>
                    </a:p>
                  </a:txBody>
                  <a:tcPr anchor="ctr">
                    <a:solidFill>
                      <a:srgbClr val="D6E5D5"/>
                    </a:solidFill>
                  </a:tcPr>
                </a:tc>
                <a:extLst>
                  <a:ext uri="{0D108BD9-81ED-4DB2-BD59-A6C34878D82A}">
                    <a16:rowId xmlns:a16="http://schemas.microsoft.com/office/drawing/2014/main" val="10003"/>
                  </a:ext>
                </a:extLst>
              </a:tr>
              <a:tr h="1144004">
                <a:tc>
                  <a:txBody>
                    <a:bodyPr/>
                    <a:lstStyle/>
                    <a:p>
                      <a:r>
                        <a:rPr lang="en-US" altLang="zh-CN" sz="1400">
                          <a:latin typeface="Roboto" charset="0"/>
                          <a:ea typeface="Roboto" charset="0"/>
                          <a:cs typeface="Arial" panose="020B0604020202020204" pitchFamily="34" charset="0"/>
                        </a:rPr>
                        <a:t>Input Resolutions</a:t>
                      </a:r>
                      <a:br>
                        <a:rPr lang="en-US" altLang="zh-CN" sz="1400">
                          <a:latin typeface="Roboto" charset="0"/>
                          <a:ea typeface="Roboto" charset="0"/>
                          <a:cs typeface="Arial" panose="020B0604020202020204" pitchFamily="34" charset="0"/>
                        </a:rPr>
                      </a:br>
                      <a:r>
                        <a:rPr lang="en-US" altLang="zh-CN" sz="1400">
                          <a:latin typeface="Roboto" charset="0"/>
                          <a:ea typeface="Roboto" charset="0"/>
                          <a:cs typeface="Arial" panose="020B0604020202020204" pitchFamily="34" charset="0"/>
                        </a:rPr>
                        <a:t>(Maximum)</a:t>
                      </a:r>
                    </a:p>
                  </a:txBody>
                  <a:tcPr anchor="ctr">
                    <a:solidFill>
                      <a:srgbClr val="E3F2E2"/>
                    </a:solidFill>
                  </a:tcPr>
                </a:tc>
                <a:tc>
                  <a:txBody>
                    <a:bodyPr/>
                    <a:lstStyle/>
                    <a:p>
                      <a:r>
                        <a:rPr lang="en-US" altLang="zh-CN" sz="1400" b="1">
                          <a:latin typeface="Roboto" charset="0"/>
                          <a:ea typeface="Roboto" charset="0"/>
                          <a:cs typeface="Arial" panose="020B0604020202020204" pitchFamily="34" charset="0"/>
                        </a:rPr>
                        <a:t>USB-C/HDMI</a:t>
                      </a:r>
                      <a:r>
                        <a:rPr lang="en-US" altLang="zh-CN" sz="1400">
                          <a:latin typeface="Roboto" charset="0"/>
                          <a:ea typeface="Roboto" charset="0"/>
                          <a:cs typeface="Arial" panose="020B0604020202020204" pitchFamily="34" charset="0"/>
                        </a:rPr>
                        <a:t>:3840x2160 (2160p30)</a:t>
                      </a:r>
                    </a:p>
                    <a:p>
                      <a:r>
                        <a:rPr lang="en-US" altLang="zh-CN" sz="200">
                          <a:latin typeface="Roboto" charset="0"/>
                          <a:ea typeface="Roboto" charset="0"/>
                          <a:cs typeface="Arial" panose="020B0604020202020204" pitchFamily="34" charset="0"/>
                        </a:rPr>
                        <a:t> </a:t>
                      </a:r>
                    </a:p>
                    <a:p>
                      <a:r>
                        <a:rPr lang="en-US" altLang="zh-CN" sz="1400" b="1">
                          <a:latin typeface="Roboto"/>
                          <a:ea typeface="Roboto"/>
                          <a:cs typeface="Arial"/>
                        </a:rPr>
                        <a:t>Miracast:</a:t>
                      </a:r>
                      <a:r>
                        <a:rPr lang="en-US" altLang="zh-CN" sz="1400">
                          <a:latin typeface="Roboto"/>
                          <a:ea typeface="Roboto"/>
                          <a:cs typeface="Arial"/>
                        </a:rPr>
                        <a:t>1920x1080 (1080p60)</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 b="1">
                          <a:latin typeface="Roboto"/>
                          <a:ea typeface="Roboto"/>
                          <a:cs typeface="Arial"/>
                        </a:rPr>
                        <a:t> </a:t>
                      </a:r>
                      <a:br>
                        <a:rPr lang="en-US" altLang="zh-CN" sz="800" b="1">
                          <a:latin typeface="Roboto"/>
                          <a:ea typeface="Roboto"/>
                          <a:cs typeface="Arial"/>
                        </a:rPr>
                      </a:br>
                      <a:r>
                        <a:rPr lang="en-US" altLang="zh-CN" sz="1400" b="1">
                          <a:latin typeface="Roboto"/>
                          <a:ea typeface="Roboto"/>
                          <a:cs typeface="Arial"/>
                        </a:rPr>
                        <a:t>Airplay Mirroring</a:t>
                      </a:r>
                      <a:r>
                        <a:rPr lang="en-US" altLang="zh-CN" sz="1400">
                          <a:latin typeface="Roboto"/>
                          <a:ea typeface="Roboto"/>
                          <a:cs typeface="Arial"/>
                        </a:rPr>
                        <a:t>: Up to 1920x1080 (1080p60)</a:t>
                      </a:r>
                    </a:p>
                    <a:p>
                      <a:r>
                        <a:rPr lang="en-US" altLang="zh-CN" sz="200" b="1">
                          <a:latin typeface="Roboto"/>
                          <a:ea typeface="Roboto"/>
                          <a:cs typeface="Arial"/>
                        </a:rPr>
                        <a:t> </a:t>
                      </a:r>
                      <a:br>
                        <a:rPr lang="en-US" altLang="zh-CN" sz="1400" b="1">
                          <a:latin typeface="Roboto"/>
                          <a:ea typeface="Roboto"/>
                          <a:cs typeface="Arial"/>
                        </a:rPr>
                      </a:br>
                      <a:r>
                        <a:rPr lang="en-US" altLang="zh-CN" sz="1400" b="1">
                          <a:latin typeface="Roboto"/>
                          <a:ea typeface="Roboto"/>
                          <a:cs typeface="Arial"/>
                        </a:rPr>
                        <a:t>Dongle : </a:t>
                      </a:r>
                      <a:r>
                        <a:rPr lang="en-US" altLang="zh-CN" sz="1400">
                          <a:latin typeface="Roboto"/>
                          <a:ea typeface="Roboto"/>
                          <a:cs typeface="Arial"/>
                        </a:rPr>
                        <a:t>3840x2160 (2160p30)</a:t>
                      </a:r>
                    </a:p>
                  </a:txBody>
                  <a:tcPr anchor="ctr">
                    <a:solidFill>
                      <a:srgbClr val="E3F2E2"/>
                    </a:solidFill>
                  </a:tcPr>
                </a:tc>
                <a:extLst>
                  <a:ext uri="{0D108BD9-81ED-4DB2-BD59-A6C34878D82A}">
                    <a16:rowId xmlns:a16="http://schemas.microsoft.com/office/drawing/2014/main" val="10004"/>
                  </a:ext>
                </a:extLst>
              </a:tr>
              <a:tr h="578197">
                <a:tc>
                  <a:txBody>
                    <a:bodyPr/>
                    <a:lstStyle/>
                    <a:p>
                      <a:r>
                        <a:rPr lang="en-US" altLang="zh-CN" sz="1400">
                          <a:latin typeface="Roboto" charset="0"/>
                          <a:ea typeface="Roboto" charset="0"/>
                          <a:cs typeface="Arial" panose="020B0604020202020204" pitchFamily="34" charset="0"/>
                        </a:rPr>
                        <a:t>Output Resolutions</a:t>
                      </a:r>
                      <a:br>
                        <a:rPr lang="en-US" altLang="zh-CN" sz="1400">
                          <a:latin typeface="Roboto" charset="0"/>
                          <a:ea typeface="Roboto" charset="0"/>
                          <a:cs typeface="Arial" panose="020B0604020202020204" pitchFamily="34" charset="0"/>
                        </a:rPr>
                      </a:br>
                      <a:r>
                        <a:rPr lang="en-US" altLang="zh-CN" sz="1400">
                          <a:latin typeface="Roboto" charset="0"/>
                          <a:ea typeface="Roboto" charset="0"/>
                          <a:cs typeface="Arial" panose="020B0604020202020204" pitchFamily="34" charset="0"/>
                        </a:rPr>
                        <a:t>(Maximum)</a:t>
                      </a:r>
                    </a:p>
                  </a:txBody>
                  <a:tcPr anchor="ctr">
                    <a:solidFill>
                      <a:srgbClr val="D6E5D5"/>
                    </a:solidFill>
                  </a:tcPr>
                </a:tc>
                <a:tc>
                  <a:txBody>
                    <a:bodyPr/>
                    <a:lstStyle/>
                    <a:p>
                      <a:r>
                        <a:rPr lang="en-US" altLang="zh-CN" sz="1400">
                          <a:latin typeface="Roboto" charset="0"/>
                          <a:ea typeface="Roboto" charset="0"/>
                          <a:cs typeface="Arial" panose="020B0604020202020204" pitchFamily="34" charset="0"/>
                        </a:rPr>
                        <a:t>HDMI OUT 1:3840x2160 (2160p60)</a:t>
                      </a:r>
                    </a:p>
                    <a:p>
                      <a:r>
                        <a:rPr lang="en-US" altLang="zh-CN" sz="1400">
                          <a:latin typeface="Roboto" charset="0"/>
                          <a:ea typeface="Roboto" charset="0"/>
                          <a:cs typeface="Arial" panose="020B0604020202020204" pitchFamily="34" charset="0"/>
                        </a:rPr>
                        <a:t>HDMI OUT 2:3840x2160 (2160p30)</a:t>
                      </a:r>
                    </a:p>
                  </a:txBody>
                  <a:tcPr anchor="ctr">
                    <a:solidFill>
                      <a:srgbClr val="D6E5D5"/>
                    </a:solidFill>
                  </a:tcPr>
                </a:tc>
                <a:extLst>
                  <a:ext uri="{0D108BD9-81ED-4DB2-BD59-A6C34878D82A}">
                    <a16:rowId xmlns:a16="http://schemas.microsoft.com/office/drawing/2014/main" val="10005"/>
                  </a:ext>
                </a:extLst>
              </a:tr>
              <a:tr h="337970">
                <a:tc>
                  <a:txBody>
                    <a:bodyPr/>
                    <a:lstStyle/>
                    <a:p>
                      <a:r>
                        <a:rPr lang="en-US" altLang="zh-CN" sz="1400">
                          <a:latin typeface="Roboto" charset="0"/>
                          <a:ea typeface="Roboto" charset="0"/>
                          <a:cs typeface="Arial" panose="020B0604020202020204" pitchFamily="34" charset="0"/>
                        </a:rPr>
                        <a:t>Input Audio Port</a:t>
                      </a:r>
                    </a:p>
                  </a:txBody>
                  <a:tcPr anchor="ctr">
                    <a:solidFill>
                      <a:srgbClr val="E3F2E2"/>
                    </a:solidFill>
                  </a:tcPr>
                </a:tc>
                <a:tc>
                  <a:txBody>
                    <a:bodyPr/>
                    <a:lstStyle/>
                    <a:p>
                      <a:r>
                        <a:rPr lang="en-US" altLang="zh-CN" sz="1400">
                          <a:latin typeface="Roboto" charset="0"/>
                          <a:ea typeface="Roboto" charset="0"/>
                          <a:cs typeface="Arial" panose="020B0604020202020204" pitchFamily="34" charset="0"/>
                        </a:rPr>
                        <a:t>2x HDMI, 2x USB-C, 3x LAN, 2x Wi-Fi</a:t>
                      </a:r>
                    </a:p>
                  </a:txBody>
                  <a:tcPr anchor="ctr">
                    <a:solidFill>
                      <a:srgbClr val="E3F2E2"/>
                    </a:solidFill>
                  </a:tcPr>
                </a:tc>
                <a:extLst>
                  <a:ext uri="{0D108BD9-81ED-4DB2-BD59-A6C34878D82A}">
                    <a16:rowId xmlns:a16="http://schemas.microsoft.com/office/drawing/2014/main" val="10006"/>
                  </a:ext>
                </a:extLst>
              </a:tr>
              <a:tr h="337282">
                <a:tc>
                  <a:txBody>
                    <a:bodyPr/>
                    <a:lstStyle/>
                    <a:p>
                      <a:r>
                        <a:rPr lang="en-US" altLang="zh-CN" sz="1400">
                          <a:latin typeface="Roboto" charset="0"/>
                          <a:ea typeface="Roboto" charset="0"/>
                          <a:cs typeface="Arial" panose="020B0604020202020204" pitchFamily="34" charset="0"/>
                        </a:rPr>
                        <a:t>Output Audio Port </a:t>
                      </a:r>
                    </a:p>
                  </a:txBody>
                  <a:tcPr anchor="ctr">
                    <a:solidFill>
                      <a:srgbClr val="D6E5D5"/>
                    </a:solidFill>
                  </a:tcPr>
                </a:tc>
                <a:tc>
                  <a:txBody>
                    <a:bodyPr/>
                    <a:lstStyle/>
                    <a:p>
                      <a:r>
                        <a:rPr lang="nn-NO" altLang="zh-CN" sz="1400">
                          <a:latin typeface="Roboto" charset="0"/>
                          <a:ea typeface="Roboto" charset="0"/>
                          <a:cs typeface="Arial" panose="020B0604020202020204" pitchFamily="34" charset="0"/>
                        </a:rPr>
                        <a:t>2 x HDMI, 1 x Analog Audio Out</a:t>
                      </a:r>
                    </a:p>
                  </a:txBody>
                  <a:tcPr anchor="ctr">
                    <a:solidFill>
                      <a:srgbClr val="D6E5D5"/>
                    </a:solidFill>
                  </a:tcPr>
                </a:tc>
                <a:extLst>
                  <a:ext uri="{0D108BD9-81ED-4DB2-BD59-A6C34878D82A}">
                    <a16:rowId xmlns:a16="http://schemas.microsoft.com/office/drawing/2014/main" val="10007"/>
                  </a:ext>
                </a:extLst>
              </a:tr>
              <a:tr h="576821">
                <a:tc>
                  <a:txBody>
                    <a:bodyPr/>
                    <a:lstStyle/>
                    <a:p>
                      <a:r>
                        <a:rPr lang="en-US" altLang="zh-CN" sz="1400">
                          <a:latin typeface="Roboto" charset="0"/>
                          <a:ea typeface="Roboto" charset="0"/>
                          <a:cs typeface="Arial" panose="020B0604020202020204" pitchFamily="34" charset="0"/>
                        </a:rPr>
                        <a:t>Control Method </a:t>
                      </a:r>
                    </a:p>
                  </a:txBody>
                  <a:tcPr anchor="ctr">
                    <a:solidFill>
                      <a:srgbClr val="E3F2E2"/>
                    </a:solidFill>
                  </a:tcPr>
                </a:tc>
                <a:tc>
                  <a:txBody>
                    <a:bodyPr/>
                    <a:lstStyle/>
                    <a:p>
                      <a:r>
                        <a:rPr lang="en-US" altLang="zh-CN" sz="1400">
                          <a:latin typeface="Roboto" charset="0"/>
                          <a:ea typeface="Roboto" charset="0"/>
                          <a:cs typeface="Arial" panose="020B0604020202020204" pitchFamily="34" charset="0"/>
                        </a:rPr>
                        <a:t>Front panel buttons, LAN (Web UI &amp; Telnet API),</a:t>
                      </a:r>
                      <a:br>
                        <a:rPr lang="en-US" altLang="zh-CN" sz="1400">
                          <a:latin typeface="Roboto" charset="0"/>
                          <a:ea typeface="Roboto" charset="0"/>
                          <a:cs typeface="Arial" panose="020B0604020202020204" pitchFamily="34" charset="0"/>
                        </a:rPr>
                      </a:br>
                      <a:r>
                        <a:rPr lang="en-US" altLang="zh-CN" sz="1400">
                          <a:latin typeface="Roboto" charset="0"/>
                          <a:ea typeface="Roboto" charset="0"/>
                          <a:cs typeface="Arial" panose="020B0604020202020204" pitchFamily="34" charset="0"/>
                        </a:rPr>
                        <a:t>RS-232</a:t>
                      </a:r>
                    </a:p>
                  </a:txBody>
                  <a:tcPr anchor="ctr">
                    <a:solidFill>
                      <a:srgbClr val="E3F2E2"/>
                    </a:solidFill>
                  </a:tcPr>
                </a:tc>
                <a:extLst>
                  <a:ext uri="{0D108BD9-81ED-4DB2-BD59-A6C34878D82A}">
                    <a16:rowId xmlns:a16="http://schemas.microsoft.com/office/drawing/2014/main" val="10008"/>
                  </a:ext>
                </a:extLst>
              </a:tr>
              <a:tr h="337282">
                <a:tc>
                  <a:txBody>
                    <a:bodyPr/>
                    <a:lstStyle/>
                    <a:p>
                      <a:r>
                        <a:rPr lang="en-US" altLang="zh-CN" sz="1400">
                          <a:latin typeface="Roboto" charset="0"/>
                          <a:ea typeface="Roboto" charset="0"/>
                          <a:cs typeface="Arial" panose="020B0604020202020204" pitchFamily="34" charset="0"/>
                        </a:rPr>
                        <a:t>Power Supply</a:t>
                      </a:r>
                    </a:p>
                  </a:txBody>
                  <a:tcPr anchor="ctr">
                    <a:solidFill>
                      <a:srgbClr val="D6E5D5"/>
                    </a:solidFill>
                  </a:tcPr>
                </a:tc>
                <a:tc>
                  <a:txBody>
                    <a:bodyPr/>
                    <a:lstStyle/>
                    <a:p>
                      <a:r>
                        <a:rPr lang="en-US" altLang="zh-CN" sz="1400">
                          <a:latin typeface="Roboto" charset="0"/>
                          <a:ea typeface="Roboto" charset="0"/>
                          <a:cs typeface="Arial" panose="020B0604020202020204" pitchFamily="34" charset="0"/>
                        </a:rPr>
                        <a:t>20V 10A DC</a:t>
                      </a:r>
                    </a:p>
                  </a:txBody>
                  <a:tcPr anchor="ctr">
                    <a:solidFill>
                      <a:srgbClr val="D6E5D5"/>
                    </a:solidFill>
                  </a:tcPr>
                </a:tc>
                <a:extLst>
                  <a:ext uri="{0D108BD9-81ED-4DB2-BD59-A6C34878D82A}">
                    <a16:rowId xmlns:a16="http://schemas.microsoft.com/office/drawing/2014/main" val="10009"/>
                  </a:ext>
                </a:extLst>
              </a:tr>
            </a:tbl>
          </a:graphicData>
        </a:graphic>
      </p:graphicFrame>
      <p:sp>
        <p:nvSpPr>
          <p:cNvPr id="4" name="文本框 3"/>
          <p:cNvSpPr txBox="1"/>
          <p:nvPr/>
        </p:nvSpPr>
        <p:spPr>
          <a:xfrm>
            <a:off x="7242219" y="1901190"/>
            <a:ext cx="4597400" cy="2899410"/>
          </a:xfrm>
          <a:prstGeom prst="rect">
            <a:avLst/>
          </a:prstGeom>
          <a:noFill/>
        </p:spPr>
        <p:txBody>
          <a:bodyPr wrap="square" rtlCol="0">
            <a:noAutofit/>
          </a:bodyPr>
          <a:lstStyle/>
          <a:p>
            <a:pPr algn="l"/>
            <a:r>
              <a:rPr lang="zh-CN" altLang="en-US" b="1">
                <a:latin typeface="Roboto" charset="0"/>
                <a:cs typeface="Arial" panose="020B0604020202020204" pitchFamily="34" charset="0"/>
              </a:rPr>
              <a:t>What’s in the Box?</a:t>
            </a:r>
          </a:p>
          <a:p>
            <a:pPr>
              <a:lnSpc>
                <a:spcPts val="900"/>
              </a:lnSpc>
            </a:pPr>
            <a:endParaRPr lang="zh-CN" altLang="en-US" sz="1600">
              <a:latin typeface="Roboto" charset="0"/>
              <a:cs typeface="Arial" panose="020B0604020202020204" pitchFamily="34" charset="0"/>
            </a:endParaRPr>
          </a:p>
          <a:p>
            <a:pPr marL="285750" indent="-285750">
              <a:buFont typeface="Wingdings" panose="05000000000000000000" charset="0"/>
              <a:buChar char="l"/>
            </a:pPr>
            <a:r>
              <a:rPr lang="zh-CN" altLang="en-US" sz="1600">
                <a:solidFill>
                  <a:schemeClr val="tx1">
                    <a:lumMod val="75000"/>
                    <a:lumOff val="25000"/>
                  </a:schemeClr>
                </a:solidFill>
                <a:latin typeface="Roboto" charset="0"/>
                <a:cs typeface="Arial" panose="020B0604020202020204" pitchFamily="34" charset="0"/>
              </a:rPr>
              <a:t>1x SW-640L-TX-W</a:t>
            </a:r>
          </a:p>
          <a:p>
            <a:pPr marL="285750" indent="-285750">
              <a:buFont typeface="Wingdings" panose="05000000000000000000" charset="0"/>
              <a:buChar char="l"/>
            </a:pPr>
            <a:r>
              <a:rPr lang="zh-CN" altLang="en-US" sz="1600">
                <a:solidFill>
                  <a:schemeClr val="tx1">
                    <a:lumMod val="75000"/>
                    <a:lumOff val="25000"/>
                  </a:schemeClr>
                </a:solidFill>
                <a:latin typeface="Roboto" charset="0"/>
                <a:cs typeface="Arial" panose="020B0604020202020204" pitchFamily="34" charset="0"/>
              </a:rPr>
              <a:t>1x 20V/10A Power Supply (US/UK/EU/AU) </a:t>
            </a:r>
          </a:p>
          <a:p>
            <a:pPr marL="285750" indent="-285750">
              <a:buFont typeface="Wingdings" panose="05000000000000000000" charset="0"/>
              <a:buChar char="l"/>
            </a:pPr>
            <a:r>
              <a:rPr lang="zh-CN" altLang="en-US" sz="1600">
                <a:solidFill>
                  <a:schemeClr val="tx1">
                    <a:lumMod val="75000"/>
                    <a:lumOff val="25000"/>
                  </a:schemeClr>
                </a:solidFill>
                <a:latin typeface="Roboto" charset="0"/>
                <a:cs typeface="Arial" panose="020B0604020202020204" pitchFamily="34" charset="0"/>
              </a:rPr>
              <a:t>4x Plastic Mounting Brackets</a:t>
            </a:r>
          </a:p>
          <a:p>
            <a:pPr marL="285750" indent="-285750">
              <a:buFont typeface="Wingdings" panose="05000000000000000000" charset="0"/>
              <a:buChar char="l"/>
            </a:pPr>
            <a:r>
              <a:rPr lang="zh-CN" altLang="en-US" sz="1600">
                <a:solidFill>
                  <a:schemeClr val="tx1">
                    <a:lumMod val="75000"/>
                    <a:lumOff val="25000"/>
                  </a:schemeClr>
                </a:solidFill>
                <a:latin typeface="Roboto" charset="0"/>
                <a:cs typeface="Arial" panose="020B0604020202020204" pitchFamily="34" charset="0"/>
              </a:rPr>
              <a:t>1x 2-pin Phoenix Connector (for PA Sensor)</a:t>
            </a:r>
          </a:p>
          <a:p>
            <a:pPr marL="285750" indent="-285750">
              <a:buFont typeface="Wingdings" panose="05000000000000000000" charset="0"/>
              <a:buChar char="l"/>
            </a:pPr>
            <a:r>
              <a:rPr lang="zh-CN" altLang="en-US" sz="1600">
                <a:solidFill>
                  <a:schemeClr val="tx1">
                    <a:lumMod val="75000"/>
                    <a:lumOff val="25000"/>
                  </a:schemeClr>
                </a:solidFill>
                <a:latin typeface="Roboto" charset="0"/>
                <a:cs typeface="Arial" panose="020B0604020202020204" pitchFamily="34" charset="0"/>
              </a:rPr>
              <a:t>1x 3-pin Phoenix Connector (for Relay)</a:t>
            </a:r>
          </a:p>
          <a:p>
            <a:pPr marL="285750" indent="-285750">
              <a:buFont typeface="Wingdings" panose="05000000000000000000" charset="0"/>
              <a:buChar char="l"/>
            </a:pPr>
            <a:r>
              <a:rPr lang="zh-CN" altLang="en-US" sz="1600">
                <a:solidFill>
                  <a:schemeClr val="tx1">
                    <a:lumMod val="75000"/>
                    <a:lumOff val="25000"/>
                  </a:schemeClr>
                </a:solidFill>
                <a:latin typeface="Roboto" charset="0"/>
                <a:cs typeface="Arial" panose="020B0604020202020204" pitchFamily="34" charset="0"/>
              </a:rPr>
              <a:t>1x 4-pin Phoenix Connector (for RS-232)</a:t>
            </a:r>
          </a:p>
          <a:p>
            <a:pPr marL="285750" indent="-285750">
              <a:buFont typeface="Wingdings" panose="05000000000000000000" charset="0"/>
              <a:buChar char="l"/>
            </a:pPr>
            <a:r>
              <a:rPr lang="zh-CN" altLang="en-US" sz="1600">
                <a:solidFill>
                  <a:schemeClr val="tx1">
                    <a:lumMod val="75000"/>
                    <a:lumOff val="25000"/>
                  </a:schemeClr>
                </a:solidFill>
                <a:latin typeface="Roboto" charset="0"/>
                <a:cs typeface="Arial" panose="020B0604020202020204" pitchFamily="34" charset="0"/>
              </a:rPr>
              <a:t>1x 5-pin Phoenix Connector (for Audio Out)</a:t>
            </a:r>
          </a:p>
          <a:p>
            <a:pPr marL="285750" indent="-285750">
              <a:buFont typeface="Wingdings" panose="05000000000000000000" charset="0"/>
              <a:buChar char="l"/>
            </a:pPr>
            <a:r>
              <a:rPr lang="zh-CN" altLang="en-US" sz="1600">
                <a:solidFill>
                  <a:schemeClr val="tx1">
                    <a:lumMod val="75000"/>
                    <a:lumOff val="25000"/>
                  </a:schemeClr>
                </a:solidFill>
                <a:latin typeface="Roboto" charset="0"/>
                <a:cs typeface="Arial" panose="020B0604020202020204" pitchFamily="34" charset="0"/>
              </a:rPr>
              <a:t>4x Wi-Fi Antennas </a:t>
            </a:r>
          </a:p>
          <a:p>
            <a:pPr marL="285750" indent="-285750">
              <a:buFont typeface="Wingdings" panose="05000000000000000000" charset="0"/>
              <a:buChar char="l"/>
            </a:pPr>
            <a:r>
              <a:rPr lang="zh-CN" altLang="en-US" sz="1600">
                <a:solidFill>
                  <a:schemeClr val="tx1">
                    <a:lumMod val="75000"/>
                    <a:lumOff val="25000"/>
                  </a:schemeClr>
                </a:solidFill>
                <a:latin typeface="Roboto" charset="0"/>
                <a:cs typeface="Arial" panose="020B0604020202020204" pitchFamily="34" charset="0"/>
              </a:rPr>
              <a:t>1x Quick Start Guide</a:t>
            </a:r>
          </a:p>
        </p:txBody>
      </p:sp>
      <p:pic>
        <p:nvPicPr>
          <p:cNvPr id="6" name="Google Shape;82;p1"/>
          <p:cNvPicPr preferRelativeResize="0"/>
          <p:nvPr/>
        </p:nvPicPr>
        <p:blipFill>
          <a:blip r:embed="rId7"/>
          <a:stretch>
            <a:fillRect/>
          </a:stretch>
        </p:blipFill>
        <p:spPr>
          <a:xfrm>
            <a:off x="9652104" y="6056488"/>
            <a:ext cx="2241019" cy="440200"/>
          </a:xfrm>
          <a:prstGeom prst="rect">
            <a:avLst/>
          </a:prstGeom>
          <a:noFill/>
          <a:ln>
            <a:noFill/>
          </a:ln>
        </p:spPr>
      </p:pic>
      <p:sp>
        <p:nvSpPr>
          <p:cNvPr id="9"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Typical Connection &amp; Applications</a:t>
            </a:r>
          </a:p>
        </p:txBody>
      </p:sp>
      <p:sp>
        <p:nvSpPr>
          <p:cNvPr id="14" name="Title 6"/>
          <p:cNvSpPr txBox="1"/>
          <p:nvPr>
            <p:custDataLst>
              <p:tags r:id="rId4"/>
            </p:custDataLst>
          </p:nvPr>
        </p:nvSpPr>
        <p:spPr>
          <a:xfrm>
            <a:off x="457155" y="921640"/>
            <a:ext cx="11290300" cy="75882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ts val="1800"/>
              </a:lnSpc>
              <a:spcBef>
                <a:spcPts val="0"/>
              </a:spcBef>
              <a:spcAft>
                <a:spcPts val="800"/>
              </a:spcAft>
              <a:buSzPct val="100000"/>
              <a:buFont typeface="Wingdings" panose="05000000000000000000" charset="0"/>
              <a:buNone/>
            </a:pPr>
            <a:r>
              <a:rPr lang="zh-CN" altLang="en-US" sz="1350" spc="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rPr>
              <a:t>The SW-640L-TX-W system seamlessly integrates with all your conference devices, like room PCs, laptops, displays, webcams, speakerphones, and amplifiers, fulfilling every requirement for video presentations and remote conferencing.</a:t>
            </a:r>
            <a:r>
              <a:rPr altLang="zh-CN" sz="135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zh-CN" altLang="en-US" sz="1350" spc="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rPr>
              <a:t>Please refer to the typical connection diagram below.</a:t>
            </a:r>
          </a:p>
        </p:txBody>
      </p:sp>
      <p:pic>
        <p:nvPicPr>
          <p:cNvPr id="3" name="Picture 2" descr="D:/Shane Jiang/WS/产品培训手册/3.png3"/>
          <p:cNvPicPr>
            <a:picLocks noChangeAspect="1"/>
          </p:cNvPicPr>
          <p:nvPr/>
        </p:nvPicPr>
        <p:blipFill>
          <a:blip r:embed="rId8"/>
          <a:srcRect t="509" b="509"/>
          <a:stretch>
            <a:fillRect/>
          </a:stretch>
        </p:blipFill>
        <p:spPr>
          <a:xfrm>
            <a:off x="1473200" y="1737360"/>
            <a:ext cx="9271000" cy="4937760"/>
          </a:xfrm>
          <a:prstGeom prst="rect">
            <a:avLst/>
          </a:prstGeom>
          <a:ln>
            <a:solidFill>
              <a:schemeClr val="bg2">
                <a:lumMod val="90000"/>
              </a:schemeClr>
            </a:solidFill>
          </a:ln>
          <a:effectLst>
            <a:outerShdw blurRad="50800" dist="38100" dir="5400000" algn="t" rotWithShape="0">
              <a:prstClr val="black">
                <a:alpha val="16000"/>
              </a:prstClr>
            </a:outerShdw>
          </a:effectLst>
        </p:spPr>
      </p:pic>
      <p:sp>
        <p:nvSpPr>
          <p:cNvPr id="5" name="文本框 4">
            <a:extLst>
              <a:ext uri="{FF2B5EF4-FFF2-40B4-BE49-F238E27FC236}">
                <a16:creationId xmlns:a16="http://schemas.microsoft.com/office/drawing/2014/main" id="{66C6F4CF-1052-E90B-74F7-5D9699B64E73}"/>
              </a:ext>
            </a:extLst>
          </p:cNvPr>
          <p:cNvSpPr txBox="1"/>
          <p:nvPr/>
        </p:nvSpPr>
        <p:spPr>
          <a:xfrm>
            <a:off x="3306659" y="1740714"/>
            <a:ext cx="657137" cy="2308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900" b="1">
                <a:ln w="3175">
                  <a:noFill/>
                  <a:prstDash val="dash"/>
                </a:ln>
                <a:solidFill>
                  <a:schemeClr val="dk1">
                    <a:lumMod val="75000"/>
                    <a:lumOff val="25000"/>
                  </a:schemeClr>
                </a:solidFill>
                <a:latin typeface="Roboto"/>
                <a:ea typeface="微软雅黑"/>
                <a:cs typeface="Arial"/>
              </a:rPr>
              <a:t>HALO 80</a:t>
            </a:r>
          </a:p>
        </p:txBody>
      </p:sp>
      <p:pic>
        <p:nvPicPr>
          <p:cNvPr id="4" name="图片 3">
            <a:extLst>
              <a:ext uri="{FF2B5EF4-FFF2-40B4-BE49-F238E27FC236}">
                <a16:creationId xmlns:a16="http://schemas.microsoft.com/office/drawing/2014/main" id="{38600DF4-74DF-29E7-F138-2425AD7CE850}"/>
              </a:ext>
            </a:extLst>
          </p:cNvPr>
          <p:cNvPicPr>
            <a:picLocks noChangeAspect="1"/>
          </p:cNvPicPr>
          <p:nvPr/>
        </p:nvPicPr>
        <p:blipFill>
          <a:blip r:embed="rId9"/>
          <a:srcRect l="18723" t="10484" r="17553" b="806"/>
          <a:stretch>
            <a:fillRect/>
          </a:stretch>
        </p:blipFill>
        <p:spPr>
          <a:xfrm>
            <a:off x="3229760" y="1908327"/>
            <a:ext cx="834832" cy="763090"/>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7"/>
          <a:srcRect l="828" t="3868" r="1762" b="297"/>
          <a:stretch>
            <a:fillRect/>
          </a:stretch>
        </p:blipFill>
        <p:spPr>
          <a:xfrm>
            <a:off x="4543424" y="1243965"/>
            <a:ext cx="7389495" cy="5257800"/>
          </a:xfrm>
          <a:prstGeom prst="rect">
            <a:avLst/>
          </a:prstGeom>
          <a:ln>
            <a:solidFill>
              <a:schemeClr val="bg2">
                <a:lumMod val="90000"/>
              </a:schemeClr>
            </a:solidFill>
          </a:ln>
          <a:effectLst>
            <a:outerShdw blurRad="50800" dist="38100" dir="5400000" algn="t" rotWithShape="0">
              <a:prstClr val="black">
                <a:alpha val="18000"/>
              </a:prstClr>
            </a:outerShdw>
          </a:effectLst>
        </p:spPr>
      </p:pic>
      <p:sp>
        <p:nvSpPr>
          <p:cNvPr id="17" name="Rectangle 16"/>
          <p:cNvSpPr/>
          <p:nvPr/>
        </p:nvSpPr>
        <p:spPr>
          <a:xfrm>
            <a:off x="8153400" y="3781425"/>
            <a:ext cx="3479780" cy="2281930"/>
          </a:xfrm>
          <a:prstGeom prst="rect">
            <a:avLst/>
          </a:prstGeom>
          <a:solidFill>
            <a:schemeClr val="bg1">
              <a:lumMod val="95000"/>
            </a:schemeClr>
          </a:solidFill>
          <a:ln>
            <a:noFill/>
          </a:ln>
          <a:effectLst>
            <a:outerShdw blurRad="50800" dist="38100" dir="5400000" algn="t" rotWithShape="0">
              <a:prstClr val="black">
                <a:alpha val="40000"/>
              </a:prstClr>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6"/>
          <p:cNvSpPr txBox="1"/>
          <p:nvPr>
            <p:custDataLst>
              <p:tags r:id="rId2"/>
            </p:custDataLst>
          </p:nvPr>
        </p:nvSpPr>
        <p:spPr>
          <a:xfrm>
            <a:off x="292100" y="1066800"/>
            <a:ext cx="4153535" cy="549275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1800" b="1" u="sng"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1</a:t>
            </a:r>
            <a:r>
              <a:rPr sz="18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20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Medium Conference Room</a:t>
            </a:r>
          </a:p>
          <a:p>
            <a:pPr marL="0" lvl="0" indent="-285750" algn="l" fontAlgn="ctr">
              <a:lnSpc>
                <a:spcPts val="1500"/>
              </a:lnSpc>
              <a:spcBef>
                <a:spcPts val="0"/>
              </a:spcBef>
              <a:spcAft>
                <a:spcPts val="800"/>
              </a:spcAft>
              <a:buSzPct val="100000"/>
              <a:buFont typeface="Wingdings" panose="05000000000000000000" charset="0"/>
              <a:buNone/>
            </a:pP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This solution simplifies installation with its plug-and-play design, significantly enhancing meeting efficiency for both in-person and remote conferencing, ensuring every meeting is productive and smooth.</a:t>
            </a:r>
            <a:b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endPar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0" lvl="0" indent="-285750" algn="l" fontAlgn="ctr">
              <a:lnSpc>
                <a:spcPct val="100000"/>
              </a:lnSpc>
              <a:spcBef>
                <a:spcPts val="0"/>
              </a:spcBef>
              <a:spcAft>
                <a:spcPts val="800"/>
              </a:spcAft>
              <a:buSzPct val="100000"/>
              <a:buFont typeface="Wingdings" panose="05000000000000000000" charset="0"/>
              <a:buNone/>
            </a:pPr>
            <a:r>
              <a:rPr sz="18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a:t>
            </a:r>
            <a:r>
              <a:rPr sz="1800" b="1" spc="0">
                <a:ln w="3175">
                  <a:noFill/>
                  <a:prstDash val="dash"/>
                </a:ln>
                <a:solidFill>
                  <a:schemeClr val="dk1">
                    <a:lumMod val="75000"/>
                    <a:lumOff val="25000"/>
                  </a:schemeClr>
                </a:solidFill>
                <a:latin typeface="Roboto" charset="0"/>
                <a:ea typeface="Roboto" charset="0"/>
                <a:cs typeface="Arial" panose="020B0604020202020204" pitchFamily="34" charset="0"/>
                <a:sym typeface="+mn-ea"/>
              </a:rPr>
              <a:t>I</a:t>
            </a:r>
            <a:r>
              <a:rPr sz="18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nclude:</a:t>
            </a:r>
            <a:endParaRPr sz="18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0" lvl="0" indent="-285750" algn="l" fontAlgn="ctr">
              <a:lnSpc>
                <a:spcPts val="1500"/>
              </a:lnSpc>
              <a:spcBef>
                <a:spcPts val="0"/>
              </a:spcBef>
              <a:spcAft>
                <a:spcPts val="800"/>
              </a:spcAft>
              <a:buSzPct val="100000"/>
              <a:buFont typeface="Wingdings" panose="05000000000000000000" charset="0"/>
              <a:buChar char="l"/>
            </a:pPr>
            <a:r>
              <a:rPr sz="12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Multiple Casting Methods:</a:t>
            </a: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Simplifies presentations</a:t>
            </a:r>
            <a:b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with various casting options.</a:t>
            </a:r>
          </a:p>
          <a:p>
            <a:pPr marL="0" lvl="0" indent="-285750" algn="l" fontAlgn="ctr">
              <a:lnSpc>
                <a:spcPts val="1500"/>
              </a:lnSpc>
              <a:spcBef>
                <a:spcPts val="0"/>
              </a:spcBef>
              <a:spcAft>
                <a:spcPts val="800"/>
              </a:spcAft>
              <a:buSzPct val="100000"/>
              <a:buFont typeface="Wingdings" panose="05000000000000000000" charset="0"/>
              <a:buChar char="l"/>
            </a:pPr>
            <a:r>
              <a:rPr sz="12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All-in-One Video Bar: </a:t>
            </a: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Provides superior audio and </a:t>
            </a:r>
            <a:b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video quality.</a:t>
            </a:r>
          </a:p>
          <a:p>
            <a:pPr marL="0" lvl="0" indent="-285750" algn="l" fontAlgn="ctr">
              <a:lnSpc>
                <a:spcPts val="1500"/>
              </a:lnSpc>
              <a:spcBef>
                <a:spcPts val="0"/>
              </a:spcBef>
              <a:spcAft>
                <a:spcPts val="800"/>
              </a:spcAft>
              <a:buSzPct val="100000"/>
              <a:buFont typeface="Wingdings" panose="05000000000000000000" charset="0"/>
              <a:buChar char="l"/>
            </a:pPr>
            <a:r>
              <a:rPr sz="1200" b="1" spc="0">
                <a:ln w="3175">
                  <a:noFill/>
                  <a:prstDash val="dash"/>
                </a:ln>
                <a:solidFill>
                  <a:schemeClr val="dk1">
                    <a:lumMod val="75000"/>
                    <a:lumOff val="25000"/>
                  </a:schemeClr>
                </a:solidFill>
                <a:uFillTx/>
                <a:latin typeface="Roboto"/>
                <a:ea typeface="Roboto"/>
                <a:cs typeface="Arial"/>
                <a:sym typeface="+mn-ea"/>
              </a:rPr>
              <a:t>Smart Panel: </a:t>
            </a:r>
            <a:r>
              <a:rPr sz="1200" spc="0">
                <a:ln w="3175">
                  <a:noFill/>
                  <a:prstDash val="dash"/>
                </a:ln>
                <a:solidFill>
                  <a:schemeClr val="dk1">
                    <a:lumMod val="75000"/>
                    <a:lumOff val="25000"/>
                  </a:schemeClr>
                </a:solidFill>
                <a:uFillTx/>
                <a:latin typeface="Roboto"/>
                <a:ea typeface="Roboto"/>
                <a:cs typeface="Arial"/>
                <a:sym typeface="+mn-ea"/>
              </a:rPr>
              <a:t>One-click control for all functions.</a:t>
            </a:r>
            <a:endParaRPr sz="1200" spc="0">
              <a:ln w="3175">
                <a:noFill/>
                <a:prstDash val="dash"/>
              </a:ln>
              <a:solidFill>
                <a:schemeClr val="dk1">
                  <a:lumMod val="75000"/>
                  <a:lumOff val="25000"/>
                </a:schemeClr>
              </a:solidFill>
              <a:uFillTx/>
              <a:latin typeface="Roboto"/>
              <a:ea typeface="Roboto"/>
              <a:cs typeface="Arial"/>
            </a:endParaRPr>
          </a:p>
          <a:p>
            <a:pPr marL="0" lvl="0" indent="-285750" algn="l" fontAlgn="ctr">
              <a:lnSpc>
                <a:spcPts val="1500"/>
              </a:lnSpc>
              <a:spcBef>
                <a:spcPts val="0"/>
              </a:spcBef>
              <a:spcAft>
                <a:spcPts val="800"/>
              </a:spcAft>
              <a:buSzPct val="100000"/>
              <a:buFont typeface="Wingdings" panose="05000000000000000000" charset="0"/>
              <a:buChar char="l"/>
            </a:pPr>
            <a:r>
              <a:rPr sz="12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Dual-Screen Connection: </a:t>
            </a: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Ensures clear and </a:t>
            </a:r>
            <a:b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comprehensive display.</a:t>
            </a:r>
          </a:p>
          <a:p>
            <a:pPr marL="0" lvl="0" indent="-285750" algn="l" fontAlgn="ctr">
              <a:lnSpc>
                <a:spcPts val="1500"/>
              </a:lnSpc>
              <a:spcBef>
                <a:spcPts val="0"/>
              </a:spcBef>
              <a:spcAft>
                <a:spcPts val="800"/>
              </a:spcAft>
              <a:buSzPct val="100000"/>
              <a:buFont typeface="Wingdings" panose="05000000000000000000" charset="0"/>
              <a:buChar char="l"/>
            </a:pPr>
            <a:r>
              <a:rPr sz="12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Fast Seamless Switching</a:t>
            </a: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Quick and smooth </a:t>
            </a:r>
            <a:b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transitions between inputs.</a:t>
            </a:r>
          </a:p>
        </p:txBody>
      </p:sp>
      <p:pic>
        <p:nvPicPr>
          <p:cNvPr id="12" name="Picture 6"/>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8359140" y="4157980"/>
            <a:ext cx="1391285" cy="911225"/>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rot="4549630" flipH="1">
            <a:off x="10341867" y="3921170"/>
            <a:ext cx="761312" cy="1427531"/>
          </a:xfrm>
          <a:prstGeom prst="rect">
            <a:avLst/>
          </a:prstGeom>
        </p:spPr>
      </p:pic>
      <p:pic>
        <p:nvPicPr>
          <p:cNvPr id="6" name="图片 5" descr="FrntTilt_Rndr"/>
          <p:cNvPicPr>
            <a:picLocks noChangeAspect="1"/>
          </p:cNvPicPr>
          <p:nvPr/>
        </p:nvPicPr>
        <p:blipFill>
          <a:blip r:embed="rId10"/>
          <a:stretch>
            <a:fillRect/>
          </a:stretch>
        </p:blipFill>
        <p:spPr>
          <a:xfrm>
            <a:off x="7864570" y="5056109"/>
            <a:ext cx="2531006" cy="1084187"/>
          </a:xfrm>
          <a:prstGeom prst="rect">
            <a:avLst/>
          </a:prstGeom>
        </p:spPr>
      </p:pic>
      <p:pic>
        <p:nvPicPr>
          <p:cNvPr id="21" name="图片 2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90786" y="5165620"/>
            <a:ext cx="1110638" cy="693965"/>
          </a:xfrm>
          <a:prstGeom prst="rect">
            <a:avLst/>
          </a:prstGeom>
        </p:spPr>
      </p:pic>
      <p:sp>
        <p:nvSpPr>
          <p:cNvPr id="9" name="文本框 8"/>
          <p:cNvSpPr txBox="1"/>
          <p:nvPr/>
        </p:nvSpPr>
        <p:spPr>
          <a:xfrm>
            <a:off x="8282940" y="4951095"/>
            <a:ext cx="1540510" cy="230832"/>
          </a:xfrm>
          <a:prstGeom prst="rect">
            <a:avLst/>
          </a:prstGeom>
          <a:noFill/>
        </p:spPr>
        <p:txBody>
          <a:bodyPr wrap="square" lIns="91440" tIns="45720" rIns="91440" bIns="45720" rtlCol="0" anchor="t">
            <a:spAutoFit/>
          </a:bodyPr>
          <a:lstStyle/>
          <a:p>
            <a:pPr algn="ctr"/>
            <a:r>
              <a:rPr lang="en-US" sz="900" b="1">
                <a:latin typeface="Roboto"/>
                <a:ea typeface="Roboto"/>
                <a:cs typeface="Roboto"/>
                <a:sym typeface="+mn-ea"/>
              </a:rPr>
              <a:t>SYN-TOUCH10 v2</a:t>
            </a:r>
            <a:endParaRPr lang="en-US" altLang="en-US" sz="900" b="1">
              <a:latin typeface="Roboto" charset="0"/>
              <a:cs typeface="Roboto" charset="0"/>
              <a:sym typeface="+mn-ea"/>
            </a:endParaRPr>
          </a:p>
        </p:txBody>
      </p:sp>
      <p:sp>
        <p:nvSpPr>
          <p:cNvPr id="10" name="文本框 9"/>
          <p:cNvSpPr txBox="1"/>
          <p:nvPr/>
        </p:nvSpPr>
        <p:spPr>
          <a:xfrm>
            <a:off x="9659461" y="4943475"/>
            <a:ext cx="2143125" cy="230832"/>
          </a:xfrm>
          <a:prstGeom prst="rect">
            <a:avLst/>
          </a:prstGeom>
          <a:noFill/>
        </p:spPr>
        <p:txBody>
          <a:bodyPr wrap="square" rtlCol="0" anchor="t">
            <a:spAutoFit/>
          </a:bodyPr>
          <a:lstStyle/>
          <a:p>
            <a:pPr algn="ctr"/>
            <a:r>
              <a:rPr lang="en-US" sz="900" b="1">
                <a:latin typeface="Roboto" charset="0"/>
                <a:cs typeface="Roboto" charset="0"/>
                <a:sym typeface="+mn-ea"/>
              </a:rPr>
              <a:t>APO-DG2/APO-DG2-PRO</a:t>
            </a:r>
            <a:endParaRPr lang="en-US" altLang="en-US" sz="900" b="1">
              <a:latin typeface="Roboto" charset="0"/>
              <a:cs typeface="Roboto" charset="0"/>
              <a:sym typeface="+mn-ea"/>
            </a:endParaRPr>
          </a:p>
        </p:txBody>
      </p:sp>
      <p:sp>
        <p:nvSpPr>
          <p:cNvPr id="11" name="文本框 10"/>
          <p:cNvSpPr txBox="1"/>
          <p:nvPr/>
        </p:nvSpPr>
        <p:spPr>
          <a:xfrm>
            <a:off x="8211185" y="5775325"/>
            <a:ext cx="1787525" cy="230832"/>
          </a:xfrm>
          <a:prstGeom prst="rect">
            <a:avLst/>
          </a:prstGeom>
          <a:noFill/>
        </p:spPr>
        <p:txBody>
          <a:bodyPr wrap="square" rtlCol="0" anchor="t">
            <a:spAutoFit/>
          </a:bodyPr>
          <a:lstStyle/>
          <a:p>
            <a:pPr algn="ctr"/>
            <a:r>
              <a:rPr lang="en-US" sz="900" b="1">
                <a:latin typeface="Roboto" charset="0"/>
                <a:cs typeface="Roboto" charset="0"/>
                <a:sym typeface="+mn-ea"/>
              </a:rPr>
              <a:t>HALO VX10 v2</a:t>
            </a:r>
            <a:endParaRPr lang="en-US" altLang="en-US" sz="900" b="1">
              <a:latin typeface="Roboto" charset="0"/>
              <a:cs typeface="Roboto" charset="0"/>
              <a:sym typeface="+mn-ea"/>
            </a:endParaRPr>
          </a:p>
        </p:txBody>
      </p:sp>
      <p:sp>
        <p:nvSpPr>
          <p:cNvPr id="13" name="文本框 12"/>
          <p:cNvSpPr txBox="1"/>
          <p:nvPr/>
        </p:nvSpPr>
        <p:spPr>
          <a:xfrm>
            <a:off x="10041255" y="5774690"/>
            <a:ext cx="1358265" cy="230832"/>
          </a:xfrm>
          <a:prstGeom prst="rect">
            <a:avLst/>
          </a:prstGeom>
          <a:noFill/>
        </p:spPr>
        <p:txBody>
          <a:bodyPr wrap="square" rtlCol="0" anchor="t">
            <a:spAutoFit/>
          </a:bodyPr>
          <a:lstStyle/>
          <a:p>
            <a:pPr algn="ctr"/>
            <a:r>
              <a:rPr lang="en-US" sz="900" b="1">
                <a:latin typeface="Roboto" charset="0"/>
                <a:cs typeface="Roboto" charset="0"/>
                <a:sym typeface="+mn-ea"/>
              </a:rPr>
              <a:t>HALO-COM-MIC</a:t>
            </a:r>
            <a:endParaRPr lang="en-US" altLang="en-US" sz="900" b="1">
              <a:latin typeface="Roboto" charset="0"/>
              <a:cs typeface="Roboto" charset="0"/>
              <a:sym typeface="+mn-ea"/>
            </a:endParaRPr>
          </a:p>
        </p:txBody>
      </p:sp>
      <p:sp>
        <p:nvSpPr>
          <p:cNvPr id="22"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8362324" y="3852972"/>
            <a:ext cx="3479781" cy="338554"/>
          </a:xfrm>
          <a:prstGeom prst="rect">
            <a:avLst/>
          </a:prstGeom>
          <a:noFill/>
        </p:spPr>
        <p:txBody>
          <a:bodyPr wrap="square" rtlCol="0">
            <a:spAutoFit/>
          </a:bodyPr>
          <a:lstStyle/>
          <a:p>
            <a:r>
              <a:rPr lang="zh-CN" altLang="en-US" sz="1600" b="1" u="sng">
                <a:solidFill>
                  <a:schemeClr val="tx1">
                    <a:lumMod val="75000"/>
                    <a:lumOff val="25000"/>
                  </a:schemeClr>
                </a:solidFill>
                <a:latin typeface="Roboto" charset="0"/>
                <a:cs typeface="Roboto" charset="0"/>
              </a:rPr>
              <a:t>What’s included in the solution?</a:t>
            </a:r>
          </a:p>
        </p:txBody>
      </p:sp>
      <p:sp>
        <p:nvSpPr>
          <p:cNvPr id="19" name="文本框 6"/>
          <p:cNvSpPr txBox="1"/>
          <p:nvPr>
            <p:custDataLst>
              <p:tags r:id="rId4"/>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Typical Connection &amp; Applications</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pic>
        <p:nvPicPr>
          <p:cNvPr id="30" name="图片 29"/>
          <p:cNvPicPr>
            <a:picLocks noChangeAspect="1"/>
          </p:cNvPicPr>
          <p:nvPr/>
        </p:nvPicPr>
        <p:blipFill>
          <a:blip r:embed="rId8"/>
          <a:stretch>
            <a:fillRect/>
          </a:stretch>
        </p:blipFill>
        <p:spPr>
          <a:xfrm>
            <a:off x="3952876" y="1097914"/>
            <a:ext cx="4899338" cy="5580309"/>
          </a:xfrm>
          <a:prstGeom prst="rect">
            <a:avLst/>
          </a:prstGeom>
          <a:ln>
            <a:solidFill>
              <a:schemeClr val="bg2">
                <a:lumMod val="90000"/>
              </a:schemeClr>
            </a:solidFill>
          </a:ln>
          <a:effectLst>
            <a:outerShdw blurRad="50800" dist="38100" dir="5400000" algn="t" rotWithShape="0">
              <a:prstClr val="black">
                <a:alpha val="22000"/>
              </a:prstClr>
            </a:outerShdw>
          </a:effectLst>
        </p:spPr>
      </p:pic>
      <p:pic>
        <p:nvPicPr>
          <p:cNvPr id="5" name="Google Shape;82;p1"/>
          <p:cNvPicPr preferRelativeResize="0"/>
          <p:nvPr/>
        </p:nvPicPr>
        <p:blipFill>
          <a:blip r:embed="rId9"/>
          <a:stretch>
            <a:fillRect/>
          </a:stretch>
        </p:blipFill>
        <p:spPr>
          <a:xfrm>
            <a:off x="9652104" y="6056488"/>
            <a:ext cx="2241019" cy="440200"/>
          </a:xfrm>
          <a:prstGeom prst="rect">
            <a:avLst/>
          </a:prstGeom>
          <a:noFill/>
          <a:ln>
            <a:noFill/>
          </a:ln>
        </p:spPr>
      </p:pic>
      <p:sp>
        <p:nvSpPr>
          <p:cNvPr id="45"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9" name="文本框 6"/>
          <p:cNvSpPr txBox="1"/>
          <p:nvPr>
            <p:custDataLst>
              <p:tags r:id="rId3"/>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Typical Connection &amp; Applications</a:t>
            </a:r>
          </a:p>
        </p:txBody>
      </p:sp>
      <p:sp>
        <p:nvSpPr>
          <p:cNvPr id="10" name="Title 6"/>
          <p:cNvSpPr txBox="1"/>
          <p:nvPr>
            <p:custDataLst>
              <p:tags r:id="rId4"/>
            </p:custDataLst>
          </p:nvPr>
        </p:nvSpPr>
        <p:spPr>
          <a:xfrm>
            <a:off x="293752" y="1155065"/>
            <a:ext cx="3660738" cy="473900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1800" b="1" u="sng"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2</a:t>
            </a:r>
            <a:r>
              <a:rPr sz="18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20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Small Classroom</a:t>
            </a:r>
          </a:p>
          <a:p>
            <a:pPr marL="0" lvl="0" indent="-285750" algn="l" fontAlgn="ctr">
              <a:lnSpc>
                <a:spcPts val="1500"/>
              </a:lnSpc>
              <a:spcBef>
                <a:spcPts val="0"/>
              </a:spcBef>
              <a:spcAft>
                <a:spcPts val="800"/>
              </a:spcAft>
              <a:buSzPct val="100000"/>
              <a:buFont typeface="Wingdings" panose="05000000000000000000" charset="0"/>
              <a:buNone/>
            </a:pPr>
            <a:r>
              <a:rPr lang="en-US" sz="1200" spc="0">
                <a:ln w="3175">
                  <a:noFill/>
                  <a:prstDash val="dash"/>
                </a:ln>
                <a:solidFill>
                  <a:schemeClr val="dk1">
                    <a:lumMod val="75000"/>
                    <a:lumOff val="25000"/>
                  </a:schemeClr>
                </a:solidFill>
                <a:uFillTx/>
                <a:latin typeface="Roboto"/>
                <a:ea typeface="Roboto"/>
                <a:cs typeface="Arial"/>
                <a:sym typeface="+mn-ea"/>
              </a:rPr>
              <a:t>This solution empowers teachers to </a:t>
            </a:r>
            <a:r>
              <a:rPr lang="en-US" sz="1200" spc="0">
                <a:ln w="3175">
                  <a:noFill/>
                  <a:prstDash val="dash"/>
                </a:ln>
                <a:solidFill>
                  <a:schemeClr val="dk1">
                    <a:lumMod val="75000"/>
                    <a:lumOff val="25000"/>
                  </a:schemeClr>
                </a:solidFill>
                <a:latin typeface="Roboto"/>
                <a:ea typeface="Roboto"/>
                <a:cs typeface="Arial"/>
                <a:sym typeface="+mn-ea"/>
              </a:rPr>
              <a:t>effortlessly and quickly showcase teaching content while enabling students to interact using their own devices, enhancing overall classroom efficiency and engagement. </a:t>
            </a:r>
            <a:br>
              <a:rPr lang="en-US" sz="1200" spc="0">
                <a:ln w="3175">
                  <a:noFill/>
                  <a:prstDash val="dash"/>
                </a:ln>
                <a:solidFill>
                  <a:schemeClr val="dk1">
                    <a:lumMod val="75000"/>
                    <a:lumOff val="25000"/>
                  </a:schemeClr>
                </a:solidFill>
                <a:latin typeface="Roboto"/>
                <a:ea typeface="Roboto"/>
                <a:cs typeface="Arial"/>
              </a:rPr>
            </a:br>
            <a:endParaRPr lang="en-US" sz="1200" spc="0">
              <a:ln w="3175">
                <a:noFill/>
                <a:prstDash val="dash"/>
              </a:ln>
              <a:solidFill>
                <a:schemeClr val="dk1">
                  <a:lumMod val="75000"/>
                  <a:lumOff val="25000"/>
                </a:schemeClr>
              </a:solidFill>
              <a:latin typeface="Roboto"/>
              <a:ea typeface="Roboto"/>
              <a:cs typeface="Arial"/>
              <a:sym typeface="+mn-ea"/>
            </a:endParaRPr>
          </a:p>
          <a:p>
            <a:pPr marL="0" lvl="0" indent="-285750" algn="l" fontAlgn="ctr">
              <a:lnSpc>
                <a:spcPct val="100000"/>
              </a:lnSpc>
              <a:spcBef>
                <a:spcPts val="0"/>
              </a:spcBef>
              <a:spcAft>
                <a:spcPts val="800"/>
              </a:spcAft>
              <a:buSzPct val="100000"/>
              <a:buFont typeface="Wingdings" panose="05000000000000000000" charset="0"/>
              <a:buNone/>
            </a:pPr>
            <a:r>
              <a:rPr sz="18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a:t>
            </a:r>
            <a:r>
              <a:rPr sz="1800" b="1" spc="0">
                <a:ln w="3175">
                  <a:noFill/>
                  <a:prstDash val="dash"/>
                </a:ln>
                <a:solidFill>
                  <a:schemeClr val="dk1">
                    <a:lumMod val="75000"/>
                    <a:lumOff val="25000"/>
                  </a:schemeClr>
                </a:solidFill>
                <a:latin typeface="Roboto" charset="0"/>
                <a:ea typeface="Roboto" charset="0"/>
                <a:cs typeface="Arial" panose="020B0604020202020204" pitchFamily="34" charset="0"/>
                <a:sym typeface="+mn-ea"/>
              </a:rPr>
              <a:t>I</a:t>
            </a:r>
            <a:r>
              <a:rPr sz="18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nclude:</a:t>
            </a:r>
            <a:endParaRPr sz="18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0" lvl="0" indent="-285750" algn="l" fontAlgn="ctr">
              <a:lnSpc>
                <a:spcPts val="1500"/>
              </a:lnSpc>
              <a:spcBef>
                <a:spcPts val="0"/>
              </a:spcBef>
              <a:spcAft>
                <a:spcPts val="800"/>
              </a:spcAft>
              <a:buSzPct val="100000"/>
              <a:buFont typeface="Wingdings" panose="05000000000000000000" charset="0"/>
              <a:buChar char="l"/>
            </a:pPr>
            <a:r>
              <a:rPr lang="en-US" sz="12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Multiple Casting Methods:</a:t>
            </a:r>
            <a:r>
              <a:rPr lang="en-US"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Simplifies </a:t>
            </a:r>
            <a:br>
              <a:rPr lang="en-US"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presentations with various casting options.</a:t>
            </a:r>
          </a:p>
          <a:p>
            <a:pPr indent="-285750" fontAlgn="ctr">
              <a:lnSpc>
                <a:spcPts val="1500"/>
              </a:lnSpc>
              <a:spcBef>
                <a:spcPts val="0"/>
              </a:spcBef>
              <a:spcAft>
                <a:spcPts val="800"/>
              </a:spcAft>
              <a:buSzPct val="100000"/>
              <a:buFont typeface="Wingdings" panose="05000000000000000000" charset="0"/>
              <a:buChar char="l"/>
            </a:pPr>
            <a:r>
              <a:rPr lang="en-US" sz="1200" b="1" spc="0">
                <a:ln w="3175">
                  <a:noFill/>
                  <a:prstDash val="dash"/>
                </a:ln>
                <a:solidFill>
                  <a:schemeClr val="dk1">
                    <a:lumMod val="75000"/>
                    <a:lumOff val="25000"/>
                  </a:schemeClr>
                </a:solidFill>
                <a:uFillTx/>
                <a:latin typeface="Roboto"/>
                <a:ea typeface="Roboto"/>
                <a:cs typeface="Arial"/>
                <a:sym typeface="+mn-ea"/>
              </a:rPr>
              <a:t>Dual-Screen Connection: </a:t>
            </a:r>
            <a:r>
              <a:rPr lang="en-US" sz="1200" spc="0">
                <a:ln w="3175">
                  <a:noFill/>
                  <a:prstDash val="dash"/>
                </a:ln>
                <a:solidFill>
                  <a:schemeClr val="dk1">
                    <a:lumMod val="75000"/>
                    <a:lumOff val="25000"/>
                  </a:schemeClr>
                </a:solidFill>
                <a:uFillTx/>
                <a:latin typeface="Roboto"/>
                <a:ea typeface="Roboto"/>
                <a:cs typeface="Arial"/>
                <a:sym typeface="+mn-ea"/>
              </a:rPr>
              <a:t>Ensures clear</a:t>
            </a:r>
            <a:br>
              <a:rPr lang="en-US" sz="1200" spc="0">
                <a:ln w="3175">
                  <a:noFill/>
                  <a:prstDash val="dash"/>
                </a:ln>
                <a:uFillTx/>
                <a:latin typeface="Roboto" charset="0"/>
                <a:ea typeface="Roboto" charset="0"/>
                <a:cs typeface="Arial" panose="020B0604020202020204" pitchFamily="34" charset="0"/>
              </a:rPr>
            </a:br>
            <a:r>
              <a:rPr lang="en-US" sz="1200" spc="0">
                <a:ln w="3175">
                  <a:noFill/>
                  <a:prstDash val="dash"/>
                </a:ln>
                <a:solidFill>
                  <a:schemeClr val="dk1">
                    <a:lumMod val="75000"/>
                    <a:lumOff val="25000"/>
                  </a:schemeClr>
                </a:solidFill>
                <a:uFillTx/>
                <a:latin typeface="Roboto"/>
                <a:ea typeface="Roboto"/>
                <a:cs typeface="Arial"/>
                <a:sym typeface="+mn-ea"/>
              </a:rPr>
              <a:t>        and comprehensive display.</a:t>
            </a:r>
            <a:endParaRPr lang="en-US" sz="1200" spc="0">
              <a:ln w="3175">
                <a:noFill/>
                <a:prstDash val="dash"/>
              </a:ln>
              <a:solidFill>
                <a:schemeClr val="dk1">
                  <a:lumMod val="75000"/>
                  <a:lumOff val="25000"/>
                </a:schemeClr>
              </a:solidFill>
              <a:latin typeface="Roboto"/>
              <a:ea typeface="Roboto"/>
              <a:cs typeface="Arial"/>
            </a:endParaRPr>
          </a:p>
          <a:p>
            <a:pPr indent="285750">
              <a:lnSpc>
                <a:spcPts val="1500"/>
              </a:lnSpc>
              <a:spcBef>
                <a:spcPts val="0"/>
              </a:spcBef>
              <a:spcAft>
                <a:spcPts val="800"/>
              </a:spcAft>
              <a:buSzPct val="100000"/>
              <a:buFont typeface="Wingdings" panose="05000000000000000000" charset="0"/>
              <a:buChar char="l"/>
            </a:pPr>
            <a:r>
              <a:rPr lang="en-US" sz="1200" b="1" spc="0">
                <a:ln w="3175">
                  <a:noFill/>
                  <a:prstDash val="dash"/>
                </a:ln>
                <a:solidFill>
                  <a:schemeClr val="dk1">
                    <a:lumMod val="75000"/>
                    <a:lumOff val="25000"/>
                  </a:schemeClr>
                </a:solidFill>
                <a:latin typeface="Roboto"/>
                <a:ea typeface="Roboto"/>
                <a:cs typeface="Roboto"/>
              </a:rPr>
              <a:t>Full-Featured USB-C: </a:t>
            </a:r>
            <a:r>
              <a:rPr lang="en-US" sz="1200" spc="0">
                <a:ln w="3175">
                  <a:noFill/>
                  <a:prstDash val="dash"/>
                </a:ln>
                <a:solidFill>
                  <a:schemeClr val="dk1">
                    <a:lumMod val="75000"/>
                    <a:lumOff val="25000"/>
                  </a:schemeClr>
                </a:solidFill>
                <a:latin typeface="Roboto"/>
                <a:ea typeface="Roboto"/>
                <a:cs typeface="Roboto"/>
              </a:rPr>
              <a:t>.Provides 60w charging, </a:t>
            </a:r>
            <a:br>
              <a:rPr lang="en-US" sz="1200" spc="0">
                <a:ln w="3175">
                  <a:noFill/>
                  <a:prstDash val="dash"/>
                </a:ln>
                <a:solidFill>
                  <a:schemeClr val="dk1">
                    <a:lumMod val="75000"/>
                    <a:lumOff val="25000"/>
                  </a:schemeClr>
                </a:solidFill>
                <a:latin typeface="Roboto"/>
                <a:ea typeface="Roboto"/>
                <a:cs typeface="Roboto"/>
              </a:rPr>
            </a:br>
            <a:r>
              <a:rPr lang="en-US" sz="1200" spc="0">
                <a:ln w="3175">
                  <a:noFill/>
                  <a:prstDash val="dash"/>
                </a:ln>
                <a:solidFill>
                  <a:schemeClr val="dk1">
                    <a:lumMod val="75000"/>
                    <a:lumOff val="25000"/>
                  </a:schemeClr>
                </a:solidFill>
                <a:latin typeface="Roboto"/>
                <a:ea typeface="Roboto"/>
                <a:cs typeface="Roboto"/>
              </a:rPr>
              <a:t>        AV, USB, network transmission over one USB-C     </a:t>
            </a:r>
            <a:endParaRPr lang="en-US" sz="1200" spc="0">
              <a:ln w="3175">
                <a:noFill/>
                <a:prstDash val="dash"/>
              </a:ln>
              <a:solidFill>
                <a:schemeClr val="dk1">
                  <a:lumMod val="75000"/>
                  <a:lumOff val="25000"/>
                </a:schemeClr>
              </a:solidFill>
              <a:uFillTx/>
              <a:latin typeface="Roboto"/>
              <a:ea typeface="Roboto"/>
              <a:cs typeface="Roboto"/>
            </a:endParaRPr>
          </a:p>
          <a:p>
            <a:pPr marL="0" lvl="0" indent="-285750" algn="l" fontAlgn="ctr">
              <a:lnSpc>
                <a:spcPts val="1500"/>
              </a:lnSpc>
              <a:spcBef>
                <a:spcPts val="0"/>
              </a:spcBef>
              <a:spcAft>
                <a:spcPts val="800"/>
              </a:spcAft>
              <a:buSzPct val="100000"/>
              <a:buFont typeface="Wingdings" panose="05000000000000000000" charset="0"/>
              <a:buChar char="l"/>
            </a:pPr>
            <a:r>
              <a:rPr sz="12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Fast Seamless Switching</a:t>
            </a: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Quick and smooth </a:t>
            </a:r>
            <a:b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2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transitions between inputs.</a:t>
            </a:r>
          </a:p>
        </p:txBody>
      </p:sp>
      <p:sp>
        <p:nvSpPr>
          <p:cNvPr id="11" name="Rectangle 10"/>
          <p:cNvSpPr/>
          <p:nvPr/>
        </p:nvSpPr>
        <p:spPr>
          <a:xfrm>
            <a:off x="9130459" y="1211261"/>
            <a:ext cx="2718684" cy="4518979"/>
          </a:xfrm>
          <a:prstGeom prst="rect">
            <a:avLst/>
          </a:prstGeom>
          <a:solidFill>
            <a:schemeClr val="bg1">
              <a:lumMod val="95000"/>
            </a:schemeClr>
          </a:solidFill>
          <a:ln>
            <a:noFill/>
          </a:ln>
          <a:effectLst>
            <a:outerShdw blurRad="50800" dist="38100" dir="5400000" algn="t" rotWithShape="0">
              <a:prstClr val="black">
                <a:alpha val="40000"/>
              </a:prstClr>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图片 1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4549630" flipH="1">
            <a:off x="9923099" y="1173923"/>
            <a:ext cx="1054894" cy="1978025"/>
          </a:xfrm>
          <a:prstGeom prst="rect">
            <a:avLst/>
          </a:prstGeom>
        </p:spPr>
      </p:pic>
      <p:sp>
        <p:nvSpPr>
          <p:cNvPr id="22" name="文本框 8"/>
          <p:cNvSpPr txBox="1"/>
          <p:nvPr/>
        </p:nvSpPr>
        <p:spPr>
          <a:xfrm>
            <a:off x="9633190" y="4012721"/>
            <a:ext cx="1540510" cy="252730"/>
          </a:xfrm>
          <a:prstGeom prst="rect">
            <a:avLst/>
          </a:prstGeom>
          <a:noFill/>
        </p:spPr>
        <p:txBody>
          <a:bodyPr wrap="square" lIns="91440" tIns="45720" rIns="91440" bIns="45720" rtlCol="0" anchor="t">
            <a:spAutoFit/>
          </a:bodyPr>
          <a:lstStyle/>
          <a:p>
            <a:pPr algn="ctr"/>
            <a:r>
              <a:rPr lang="en-US" sz="1050" b="1">
                <a:latin typeface="Roboto"/>
                <a:ea typeface="Roboto"/>
                <a:cs typeface="Roboto"/>
              </a:rPr>
              <a:t>CAM-420-PTZ</a:t>
            </a:r>
            <a:endParaRPr lang="en-US" sz="1050" b="1">
              <a:latin typeface="Roboto" charset="0"/>
              <a:ea typeface="Roboto"/>
              <a:cs typeface="Roboto" charset="0"/>
            </a:endParaRPr>
          </a:p>
        </p:txBody>
      </p:sp>
      <p:sp>
        <p:nvSpPr>
          <p:cNvPr id="23" name="文本框 9"/>
          <p:cNvSpPr txBox="1"/>
          <p:nvPr/>
        </p:nvSpPr>
        <p:spPr>
          <a:xfrm>
            <a:off x="9342923" y="2635794"/>
            <a:ext cx="2143125" cy="253916"/>
          </a:xfrm>
          <a:prstGeom prst="rect">
            <a:avLst/>
          </a:prstGeom>
          <a:noFill/>
        </p:spPr>
        <p:txBody>
          <a:bodyPr wrap="square" rtlCol="0" anchor="t">
            <a:spAutoFit/>
          </a:bodyPr>
          <a:lstStyle/>
          <a:p>
            <a:pPr algn="ctr"/>
            <a:r>
              <a:rPr lang="en-US" sz="1050" b="1">
                <a:latin typeface="Roboto" charset="0"/>
                <a:cs typeface="Roboto" charset="0"/>
                <a:sym typeface="+mn-ea"/>
              </a:rPr>
              <a:t>APO-DG2 / APO-DG2-PRO</a:t>
            </a:r>
            <a:endParaRPr lang="en-US" altLang="en-US" sz="1050" b="1">
              <a:latin typeface="Roboto" charset="0"/>
              <a:cs typeface="Roboto" charset="0"/>
              <a:sym typeface="+mn-ea"/>
            </a:endParaRPr>
          </a:p>
        </p:txBody>
      </p:sp>
      <p:sp>
        <p:nvSpPr>
          <p:cNvPr id="25" name="文本框 12"/>
          <p:cNvSpPr txBox="1"/>
          <p:nvPr/>
        </p:nvSpPr>
        <p:spPr>
          <a:xfrm>
            <a:off x="9736126" y="5377323"/>
            <a:ext cx="1358265" cy="253916"/>
          </a:xfrm>
          <a:prstGeom prst="rect">
            <a:avLst/>
          </a:prstGeom>
          <a:noFill/>
        </p:spPr>
        <p:txBody>
          <a:bodyPr wrap="square" lIns="91440" tIns="45720" rIns="91440" bIns="45720" rtlCol="0" anchor="t">
            <a:spAutoFit/>
          </a:bodyPr>
          <a:lstStyle/>
          <a:p>
            <a:pPr algn="ctr"/>
            <a:r>
              <a:rPr lang="en-US" sz="1050" b="1">
                <a:latin typeface="Roboto"/>
                <a:ea typeface="Roboto"/>
                <a:cs typeface="Roboto"/>
                <a:sym typeface="+mn-ea"/>
              </a:rPr>
              <a:t>HALO 80</a:t>
            </a:r>
            <a:endParaRPr lang="en-US" altLang="en-US" sz="1050" b="1">
              <a:latin typeface="Roboto" charset="0"/>
              <a:cs typeface="Roboto" charset="0"/>
              <a:sym typeface="+mn-ea"/>
            </a:endParaRPr>
          </a:p>
        </p:txBody>
      </p:sp>
      <p:sp>
        <p:nvSpPr>
          <p:cNvPr id="27" name="文本框 14"/>
          <p:cNvSpPr txBox="1"/>
          <p:nvPr/>
        </p:nvSpPr>
        <p:spPr>
          <a:xfrm>
            <a:off x="9131944" y="1363892"/>
            <a:ext cx="2837379" cy="307777"/>
          </a:xfrm>
          <a:prstGeom prst="rect">
            <a:avLst/>
          </a:prstGeom>
          <a:noFill/>
        </p:spPr>
        <p:txBody>
          <a:bodyPr wrap="square" rtlCol="0">
            <a:spAutoFit/>
          </a:bodyPr>
          <a:lstStyle/>
          <a:p>
            <a:r>
              <a:rPr lang="zh-CN" altLang="en-US" sz="1400" b="1" u="sng">
                <a:solidFill>
                  <a:schemeClr val="tx1">
                    <a:lumMod val="75000"/>
                    <a:lumOff val="25000"/>
                  </a:schemeClr>
                </a:solidFill>
                <a:latin typeface="Roboto" charset="0"/>
                <a:cs typeface="Roboto" charset="0"/>
              </a:rPr>
              <a:t>What’s included in</a:t>
            </a:r>
            <a:r>
              <a:rPr lang="en-US" altLang="zh-CN" sz="1400" b="1" u="sng">
                <a:solidFill>
                  <a:schemeClr val="tx1">
                    <a:lumMod val="75000"/>
                    <a:lumOff val="25000"/>
                  </a:schemeClr>
                </a:solidFill>
                <a:latin typeface="Roboto" charset="0"/>
                <a:cs typeface="Roboto" charset="0"/>
              </a:rPr>
              <a:t> </a:t>
            </a:r>
            <a:r>
              <a:rPr lang="zh-CN" altLang="en-US" sz="1400" b="1" u="sng">
                <a:solidFill>
                  <a:schemeClr val="tx1">
                    <a:lumMod val="75000"/>
                    <a:lumOff val="25000"/>
                  </a:schemeClr>
                </a:solidFill>
                <a:latin typeface="Roboto" charset="0"/>
                <a:cs typeface="Roboto" charset="0"/>
              </a:rPr>
              <a:t>the solution?</a:t>
            </a:r>
          </a:p>
        </p:txBody>
      </p:sp>
      <p:pic>
        <p:nvPicPr>
          <p:cNvPr id="2" name="图片 1">
            <a:extLst>
              <a:ext uri="{FF2B5EF4-FFF2-40B4-BE49-F238E27FC236}">
                <a16:creationId xmlns:a16="http://schemas.microsoft.com/office/drawing/2014/main" id="{06541D9C-142D-AB4E-6191-BE173911415E}"/>
              </a:ext>
            </a:extLst>
          </p:cNvPr>
          <p:cNvPicPr>
            <a:picLocks noChangeAspect="1"/>
          </p:cNvPicPr>
          <p:nvPr/>
        </p:nvPicPr>
        <p:blipFill>
          <a:blip r:embed="rId11"/>
          <a:stretch>
            <a:fillRect/>
          </a:stretch>
        </p:blipFill>
        <p:spPr>
          <a:xfrm>
            <a:off x="9513115" y="4390070"/>
            <a:ext cx="1806429" cy="1181786"/>
          </a:xfrm>
          <a:prstGeom prst="rect">
            <a:avLst/>
          </a:prstGeom>
        </p:spPr>
      </p:pic>
      <p:sp>
        <p:nvSpPr>
          <p:cNvPr id="4" name="文本框 3">
            <a:extLst>
              <a:ext uri="{FF2B5EF4-FFF2-40B4-BE49-F238E27FC236}">
                <a16:creationId xmlns:a16="http://schemas.microsoft.com/office/drawing/2014/main" id="{A9523BB6-6152-F5CB-57A8-474849D9419B}"/>
              </a:ext>
            </a:extLst>
          </p:cNvPr>
          <p:cNvSpPr txBox="1"/>
          <p:nvPr/>
        </p:nvSpPr>
        <p:spPr>
          <a:xfrm>
            <a:off x="4532553" y="6380202"/>
            <a:ext cx="503886" cy="18466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b="1">
                <a:ln w="3175">
                  <a:noFill/>
                  <a:prstDash val="dash"/>
                </a:ln>
                <a:solidFill>
                  <a:schemeClr val="dk1">
                    <a:lumMod val="75000"/>
                    <a:lumOff val="25000"/>
                  </a:schemeClr>
                </a:solidFill>
                <a:latin typeface="Roboto"/>
                <a:ea typeface="微软雅黑"/>
                <a:cs typeface="Arial"/>
              </a:rPr>
              <a:t>HALO 80</a:t>
            </a:r>
          </a:p>
        </p:txBody>
      </p:sp>
      <p:pic>
        <p:nvPicPr>
          <p:cNvPr id="8" name="图片 7" descr="图片包含 话筒, 小, 游戏机&#10;&#10;AI 生成的内容可能不正确。">
            <a:extLst>
              <a:ext uri="{FF2B5EF4-FFF2-40B4-BE49-F238E27FC236}">
                <a16:creationId xmlns:a16="http://schemas.microsoft.com/office/drawing/2014/main" id="{CB103591-DF87-31F6-9AAA-1F5BC3A62A04}"/>
              </a:ext>
            </a:extLst>
          </p:cNvPr>
          <p:cNvPicPr>
            <a:picLocks noChangeAspect="1"/>
          </p:cNvPicPr>
          <p:nvPr/>
        </p:nvPicPr>
        <p:blipFill>
          <a:blip r:embed="rId11"/>
          <a:srcRect l="18723" t="10484" r="17553" b="806"/>
          <a:stretch>
            <a:fillRect/>
          </a:stretch>
        </p:blipFill>
        <p:spPr>
          <a:xfrm>
            <a:off x="4620096" y="6160074"/>
            <a:ext cx="328251" cy="311850"/>
          </a:xfrm>
          <a:prstGeom prst="rect">
            <a:avLst/>
          </a:prstGeom>
        </p:spPr>
      </p:pic>
      <p:pic>
        <p:nvPicPr>
          <p:cNvPr id="12" name="图片 11">
            <a:extLst>
              <a:ext uri="{FF2B5EF4-FFF2-40B4-BE49-F238E27FC236}">
                <a16:creationId xmlns:a16="http://schemas.microsoft.com/office/drawing/2014/main" id="{EE316A0A-1EAC-3698-0DF0-FAEAD0906B9E}"/>
              </a:ext>
            </a:extLst>
          </p:cNvPr>
          <p:cNvPicPr>
            <a:picLocks noChangeAspect="1"/>
          </p:cNvPicPr>
          <p:nvPr/>
        </p:nvPicPr>
        <p:blipFill>
          <a:blip r:embed="rId12"/>
          <a:stretch>
            <a:fillRect/>
          </a:stretch>
        </p:blipFill>
        <p:spPr>
          <a:xfrm>
            <a:off x="9345561" y="2886929"/>
            <a:ext cx="2104103" cy="1403688"/>
          </a:xfrm>
          <a:prstGeom prst="rect">
            <a:avLst/>
          </a:prstGeom>
        </p:spPr>
      </p:pic>
      <p:sp>
        <p:nvSpPr>
          <p:cNvPr id="15" name="文本框 14">
            <a:extLst>
              <a:ext uri="{FF2B5EF4-FFF2-40B4-BE49-F238E27FC236}">
                <a16:creationId xmlns:a16="http://schemas.microsoft.com/office/drawing/2014/main" id="{6C7F5D28-A45B-556E-3314-124871A6B9E2}"/>
              </a:ext>
            </a:extLst>
          </p:cNvPr>
          <p:cNvSpPr txBox="1"/>
          <p:nvPr/>
        </p:nvSpPr>
        <p:spPr>
          <a:xfrm>
            <a:off x="6043218" y="1212122"/>
            <a:ext cx="705633" cy="458071"/>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b="1">
                <a:ln w="3175">
                  <a:noFill/>
                  <a:prstDash val="dash"/>
                </a:ln>
                <a:solidFill>
                  <a:schemeClr val="dk1">
                    <a:lumMod val="75000"/>
                    <a:lumOff val="25000"/>
                  </a:schemeClr>
                </a:solidFill>
                <a:latin typeface="Roboto"/>
                <a:ea typeface="微软雅黑"/>
                <a:cs typeface="Arial"/>
              </a:rPr>
              <a:t>CAM-420-PTZ</a:t>
            </a:r>
          </a:p>
          <a:p>
            <a:endParaRPr lang="zh-CN" altLang="en-US" sz="600" b="1">
              <a:ln w="3175">
                <a:noFill/>
                <a:prstDash val="dash"/>
              </a:ln>
              <a:solidFill>
                <a:schemeClr val="dk1">
                  <a:lumMod val="75000"/>
                  <a:lumOff val="25000"/>
                </a:schemeClr>
              </a:solidFill>
              <a:latin typeface="Roboto"/>
              <a:ea typeface="微软雅黑"/>
              <a:cs typeface="Arial"/>
            </a:endParaRPr>
          </a:p>
          <a:p>
            <a:endParaRPr lang="zh-CN" altLang="en-US" sz="600" b="1">
              <a:ln w="3175">
                <a:noFill/>
                <a:prstDash val="dash"/>
              </a:ln>
              <a:solidFill>
                <a:schemeClr val="dk1">
                  <a:lumMod val="75000"/>
                  <a:lumOff val="25000"/>
                </a:schemeClr>
              </a:solidFill>
              <a:latin typeface="Roboto"/>
              <a:ea typeface="微软雅黑"/>
              <a:cs typeface="Arial"/>
            </a:endParaRPr>
          </a:p>
          <a:p>
            <a:endParaRPr lang="zh-CN" altLang="en-US" sz="600" b="1">
              <a:ln w="3175">
                <a:noFill/>
                <a:prstDash val="dash"/>
              </a:ln>
              <a:solidFill>
                <a:schemeClr val="dk1">
                  <a:lumMod val="75000"/>
                  <a:lumOff val="25000"/>
                </a:schemeClr>
              </a:solidFill>
              <a:latin typeface="Roboto"/>
              <a:ea typeface="微软雅黑"/>
              <a:cs typeface="Arial"/>
            </a:endParaRPr>
          </a:p>
        </p:txBody>
      </p:sp>
      <p:pic>
        <p:nvPicPr>
          <p:cNvPr id="14" name="图片 13">
            <a:extLst>
              <a:ext uri="{FF2B5EF4-FFF2-40B4-BE49-F238E27FC236}">
                <a16:creationId xmlns:a16="http://schemas.microsoft.com/office/drawing/2014/main" id="{C7481E2D-7306-F0D4-261C-1439AE39FED6}"/>
              </a:ext>
            </a:extLst>
          </p:cNvPr>
          <p:cNvPicPr>
            <a:picLocks noChangeAspect="1"/>
          </p:cNvPicPr>
          <p:nvPr/>
        </p:nvPicPr>
        <p:blipFill>
          <a:blip r:embed="rId12"/>
          <a:stretch>
            <a:fillRect/>
          </a:stretch>
        </p:blipFill>
        <p:spPr>
          <a:xfrm>
            <a:off x="5922706" y="1295331"/>
            <a:ext cx="721442" cy="445043"/>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graphicFrame>
        <p:nvGraphicFramePr>
          <p:cNvPr id="10" name="表格 9"/>
          <p:cNvGraphicFramePr/>
          <p:nvPr>
            <p:custDataLst>
              <p:tags r:id="rId1"/>
            </p:custDataLst>
          </p:nvPr>
        </p:nvGraphicFramePr>
        <p:xfrm>
          <a:off x="266700" y="1167284"/>
          <a:ext cx="11639549" cy="5416396"/>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950261">
                  <a:extLst>
                    <a:ext uri="{9D8B030D-6E8A-4147-A177-3AD203B41FA5}">
                      <a16:colId xmlns:a16="http://schemas.microsoft.com/office/drawing/2014/main" val="20000"/>
                    </a:ext>
                  </a:extLst>
                </a:gridCol>
                <a:gridCol w="2554629">
                  <a:extLst>
                    <a:ext uri="{9D8B030D-6E8A-4147-A177-3AD203B41FA5}">
                      <a16:colId xmlns:a16="http://schemas.microsoft.com/office/drawing/2014/main" val="20001"/>
                    </a:ext>
                  </a:extLst>
                </a:gridCol>
                <a:gridCol w="1925364">
                  <a:extLst>
                    <a:ext uri="{9D8B030D-6E8A-4147-A177-3AD203B41FA5}">
                      <a16:colId xmlns:a16="http://schemas.microsoft.com/office/drawing/2014/main" val="20002"/>
                    </a:ext>
                  </a:extLst>
                </a:gridCol>
                <a:gridCol w="1671781">
                  <a:extLst>
                    <a:ext uri="{9D8B030D-6E8A-4147-A177-3AD203B41FA5}">
                      <a16:colId xmlns:a16="http://schemas.microsoft.com/office/drawing/2014/main" val="20003"/>
                    </a:ext>
                  </a:extLst>
                </a:gridCol>
                <a:gridCol w="1709348">
                  <a:extLst>
                    <a:ext uri="{9D8B030D-6E8A-4147-A177-3AD203B41FA5}">
                      <a16:colId xmlns:a16="http://schemas.microsoft.com/office/drawing/2014/main" val="20004"/>
                    </a:ext>
                  </a:extLst>
                </a:gridCol>
                <a:gridCol w="1828166">
                  <a:extLst>
                    <a:ext uri="{9D8B030D-6E8A-4147-A177-3AD203B41FA5}">
                      <a16:colId xmlns:a16="http://schemas.microsoft.com/office/drawing/2014/main" val="20005"/>
                    </a:ext>
                  </a:extLst>
                </a:gridCol>
              </a:tblGrid>
              <a:tr h="347183">
                <a:tc>
                  <a:txBody>
                    <a:bodyPr/>
                    <a:lstStyle/>
                    <a:p>
                      <a:pPr algn="ctr">
                        <a:buNone/>
                      </a:pPr>
                      <a:endParaRPr lang="en-US" altLang="zh-CN" sz="1400">
                        <a:latin typeface="Roboto" charset="0"/>
                        <a:ea typeface="Roboto" charset="0"/>
                        <a:cs typeface="Arial" panose="020B0604020202020204" pitchFamily="34" charset="0"/>
                      </a:endParaRPr>
                    </a:p>
                  </a:txBody>
                  <a:tcPr>
                    <a:solidFill>
                      <a:srgbClr val="0B7935"/>
                    </a:solidFill>
                  </a:tcPr>
                </a:tc>
                <a:tc>
                  <a:txBody>
                    <a:bodyPr/>
                    <a:lstStyle/>
                    <a:p>
                      <a:pPr algn="ctr">
                        <a:buNone/>
                      </a:pPr>
                      <a:r>
                        <a:rPr lang="en-US" altLang="zh-CN" sz="1400">
                          <a:latin typeface="Roboto" charset="0"/>
                          <a:ea typeface="Roboto" charset="0"/>
                          <a:cs typeface="Arial" panose="020B0604020202020204" pitchFamily="34" charset="0"/>
                        </a:rPr>
                        <a:t>WyreStorm</a:t>
                      </a:r>
                      <a:br>
                        <a:rPr lang="en-US" altLang="zh-CN" sz="1400">
                          <a:latin typeface="Roboto" charset="0"/>
                          <a:ea typeface="Roboto" charset="0"/>
                          <a:cs typeface="Arial" panose="020B0604020202020204" pitchFamily="34" charset="0"/>
                        </a:rPr>
                      </a:br>
                      <a:r>
                        <a:rPr lang="en-US" altLang="zh-CN" sz="1400">
                          <a:latin typeface="Roboto" charset="0"/>
                          <a:ea typeface="Roboto" charset="0"/>
                          <a:cs typeface="Arial" panose="020B0604020202020204" pitchFamily="34" charset="0"/>
                        </a:rPr>
                        <a:t>SW-640L-TX-W</a:t>
                      </a:r>
                    </a:p>
                  </a:txBody>
                  <a:tcPr>
                    <a:solidFill>
                      <a:srgbClr val="0B7935"/>
                    </a:solidFill>
                  </a:tcPr>
                </a:tc>
                <a:tc>
                  <a:txBody>
                    <a:bodyPr/>
                    <a:lstStyle/>
                    <a:p>
                      <a:pPr algn="ctr">
                        <a:buNone/>
                      </a:pPr>
                      <a:r>
                        <a:rPr lang="en-US" altLang="zh-CN" sz="1400">
                          <a:latin typeface="Roboto" charset="0"/>
                          <a:ea typeface="Roboto" charset="0"/>
                          <a:cs typeface="Arial" panose="020B0604020202020204" pitchFamily="34" charset="0"/>
                        </a:rPr>
                        <a:t>Barco</a:t>
                      </a:r>
                      <a:br>
                        <a:rPr lang="en-US" altLang="zh-CN" sz="1400">
                          <a:latin typeface="Roboto" charset="0"/>
                          <a:ea typeface="Roboto" charset="0"/>
                          <a:cs typeface="Arial" panose="020B0604020202020204" pitchFamily="34" charset="0"/>
                        </a:rPr>
                      </a:br>
                      <a:r>
                        <a:rPr lang="en-US" altLang="zh-CN" sz="1400">
                          <a:latin typeface="Roboto" charset="0"/>
                          <a:ea typeface="Roboto" charset="0"/>
                          <a:cs typeface="Arial" panose="020B0604020202020204" pitchFamily="34" charset="0"/>
                        </a:rPr>
                        <a:t>CX-50 2 Gen</a:t>
                      </a:r>
                    </a:p>
                  </a:txBody>
                  <a:tcPr>
                    <a:solidFill>
                      <a:srgbClr val="0B7935"/>
                    </a:solidFill>
                  </a:tcPr>
                </a:tc>
                <a:tc>
                  <a:txBody>
                    <a:bodyPr/>
                    <a:lstStyle/>
                    <a:p>
                      <a:pPr algn="ctr">
                        <a:buNone/>
                      </a:pPr>
                      <a:r>
                        <a:rPr lang="en-US" altLang="zh-CN" sz="1400">
                          <a:latin typeface="Roboto" charset="0"/>
                          <a:ea typeface="Roboto" charset="0"/>
                          <a:cs typeface="Arial" panose="020B0604020202020204" pitchFamily="34" charset="0"/>
                        </a:rPr>
                        <a:t>Creston</a:t>
                      </a:r>
                      <a:br>
                        <a:rPr lang="en-US" altLang="zh-CN" sz="1400">
                          <a:latin typeface="Roboto" charset="0"/>
                          <a:ea typeface="Roboto" charset="0"/>
                          <a:cs typeface="Arial" panose="020B0604020202020204" pitchFamily="34" charset="0"/>
                        </a:rPr>
                      </a:br>
                      <a:r>
                        <a:rPr lang="en-US" altLang="zh-CN" sz="1400">
                          <a:latin typeface="Roboto" charset="0"/>
                          <a:ea typeface="Roboto" charset="0"/>
                          <a:cs typeface="Arial" panose="020B0604020202020204" pitchFamily="34" charset="0"/>
                        </a:rPr>
                        <a:t>AM-3200-WF</a:t>
                      </a:r>
                    </a:p>
                  </a:txBody>
                  <a:tcPr>
                    <a:solidFill>
                      <a:srgbClr val="0B7935"/>
                    </a:solidFill>
                  </a:tcPr>
                </a:tc>
                <a:tc>
                  <a:txBody>
                    <a:bodyPr/>
                    <a:lstStyle/>
                    <a:p>
                      <a:pPr algn="ctr">
                        <a:buNone/>
                      </a:pPr>
                      <a:r>
                        <a:rPr lang="en-US" altLang="zh-CN" sz="1400">
                          <a:latin typeface="Roboto" charset="0"/>
                          <a:ea typeface="Roboto" charset="0"/>
                          <a:cs typeface="Arial" panose="020B0604020202020204" pitchFamily="34" charset="0"/>
                        </a:rPr>
                        <a:t>Barco</a:t>
                      </a:r>
                      <a:br>
                        <a:rPr lang="en-US" altLang="zh-CN" sz="1400">
                          <a:latin typeface="Roboto" charset="0"/>
                          <a:ea typeface="Roboto" charset="0"/>
                          <a:cs typeface="Arial" panose="020B0604020202020204" pitchFamily="34" charset="0"/>
                        </a:rPr>
                      </a:br>
                      <a:r>
                        <a:rPr lang="en-US" altLang="zh-CN" sz="1400">
                          <a:latin typeface="Roboto" charset="0"/>
                          <a:ea typeface="Roboto" charset="0"/>
                          <a:cs typeface="Arial" panose="020B0604020202020204" pitchFamily="34" charset="0"/>
                        </a:rPr>
                        <a:t>CX-50</a:t>
                      </a:r>
                    </a:p>
                  </a:txBody>
                  <a:tcPr>
                    <a:solidFill>
                      <a:srgbClr val="0B7935"/>
                    </a:solidFill>
                  </a:tcPr>
                </a:tc>
                <a:tc>
                  <a:txBody>
                    <a:bodyPr/>
                    <a:lstStyle/>
                    <a:p>
                      <a:pPr algn="ctr">
                        <a:buNone/>
                      </a:pPr>
                      <a:r>
                        <a:rPr lang="en-US" altLang="zh-CN" sz="1400">
                          <a:latin typeface="Roboto" charset="0"/>
                          <a:ea typeface="Roboto" charset="0"/>
                          <a:cs typeface="Arial" panose="020B0604020202020204" pitchFamily="34" charset="0"/>
                        </a:rPr>
                        <a:t>Extron</a:t>
                      </a:r>
                      <a:br>
                        <a:rPr lang="en-US" altLang="zh-CN" sz="1400">
                          <a:latin typeface="Roboto" charset="0"/>
                          <a:ea typeface="Roboto" charset="0"/>
                          <a:cs typeface="Arial" panose="020B0604020202020204" pitchFamily="34" charset="0"/>
                        </a:rPr>
                      </a:br>
                      <a:r>
                        <a:rPr lang="en-US" altLang="zh-CN" sz="1400">
                          <a:latin typeface="Roboto" charset="0"/>
                          <a:ea typeface="Roboto" charset="0"/>
                          <a:cs typeface="Arial" panose="020B0604020202020204" pitchFamily="34" charset="0"/>
                        </a:rPr>
                        <a:t>Share Link Pro 1100</a:t>
                      </a:r>
                    </a:p>
                  </a:txBody>
                  <a:tcPr>
                    <a:solidFill>
                      <a:srgbClr val="0B7935"/>
                    </a:solidFill>
                  </a:tcPr>
                </a:tc>
                <a:extLst>
                  <a:ext uri="{0D108BD9-81ED-4DB2-BD59-A6C34878D82A}">
                    <a16:rowId xmlns:a16="http://schemas.microsoft.com/office/drawing/2014/main" val="10000"/>
                  </a:ext>
                </a:extLst>
              </a:tr>
              <a:tr h="388785">
                <a:tc>
                  <a:txBody>
                    <a:bodyPr/>
                    <a:lstStyle/>
                    <a:p>
                      <a:pPr algn="ctr">
                        <a:buNone/>
                      </a:pPr>
                      <a:r>
                        <a:rPr lang="en-US" altLang="zh-CN" sz="1000">
                          <a:solidFill>
                            <a:schemeClr val="tx1"/>
                          </a:solidFill>
                          <a:latin typeface="Roboto" charset="0"/>
                          <a:ea typeface="Roboto" charset="0"/>
                          <a:cs typeface="Arial" panose="020B0604020202020204" pitchFamily="34" charset="0"/>
                        </a:rPr>
                        <a:t>Video Input</a:t>
                      </a:r>
                    </a:p>
                  </a:txBody>
                  <a:tcPr anchor="ctr">
                    <a:solidFill>
                      <a:srgbClr val="D6E5D5"/>
                    </a:solidFill>
                  </a:tcPr>
                </a:tc>
                <a:tc>
                  <a:txBody>
                    <a:bodyPr/>
                    <a:lstStyle/>
                    <a:p>
                      <a:pPr algn="ctr">
                        <a:buNone/>
                      </a:pPr>
                      <a:r>
                        <a:rPr lang="en-US" altLang="zh-CN" sz="1000" b="1" kern="1200">
                          <a:solidFill>
                            <a:srgbClr val="70AD47"/>
                          </a:solidFill>
                          <a:latin typeface="Roboto" charset="0"/>
                          <a:ea typeface="Roboto" charset="0"/>
                          <a:cs typeface="Arial" panose="020B0604020202020204" pitchFamily="34" charset="0"/>
                        </a:rPr>
                        <a:t>2x USB-C (Video, USB,</a:t>
                      </a:r>
                      <a:br>
                        <a:rPr lang="en-US" altLang="zh-CN" sz="1000" b="1" kern="1200">
                          <a:solidFill>
                            <a:srgbClr val="70AD47"/>
                          </a:solidFill>
                          <a:latin typeface="Roboto" charset="0"/>
                          <a:ea typeface="Roboto" charset="0"/>
                          <a:cs typeface="Arial" panose="020B0604020202020204" pitchFamily="34" charset="0"/>
                        </a:rPr>
                      </a:br>
                      <a:r>
                        <a:rPr lang="en-US" altLang="zh-CN" sz="1000" b="1" kern="1200">
                          <a:solidFill>
                            <a:srgbClr val="70AD47"/>
                          </a:solidFill>
                          <a:latin typeface="Roboto" charset="0"/>
                          <a:ea typeface="Roboto" charset="0"/>
                          <a:cs typeface="Arial" panose="020B0604020202020204" pitchFamily="34" charset="0"/>
                        </a:rPr>
                        <a:t>Ethernet, Charging) &amp; 2x HDMI</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USB-C (Video only)</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HDMI</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HDMI</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HDMI</a:t>
                      </a:r>
                    </a:p>
                  </a:txBody>
                  <a:tcPr anchor="ctr">
                    <a:solidFill>
                      <a:srgbClr val="D6E5D5"/>
                    </a:solidFill>
                  </a:tcPr>
                </a:tc>
                <a:extLst>
                  <a:ext uri="{0D108BD9-81ED-4DB2-BD59-A6C34878D82A}">
                    <a16:rowId xmlns:a16="http://schemas.microsoft.com/office/drawing/2014/main" val="10001"/>
                  </a:ext>
                </a:extLst>
              </a:tr>
              <a:tr h="240545">
                <a:tc>
                  <a:txBody>
                    <a:bodyPr/>
                    <a:lstStyle/>
                    <a:p>
                      <a:pPr algn="ctr">
                        <a:buNone/>
                      </a:pPr>
                      <a:r>
                        <a:rPr lang="en-US" altLang="zh-CN" sz="1000">
                          <a:solidFill>
                            <a:schemeClr val="tx1"/>
                          </a:solidFill>
                          <a:latin typeface="Roboto" charset="0"/>
                          <a:ea typeface="Roboto" charset="0"/>
                          <a:cs typeface="Arial" panose="020B0604020202020204" pitchFamily="34" charset="0"/>
                        </a:rPr>
                        <a:t>Input Timing</a:t>
                      </a:r>
                    </a:p>
                  </a:txBody>
                  <a:tcPr anchor="ctr">
                    <a:solidFill>
                      <a:srgbClr val="E3F2E2"/>
                    </a:solidFill>
                  </a:tcPr>
                </a:tc>
                <a:tc>
                  <a:txBody>
                    <a:bodyPr/>
                    <a:lstStyle/>
                    <a:p>
                      <a:pPr algn="ctr">
                        <a:buClrTx/>
                        <a:buSzTx/>
                        <a:buFontTx/>
                        <a:buNone/>
                      </a:pPr>
                      <a:r>
                        <a:rPr lang="en-US" sz="1000" b="1">
                          <a:solidFill>
                            <a:srgbClr val="70AD47"/>
                          </a:solidFill>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1080P@60Hz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1080P@30Hz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extLst>
                  <a:ext uri="{0D108BD9-81ED-4DB2-BD59-A6C34878D82A}">
                    <a16:rowId xmlns:a16="http://schemas.microsoft.com/office/drawing/2014/main" val="10002"/>
                  </a:ext>
                </a:extLst>
              </a:tr>
              <a:tr h="265276">
                <a:tc>
                  <a:txBody>
                    <a:bodyPr/>
                    <a:lstStyle/>
                    <a:p>
                      <a:pPr algn="ctr">
                        <a:buNone/>
                      </a:pPr>
                      <a:r>
                        <a:rPr lang="en-US" altLang="zh-CN" sz="1000">
                          <a:solidFill>
                            <a:schemeClr val="tx1"/>
                          </a:solidFill>
                          <a:latin typeface="Roboto" charset="0"/>
                          <a:ea typeface="Roboto" charset="0"/>
                          <a:cs typeface="Arial" panose="020B0604020202020204" pitchFamily="34" charset="0"/>
                        </a:rPr>
                        <a:t>Video </a:t>
                      </a:r>
                      <a:r>
                        <a:rPr lang="zh-CN" altLang="en-US" sz="1000">
                          <a:solidFill>
                            <a:schemeClr val="tx1"/>
                          </a:solidFill>
                          <a:latin typeface="Roboto" charset="0"/>
                          <a:cs typeface="Arial" panose="020B0604020202020204" pitchFamily="34" charset="0"/>
                        </a:rPr>
                        <a:t>Output</a:t>
                      </a:r>
                    </a:p>
                  </a:txBody>
                  <a:tcPr anchor="ctr">
                    <a:solidFill>
                      <a:srgbClr val="D6E5D5"/>
                    </a:solidFill>
                  </a:tcPr>
                </a:tc>
                <a:tc>
                  <a:txBody>
                    <a:bodyPr/>
                    <a:lstStyle/>
                    <a:p>
                      <a:pPr algn="ctr">
                        <a:buNone/>
                      </a:pPr>
                      <a:r>
                        <a:rPr lang="en-US" altLang="zh-CN" sz="1000" b="1" kern="1200">
                          <a:solidFill>
                            <a:srgbClr val="70AD47"/>
                          </a:solidFill>
                          <a:latin typeface="Roboto" charset="0"/>
                          <a:ea typeface="Roboto" charset="0"/>
                          <a:cs typeface="Arial" panose="020B0604020202020204" pitchFamily="34" charset="0"/>
                        </a:rPr>
                        <a:t>2x HDMI</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HDMI or 1x USB-C</a:t>
                      </a:r>
                      <a:endParaRPr lang="zh-CN" altLang="en-US" sz="1000">
                        <a:latin typeface="Roboto" charset="0"/>
                        <a:cs typeface="Arial" panose="020B0604020202020204" pitchFamily="34" charset="0"/>
                      </a:endParaRP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HDMI</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HDMI</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HDMI</a:t>
                      </a:r>
                    </a:p>
                  </a:txBody>
                  <a:tcPr anchor="ctr">
                    <a:solidFill>
                      <a:srgbClr val="D6E5D5"/>
                    </a:solidFill>
                  </a:tcPr>
                </a:tc>
                <a:extLst>
                  <a:ext uri="{0D108BD9-81ED-4DB2-BD59-A6C34878D82A}">
                    <a16:rowId xmlns:a16="http://schemas.microsoft.com/office/drawing/2014/main" val="10003"/>
                  </a:ext>
                </a:extLst>
              </a:tr>
              <a:tr h="240545">
                <a:tc>
                  <a:txBody>
                    <a:bodyPr/>
                    <a:lstStyle/>
                    <a:p>
                      <a:pPr algn="ctr">
                        <a:buNone/>
                      </a:pPr>
                      <a:r>
                        <a:rPr lang="en-US" altLang="zh-CN" sz="1000">
                          <a:solidFill>
                            <a:schemeClr val="tx1"/>
                          </a:solidFill>
                          <a:latin typeface="Roboto" charset="0"/>
                          <a:ea typeface="Roboto" charset="0"/>
                          <a:cs typeface="Arial" panose="020B0604020202020204" pitchFamily="34" charset="0"/>
                        </a:rPr>
                        <a:t>Output Timing</a:t>
                      </a:r>
                    </a:p>
                  </a:txBody>
                  <a:tcPr anchor="ctr">
                    <a:solidFill>
                      <a:srgbClr val="E3F2E2"/>
                    </a:solidFill>
                  </a:tcPr>
                </a:tc>
                <a:tc>
                  <a:txBody>
                    <a:bodyPr/>
                    <a:lstStyle/>
                    <a:p>
                      <a:pPr algn="ctr">
                        <a:buClrTx/>
                        <a:buSzTx/>
                        <a:buFontTx/>
                        <a:buNone/>
                      </a:pPr>
                      <a:r>
                        <a:rPr lang="en-US" sz="1000" b="1">
                          <a:solidFill>
                            <a:srgbClr val="70AD47"/>
                          </a:solidFill>
                          <a:latin typeface="Roboto" charset="0"/>
                          <a:ea typeface="Roboto" charset="0"/>
                          <a:cs typeface="Arial" panose="020B0604020202020204" pitchFamily="34" charset="0"/>
                        </a:rPr>
                        <a:t>4K@60Hz (HDMI OUT1)</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4K@60Hz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4K@60Hz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extLst>
                  <a:ext uri="{0D108BD9-81ED-4DB2-BD59-A6C34878D82A}">
                    <a16:rowId xmlns:a16="http://schemas.microsoft.com/office/drawing/2014/main" val="10004"/>
                  </a:ext>
                </a:extLst>
              </a:tr>
              <a:tr h="390886">
                <a:tc>
                  <a:txBody>
                    <a:bodyPr/>
                    <a:lstStyle/>
                    <a:p>
                      <a:pPr algn="ctr">
                        <a:buNone/>
                      </a:pPr>
                      <a:r>
                        <a:rPr lang="en-US" altLang="zh-CN" sz="1000">
                          <a:solidFill>
                            <a:schemeClr val="tx1"/>
                          </a:solidFill>
                          <a:latin typeface="Roboto" charset="0"/>
                          <a:ea typeface="Roboto" charset="0"/>
                          <a:cs typeface="Arial" panose="020B0604020202020204" pitchFamily="34" charset="0"/>
                        </a:rPr>
                        <a:t>Wireless Casting by Dongle</a:t>
                      </a:r>
                    </a:p>
                  </a:txBody>
                  <a:tcPr anchor="ctr">
                    <a:solidFill>
                      <a:srgbClr val="D6E5D5"/>
                    </a:solidFill>
                  </a:tcPr>
                </a:tc>
                <a:tc>
                  <a:txBody>
                    <a:bodyPr/>
                    <a:lstStyle/>
                    <a:p>
                      <a:pPr algn="ctr">
                        <a:buClrTx/>
                        <a:buSzTx/>
                        <a:buFontTx/>
                        <a:buNone/>
                      </a:pPr>
                      <a:r>
                        <a:rPr lang="en-US" sz="1000" kern="1200">
                          <a:solidFill>
                            <a:schemeClr val="dk1"/>
                          </a:solidFill>
                          <a:latin typeface="Roboto" charset="0"/>
                          <a:ea typeface="Roboto" charset="0"/>
                          <a:cs typeface="Arial" panose="020B0604020202020204" pitchFamily="34" charset="0"/>
                        </a:rPr>
                        <a:t>Plug &amp; Play, software-free</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Non plug &amp; play,</a:t>
                      </a:r>
                      <a:br>
                        <a:rPr lang="en-US" altLang="zh-CN" sz="1000">
                          <a:latin typeface="Roboto" charset="0"/>
                          <a:ea typeface="Roboto" charset="0"/>
                          <a:cs typeface="Arial" panose="020B0604020202020204" pitchFamily="34" charset="0"/>
                        </a:rPr>
                      </a:br>
                      <a:r>
                        <a:rPr lang="en-US" altLang="zh-CN" sz="1000">
                          <a:latin typeface="Roboto" charset="0"/>
                          <a:ea typeface="Roboto" charset="0"/>
                          <a:cs typeface="Arial" panose="020B0604020202020204" pitchFamily="34" charset="0"/>
                        </a:rPr>
                        <a:t>software-dependent</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Plug &amp; play,</a:t>
                      </a:r>
                      <a:br>
                        <a:rPr lang="en-US" altLang="zh-CN" sz="1000">
                          <a:latin typeface="Roboto" charset="0"/>
                          <a:ea typeface="Roboto" charset="0"/>
                          <a:cs typeface="Arial" panose="020B0604020202020204" pitchFamily="34" charset="0"/>
                        </a:rPr>
                      </a:br>
                      <a:r>
                        <a:rPr lang="en-US" altLang="zh-CN" sz="1000">
                          <a:latin typeface="Roboto" charset="0"/>
                          <a:ea typeface="Roboto" charset="0"/>
                          <a:cs typeface="Arial" panose="020B0604020202020204" pitchFamily="34" charset="0"/>
                        </a:rPr>
                        <a:t>software-free</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Non plug &amp; play,</a:t>
                      </a:r>
                      <a:br>
                        <a:rPr lang="en-US" altLang="zh-CN" sz="1000">
                          <a:latin typeface="Roboto" charset="0"/>
                          <a:ea typeface="Roboto" charset="0"/>
                          <a:cs typeface="Arial" panose="020B0604020202020204" pitchFamily="34" charset="0"/>
                        </a:rPr>
                      </a:br>
                      <a:r>
                        <a:rPr lang="en-US" altLang="zh-CN" sz="1000">
                          <a:latin typeface="Roboto" charset="0"/>
                          <a:ea typeface="Roboto" charset="0"/>
                          <a:cs typeface="Arial" panose="020B0604020202020204" pitchFamily="34" charset="0"/>
                        </a:rPr>
                        <a:t>software-dependent</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Unsupported</a:t>
                      </a:r>
                    </a:p>
                  </a:txBody>
                  <a:tcPr anchor="ctr">
                    <a:solidFill>
                      <a:srgbClr val="D6E5D5"/>
                    </a:solidFill>
                  </a:tcPr>
                </a:tc>
                <a:extLst>
                  <a:ext uri="{0D108BD9-81ED-4DB2-BD59-A6C34878D82A}">
                    <a16:rowId xmlns:a16="http://schemas.microsoft.com/office/drawing/2014/main" val="10005"/>
                  </a:ext>
                </a:extLst>
              </a:tr>
              <a:tr h="240545">
                <a:tc>
                  <a:txBody>
                    <a:bodyPr/>
                    <a:lstStyle/>
                    <a:p>
                      <a:pPr algn="ctr">
                        <a:buNone/>
                      </a:pPr>
                      <a:r>
                        <a:rPr lang="en-US" altLang="zh-CN" sz="1000">
                          <a:solidFill>
                            <a:schemeClr val="tx1"/>
                          </a:solidFill>
                          <a:latin typeface="Roboto" charset="0"/>
                          <a:ea typeface="Roboto" charset="0"/>
                          <a:cs typeface="Arial" panose="020B0604020202020204" pitchFamily="34" charset="0"/>
                        </a:rPr>
                        <a:t>Dongle Casting Timing</a:t>
                      </a:r>
                    </a:p>
                  </a:txBody>
                  <a:tcPr anchor="ctr">
                    <a:solidFill>
                      <a:srgbClr val="E3F2E2"/>
                    </a:solidFill>
                  </a:tcPr>
                </a:tc>
                <a:tc>
                  <a:txBody>
                    <a:bodyPr/>
                    <a:lstStyle/>
                    <a:p>
                      <a:pPr algn="ctr">
                        <a:buClrTx/>
                        <a:buSzTx/>
                        <a:buFontTx/>
                        <a:buNone/>
                      </a:pPr>
                      <a:r>
                        <a:rPr lang="en-US" sz="1000" kern="1200">
                          <a:solidFill>
                            <a:schemeClr val="dk1"/>
                          </a:solidFill>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1080P@60Hz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N/A</a:t>
                      </a:r>
                    </a:p>
                  </a:txBody>
                  <a:tcPr anchor="ctr">
                    <a:solidFill>
                      <a:srgbClr val="E3F2E2"/>
                    </a:solidFill>
                  </a:tcPr>
                </a:tc>
                <a:extLst>
                  <a:ext uri="{0D108BD9-81ED-4DB2-BD59-A6C34878D82A}">
                    <a16:rowId xmlns:a16="http://schemas.microsoft.com/office/drawing/2014/main" val="10006"/>
                  </a:ext>
                </a:extLst>
              </a:tr>
              <a:tr h="360887">
                <a:tc>
                  <a:txBody>
                    <a:bodyPr/>
                    <a:lstStyle/>
                    <a:p>
                      <a:pPr algn="ctr">
                        <a:buNone/>
                      </a:pPr>
                      <a:r>
                        <a:rPr lang="en-US" altLang="zh-CN" sz="1000">
                          <a:solidFill>
                            <a:schemeClr val="tx1"/>
                          </a:solidFill>
                          <a:latin typeface="Roboto" charset="0"/>
                          <a:ea typeface="Roboto" charset="0"/>
                          <a:cs typeface="Arial" panose="020B0604020202020204" pitchFamily="34" charset="0"/>
                        </a:rPr>
                        <a:t>Wireless Conference</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Supported,</a:t>
                      </a:r>
                      <a:br>
                        <a:rPr lang="en-US" altLang="zh-CN" sz="1000">
                          <a:latin typeface="Roboto" charset="0"/>
                          <a:ea typeface="Roboto" charset="0"/>
                          <a:cs typeface="Arial" panose="020B0604020202020204" pitchFamily="34" charset="0"/>
                        </a:rPr>
                      </a:br>
                      <a:r>
                        <a:rPr lang="en-US" altLang="zh-CN" sz="1000">
                          <a:latin typeface="Roboto" charset="0"/>
                          <a:ea typeface="Roboto" charset="0"/>
                          <a:cs typeface="Arial" panose="020B0604020202020204" pitchFamily="34" charset="0"/>
                        </a:rPr>
                        <a:t>software-dependent</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Supported,</a:t>
                      </a:r>
                      <a:br>
                        <a:rPr lang="en-US" altLang="zh-CN" sz="1000">
                          <a:latin typeface="Roboto" charset="0"/>
                          <a:ea typeface="Roboto" charset="0"/>
                          <a:cs typeface="Arial" panose="020B0604020202020204" pitchFamily="34" charset="0"/>
                        </a:rPr>
                      </a:br>
                      <a:r>
                        <a:rPr lang="en-US" altLang="zh-CN" sz="1000">
                          <a:latin typeface="Roboto" charset="0"/>
                          <a:ea typeface="Roboto" charset="0"/>
                          <a:cs typeface="Arial" panose="020B0604020202020204" pitchFamily="34" charset="0"/>
                        </a:rPr>
                        <a:t>software-dependent</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Supported,</a:t>
                      </a:r>
                      <a:br>
                        <a:rPr lang="en-US" altLang="zh-CN" sz="1000">
                          <a:latin typeface="Roboto" charset="0"/>
                          <a:ea typeface="Roboto" charset="0"/>
                          <a:cs typeface="Arial" panose="020B0604020202020204" pitchFamily="34" charset="0"/>
                        </a:rPr>
                      </a:br>
                      <a:r>
                        <a:rPr lang="en-US" altLang="zh-CN" sz="1000">
                          <a:latin typeface="Roboto" charset="0"/>
                          <a:ea typeface="Roboto" charset="0"/>
                          <a:cs typeface="Arial" panose="020B0604020202020204" pitchFamily="34" charset="0"/>
                        </a:rPr>
                        <a:t>software-free</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Supported,</a:t>
                      </a:r>
                      <a:br>
                        <a:rPr lang="en-US" altLang="zh-CN" sz="1000">
                          <a:latin typeface="Roboto" charset="0"/>
                          <a:ea typeface="Roboto" charset="0"/>
                          <a:cs typeface="Arial" panose="020B0604020202020204" pitchFamily="34" charset="0"/>
                        </a:rPr>
                      </a:br>
                      <a:r>
                        <a:rPr lang="en-US" altLang="zh-CN" sz="1000">
                          <a:latin typeface="Roboto" charset="0"/>
                          <a:ea typeface="Roboto" charset="0"/>
                          <a:cs typeface="Arial" panose="020B0604020202020204" pitchFamily="34" charset="0"/>
                        </a:rPr>
                        <a:t>software-dependent</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Unsupported</a:t>
                      </a:r>
                    </a:p>
                  </a:txBody>
                  <a:tcPr anchor="ctr">
                    <a:solidFill>
                      <a:srgbClr val="D6E5D5"/>
                    </a:solidFill>
                  </a:tcPr>
                </a:tc>
                <a:extLst>
                  <a:ext uri="{0D108BD9-81ED-4DB2-BD59-A6C34878D82A}">
                    <a16:rowId xmlns:a16="http://schemas.microsoft.com/office/drawing/2014/main" val="10007"/>
                  </a:ext>
                </a:extLst>
              </a:tr>
              <a:tr h="390886">
                <a:tc>
                  <a:txBody>
                    <a:bodyPr/>
                    <a:lstStyle/>
                    <a:p>
                      <a:pPr algn="ctr">
                        <a:buNone/>
                      </a:pPr>
                      <a:r>
                        <a:rPr lang="zh-CN" altLang="en-US" sz="1000">
                          <a:solidFill>
                            <a:schemeClr val="tx1"/>
                          </a:solidFill>
                          <a:latin typeface="Roboto" charset="0"/>
                          <a:cs typeface="Arial" panose="020B0604020202020204" pitchFamily="34" charset="0"/>
                        </a:rPr>
                        <a:t>KVM Host</a:t>
                      </a:r>
                    </a:p>
                  </a:txBody>
                  <a:tcPr anchor="ctr">
                    <a:solidFill>
                      <a:srgbClr val="E3F2E2"/>
                    </a:solidFill>
                  </a:tcPr>
                </a:tc>
                <a:tc>
                  <a:txBody>
                    <a:bodyPr/>
                    <a:lstStyle/>
                    <a:p>
                      <a:pPr algn="ctr">
                        <a:buNone/>
                      </a:pPr>
                      <a:r>
                        <a:rPr lang="zh-CN" altLang="en-US" sz="1000" b="1" kern="1200">
                          <a:solidFill>
                            <a:srgbClr val="70AD47"/>
                          </a:solidFill>
                          <a:latin typeface="Roboto" charset="0"/>
                          <a:ea typeface="+mn-ea"/>
                          <a:cs typeface="Arial" panose="020B0604020202020204" pitchFamily="34" charset="0"/>
                        </a:rPr>
                        <a:t>2x USB </a:t>
                      </a:r>
                      <a:r>
                        <a:rPr lang="en-US" altLang="zh-CN" sz="1000" b="1" kern="1200">
                          <a:solidFill>
                            <a:srgbClr val="70AD47"/>
                          </a:solidFill>
                          <a:latin typeface="Roboto" charset="0"/>
                          <a:ea typeface="Roboto" charset="0"/>
                          <a:cs typeface="Arial" panose="020B0604020202020204" pitchFamily="34" charset="0"/>
                        </a:rPr>
                        <a:t>3.0 Type-B</a:t>
                      </a:r>
                    </a:p>
                    <a:p>
                      <a:pPr algn="ctr">
                        <a:buNone/>
                      </a:pPr>
                      <a:r>
                        <a:rPr lang="en-US" altLang="zh-CN" sz="1000" b="1" kern="1200">
                          <a:solidFill>
                            <a:srgbClr val="70AD47"/>
                          </a:solidFill>
                          <a:latin typeface="Roboto" charset="0"/>
                          <a:ea typeface="Roboto" charset="0"/>
                          <a:cs typeface="Arial" panose="020B0604020202020204" pitchFamily="34" charset="0"/>
                        </a:rPr>
                        <a:t>2x USB 3.0 Type-C</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Unsupported</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1x USB 3.0 Type-B</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Unsupported</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Unsupported</a:t>
                      </a:r>
                    </a:p>
                  </a:txBody>
                  <a:tcPr anchor="ctr">
                    <a:solidFill>
                      <a:srgbClr val="E3F2E2"/>
                    </a:solidFill>
                  </a:tcPr>
                </a:tc>
                <a:extLst>
                  <a:ext uri="{0D108BD9-81ED-4DB2-BD59-A6C34878D82A}">
                    <a16:rowId xmlns:a16="http://schemas.microsoft.com/office/drawing/2014/main" val="10008"/>
                  </a:ext>
                </a:extLst>
              </a:tr>
              <a:tr h="390886">
                <a:tc>
                  <a:txBody>
                    <a:bodyPr/>
                    <a:lstStyle/>
                    <a:p>
                      <a:pPr algn="ctr">
                        <a:buNone/>
                      </a:pPr>
                      <a:r>
                        <a:rPr lang="zh-CN" altLang="en-US" sz="1000">
                          <a:solidFill>
                            <a:schemeClr val="tx1"/>
                          </a:solidFill>
                          <a:latin typeface="Roboto" charset="0"/>
                          <a:cs typeface="Arial" panose="020B0604020202020204" pitchFamily="34" charset="0"/>
                        </a:rPr>
                        <a:t>KVM Device</a:t>
                      </a:r>
                    </a:p>
                  </a:txBody>
                  <a:tcPr anchor="ctr">
                    <a:solidFill>
                      <a:srgbClr val="D6E5D5"/>
                    </a:solidFill>
                  </a:tcPr>
                </a:tc>
                <a:tc>
                  <a:txBody>
                    <a:bodyPr/>
                    <a:lstStyle/>
                    <a:p>
                      <a:pPr algn="ctr">
                        <a:buNone/>
                      </a:pPr>
                      <a:r>
                        <a:rPr lang="en-US" altLang="zh-CN" sz="1000" b="1" kern="1200">
                          <a:solidFill>
                            <a:srgbClr val="70AD47"/>
                          </a:solidFill>
                          <a:latin typeface="Roboto" charset="0"/>
                          <a:ea typeface="Roboto" charset="0"/>
                          <a:cs typeface="Arial" panose="020B0604020202020204" pitchFamily="34" charset="0"/>
                        </a:rPr>
                        <a:t>3</a:t>
                      </a:r>
                      <a:r>
                        <a:rPr lang="zh-CN" altLang="en-US" sz="1000" b="1" kern="1200">
                          <a:solidFill>
                            <a:srgbClr val="70AD47"/>
                          </a:solidFill>
                          <a:latin typeface="Roboto" charset="0"/>
                          <a:ea typeface="+mn-ea"/>
                          <a:cs typeface="Arial" panose="020B0604020202020204" pitchFamily="34" charset="0"/>
                        </a:rPr>
                        <a:t>x USB </a:t>
                      </a:r>
                      <a:r>
                        <a:rPr lang="en-US" altLang="zh-CN" sz="1000" b="1" kern="1200">
                          <a:solidFill>
                            <a:srgbClr val="70AD47"/>
                          </a:solidFill>
                          <a:latin typeface="Roboto" charset="0"/>
                          <a:ea typeface="Roboto" charset="0"/>
                          <a:cs typeface="Arial" panose="020B0604020202020204" pitchFamily="34" charset="0"/>
                        </a:rPr>
                        <a:t>3.0 Type-A</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2x USB 3.0 Type-A</a:t>
                      </a:r>
                    </a:p>
                    <a:p>
                      <a:pPr algn="ctr">
                        <a:buNone/>
                      </a:pPr>
                      <a:r>
                        <a:rPr lang="en-US" altLang="zh-CN" sz="1000">
                          <a:latin typeface="Roboto" charset="0"/>
                          <a:ea typeface="Roboto" charset="0"/>
                          <a:cs typeface="Arial" panose="020B0604020202020204" pitchFamily="34" charset="0"/>
                        </a:rPr>
                        <a:t>1x USB 3.0 Type-C</a:t>
                      </a:r>
                      <a:endParaRPr lang="zh-CN" altLang="en-US" sz="1000">
                        <a:latin typeface="Roboto" charset="0"/>
                        <a:cs typeface="Arial" panose="020B0604020202020204" pitchFamily="34" charset="0"/>
                      </a:endParaRP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USB 3.0 Type-A</a:t>
                      </a:r>
                    </a:p>
                    <a:p>
                      <a:pPr algn="ctr">
                        <a:buNone/>
                      </a:pPr>
                      <a:r>
                        <a:rPr lang="en-US" altLang="zh-CN" sz="1000">
                          <a:latin typeface="Roboto" charset="0"/>
                          <a:ea typeface="Roboto" charset="0"/>
                          <a:cs typeface="Arial" panose="020B0604020202020204" pitchFamily="34" charset="0"/>
                        </a:rPr>
                        <a:t>1x USB 2.0 Type-A</a:t>
                      </a:r>
                      <a:endParaRPr lang="zh-CN" altLang="en-US" sz="1000">
                        <a:latin typeface="Roboto" charset="0"/>
                        <a:cs typeface="Arial" panose="020B0604020202020204" pitchFamily="34" charset="0"/>
                      </a:endParaRP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3x USB 2.0 Type-A</a:t>
                      </a:r>
                    </a:p>
                    <a:p>
                      <a:pPr algn="ctr">
                        <a:buNone/>
                      </a:pPr>
                      <a:r>
                        <a:rPr lang="en-US" altLang="zh-CN" sz="1000">
                          <a:latin typeface="Roboto" charset="0"/>
                          <a:ea typeface="Roboto" charset="0"/>
                          <a:cs typeface="Arial" panose="020B0604020202020204" pitchFamily="34" charset="0"/>
                        </a:rPr>
                        <a:t>1x USB 2.0 Type-C</a:t>
                      </a:r>
                      <a:endParaRPr lang="zh-CN" altLang="en-US" sz="1000">
                        <a:latin typeface="Roboto" charset="0"/>
                        <a:cs typeface="Arial" panose="020B0604020202020204" pitchFamily="34" charset="0"/>
                      </a:endParaRP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USB 3.0 Type-A</a:t>
                      </a:r>
                    </a:p>
                    <a:p>
                      <a:pPr algn="ctr">
                        <a:buNone/>
                      </a:pPr>
                      <a:r>
                        <a:rPr lang="en-US" altLang="zh-CN" sz="1000">
                          <a:latin typeface="Roboto" charset="0"/>
                          <a:ea typeface="Roboto" charset="0"/>
                          <a:cs typeface="Arial" panose="020B0604020202020204" pitchFamily="34" charset="0"/>
                        </a:rPr>
                        <a:t>1x USB 2.0 Type-A</a:t>
                      </a:r>
                      <a:endParaRPr lang="zh-CN" altLang="en-US" sz="1000">
                        <a:latin typeface="Roboto" charset="0"/>
                        <a:cs typeface="Arial" panose="020B0604020202020204" pitchFamily="34" charset="0"/>
                      </a:endParaRPr>
                    </a:p>
                  </a:txBody>
                  <a:tcPr anchor="ctr">
                    <a:solidFill>
                      <a:srgbClr val="D6E5D5"/>
                    </a:solidFill>
                  </a:tcPr>
                </a:tc>
                <a:extLst>
                  <a:ext uri="{0D108BD9-81ED-4DB2-BD59-A6C34878D82A}">
                    <a16:rowId xmlns:a16="http://schemas.microsoft.com/office/drawing/2014/main" val="10009"/>
                  </a:ext>
                </a:extLst>
              </a:tr>
              <a:tr h="240545">
                <a:tc>
                  <a:txBody>
                    <a:bodyPr/>
                    <a:lstStyle/>
                    <a:p>
                      <a:pPr algn="ctr">
                        <a:buNone/>
                      </a:pPr>
                      <a:r>
                        <a:rPr lang="zh-CN" altLang="en-US" sz="1000">
                          <a:solidFill>
                            <a:schemeClr val="tx1"/>
                          </a:solidFill>
                          <a:latin typeface="Roboto" charset="0"/>
                          <a:cs typeface="Arial" panose="020B0604020202020204" pitchFamily="34" charset="0"/>
                        </a:rPr>
                        <a:t>Host Switching</a:t>
                      </a:r>
                    </a:p>
                  </a:txBody>
                  <a:tcPr anchor="ctr">
                    <a:solidFill>
                      <a:srgbClr val="E3F2E2"/>
                    </a:solidFill>
                  </a:tcPr>
                </a:tc>
                <a:tc>
                  <a:txBody>
                    <a:bodyPr/>
                    <a:lstStyle/>
                    <a:p>
                      <a:pPr algn="ctr">
                        <a:buNone/>
                      </a:pPr>
                      <a:r>
                        <a:rPr lang="zh-CN" altLang="en-US" sz="1000" b="1" kern="1200">
                          <a:solidFill>
                            <a:srgbClr val="70AD47"/>
                          </a:solidFill>
                          <a:latin typeface="Roboto" charset="0"/>
                          <a:ea typeface="+mn-ea"/>
                          <a:cs typeface="Arial" panose="020B0604020202020204" pitchFamily="34" charset="0"/>
                        </a:rPr>
                        <a:t>Yes</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No</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Yes</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No</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No</a:t>
                      </a:r>
                    </a:p>
                  </a:txBody>
                  <a:tcPr anchor="ctr">
                    <a:solidFill>
                      <a:srgbClr val="E3F2E2"/>
                    </a:solidFill>
                  </a:tcPr>
                </a:tc>
                <a:extLst>
                  <a:ext uri="{0D108BD9-81ED-4DB2-BD59-A6C34878D82A}">
                    <a16:rowId xmlns:a16="http://schemas.microsoft.com/office/drawing/2014/main" val="10010"/>
                  </a:ext>
                </a:extLst>
              </a:tr>
              <a:tr h="691568">
                <a:tc>
                  <a:txBody>
                    <a:bodyPr/>
                    <a:lstStyle/>
                    <a:p>
                      <a:pPr algn="ctr">
                        <a:buNone/>
                      </a:pPr>
                      <a:r>
                        <a:rPr lang="en-US" altLang="zh-CN" sz="1000">
                          <a:solidFill>
                            <a:schemeClr val="tx1"/>
                          </a:solidFill>
                          <a:latin typeface="Roboto" charset="0"/>
                          <a:ea typeface="Roboto" charset="0"/>
                          <a:cs typeface="Arial" panose="020B0604020202020204" pitchFamily="34" charset="0"/>
                        </a:rPr>
                        <a:t>Network Access</a:t>
                      </a:r>
                    </a:p>
                  </a:txBody>
                  <a:tcPr anchor="ctr">
                    <a:solidFill>
                      <a:srgbClr val="D6E5D5"/>
                    </a:solidFill>
                  </a:tcPr>
                </a:tc>
                <a:tc>
                  <a:txBody>
                    <a:bodyPr/>
                    <a:lstStyle/>
                    <a:p>
                      <a:pPr algn="ctr">
                        <a:buNone/>
                      </a:pPr>
                      <a:r>
                        <a:rPr lang="en-US" altLang="zh-CN" sz="1000" b="1" kern="1200">
                          <a:solidFill>
                            <a:srgbClr val="70AD47"/>
                          </a:solidFill>
                          <a:latin typeface="Roboto" charset="0"/>
                          <a:ea typeface="Roboto" charset="0"/>
                          <a:cs typeface="Arial" panose="020B0604020202020204" pitchFamily="34" charset="0"/>
                        </a:rPr>
                        <a:t>3x RJ45</a:t>
                      </a:r>
                    </a:p>
                    <a:p>
                      <a:pPr algn="ctr">
                        <a:buNone/>
                      </a:pPr>
                      <a:r>
                        <a:rPr lang="en-US" altLang="zh-CN" sz="1000" b="1" kern="1200">
                          <a:solidFill>
                            <a:srgbClr val="70AD47"/>
                          </a:solidFill>
                          <a:latin typeface="Roboto" charset="0"/>
                          <a:ea typeface="Roboto" charset="0"/>
                          <a:cs typeface="Arial" panose="020B0604020202020204" pitchFamily="34" charset="0"/>
                        </a:rPr>
                        <a:t>2x Built-in USB-C input</a:t>
                      </a:r>
                    </a:p>
                    <a:p>
                      <a:pPr algn="ctr">
                        <a:buNone/>
                      </a:pPr>
                      <a:r>
                        <a:rPr lang="en-US" altLang="zh-CN" sz="1000">
                          <a:latin typeface="Roboto" charset="0"/>
                          <a:ea typeface="Roboto" charset="0"/>
                          <a:cs typeface="Arial" panose="020B0604020202020204" pitchFamily="34" charset="0"/>
                        </a:rPr>
                        <a:t>Supports port-based physical network isolation, high security.</a:t>
                      </a:r>
                      <a:endParaRPr lang="zh-CN" altLang="en-US" sz="1000">
                        <a:latin typeface="Roboto" charset="0"/>
                        <a:cs typeface="Arial" panose="020B0604020202020204" pitchFamily="34" charset="0"/>
                      </a:endParaRP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RJ45, 2.5G</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2x RJ45</a:t>
                      </a:r>
                    </a:p>
                    <a:p>
                      <a:pPr algn="ctr">
                        <a:buNone/>
                      </a:pPr>
                      <a:r>
                        <a:rPr lang="en-US" altLang="zh-CN" sz="1000">
                          <a:latin typeface="Roboto" charset="0"/>
                          <a:ea typeface="Roboto" charset="0"/>
                          <a:cs typeface="Arial" panose="020B0604020202020204" pitchFamily="34" charset="0"/>
                        </a:rPr>
                        <a:t>Guest-only network</a:t>
                      </a:r>
                      <a:endParaRPr lang="zh-CN" altLang="en-US" sz="1000">
                        <a:latin typeface="Roboto" charset="0"/>
                        <a:cs typeface="Arial" panose="020B0604020202020204" pitchFamily="34" charset="0"/>
                      </a:endParaRP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RJ45</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2x RJ45</a:t>
                      </a:r>
                    </a:p>
                    <a:p>
                      <a:pPr algn="ctr">
                        <a:buNone/>
                      </a:pPr>
                      <a:r>
                        <a:rPr lang="en-US" altLang="zh-CN" sz="1000">
                          <a:latin typeface="Roboto" charset="0"/>
                          <a:ea typeface="Roboto" charset="0"/>
                          <a:cs typeface="Arial" panose="020B0604020202020204" pitchFamily="34" charset="0"/>
                        </a:rPr>
                        <a:t>Guest-only network</a:t>
                      </a:r>
                      <a:endParaRPr lang="zh-CN" altLang="en-US" sz="1000">
                        <a:latin typeface="Roboto" charset="0"/>
                        <a:cs typeface="Arial" panose="020B0604020202020204" pitchFamily="34" charset="0"/>
                      </a:endParaRPr>
                    </a:p>
                  </a:txBody>
                  <a:tcPr anchor="ctr">
                    <a:solidFill>
                      <a:srgbClr val="D6E5D5"/>
                    </a:solidFill>
                  </a:tcPr>
                </a:tc>
                <a:extLst>
                  <a:ext uri="{0D108BD9-81ED-4DB2-BD59-A6C34878D82A}">
                    <a16:rowId xmlns:a16="http://schemas.microsoft.com/office/drawing/2014/main" val="10011"/>
                  </a:ext>
                </a:extLst>
              </a:tr>
              <a:tr h="240545">
                <a:tc>
                  <a:txBody>
                    <a:bodyPr/>
                    <a:lstStyle/>
                    <a:p>
                      <a:pPr algn="ctr">
                        <a:buNone/>
                      </a:pPr>
                      <a:r>
                        <a:rPr lang="en-US" altLang="zh-CN" sz="1000">
                          <a:solidFill>
                            <a:schemeClr val="tx1"/>
                          </a:solidFill>
                          <a:latin typeface="Roboto" charset="0"/>
                          <a:ea typeface="Roboto" charset="0"/>
                          <a:cs typeface="Arial" panose="020B0604020202020204" pitchFamily="34" charset="0"/>
                        </a:rPr>
                        <a:t>Multiview</a:t>
                      </a:r>
                    </a:p>
                  </a:txBody>
                  <a:tcPr anchor="ctr">
                    <a:solidFill>
                      <a:srgbClr val="E3F2E2"/>
                    </a:solidFill>
                  </a:tcPr>
                </a:tc>
                <a:tc>
                  <a:txBody>
                    <a:bodyPr/>
                    <a:lstStyle/>
                    <a:p>
                      <a:pPr algn="ctr">
                        <a:buClrTx/>
                        <a:buSzTx/>
                        <a:buFontTx/>
                        <a:buNone/>
                      </a:pPr>
                      <a:r>
                        <a:rPr lang="en-US" sz="1000" b="1">
                          <a:solidFill>
                            <a:srgbClr val="70AD47"/>
                          </a:solidFill>
                          <a:latin typeface="Roboto" charset="0"/>
                          <a:ea typeface="Roboto" charset="0"/>
                          <a:cs typeface="Arial" panose="020B0604020202020204" pitchFamily="34" charset="0"/>
                        </a:rPr>
                        <a:t>Quad View</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Dual View</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Quad View</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Dual View</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Quad View</a:t>
                      </a:r>
                    </a:p>
                  </a:txBody>
                  <a:tcPr anchor="ctr">
                    <a:solidFill>
                      <a:srgbClr val="E3F2E2"/>
                    </a:solidFill>
                  </a:tcPr>
                </a:tc>
                <a:extLst>
                  <a:ext uri="{0D108BD9-81ED-4DB2-BD59-A6C34878D82A}">
                    <a16:rowId xmlns:a16="http://schemas.microsoft.com/office/drawing/2014/main" val="10012"/>
                  </a:ext>
                </a:extLst>
              </a:tr>
              <a:tr h="240545">
                <a:tc>
                  <a:txBody>
                    <a:bodyPr/>
                    <a:lstStyle/>
                    <a:p>
                      <a:pPr algn="ctr">
                        <a:buNone/>
                      </a:pPr>
                      <a:r>
                        <a:rPr lang="zh-CN" altLang="en-US" sz="1000">
                          <a:solidFill>
                            <a:schemeClr val="tx1"/>
                          </a:solidFill>
                          <a:latin typeface="Roboto" charset="0"/>
                          <a:cs typeface="Arial" panose="020B0604020202020204" pitchFamily="34" charset="0"/>
                        </a:rPr>
                        <a:t>RS232</a:t>
                      </a:r>
                    </a:p>
                  </a:txBody>
                  <a:tcPr anchor="ctr">
                    <a:solidFill>
                      <a:srgbClr val="D6E5D5"/>
                    </a:solidFill>
                  </a:tcPr>
                </a:tc>
                <a:tc>
                  <a:txBody>
                    <a:bodyPr/>
                    <a:lstStyle/>
                    <a:p>
                      <a:pPr algn="ctr">
                        <a:buNone/>
                      </a:pPr>
                      <a:r>
                        <a:rPr lang="zh-CN" altLang="en-US" sz="1000">
                          <a:latin typeface="Roboto" charset="0"/>
                          <a:cs typeface="Arial" panose="020B0604020202020204" pitchFamily="34" charset="0"/>
                        </a:rPr>
                        <a:t>Yes</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No</a:t>
                      </a:r>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Yes</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No</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Yes</a:t>
                      </a:r>
                    </a:p>
                  </a:txBody>
                  <a:tcPr anchor="ctr">
                    <a:solidFill>
                      <a:srgbClr val="D6E5D5"/>
                    </a:solidFill>
                  </a:tcPr>
                </a:tc>
                <a:extLst>
                  <a:ext uri="{0D108BD9-81ED-4DB2-BD59-A6C34878D82A}">
                    <a16:rowId xmlns:a16="http://schemas.microsoft.com/office/drawing/2014/main" val="10013"/>
                  </a:ext>
                </a:extLst>
              </a:tr>
              <a:tr h="240545">
                <a:tc>
                  <a:txBody>
                    <a:bodyPr/>
                    <a:lstStyle/>
                    <a:p>
                      <a:pPr algn="ctr">
                        <a:buNone/>
                      </a:pPr>
                      <a:r>
                        <a:rPr lang="en-US" altLang="zh-CN" sz="1000">
                          <a:solidFill>
                            <a:schemeClr val="tx1"/>
                          </a:solidFill>
                          <a:latin typeface="Roboto" charset="0"/>
                          <a:ea typeface="Roboto" charset="0"/>
                          <a:cs typeface="Arial" panose="020B0604020202020204" pitchFamily="34" charset="0"/>
                        </a:rPr>
                        <a:t>Relay</a:t>
                      </a:r>
                    </a:p>
                  </a:txBody>
                  <a:tcPr anchor="ctr">
                    <a:solidFill>
                      <a:srgbClr val="E3F2E2"/>
                    </a:solidFill>
                  </a:tcPr>
                </a:tc>
                <a:tc>
                  <a:txBody>
                    <a:bodyPr/>
                    <a:lstStyle/>
                    <a:p>
                      <a:pPr algn="ctr">
                        <a:buNone/>
                      </a:pPr>
                      <a:r>
                        <a:rPr lang="zh-CN" altLang="en-US" sz="1000">
                          <a:latin typeface="Roboto" charset="0"/>
                          <a:cs typeface="Arial" panose="020B0604020202020204" pitchFamily="34" charset="0"/>
                        </a:rPr>
                        <a:t>Yes</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No</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No</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No</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No</a:t>
                      </a:r>
                    </a:p>
                  </a:txBody>
                  <a:tcPr anchor="ctr">
                    <a:solidFill>
                      <a:srgbClr val="E3F2E2"/>
                    </a:solidFill>
                  </a:tcPr>
                </a:tc>
                <a:extLst>
                  <a:ext uri="{0D108BD9-81ED-4DB2-BD59-A6C34878D82A}">
                    <a16:rowId xmlns:a16="http://schemas.microsoft.com/office/drawing/2014/main" val="10014"/>
                  </a:ext>
                </a:extLst>
              </a:tr>
              <a:tr h="240545">
                <a:tc>
                  <a:txBody>
                    <a:bodyPr/>
                    <a:lstStyle/>
                    <a:p>
                      <a:pPr algn="ctr">
                        <a:buNone/>
                      </a:pPr>
                      <a:r>
                        <a:rPr lang="zh-CN" altLang="en-US" sz="1000">
                          <a:solidFill>
                            <a:schemeClr val="tx1"/>
                          </a:solidFill>
                          <a:latin typeface="Roboto" charset="0"/>
                          <a:cs typeface="Arial" panose="020B0604020202020204" pitchFamily="34" charset="0"/>
                        </a:rPr>
                        <a:t>Panel Control Button</a:t>
                      </a:r>
                    </a:p>
                  </a:txBody>
                  <a:tcPr anchor="ctr">
                    <a:solidFill>
                      <a:srgbClr val="D6E5D5"/>
                    </a:solidFill>
                  </a:tcPr>
                </a:tc>
                <a:tc>
                  <a:txBody>
                    <a:bodyPr/>
                    <a:lstStyle/>
                    <a:p>
                      <a:pPr algn="ctr">
                        <a:buNone/>
                      </a:pPr>
                      <a:r>
                        <a:rPr lang="zh-CN" altLang="en-US" sz="1000">
                          <a:latin typeface="Roboto" charset="0"/>
                          <a:cs typeface="Arial" panose="020B0604020202020204" pitchFamily="34" charset="0"/>
                        </a:rPr>
                        <a:t>Yes</a:t>
                      </a:r>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No</a:t>
                      </a:r>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Yes</a:t>
                      </a:r>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sym typeface="+mn-ea"/>
                        </a:rPr>
                        <a:t>No</a:t>
                      </a:r>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Yes</a:t>
                      </a:r>
                    </a:p>
                  </a:txBody>
                  <a:tcPr anchor="ctr">
                    <a:solidFill>
                      <a:srgbClr val="D6E5D5"/>
                    </a:solidFill>
                  </a:tcPr>
                </a:tc>
                <a:extLst>
                  <a:ext uri="{0D108BD9-81ED-4DB2-BD59-A6C34878D82A}">
                    <a16:rowId xmlns:a16="http://schemas.microsoft.com/office/drawing/2014/main" val="10015"/>
                  </a:ext>
                </a:extLst>
              </a:tr>
            </a:tbl>
          </a:graphicData>
        </a:graphic>
      </p:graphicFrame>
      <p:sp>
        <p:nvSpPr>
          <p:cNvPr id="7" name="矩形 7"/>
          <p:cNvSpPr/>
          <p:nvPr>
            <p:custDataLst>
              <p:tags r:id="rId2"/>
            </p:custDataLst>
          </p:nvPr>
        </p:nvSpPr>
        <p:spPr>
          <a:xfrm>
            <a:off x="0" y="0"/>
            <a:ext cx="12192000" cy="912114"/>
          </a:xfrm>
          <a:prstGeom prst="rect">
            <a:avLst/>
          </a:prstGeom>
          <a:solidFill>
            <a:srgbClr val="0B7935"/>
          </a:solidFill>
          <a:ln w="12700" cap="flat" cmpd="sng" algn="ctr">
            <a:solidFill>
              <a:schemeClr val="accent6"/>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8" name="文本框 6"/>
          <p:cNvSpPr txBox="1"/>
          <p:nvPr>
            <p:custDataLst>
              <p:tags r:id="rId3"/>
            </p:custDataLst>
          </p:nvPr>
        </p:nvSpPr>
        <p:spPr>
          <a:xfrm>
            <a:off x="457155" y="16954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Comparison with Other Competitors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p:nvPr>
            <p:custDataLst>
              <p:tags r:id="rId1"/>
            </p:custDataLst>
          </p:nvPr>
        </p:nvGraphicFramePr>
        <p:xfrm>
          <a:off x="695998" y="1137151"/>
          <a:ext cx="10800001" cy="4819537"/>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491953">
                  <a:extLst>
                    <a:ext uri="{9D8B030D-6E8A-4147-A177-3AD203B41FA5}">
                      <a16:colId xmlns:a16="http://schemas.microsoft.com/office/drawing/2014/main" val="20000"/>
                    </a:ext>
                  </a:extLst>
                </a:gridCol>
                <a:gridCol w="1625561">
                  <a:extLst>
                    <a:ext uri="{9D8B030D-6E8A-4147-A177-3AD203B41FA5}">
                      <a16:colId xmlns:a16="http://schemas.microsoft.com/office/drawing/2014/main" val="20001"/>
                    </a:ext>
                  </a:extLst>
                </a:gridCol>
                <a:gridCol w="2523745">
                  <a:extLst>
                    <a:ext uri="{9D8B030D-6E8A-4147-A177-3AD203B41FA5}">
                      <a16:colId xmlns:a16="http://schemas.microsoft.com/office/drawing/2014/main" val="20002"/>
                    </a:ext>
                  </a:extLst>
                </a:gridCol>
                <a:gridCol w="2597928">
                  <a:extLst>
                    <a:ext uri="{9D8B030D-6E8A-4147-A177-3AD203B41FA5}">
                      <a16:colId xmlns:a16="http://schemas.microsoft.com/office/drawing/2014/main" val="20003"/>
                    </a:ext>
                  </a:extLst>
                </a:gridCol>
                <a:gridCol w="2560814">
                  <a:extLst>
                    <a:ext uri="{9D8B030D-6E8A-4147-A177-3AD203B41FA5}">
                      <a16:colId xmlns:a16="http://schemas.microsoft.com/office/drawing/2014/main" val="20004"/>
                    </a:ext>
                  </a:extLst>
                </a:gridCol>
              </a:tblGrid>
              <a:tr h="472820">
                <a:tc gridSpan="2">
                  <a:txBody>
                    <a:bodyPr/>
                    <a:lstStyle/>
                    <a:p>
                      <a:pPr algn="ctr">
                        <a:buNone/>
                      </a:pPr>
                      <a:endParaRPr lang="en-US" altLang="zh-CN" sz="1400">
                        <a:latin typeface="Roboto" charset="0"/>
                        <a:ea typeface="Roboto" charset="0"/>
                        <a:cs typeface="Arial" panose="020B0604020202020204" pitchFamily="34" charset="0"/>
                      </a:endParaRPr>
                    </a:p>
                  </a:txBody>
                  <a:tcPr>
                    <a:solidFill>
                      <a:srgbClr val="0B7935"/>
                    </a:solidFill>
                  </a:tcPr>
                </a:tc>
                <a:tc hMerge="1">
                  <a:txBody>
                    <a:bodyPr/>
                    <a:lstStyle/>
                    <a:p>
                      <a:endParaRPr lang="zh-CN"/>
                    </a:p>
                  </a:txBody>
                  <a:tcPr>
                    <a:solidFill>
                      <a:srgbClr val="0B7935"/>
                    </a:solidFill>
                  </a:tcPr>
                </a:tc>
                <a:tc>
                  <a:txBody>
                    <a:bodyPr/>
                    <a:lstStyle/>
                    <a:p>
                      <a:pPr algn="ctr">
                        <a:buNone/>
                      </a:pPr>
                      <a:r>
                        <a:rPr lang="en-US" altLang="zh-CN" sz="1400">
                          <a:latin typeface="Roboto" charset="0"/>
                          <a:ea typeface="Roboto" charset="0"/>
                          <a:cs typeface="Arial" panose="020B0604020202020204" pitchFamily="34" charset="0"/>
                        </a:rPr>
                        <a:t>SW-620-TX-W</a:t>
                      </a:r>
                    </a:p>
                  </a:txBody>
                  <a:tcPr anchor="ctr">
                    <a:solidFill>
                      <a:srgbClr val="0B7935"/>
                    </a:solidFill>
                  </a:tcPr>
                </a:tc>
                <a:tc>
                  <a:txBody>
                    <a:bodyPr/>
                    <a:lstStyle/>
                    <a:p>
                      <a:pPr algn="ctr">
                        <a:buNone/>
                      </a:pPr>
                      <a:r>
                        <a:rPr lang="en-US" altLang="zh-CN" sz="1400">
                          <a:latin typeface="Roboto" charset="0"/>
                          <a:ea typeface="Roboto" charset="0"/>
                          <a:cs typeface="Arial" panose="020B0604020202020204" pitchFamily="34" charset="0"/>
                        </a:rPr>
                        <a:t>SW-640L-TX-W</a:t>
                      </a:r>
                    </a:p>
                  </a:txBody>
                  <a:tcPr anchor="ctr">
                    <a:solidFill>
                      <a:srgbClr val="0B7935"/>
                    </a:solidFill>
                  </a:tcPr>
                </a:tc>
                <a:tc>
                  <a:txBody>
                    <a:bodyPr/>
                    <a:lstStyle/>
                    <a:p>
                      <a:pPr algn="ctr">
                        <a:buNone/>
                      </a:pPr>
                      <a:r>
                        <a:rPr lang="en-US" altLang="zh-CN" sz="1400">
                          <a:latin typeface="Roboto" charset="0"/>
                          <a:ea typeface="Roboto" charset="0"/>
                          <a:cs typeface="Arial" panose="020B0604020202020204" pitchFamily="34" charset="0"/>
                        </a:rPr>
                        <a:t>SW-220-TX-W</a:t>
                      </a:r>
                    </a:p>
                  </a:txBody>
                  <a:tcPr anchor="ctr">
                    <a:solidFill>
                      <a:srgbClr val="0B7935"/>
                    </a:solidFill>
                  </a:tcPr>
                </a:tc>
                <a:extLst>
                  <a:ext uri="{0D108BD9-81ED-4DB2-BD59-A6C34878D82A}">
                    <a16:rowId xmlns:a16="http://schemas.microsoft.com/office/drawing/2014/main" val="10000"/>
                  </a:ext>
                </a:extLst>
              </a:tr>
              <a:tr h="535059">
                <a:tc rowSpan="4">
                  <a:txBody>
                    <a:bodyPr/>
                    <a:lstStyle/>
                    <a:p>
                      <a:pPr algn="ctr">
                        <a:buNone/>
                      </a:pPr>
                      <a:r>
                        <a:rPr lang="en-US" altLang="zh-CN" sz="1000">
                          <a:solidFill>
                            <a:schemeClr val="tx1"/>
                          </a:solidFill>
                          <a:latin typeface="Roboto" charset="0"/>
                          <a:ea typeface="Roboto" charset="0"/>
                          <a:cs typeface="Arial" panose="020B0604020202020204" pitchFamily="34" charset="0"/>
                        </a:rPr>
                        <a:t>Video Feature</a:t>
                      </a:r>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Video Input</a:t>
                      </a:r>
                    </a:p>
                  </a:txBody>
                  <a:tcPr anchor="ctr">
                    <a:solidFill>
                      <a:srgbClr val="D6E5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b="0" kern="1200">
                          <a:solidFill>
                            <a:schemeClr val="tx1"/>
                          </a:solidFill>
                          <a:latin typeface="Roboto" charset="0"/>
                          <a:ea typeface="Roboto" charset="0"/>
                          <a:cs typeface="Arial" panose="020B0604020202020204" pitchFamily="34" charset="0"/>
                        </a:rPr>
                        <a:t>1x HDMI</a:t>
                      </a:r>
                    </a:p>
                    <a:p>
                      <a:pPr algn="ctr">
                        <a:buNone/>
                      </a:pPr>
                      <a:r>
                        <a:rPr lang="en-US" altLang="zh-CN" sz="1000" b="0" kern="1200">
                          <a:solidFill>
                            <a:schemeClr val="tx1"/>
                          </a:solidFill>
                          <a:latin typeface="Roboto" charset="0"/>
                          <a:ea typeface="Roboto" charset="0"/>
                          <a:cs typeface="Arial" panose="020B0604020202020204" pitchFamily="34" charset="0"/>
                        </a:rPr>
                        <a:t>1x USB-C (Video, USB,</a:t>
                      </a:r>
                      <a:br>
                        <a:rPr lang="en-US" altLang="zh-CN" sz="1000" b="0" kern="1200">
                          <a:solidFill>
                            <a:schemeClr val="tx1"/>
                          </a:solidFill>
                          <a:latin typeface="Roboto" charset="0"/>
                          <a:ea typeface="Roboto" charset="0"/>
                          <a:cs typeface="Arial" panose="020B0604020202020204" pitchFamily="34" charset="0"/>
                        </a:rPr>
                      </a:br>
                      <a:r>
                        <a:rPr lang="en-US" altLang="zh-CN" sz="1000" b="0" kern="1200">
                          <a:solidFill>
                            <a:schemeClr val="tx1"/>
                          </a:solidFill>
                          <a:latin typeface="Roboto" charset="0"/>
                          <a:ea typeface="Roboto" charset="0"/>
                          <a:cs typeface="Arial" panose="020B0604020202020204" pitchFamily="34" charset="0"/>
                        </a:rPr>
                        <a:t>Ethernet, 100W Charging, MST)</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2x</a:t>
                      </a:r>
                      <a:r>
                        <a:rPr lang="zh-CN" altLang="en-US" sz="1000">
                          <a:latin typeface="Roboto" charset="0"/>
                          <a:ea typeface="Roboto" charset="0"/>
                          <a:cs typeface="Arial" panose="020B0604020202020204" pitchFamily="34" charset="0"/>
                        </a:rPr>
                        <a:t> </a:t>
                      </a:r>
                      <a:r>
                        <a:rPr lang="en-US" altLang="zh-CN" sz="1000">
                          <a:latin typeface="Roboto" charset="0"/>
                          <a:ea typeface="Roboto" charset="0"/>
                          <a:cs typeface="Arial" panose="020B0604020202020204" pitchFamily="34" charset="0"/>
                        </a:rPr>
                        <a:t>HDMI</a:t>
                      </a:r>
                    </a:p>
                    <a:p>
                      <a:pPr algn="ctr">
                        <a:buNone/>
                      </a:pPr>
                      <a:r>
                        <a:rPr lang="en-US" altLang="zh-CN" sz="1000">
                          <a:latin typeface="Roboto" charset="0"/>
                          <a:ea typeface="Roboto" charset="0"/>
                          <a:cs typeface="Arial" panose="020B0604020202020204" pitchFamily="34" charset="0"/>
                        </a:rPr>
                        <a:t>2x USB-C</a:t>
                      </a:r>
                      <a:r>
                        <a:rPr lang="en-US" altLang="zh-CN" sz="1000" b="0" kern="1200">
                          <a:solidFill>
                            <a:schemeClr val="tx1"/>
                          </a:solidFill>
                          <a:latin typeface="Roboto" charset="0"/>
                          <a:ea typeface="Roboto" charset="0"/>
                          <a:cs typeface="Arial" panose="020B0604020202020204" pitchFamily="34" charset="0"/>
                        </a:rPr>
                        <a:t>(Video, USB,</a:t>
                      </a:r>
                      <a:br>
                        <a:rPr lang="en-US" altLang="zh-CN" sz="1000" b="0" kern="1200">
                          <a:solidFill>
                            <a:schemeClr val="tx1"/>
                          </a:solidFill>
                          <a:latin typeface="Roboto" charset="0"/>
                          <a:ea typeface="Roboto" charset="0"/>
                          <a:cs typeface="Arial" panose="020B0604020202020204" pitchFamily="34" charset="0"/>
                        </a:rPr>
                      </a:br>
                      <a:r>
                        <a:rPr lang="en-US" altLang="zh-CN" sz="1000" b="0" kern="1200">
                          <a:solidFill>
                            <a:schemeClr val="tx1"/>
                          </a:solidFill>
                          <a:latin typeface="Roboto" charset="0"/>
                          <a:ea typeface="Roboto" charset="0"/>
                          <a:cs typeface="Arial" panose="020B0604020202020204" pitchFamily="34" charset="0"/>
                        </a:rPr>
                        <a:t>Ethernet, 60W Charging, MST)</a:t>
                      </a:r>
                      <a:endParaRPr lang="en-US" altLang="zh-CN" sz="1000">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HDMI</a:t>
                      </a:r>
                    </a:p>
                    <a:p>
                      <a:pPr algn="ctr">
                        <a:buNone/>
                      </a:pPr>
                      <a:r>
                        <a:rPr lang="en-US" altLang="zh-CN" sz="1000">
                          <a:latin typeface="Roboto" charset="0"/>
                          <a:ea typeface="Roboto" charset="0"/>
                          <a:cs typeface="Arial" panose="020B0604020202020204" pitchFamily="34" charset="0"/>
                        </a:rPr>
                        <a:t>1x USB-C</a:t>
                      </a:r>
                    </a:p>
                  </a:txBody>
                  <a:tcPr anchor="ctr">
                    <a:solidFill>
                      <a:srgbClr val="D6E5D5"/>
                    </a:solidFill>
                  </a:tcPr>
                </a:tc>
                <a:extLst>
                  <a:ext uri="{0D108BD9-81ED-4DB2-BD59-A6C34878D82A}">
                    <a16:rowId xmlns:a16="http://schemas.microsoft.com/office/drawing/2014/main" val="10001"/>
                  </a:ext>
                </a:extLst>
              </a:tr>
              <a:tr h="237804">
                <a:tc vMerge="1">
                  <a:txBody>
                    <a:bodyPr/>
                    <a:lstStyle/>
                    <a:p>
                      <a:endParaRPr lang="zh-CN"/>
                    </a:p>
                  </a:txBody>
                  <a:tcPr anchor="ctr">
                    <a:solidFill>
                      <a:srgbClr val="E3F2E2"/>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Max. Input Resolution</a:t>
                      </a:r>
                    </a:p>
                  </a:txBody>
                  <a:tcPr anchor="ctr">
                    <a:solidFill>
                      <a:srgbClr val="E3F2E2"/>
                    </a:solidFill>
                  </a:tcPr>
                </a:tc>
                <a:tc>
                  <a:txBody>
                    <a:bodyPr/>
                    <a:lstStyle/>
                    <a:p>
                      <a:pPr algn="ctr">
                        <a:buClrTx/>
                        <a:buSzTx/>
                        <a:buFontTx/>
                        <a:buNone/>
                      </a:pPr>
                      <a:r>
                        <a:rPr lang="en-US" sz="1000" b="0">
                          <a:solidFill>
                            <a:schemeClr val="tx1"/>
                          </a:solidFill>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extLst>
                  <a:ext uri="{0D108BD9-81ED-4DB2-BD59-A6C34878D82A}">
                    <a16:rowId xmlns:a16="http://schemas.microsoft.com/office/drawing/2014/main" val="10002"/>
                  </a:ext>
                </a:extLst>
              </a:tr>
              <a:tr h="237804">
                <a:tc vMerge="1">
                  <a:txBody>
                    <a:bodyPr/>
                    <a:lstStyle/>
                    <a:p>
                      <a:endParaRPr lang="zh-CN"/>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Video </a:t>
                      </a:r>
                      <a:r>
                        <a:rPr lang="zh-CN" altLang="en-US" sz="1000">
                          <a:solidFill>
                            <a:schemeClr val="tx1"/>
                          </a:solidFill>
                          <a:latin typeface="Roboto" charset="0"/>
                          <a:cs typeface="Arial" panose="020B0604020202020204" pitchFamily="34" charset="0"/>
                        </a:rPr>
                        <a:t>Output</a:t>
                      </a:r>
                    </a:p>
                  </a:txBody>
                  <a:tcPr anchor="ctr">
                    <a:solidFill>
                      <a:srgbClr val="D6E5D5"/>
                    </a:solidFill>
                  </a:tcPr>
                </a:tc>
                <a:tc>
                  <a:txBody>
                    <a:bodyPr/>
                    <a:lstStyle/>
                    <a:p>
                      <a:pPr algn="ctr">
                        <a:buNone/>
                      </a:pPr>
                      <a:r>
                        <a:rPr lang="en-US" altLang="zh-CN" sz="1000" b="0" kern="1200">
                          <a:solidFill>
                            <a:schemeClr val="tx1"/>
                          </a:solidFill>
                          <a:latin typeface="Roboto" charset="0"/>
                          <a:ea typeface="Roboto" charset="0"/>
                          <a:cs typeface="Arial" panose="020B0604020202020204" pitchFamily="34" charset="0"/>
                        </a:rPr>
                        <a:t>2x HDMI</a:t>
                      </a:r>
                    </a:p>
                  </a:txBody>
                  <a:tcPr anchor="ctr">
                    <a:solidFill>
                      <a:srgbClr val="D6E5D5"/>
                    </a:solidFill>
                  </a:tcPr>
                </a:tc>
                <a:tc>
                  <a:txBody>
                    <a:bodyPr/>
                    <a:lstStyle/>
                    <a:p>
                      <a:pPr algn="ctr">
                        <a:buNone/>
                      </a:pPr>
                      <a:r>
                        <a:rPr lang="en-US" altLang="zh-CN" sz="1000" b="0" kern="1200">
                          <a:solidFill>
                            <a:schemeClr val="tx1"/>
                          </a:solidFill>
                          <a:latin typeface="Roboto" charset="0"/>
                          <a:ea typeface="Roboto" charset="0"/>
                          <a:cs typeface="Arial" panose="020B0604020202020204" pitchFamily="34" charset="0"/>
                        </a:rPr>
                        <a:t>2x HDMI</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HDMI</a:t>
                      </a:r>
                    </a:p>
                  </a:txBody>
                  <a:tcPr anchor="ctr">
                    <a:solidFill>
                      <a:srgbClr val="D6E5D5"/>
                    </a:solidFill>
                  </a:tcPr>
                </a:tc>
                <a:extLst>
                  <a:ext uri="{0D108BD9-81ED-4DB2-BD59-A6C34878D82A}">
                    <a16:rowId xmlns:a16="http://schemas.microsoft.com/office/drawing/2014/main" val="10003"/>
                  </a:ext>
                </a:extLst>
              </a:tr>
              <a:tr h="237804">
                <a:tc vMerge="1">
                  <a:txBody>
                    <a:bodyPr/>
                    <a:lstStyle/>
                    <a:p>
                      <a:endParaRPr lang="zh-CN"/>
                    </a:p>
                  </a:txBody>
                  <a:tcPr anchor="ctr">
                    <a:solidFill>
                      <a:srgbClr val="E3F2E2"/>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Max. Output Resolution</a:t>
                      </a:r>
                    </a:p>
                  </a:txBody>
                  <a:tcPr anchor="ctr">
                    <a:solidFill>
                      <a:srgbClr val="E3F2E2"/>
                    </a:solidFill>
                  </a:tcPr>
                </a:tc>
                <a:tc>
                  <a:txBody>
                    <a:bodyPr/>
                    <a:lstStyle/>
                    <a:p>
                      <a:pPr algn="ctr">
                        <a:buClrTx/>
                        <a:buSzTx/>
                        <a:buFontTx/>
                        <a:buNone/>
                      </a:pPr>
                      <a:r>
                        <a:rPr lang="en-US" sz="1000" b="0">
                          <a:solidFill>
                            <a:schemeClr val="tx1"/>
                          </a:solidFill>
                          <a:latin typeface="Roboto" charset="0"/>
                          <a:ea typeface="Roboto" charset="0"/>
                          <a:cs typeface="Arial" panose="020B0604020202020204" pitchFamily="34" charset="0"/>
                        </a:rPr>
                        <a:t>4K@60Hz </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4K@60Hz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extLst>
                  <a:ext uri="{0D108BD9-81ED-4DB2-BD59-A6C34878D82A}">
                    <a16:rowId xmlns:a16="http://schemas.microsoft.com/office/drawing/2014/main" val="10004"/>
                  </a:ext>
                </a:extLst>
              </a:tr>
              <a:tr h="320040">
                <a:tc rowSpan="4">
                  <a:txBody>
                    <a:bodyPr/>
                    <a:lstStyle/>
                    <a:p>
                      <a:pPr algn="ctr">
                        <a:buNone/>
                      </a:pPr>
                      <a:r>
                        <a:rPr lang="en-US" altLang="zh-CN" sz="1000">
                          <a:solidFill>
                            <a:schemeClr val="tx1"/>
                          </a:solidFill>
                          <a:latin typeface="Roboto" charset="0"/>
                          <a:ea typeface="Roboto" charset="0"/>
                          <a:cs typeface="Arial" panose="020B0604020202020204" pitchFamily="34" charset="0"/>
                        </a:rPr>
                        <a:t>Wireless Collaboration</a:t>
                      </a:r>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Wireless Casting Dongle</a:t>
                      </a:r>
                    </a:p>
                  </a:txBody>
                  <a:tcPr anchor="ctr">
                    <a:solidFill>
                      <a:srgbClr val="D6E5D5"/>
                    </a:solidFill>
                  </a:tcPr>
                </a:tc>
                <a:tc>
                  <a:txBody>
                    <a:bodyPr/>
                    <a:lstStyle/>
                    <a:p>
                      <a:pPr algn="ctr">
                        <a:buClrTx/>
                        <a:buSzTx/>
                        <a:buFontTx/>
                        <a:buNone/>
                      </a:pPr>
                      <a:r>
                        <a:rPr lang="en-US" sz="1000" b="0" kern="1200">
                          <a:solidFill>
                            <a:schemeClr val="tx1"/>
                          </a:solidFill>
                          <a:latin typeface="Roboto" charset="0"/>
                          <a:ea typeface="Roboto" charset="0"/>
                          <a:cs typeface="Arial" panose="020B0604020202020204" pitchFamily="34" charset="0"/>
                        </a:rPr>
                        <a:t>APO-DG2/APO-DG2-PRO</a:t>
                      </a:r>
                    </a:p>
                  </a:txBody>
                  <a:tcPr anchor="ctr">
                    <a:solidFill>
                      <a:srgbClr val="D6E5D5"/>
                    </a:solidFill>
                  </a:tcPr>
                </a:tc>
                <a:tc>
                  <a:txBody>
                    <a:bodyPr/>
                    <a:lstStyle/>
                    <a:p>
                      <a:pPr algn="ctr">
                        <a:buClrTx/>
                        <a:buSzTx/>
                        <a:buFontTx/>
                        <a:buNone/>
                      </a:pPr>
                      <a:r>
                        <a:rPr lang="en-US" sz="1000" b="0" kern="1200">
                          <a:solidFill>
                            <a:schemeClr val="tx1"/>
                          </a:solidFill>
                          <a:latin typeface="Roboto" charset="0"/>
                          <a:ea typeface="Roboto" charset="0"/>
                          <a:cs typeface="Arial" panose="020B0604020202020204" pitchFamily="34" charset="0"/>
                        </a:rPr>
                        <a:t>APO-DG2/APO-DG2-PRO</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APO-DG1</a:t>
                      </a:r>
                    </a:p>
                  </a:txBody>
                  <a:tcPr anchor="ctr">
                    <a:solidFill>
                      <a:srgbClr val="D6E5D5"/>
                    </a:solidFill>
                  </a:tcPr>
                </a:tc>
                <a:extLst>
                  <a:ext uri="{0D108BD9-81ED-4DB2-BD59-A6C34878D82A}">
                    <a16:rowId xmlns:a16="http://schemas.microsoft.com/office/drawing/2014/main" val="10005"/>
                  </a:ext>
                </a:extLst>
              </a:tr>
              <a:tr h="237804">
                <a:tc vMerge="1">
                  <a:txBody>
                    <a:bodyPr/>
                    <a:lstStyle/>
                    <a:p>
                      <a:endParaRPr lang="zh-CN"/>
                    </a:p>
                  </a:txBody>
                  <a:tcPr anchor="ctr">
                    <a:solidFill>
                      <a:srgbClr val="E3F2E2"/>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Max. Dongle Casting Resolution</a:t>
                      </a:r>
                    </a:p>
                  </a:txBody>
                  <a:tcPr anchor="ctr">
                    <a:solidFill>
                      <a:srgbClr val="E3F2E2"/>
                    </a:solidFill>
                  </a:tcPr>
                </a:tc>
                <a:tc>
                  <a:txBody>
                    <a:bodyPr/>
                    <a:lstStyle/>
                    <a:p>
                      <a:pPr algn="ctr">
                        <a:buClrTx/>
                        <a:buSzTx/>
                        <a:buFontTx/>
                        <a:buNone/>
                      </a:pPr>
                      <a:r>
                        <a:rPr lang="en-US" sz="1000" b="0" kern="1200">
                          <a:solidFill>
                            <a:schemeClr val="tx1"/>
                          </a:solidFill>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4K@30Hz</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1080P@30Hz</a:t>
                      </a:r>
                    </a:p>
                  </a:txBody>
                  <a:tcPr anchor="ctr">
                    <a:solidFill>
                      <a:srgbClr val="E3F2E2"/>
                    </a:solidFill>
                  </a:tcPr>
                </a:tc>
                <a:extLst>
                  <a:ext uri="{0D108BD9-81ED-4DB2-BD59-A6C34878D82A}">
                    <a16:rowId xmlns:a16="http://schemas.microsoft.com/office/drawing/2014/main" val="10006"/>
                  </a:ext>
                </a:extLst>
              </a:tr>
              <a:tr h="205740">
                <a:tc vMerge="1">
                  <a:txBody>
                    <a:bodyPr/>
                    <a:lstStyle/>
                    <a:p>
                      <a:endParaRPr lang="zh-CN"/>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Wireless Conference</a:t>
                      </a:r>
                    </a:p>
                  </a:txBody>
                  <a:tcPr anchor="ctr">
                    <a:solidFill>
                      <a:srgbClr val="D6E5D5"/>
                    </a:solidFill>
                  </a:tcPr>
                </a:tc>
                <a:tc>
                  <a:txBody>
                    <a:bodyPr/>
                    <a:lstStyle/>
                    <a:p>
                      <a:pPr algn="ctr">
                        <a:buNone/>
                      </a:pPr>
                      <a:r>
                        <a:rPr lang="en-US" altLang="zh-CN" sz="1000" b="0">
                          <a:solidFill>
                            <a:schemeClr val="tx1"/>
                          </a:solidFill>
                          <a:latin typeface="Roboto" charset="0"/>
                          <a:ea typeface="Roboto" charset="0"/>
                          <a:cs typeface="Arial" panose="020B0604020202020204" pitchFamily="34" charset="0"/>
                        </a:rPr>
                        <a:t>Supported</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Supported</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a:t>
                      </a:r>
                    </a:p>
                  </a:txBody>
                  <a:tcPr anchor="ctr">
                    <a:solidFill>
                      <a:srgbClr val="D6E5D5"/>
                    </a:solidFill>
                  </a:tcPr>
                </a:tc>
                <a:extLst>
                  <a:ext uri="{0D108BD9-81ED-4DB2-BD59-A6C34878D82A}">
                    <a16:rowId xmlns:a16="http://schemas.microsoft.com/office/drawing/2014/main" val="10007"/>
                  </a:ext>
                </a:extLst>
              </a:tr>
              <a:tr h="386431">
                <a:tc vMerge="1">
                  <a:txBody>
                    <a:bodyPr/>
                    <a:lstStyle/>
                    <a:p>
                      <a:endParaRPr lang="zh-CN"/>
                    </a:p>
                  </a:txBody>
                  <a:tcPr anchor="ctr">
                    <a:solidFill>
                      <a:srgbClr val="D6E5D5"/>
                    </a:solidFill>
                  </a:tcPr>
                </a:tc>
                <a:tc>
                  <a:txBody>
                    <a:bodyPr/>
                    <a:lstStyle/>
                    <a:p>
                      <a:pPr algn="ctr">
                        <a:buNone/>
                      </a:pPr>
                      <a:r>
                        <a:rPr lang="en-US" altLang="zh-CN" sz="1000">
                          <a:solidFill>
                            <a:schemeClr val="tx1"/>
                          </a:solidFill>
                          <a:latin typeface="Roboto" charset="0"/>
                          <a:ea typeface="Roboto" charset="0"/>
                          <a:cs typeface="Arial" panose="020B0604020202020204" pitchFamily="34" charset="0"/>
                        </a:rPr>
                        <a:t>Max. Wireless Conferencing Resolution*</a:t>
                      </a:r>
                    </a:p>
                  </a:txBody>
                  <a:tcPr anchor="ctr">
                    <a:solidFill>
                      <a:srgbClr val="D6E5D5"/>
                    </a:solidFill>
                  </a:tcPr>
                </a:tc>
                <a:tc>
                  <a:txBody>
                    <a:bodyPr/>
                    <a:lstStyle/>
                    <a:p>
                      <a:pPr marL="0" algn="ctr" defTabSz="914400" rtl="0" eaLnBrk="1" latinLnBrk="0" hangingPunct="1">
                        <a:buClrTx/>
                        <a:buSzTx/>
                        <a:buFontTx/>
                        <a:buNone/>
                      </a:pPr>
                      <a:r>
                        <a:rPr lang="en-US" altLang="zh-CN" sz="1000" b="0" kern="1200">
                          <a:solidFill>
                            <a:schemeClr val="tx1"/>
                          </a:solidFill>
                          <a:latin typeface="Roboto" charset="0"/>
                          <a:ea typeface="Roboto" charset="0"/>
                          <a:cs typeface="Arial" panose="020B0604020202020204" pitchFamily="34" charset="0"/>
                        </a:rPr>
                        <a:t>1080P@30Hz</a:t>
                      </a:r>
                    </a:p>
                  </a:txBody>
                  <a:tcPr anchor="ctr">
                    <a:solidFill>
                      <a:srgbClr val="D6E5D5"/>
                    </a:solidFill>
                  </a:tcPr>
                </a:tc>
                <a:tc>
                  <a:txBody>
                    <a:bodyPr/>
                    <a:lstStyle/>
                    <a:p>
                      <a:pPr marL="0" algn="ctr" defTabSz="914400" rtl="0" eaLnBrk="1" latinLnBrk="0" hangingPunct="1">
                        <a:buClrTx/>
                        <a:buSzTx/>
                        <a:buFontTx/>
                        <a:buNone/>
                      </a:pPr>
                      <a:r>
                        <a:rPr lang="en-US" altLang="zh-CN" sz="1000" b="0" kern="1200">
                          <a:solidFill>
                            <a:schemeClr val="tx1"/>
                          </a:solidFill>
                          <a:latin typeface="Roboto" charset="0"/>
                          <a:ea typeface="Roboto" charset="0"/>
                          <a:cs typeface="Arial" panose="020B0604020202020204" pitchFamily="34" charset="0"/>
                        </a:rPr>
                        <a:t>1080P@30Hz</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a:t>
                      </a:r>
                    </a:p>
                  </a:txBody>
                  <a:tcPr anchor="ctr">
                    <a:solidFill>
                      <a:srgbClr val="D6E5D5"/>
                    </a:solidFill>
                  </a:tcPr>
                </a:tc>
                <a:extLst>
                  <a:ext uri="{0D108BD9-81ED-4DB2-BD59-A6C34878D82A}">
                    <a16:rowId xmlns:a16="http://schemas.microsoft.com/office/drawing/2014/main" val="10008"/>
                  </a:ext>
                </a:extLst>
              </a:tr>
              <a:tr h="386431">
                <a:tc rowSpan="2">
                  <a:txBody>
                    <a:bodyPr/>
                    <a:lstStyle/>
                    <a:p>
                      <a:pPr algn="ctr">
                        <a:buNone/>
                      </a:pPr>
                      <a:r>
                        <a:rPr lang="en-US" altLang="zh-CN" sz="1000">
                          <a:solidFill>
                            <a:schemeClr val="tx1"/>
                          </a:solidFill>
                          <a:latin typeface="Roboto" charset="0"/>
                          <a:cs typeface="Arial" panose="020B0604020202020204" pitchFamily="34" charset="0"/>
                        </a:rPr>
                        <a:t>USB Feature</a:t>
                      </a:r>
                      <a:endParaRPr lang="zh-CN" altLang="en-US" sz="1000">
                        <a:solidFill>
                          <a:schemeClr val="tx1"/>
                        </a:solidFill>
                        <a:latin typeface="Roboto" charset="0"/>
                        <a:cs typeface="Arial" panose="020B0604020202020204" pitchFamily="34" charset="0"/>
                      </a:endParaRPr>
                    </a:p>
                  </a:txBody>
                  <a:tcPr anchor="ctr">
                    <a:solidFill>
                      <a:srgbClr val="E3F2E2"/>
                    </a:solidFill>
                  </a:tcPr>
                </a:tc>
                <a:tc>
                  <a:txBody>
                    <a:bodyPr/>
                    <a:lstStyle/>
                    <a:p>
                      <a:pPr algn="ctr">
                        <a:buNone/>
                      </a:pPr>
                      <a:r>
                        <a:rPr lang="en-US" altLang="zh-CN" sz="1000">
                          <a:solidFill>
                            <a:schemeClr val="tx1"/>
                          </a:solidFill>
                          <a:latin typeface="Roboto" charset="0"/>
                          <a:cs typeface="Arial" panose="020B0604020202020204" pitchFamily="34" charset="0"/>
                        </a:rPr>
                        <a:t>USB</a:t>
                      </a:r>
                      <a:r>
                        <a:rPr lang="zh-CN" altLang="en-US" sz="1000">
                          <a:solidFill>
                            <a:schemeClr val="tx1"/>
                          </a:solidFill>
                          <a:latin typeface="Roboto" charset="0"/>
                          <a:cs typeface="Arial" panose="020B0604020202020204" pitchFamily="34" charset="0"/>
                        </a:rPr>
                        <a:t> Host</a:t>
                      </a:r>
                    </a:p>
                  </a:txBody>
                  <a:tcPr anchor="ctr">
                    <a:solidFill>
                      <a:srgbClr val="E3F2E2"/>
                    </a:solidFill>
                  </a:tcPr>
                </a:tc>
                <a:tc>
                  <a:txBody>
                    <a:bodyPr/>
                    <a:lstStyle/>
                    <a:p>
                      <a:pPr algn="ctr">
                        <a:buNone/>
                      </a:pPr>
                      <a:r>
                        <a:rPr lang="en-US" altLang="zh-CN" sz="1000" b="0" kern="1200">
                          <a:solidFill>
                            <a:schemeClr val="tx1"/>
                          </a:solidFill>
                          <a:latin typeface="Roboto" charset="0"/>
                          <a:ea typeface="+mn-ea"/>
                          <a:cs typeface="Arial" panose="020B0604020202020204" pitchFamily="34" charset="0"/>
                        </a:rPr>
                        <a:t>1</a:t>
                      </a:r>
                      <a:r>
                        <a:rPr lang="zh-CN" altLang="en-US" sz="1000" b="0" kern="1200">
                          <a:solidFill>
                            <a:schemeClr val="tx1"/>
                          </a:solidFill>
                          <a:latin typeface="Roboto" charset="0"/>
                          <a:ea typeface="+mn-ea"/>
                          <a:cs typeface="Arial" panose="020B0604020202020204" pitchFamily="34" charset="0"/>
                        </a:rPr>
                        <a:t>x USB </a:t>
                      </a:r>
                      <a:r>
                        <a:rPr lang="en-US" altLang="zh-CN" sz="1000" b="0" kern="1200">
                          <a:solidFill>
                            <a:schemeClr val="tx1"/>
                          </a:solidFill>
                          <a:latin typeface="Roboto" charset="0"/>
                          <a:ea typeface="Roboto" charset="0"/>
                          <a:cs typeface="Arial" panose="020B0604020202020204" pitchFamily="34" charset="0"/>
                        </a:rPr>
                        <a:t>3.0 Type-B</a:t>
                      </a:r>
                    </a:p>
                    <a:p>
                      <a:pPr algn="ctr">
                        <a:buNone/>
                      </a:pPr>
                      <a:r>
                        <a:rPr lang="en-US" altLang="zh-CN" sz="1000" b="0" kern="1200">
                          <a:solidFill>
                            <a:schemeClr val="tx1"/>
                          </a:solidFill>
                          <a:latin typeface="Roboto" charset="0"/>
                          <a:ea typeface="Roboto" charset="0"/>
                          <a:cs typeface="Arial" panose="020B0604020202020204" pitchFamily="34" charset="0"/>
                        </a:rPr>
                        <a:t>1x USB 3.0 Type-C</a:t>
                      </a:r>
                    </a:p>
                  </a:txBody>
                  <a:tcPr anchor="ctr">
                    <a:solidFill>
                      <a:srgbClr val="E3F2E2"/>
                    </a:solidFill>
                  </a:tcPr>
                </a:tc>
                <a:tc>
                  <a:txBody>
                    <a:bodyPr/>
                    <a:lstStyle/>
                    <a:p>
                      <a:pPr algn="ctr">
                        <a:buNone/>
                      </a:pPr>
                      <a:r>
                        <a:rPr lang="en-US" altLang="zh-CN" sz="1000" b="0" kern="1200">
                          <a:solidFill>
                            <a:schemeClr val="tx1"/>
                          </a:solidFill>
                          <a:latin typeface="Roboto" charset="0"/>
                          <a:ea typeface="+mn-ea"/>
                          <a:cs typeface="Arial" panose="020B0604020202020204" pitchFamily="34" charset="0"/>
                        </a:rPr>
                        <a:t>2</a:t>
                      </a:r>
                      <a:r>
                        <a:rPr lang="zh-CN" altLang="en-US" sz="1000" b="0" kern="1200">
                          <a:solidFill>
                            <a:schemeClr val="tx1"/>
                          </a:solidFill>
                          <a:latin typeface="Roboto" charset="0"/>
                          <a:ea typeface="+mn-ea"/>
                          <a:cs typeface="Arial" panose="020B0604020202020204" pitchFamily="34" charset="0"/>
                        </a:rPr>
                        <a:t>x USB </a:t>
                      </a:r>
                      <a:r>
                        <a:rPr lang="en-US" altLang="zh-CN" sz="1000" b="0" kern="1200">
                          <a:solidFill>
                            <a:schemeClr val="tx1"/>
                          </a:solidFill>
                          <a:latin typeface="Roboto" charset="0"/>
                          <a:ea typeface="Roboto" charset="0"/>
                          <a:cs typeface="Arial" panose="020B0604020202020204" pitchFamily="34" charset="0"/>
                        </a:rPr>
                        <a:t>3.0 Type-B</a:t>
                      </a:r>
                    </a:p>
                    <a:p>
                      <a:pPr algn="ctr">
                        <a:buNone/>
                      </a:pPr>
                      <a:r>
                        <a:rPr lang="en-US" altLang="zh-CN" sz="1000" b="0" kern="1200">
                          <a:solidFill>
                            <a:schemeClr val="tx1"/>
                          </a:solidFill>
                          <a:latin typeface="Roboto" charset="0"/>
                          <a:ea typeface="Roboto" charset="0"/>
                          <a:cs typeface="Arial" panose="020B0604020202020204" pitchFamily="34" charset="0"/>
                        </a:rPr>
                        <a:t>2x USB 3.0 Type-C</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1x USB 2.0 Type-C</a:t>
                      </a:r>
                    </a:p>
                  </a:txBody>
                  <a:tcPr anchor="ctr">
                    <a:solidFill>
                      <a:srgbClr val="E3F2E2"/>
                    </a:solidFill>
                  </a:tcPr>
                </a:tc>
                <a:extLst>
                  <a:ext uri="{0D108BD9-81ED-4DB2-BD59-A6C34878D82A}">
                    <a16:rowId xmlns:a16="http://schemas.microsoft.com/office/drawing/2014/main" val="10009"/>
                  </a:ext>
                </a:extLst>
              </a:tr>
              <a:tr h="386431">
                <a:tc vMerge="1">
                  <a:txBody>
                    <a:bodyPr/>
                    <a:lstStyle/>
                    <a:p>
                      <a:endParaRPr lang="zh-CN"/>
                    </a:p>
                  </a:txBody>
                  <a:tcPr anchor="ctr">
                    <a:solidFill>
                      <a:srgbClr val="D6E5D5"/>
                    </a:solidFill>
                  </a:tcPr>
                </a:tc>
                <a:tc>
                  <a:txBody>
                    <a:bodyPr/>
                    <a:lstStyle/>
                    <a:p>
                      <a:pPr algn="ctr">
                        <a:buNone/>
                      </a:pPr>
                      <a:r>
                        <a:rPr lang="en-US" altLang="zh-CN" sz="1000">
                          <a:solidFill>
                            <a:schemeClr val="tx1"/>
                          </a:solidFill>
                          <a:latin typeface="Roboto" charset="0"/>
                          <a:cs typeface="Arial" panose="020B0604020202020204" pitchFamily="34" charset="0"/>
                        </a:rPr>
                        <a:t>USB</a:t>
                      </a:r>
                      <a:r>
                        <a:rPr lang="zh-CN" altLang="en-US" sz="1000">
                          <a:solidFill>
                            <a:schemeClr val="tx1"/>
                          </a:solidFill>
                          <a:latin typeface="Roboto" charset="0"/>
                          <a:cs typeface="Arial" panose="020B0604020202020204" pitchFamily="34" charset="0"/>
                        </a:rPr>
                        <a:t> Device</a:t>
                      </a:r>
                    </a:p>
                  </a:txBody>
                  <a:tcPr anchor="ctr">
                    <a:solidFill>
                      <a:srgbClr val="D6E5D5"/>
                    </a:solidFill>
                  </a:tcPr>
                </a:tc>
                <a:tc>
                  <a:txBody>
                    <a:bodyPr/>
                    <a:lstStyle/>
                    <a:p>
                      <a:pPr algn="ctr">
                        <a:buNone/>
                      </a:pPr>
                      <a:r>
                        <a:rPr lang="en-US" altLang="zh-CN" sz="1000" b="0" kern="1200">
                          <a:solidFill>
                            <a:schemeClr val="tx1"/>
                          </a:solidFill>
                          <a:latin typeface="Roboto" charset="0"/>
                          <a:ea typeface="Roboto" charset="0"/>
                          <a:cs typeface="Arial" panose="020B0604020202020204" pitchFamily="34" charset="0"/>
                        </a:rPr>
                        <a:t>3</a:t>
                      </a:r>
                      <a:r>
                        <a:rPr lang="zh-CN" altLang="en-US" sz="1000" b="0" kern="1200">
                          <a:solidFill>
                            <a:schemeClr val="tx1"/>
                          </a:solidFill>
                          <a:latin typeface="Roboto" charset="0"/>
                          <a:ea typeface="+mn-ea"/>
                          <a:cs typeface="Arial" panose="020B0604020202020204" pitchFamily="34" charset="0"/>
                        </a:rPr>
                        <a:t>x USB </a:t>
                      </a:r>
                      <a:r>
                        <a:rPr lang="en-US" altLang="zh-CN" sz="1000" b="0" kern="1200">
                          <a:solidFill>
                            <a:schemeClr val="tx1"/>
                          </a:solidFill>
                          <a:latin typeface="Roboto" charset="0"/>
                          <a:ea typeface="Roboto" charset="0"/>
                          <a:cs typeface="Arial" panose="020B0604020202020204" pitchFamily="34" charset="0"/>
                        </a:rPr>
                        <a:t>3.0 Type-A</a:t>
                      </a:r>
                    </a:p>
                  </a:txBody>
                  <a:tcPr anchor="ctr">
                    <a:solidFill>
                      <a:srgbClr val="D6E5D5"/>
                    </a:solidFill>
                  </a:tcPr>
                </a:tc>
                <a:tc>
                  <a:txBody>
                    <a:bodyPr/>
                    <a:lstStyle/>
                    <a:p>
                      <a:pPr algn="ctr">
                        <a:buNone/>
                      </a:pPr>
                      <a:r>
                        <a:rPr lang="en-US" altLang="zh-CN" sz="1000" b="0" kern="1200">
                          <a:solidFill>
                            <a:schemeClr val="tx1"/>
                          </a:solidFill>
                          <a:latin typeface="Roboto" charset="0"/>
                          <a:ea typeface="Roboto" charset="0"/>
                          <a:cs typeface="Arial" panose="020B0604020202020204" pitchFamily="34" charset="0"/>
                        </a:rPr>
                        <a:t>3</a:t>
                      </a:r>
                      <a:r>
                        <a:rPr lang="zh-CN" altLang="en-US" sz="1000" b="0" kern="1200">
                          <a:solidFill>
                            <a:schemeClr val="tx1"/>
                          </a:solidFill>
                          <a:latin typeface="Roboto" charset="0"/>
                          <a:ea typeface="+mn-ea"/>
                          <a:cs typeface="Arial" panose="020B0604020202020204" pitchFamily="34" charset="0"/>
                        </a:rPr>
                        <a:t>x USB </a:t>
                      </a:r>
                      <a:r>
                        <a:rPr lang="en-US" altLang="zh-CN" sz="1000" b="0" kern="1200">
                          <a:solidFill>
                            <a:schemeClr val="tx1"/>
                          </a:solidFill>
                          <a:latin typeface="Roboto" charset="0"/>
                          <a:ea typeface="Roboto" charset="0"/>
                          <a:cs typeface="Arial" panose="020B0604020202020204" pitchFamily="34" charset="0"/>
                        </a:rPr>
                        <a:t>3.0 Type-A</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2x USB 2.0 Type-A</a:t>
                      </a:r>
                      <a:endParaRPr lang="zh-CN" altLang="en-US" sz="1000">
                        <a:latin typeface="Roboto" charset="0"/>
                        <a:cs typeface="Arial" panose="020B0604020202020204" pitchFamily="34" charset="0"/>
                      </a:endParaRPr>
                    </a:p>
                  </a:txBody>
                  <a:tcPr anchor="ctr">
                    <a:solidFill>
                      <a:srgbClr val="D6E5D5"/>
                    </a:solidFill>
                  </a:tcPr>
                </a:tc>
                <a:extLst>
                  <a:ext uri="{0D108BD9-81ED-4DB2-BD59-A6C34878D82A}">
                    <a16:rowId xmlns:a16="http://schemas.microsoft.com/office/drawing/2014/main" val="10010"/>
                  </a:ext>
                </a:extLst>
              </a:tr>
              <a:tr h="683686">
                <a:tc gridSpan="2">
                  <a:txBody>
                    <a:bodyPr/>
                    <a:lstStyle/>
                    <a:p>
                      <a:pPr marL="0" algn="ctr" defTabSz="914400" rtl="0" eaLnBrk="1" latinLnBrk="0" hangingPunct="1">
                        <a:buNone/>
                      </a:pPr>
                      <a:r>
                        <a:rPr lang="en-US" altLang="zh-CN" sz="1000" b="0" kern="1200">
                          <a:solidFill>
                            <a:schemeClr val="tx1"/>
                          </a:solidFill>
                          <a:latin typeface="Roboto" charset="0"/>
                          <a:ea typeface="Roboto" charset="0"/>
                          <a:cs typeface="Arial" panose="020B0604020202020204" pitchFamily="34" charset="0"/>
                        </a:rPr>
                        <a:t>Network Feature</a:t>
                      </a:r>
                    </a:p>
                  </a:txBody>
                  <a:tcPr anchor="ctr">
                    <a:solidFill>
                      <a:srgbClr val="D6E5D5"/>
                    </a:solidFill>
                  </a:tcPr>
                </a:tc>
                <a:tc hMerge="1">
                  <a:txBody>
                    <a:bodyPr/>
                    <a:lstStyle/>
                    <a:p>
                      <a:endParaRPr lang="zh-CN"/>
                    </a:p>
                  </a:txBody>
                  <a:tcPr anchor="ctr">
                    <a:solidFill>
                      <a:srgbClr val="D6E5D5"/>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defRPr/>
                      </a:pPr>
                      <a:r>
                        <a:rPr lang="en-US" altLang="zh-CN" sz="1000" b="0" kern="1200">
                          <a:solidFill>
                            <a:schemeClr val="tx1"/>
                          </a:solidFill>
                          <a:latin typeface="Roboto" charset="0"/>
                          <a:ea typeface="Roboto" charset="0"/>
                          <a:cs typeface="Arial" panose="020B0604020202020204" pitchFamily="34" charset="0"/>
                        </a:rPr>
                        <a:t>2x RJ45(Supports network isolation)​</a:t>
                      </a:r>
                    </a:p>
                    <a:p>
                      <a:pPr marL="0" algn="ctr" defTabSz="914400" rtl="0" eaLnBrk="1" fontAlgn="base" latinLnBrk="0" hangingPunct="1">
                        <a:buNone/>
                      </a:pPr>
                      <a:r>
                        <a:rPr lang="en-US" altLang="zh-CN" sz="1000" b="0" kern="1200">
                          <a:solidFill>
                            <a:schemeClr val="tx1"/>
                          </a:solidFill>
                          <a:latin typeface="Roboto" charset="0"/>
                          <a:ea typeface="Roboto" charset="0"/>
                          <a:cs typeface="Arial" panose="020B0604020202020204" pitchFamily="34" charset="0"/>
                        </a:rPr>
                        <a:t>1x USB-C&amp;1x USB3.0 Type-B​</a:t>
                      </a:r>
                    </a:p>
                    <a:p>
                      <a:pPr marL="0" algn="ctr" defTabSz="914400" rtl="0" eaLnBrk="1" fontAlgn="base" latinLnBrk="0" hangingPunct="1">
                        <a:buNone/>
                      </a:pPr>
                      <a:r>
                        <a:rPr lang="en-US" altLang="zh-CN" sz="1000" b="0" kern="1200">
                          <a:solidFill>
                            <a:schemeClr val="tx1"/>
                          </a:solidFill>
                          <a:latin typeface="Roboto" charset="0"/>
                          <a:ea typeface="Roboto" charset="0"/>
                          <a:cs typeface="Arial" panose="020B0604020202020204" pitchFamily="34" charset="0"/>
                        </a:rPr>
                        <a:t>(Wired network to PCs)</a:t>
                      </a:r>
                    </a:p>
                  </a:txBody>
                  <a:tcPr anchor="ctr">
                    <a:solidFill>
                      <a:srgbClr val="D6E5D5"/>
                    </a:solidFill>
                  </a:tcPr>
                </a:tc>
                <a:tc>
                  <a:txBody>
                    <a:bodyPr/>
                    <a:lstStyle/>
                    <a:p>
                      <a:pPr marL="0" algn="ctr" defTabSz="914400" rtl="0" eaLnBrk="1" fontAlgn="base" latinLnBrk="0" hangingPunct="1">
                        <a:buNone/>
                      </a:pPr>
                      <a:r>
                        <a:rPr lang="en-US" altLang="zh-CN" sz="1000" b="0" kern="1200">
                          <a:solidFill>
                            <a:schemeClr val="tx1"/>
                          </a:solidFill>
                          <a:latin typeface="Roboto" charset="0"/>
                          <a:ea typeface="Roboto" charset="0"/>
                          <a:cs typeface="Arial" panose="020B0604020202020204" pitchFamily="34" charset="0"/>
                        </a:rPr>
                        <a:t>3x RJ45(Support network isolation)​</a:t>
                      </a:r>
                    </a:p>
                    <a:p>
                      <a:pPr marL="0" algn="ctr" defTabSz="914400" rtl="0" eaLnBrk="1" fontAlgn="base" latinLnBrk="0" hangingPunct="1">
                        <a:buNone/>
                      </a:pPr>
                      <a:r>
                        <a:rPr lang="en-US" altLang="zh-CN" sz="1000" b="0" kern="1200">
                          <a:solidFill>
                            <a:schemeClr val="tx1"/>
                          </a:solidFill>
                          <a:latin typeface="Roboto" charset="0"/>
                          <a:ea typeface="Roboto" charset="0"/>
                          <a:cs typeface="Arial" panose="020B0604020202020204" pitchFamily="34" charset="0"/>
                        </a:rPr>
                        <a:t>2x USB-C(Wired network to PCs)​</a:t>
                      </a:r>
                    </a:p>
                  </a:txBody>
                  <a:tcPr anchor="ctr">
                    <a:solidFill>
                      <a:srgbClr val="D6E5D5"/>
                    </a:solidFill>
                  </a:tcPr>
                </a:tc>
                <a:tc>
                  <a:txBody>
                    <a:bodyPr/>
                    <a:lstStyle/>
                    <a:p>
                      <a:pPr algn="ctr">
                        <a:buNone/>
                      </a:pPr>
                      <a:r>
                        <a:rPr lang="en-US" altLang="zh-CN" sz="1000">
                          <a:latin typeface="Roboto" charset="0"/>
                          <a:ea typeface="Roboto" charset="0"/>
                          <a:cs typeface="Arial" panose="020B0604020202020204" pitchFamily="34" charset="0"/>
                        </a:rPr>
                        <a:t>1x RJ45</a:t>
                      </a:r>
                    </a:p>
                  </a:txBody>
                  <a:tcPr anchor="ctr">
                    <a:solidFill>
                      <a:srgbClr val="D6E5D5"/>
                    </a:solidFill>
                  </a:tcPr>
                </a:tc>
                <a:extLst>
                  <a:ext uri="{0D108BD9-81ED-4DB2-BD59-A6C34878D82A}">
                    <a16:rowId xmlns:a16="http://schemas.microsoft.com/office/drawing/2014/main" val="10011"/>
                  </a:ext>
                </a:extLst>
              </a:tr>
              <a:tr h="237804">
                <a:tc gridSpan="2">
                  <a:txBody>
                    <a:bodyPr/>
                    <a:lstStyle/>
                    <a:p>
                      <a:pPr algn="ctr">
                        <a:buNone/>
                      </a:pPr>
                      <a:r>
                        <a:rPr lang="en-US" altLang="zh-CN" sz="1000">
                          <a:solidFill>
                            <a:schemeClr val="tx1"/>
                          </a:solidFill>
                          <a:latin typeface="Roboto" charset="0"/>
                          <a:ea typeface="Roboto" charset="0"/>
                          <a:cs typeface="Arial" panose="020B0604020202020204" pitchFamily="34" charset="0"/>
                        </a:rPr>
                        <a:t>Multiview Feature</a:t>
                      </a:r>
                    </a:p>
                  </a:txBody>
                  <a:tcPr anchor="ctr">
                    <a:solidFill>
                      <a:srgbClr val="E3F2E2"/>
                    </a:solidFill>
                  </a:tcPr>
                </a:tc>
                <a:tc hMerge="1">
                  <a:txBody>
                    <a:bodyPr/>
                    <a:lstStyle/>
                    <a:p>
                      <a:endParaRPr lang="zh-CN"/>
                    </a:p>
                  </a:txBody>
                  <a:tcPr anchor="ctr">
                    <a:solidFill>
                      <a:srgbClr val="E3F2E2"/>
                    </a:solidFill>
                  </a:tcPr>
                </a:tc>
                <a:tc>
                  <a:txBody>
                    <a:bodyPr/>
                    <a:lstStyle/>
                    <a:p>
                      <a:pPr marL="0" algn="ctr" defTabSz="914400" rtl="0" eaLnBrk="1" latinLnBrk="0" hangingPunct="1">
                        <a:buClrTx/>
                        <a:buSzTx/>
                        <a:buFontTx/>
                        <a:buNone/>
                      </a:pPr>
                      <a:r>
                        <a:rPr lang="en-US" altLang="zh-CN" sz="1000" b="0" kern="1200">
                          <a:solidFill>
                            <a:schemeClr val="dk1"/>
                          </a:solidFill>
                          <a:latin typeface="Roboto" charset="0"/>
                          <a:ea typeface="Roboto" charset="0"/>
                          <a:cs typeface="Arial" panose="020B0604020202020204" pitchFamily="34" charset="0"/>
                        </a:rPr>
                        <a:t>Dual</a:t>
                      </a:r>
                      <a:r>
                        <a:rPr lang="en-US" sz="1000" b="0" kern="1200">
                          <a:solidFill>
                            <a:schemeClr val="dk1"/>
                          </a:solidFill>
                          <a:latin typeface="Roboto" charset="0"/>
                          <a:ea typeface="Roboto" charset="0"/>
                          <a:cs typeface="Arial" panose="020B0604020202020204" pitchFamily="34" charset="0"/>
                        </a:rPr>
                        <a:t> View</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Quad View</a:t>
                      </a:r>
                    </a:p>
                  </a:txBody>
                  <a:tcPr anchor="ctr">
                    <a:solidFill>
                      <a:srgbClr val="E3F2E2"/>
                    </a:solidFill>
                  </a:tcPr>
                </a:tc>
                <a:tc>
                  <a:txBody>
                    <a:bodyPr/>
                    <a:lstStyle/>
                    <a:p>
                      <a:pPr algn="ctr">
                        <a:buNone/>
                      </a:pPr>
                      <a:r>
                        <a:rPr lang="en-US" altLang="zh-CN" sz="1000">
                          <a:latin typeface="Roboto" charset="0"/>
                          <a:ea typeface="Roboto" charset="0"/>
                          <a:cs typeface="Arial" panose="020B0604020202020204" pitchFamily="34" charset="0"/>
                        </a:rPr>
                        <a:t>Dual View</a:t>
                      </a:r>
                    </a:p>
                  </a:txBody>
                  <a:tcPr anchor="ctr">
                    <a:solidFill>
                      <a:srgbClr val="E3F2E2"/>
                    </a:solidFill>
                  </a:tcPr>
                </a:tc>
                <a:extLst>
                  <a:ext uri="{0D108BD9-81ED-4DB2-BD59-A6C34878D82A}">
                    <a16:rowId xmlns:a16="http://schemas.microsoft.com/office/drawing/2014/main" val="10012"/>
                  </a:ext>
                </a:extLst>
              </a:tr>
            </a:tbl>
          </a:graphicData>
        </a:graphic>
      </p:graphicFrame>
      <p:sp>
        <p:nvSpPr>
          <p:cNvPr id="7" name="矩形 7"/>
          <p:cNvSpPr/>
          <p:nvPr>
            <p:custDataLst>
              <p:tags r:id="rId2"/>
            </p:custDataLst>
          </p:nvPr>
        </p:nvSpPr>
        <p:spPr>
          <a:xfrm>
            <a:off x="0" y="0"/>
            <a:ext cx="12192000" cy="912114"/>
          </a:xfrm>
          <a:prstGeom prst="rect">
            <a:avLst/>
          </a:prstGeom>
          <a:solidFill>
            <a:srgbClr val="0B7935"/>
          </a:solidFill>
          <a:ln w="12700" cap="flat" cmpd="sng" algn="ctr">
            <a:solidFill>
              <a:schemeClr val="accent6"/>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8" name="文本框 6"/>
          <p:cNvSpPr txBox="1"/>
          <p:nvPr>
            <p:custDataLst>
              <p:tags r:id="rId3"/>
            </p:custDataLst>
          </p:nvPr>
        </p:nvSpPr>
        <p:spPr>
          <a:xfrm>
            <a:off x="457155" y="169546"/>
            <a:ext cx="11277689" cy="609600"/>
          </a:xfrm>
          <a:prstGeom prst="rect">
            <a:avLst/>
          </a:prstGeom>
          <a:noFill/>
        </p:spPr>
        <p:txBody>
          <a:bodyPr wrap="square" lIns="63500" tIns="25400" rIns="63500" bIns="25400" rtlCol="0" anchor="ctr" anchorCtr="0">
            <a:normAutofit fontScale="85000" lnSpcReduction="10000"/>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Comparison with </a:t>
            </a:r>
            <a:r>
              <a:rPr lang="en-US" altLang="zh-CN" sz="3200" b="1">
                <a:solidFill>
                  <a:schemeClr val="lt1"/>
                </a:solidFill>
                <a:uFillTx/>
                <a:latin typeface="Montserrat" pitchFamily="2" charset="0"/>
                <a:ea typeface="微软雅黑" panose="020B0503020204020204" pitchFamily="34" charset="-122"/>
                <a:sym typeface="Roboto"/>
              </a:rPr>
              <a:t>Wyrestorm Wireless Conference System</a:t>
            </a:r>
            <a:endParaRPr lang="en-US" sz="3200" b="1">
              <a:solidFill>
                <a:schemeClr val="lt1"/>
              </a:solidFill>
              <a:uFillTx/>
              <a:latin typeface="Montserrat" pitchFamily="2" charset="0"/>
              <a:ea typeface="微软雅黑" panose="020B0503020204020204" pitchFamily="34" charset="-122"/>
              <a:sym typeface="Roboto"/>
            </a:endParaRPr>
          </a:p>
        </p:txBody>
      </p:sp>
      <p:sp>
        <p:nvSpPr>
          <p:cNvPr id="4" name="文本框 3"/>
          <p:cNvSpPr txBox="1"/>
          <p:nvPr/>
        </p:nvSpPr>
        <p:spPr>
          <a:xfrm>
            <a:off x="609159" y="6276588"/>
            <a:ext cx="4716356" cy="246221"/>
          </a:xfrm>
          <a:prstGeom prst="rect">
            <a:avLst/>
          </a:prstGeom>
          <a:noFill/>
        </p:spPr>
        <p:txBody>
          <a:bodyPr wrap="none" rtlCol="0">
            <a:spAutoFit/>
          </a:bodyPr>
          <a:lstStyle/>
          <a:p>
            <a:r>
              <a:rPr lang="en-US" sz="1000">
                <a:latin typeface="Roboto Lt" pitchFamily="2" charset="0"/>
                <a:ea typeface="Roboto Lt" pitchFamily="2" charset="0"/>
              </a:rPr>
              <a:t>*Max. resolution that USB camera can transmit wirelessly to your host by Dongle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1"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6192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Our Advantages</a:t>
            </a:r>
          </a:p>
        </p:txBody>
      </p:sp>
      <p:sp>
        <p:nvSpPr>
          <p:cNvPr id="14" name="Title 6"/>
          <p:cNvSpPr txBox="1"/>
          <p:nvPr>
            <p:custDataLst>
              <p:tags r:id="rId4"/>
            </p:custDataLst>
          </p:nvPr>
        </p:nvSpPr>
        <p:spPr>
          <a:xfrm>
            <a:off x="1214535" y="774382"/>
            <a:ext cx="10354091" cy="52828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lang="en-US" sz="1600" spc="0">
                <a:ln w="3175">
                  <a:noFill/>
                  <a:prstDash val="dash"/>
                </a:ln>
                <a:solidFill>
                  <a:schemeClr val="dk1">
                    <a:lumMod val="75000"/>
                    <a:lumOff val="25000"/>
                  </a:schemeClr>
                </a:solidFill>
                <a:uFillTx/>
                <a:latin typeface="Roboto" charset="0"/>
                <a:ea typeface="Roboto" charset="0"/>
                <a:cs typeface="Arial" panose="020B0604020202020204" pitchFamily="34" charset="0"/>
              </a:rPr>
              <a:t>This versatile system can meet all signal transmission demands in conference or classroom settings, ensuring efficient, high-quality performance for all your presentation and conferencing needs.</a:t>
            </a:r>
            <a:endPar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ts val="1900"/>
              </a:lnSpc>
              <a:spcBef>
                <a:spcPts val="0"/>
              </a:spcBef>
              <a:spcAft>
                <a:spcPts val="800"/>
              </a:spcAft>
              <a:buSzPct val="100000"/>
              <a:buFont typeface="Wingdings" panose="05000000000000000000" charset="0"/>
              <a:buNone/>
            </a:pPr>
            <a:r>
              <a:rPr lang="en-US" sz="2000" b="1" spc="0">
                <a:ln w="3175">
                  <a:noFill/>
                  <a:prstDash val="dash"/>
                </a:ln>
                <a:solidFill>
                  <a:schemeClr val="dk1">
                    <a:lumMod val="75000"/>
                    <a:lumOff val="25000"/>
                  </a:schemeClr>
                </a:solidFill>
                <a:uFillTx/>
                <a:latin typeface="Roboto" charset="0"/>
                <a:ea typeface="Roboto" charset="0"/>
                <a:cs typeface="Arial" panose="020B0604020202020204" pitchFamily="34" charset="0"/>
              </a:rPr>
              <a:t>Our key advantages include:</a:t>
            </a:r>
            <a:br>
              <a:rPr lang="en-US" sz="800" b="1" spc="0">
                <a:ln w="3175">
                  <a:noFill/>
                  <a:prstDash val="dash"/>
                </a:ln>
                <a:solidFill>
                  <a:schemeClr val="dk1">
                    <a:lumMod val="75000"/>
                    <a:lumOff val="25000"/>
                  </a:schemeClr>
                </a:solidFill>
                <a:uFillTx/>
                <a:latin typeface="Roboto" charset="0"/>
                <a:ea typeface="Roboto" charset="0"/>
                <a:cs typeface="Arial" panose="020B0604020202020204" pitchFamily="34" charset="0"/>
              </a:rPr>
            </a:br>
            <a:r>
              <a:rPr lang="en-US" sz="800" b="1" spc="0">
                <a:ln w="3175">
                  <a:noFill/>
                  <a:prstDash val="dash"/>
                </a:ln>
                <a:solidFill>
                  <a:schemeClr val="dk1">
                    <a:lumMod val="75000"/>
                    <a:lumOff val="25000"/>
                  </a:schemeClr>
                </a:solidFill>
                <a:uFillTx/>
                <a:latin typeface="Roboto" charset="0"/>
                <a:ea typeface="Roboto" charset="0"/>
                <a:cs typeface="Arial" panose="020B0604020202020204" pitchFamily="34" charset="0"/>
              </a:rPr>
              <a:t> </a:t>
            </a:r>
            <a:endParaRPr lang="en-US" sz="800"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ts val="18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2x Full-Featured USB-C Ports</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Provides audio/video support, USB data transfer, 60W power supply, and 1G network      </a:t>
            </a:r>
            <a:b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b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connections via a single USB-C cable, accommodating up to 2 laptops.</a:t>
            </a:r>
          </a:p>
          <a:p>
            <a:pPr indent="-285750" fontAlgn="ctr">
              <a:lnSpc>
                <a:spcPts val="1800"/>
              </a:lnSpc>
              <a:spcBef>
                <a:spcPts val="0"/>
              </a:spcBef>
              <a:spcAft>
                <a:spcPts val="800"/>
              </a:spcAft>
              <a:buSzPct val="100000"/>
              <a:buFont typeface="Wingdings" panose="05000000000000000000" charset="0"/>
              <a:buChar char="l"/>
            </a:pPr>
            <a:r>
              <a:rPr sz="1400" b="1" spc="0">
                <a:ln w="3175">
                  <a:noFill/>
                  <a:prstDash val="dash"/>
                </a:ln>
                <a:solidFill>
                  <a:schemeClr val="dk1">
                    <a:lumMod val="75000"/>
                    <a:lumOff val="25000"/>
                  </a:schemeClr>
                </a:solidFill>
                <a:uFillTx/>
                <a:latin typeface="Roboto"/>
                <a:ea typeface="Roboto"/>
                <a:cs typeface="Arial"/>
                <a:sym typeface="+mn-ea"/>
              </a:rPr>
              <a:t>Multiview </a:t>
            </a:r>
            <a:r>
              <a:rPr lang="en-US" sz="1400" b="1" spc="0">
                <a:ln w="3175">
                  <a:noFill/>
                  <a:prstDash val="dash"/>
                </a:ln>
                <a:solidFill>
                  <a:schemeClr val="dk1">
                    <a:lumMod val="75000"/>
                    <a:lumOff val="25000"/>
                  </a:schemeClr>
                </a:solidFill>
                <a:latin typeface="Roboto"/>
                <a:ea typeface="Roboto"/>
                <a:cs typeface="Arial"/>
                <a:sym typeface="+mn-ea"/>
              </a:rPr>
              <a:t>&amp; MST </a:t>
            </a:r>
            <a:r>
              <a:rPr sz="1400" b="1" spc="0">
                <a:ln w="3175">
                  <a:noFill/>
                  <a:prstDash val="dash"/>
                </a:ln>
                <a:solidFill>
                  <a:schemeClr val="dk1">
                    <a:lumMod val="75000"/>
                    <a:lumOff val="25000"/>
                  </a:schemeClr>
                </a:solidFill>
                <a:uFillTx/>
                <a:latin typeface="Roboto"/>
                <a:ea typeface="Roboto"/>
                <a:cs typeface="Arial"/>
                <a:sym typeface="+mn-ea"/>
              </a:rPr>
              <a:t>Support</a:t>
            </a:r>
            <a:r>
              <a:rPr sz="1400" spc="0">
                <a:ln w="3175">
                  <a:noFill/>
                  <a:prstDash val="dash"/>
                </a:ln>
                <a:solidFill>
                  <a:schemeClr val="dk1">
                    <a:lumMod val="75000"/>
                    <a:lumOff val="25000"/>
                  </a:schemeClr>
                </a:solidFill>
                <a:uFillTx/>
                <a:latin typeface="Roboto"/>
                <a:ea typeface="Roboto"/>
                <a:cs typeface="Arial"/>
                <a:sym typeface="+mn-ea"/>
              </a:rPr>
              <a:t>: Display up to 4 sources on a single TV with different layout options for diverse display needs.</a:t>
            </a:r>
            <a:endParaRPr sz="1400" spc="0">
              <a:ln w="3175">
                <a:noFill/>
                <a:prstDash val="dash"/>
              </a:ln>
              <a:solidFill>
                <a:schemeClr val="dk1">
                  <a:lumMod val="75000"/>
                  <a:lumOff val="25000"/>
                </a:schemeClr>
              </a:solidFill>
              <a:uFillTx/>
              <a:latin typeface="Roboto"/>
              <a:ea typeface="Roboto"/>
              <a:cs typeface="Arial"/>
            </a:endParaRPr>
          </a:p>
          <a:p>
            <a:pPr marL="0" lvl="0" indent="-285750" algn="l" fontAlgn="ctr">
              <a:lnSpc>
                <a:spcPts val="18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3x Ethernet Ports</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Ensures secure and stable network access for guests using their PCs, while allowing easy </a:t>
            </a:r>
            <a:b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b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configuration of the system via a web interface. </a:t>
            </a:r>
          </a:p>
          <a:p>
            <a:pPr marL="0" lvl="0" indent="-285750" algn="l" fontAlgn="ctr">
              <a:lnSpc>
                <a:spcPts val="1800"/>
              </a:lnSpc>
              <a:spcBef>
                <a:spcPts val="0"/>
              </a:spcBef>
              <a:spcAft>
                <a:spcPts val="800"/>
              </a:spcAft>
              <a:buSzPct val="100000"/>
              <a:buFont typeface="Wingdings" panose="05000000000000000000" charset="0"/>
              <a:buChar char="l"/>
            </a:pPr>
            <a:r>
              <a:rPr sz="1400" b="1" spc="0">
                <a:ln w="3175">
                  <a:noFill/>
                  <a:prstDash val="dash"/>
                </a:ln>
                <a:solidFill>
                  <a:schemeClr val="dk1">
                    <a:lumMod val="75000"/>
                    <a:lumOff val="25000"/>
                  </a:schemeClr>
                </a:solidFill>
                <a:uFillTx/>
                <a:latin typeface="Roboto"/>
                <a:ea typeface="Roboto"/>
                <a:cs typeface="Arial"/>
                <a:sym typeface="+mn-ea"/>
              </a:rPr>
              <a:t>2x HDMI Outputs</a:t>
            </a:r>
            <a:r>
              <a:rPr sz="1400" spc="0">
                <a:ln w="3175">
                  <a:noFill/>
                  <a:prstDash val="dash"/>
                </a:ln>
                <a:solidFill>
                  <a:schemeClr val="dk1">
                    <a:lumMod val="75000"/>
                    <a:lumOff val="25000"/>
                  </a:schemeClr>
                </a:solidFill>
                <a:uFillTx/>
                <a:latin typeface="Roboto"/>
                <a:ea typeface="Roboto"/>
                <a:cs typeface="Arial"/>
                <a:sym typeface="+mn-ea"/>
              </a:rPr>
              <a:t>: Provides flexible output options.</a:t>
            </a:r>
            <a:endParaRPr sz="1400" spc="0">
              <a:ln w="3175">
                <a:noFill/>
                <a:prstDash val="dash"/>
              </a:ln>
              <a:solidFill>
                <a:schemeClr val="dk1">
                  <a:lumMod val="75000"/>
                  <a:lumOff val="25000"/>
                </a:schemeClr>
              </a:solidFill>
              <a:uFillTx/>
              <a:latin typeface="Roboto"/>
              <a:ea typeface="Roboto"/>
              <a:cs typeface="Arial"/>
            </a:endParaRPr>
          </a:p>
          <a:p>
            <a:pPr marL="0" lvl="0" indent="-285750" algn="l" fontAlgn="ctr">
              <a:lnSpc>
                <a:spcPts val="1800"/>
              </a:lnSpc>
              <a:spcBef>
                <a:spcPts val="0"/>
              </a:spcBef>
              <a:spcAft>
                <a:spcPts val="800"/>
              </a:spcAft>
              <a:buSzPct val="100000"/>
              <a:buFont typeface="Wingdings" panose="05000000000000000000" charset="0"/>
              <a:buChar char="l"/>
            </a:pPr>
            <a:r>
              <a:rPr sz="1400" b="1"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Cost Effective</a:t>
            </a:r>
            <a:r>
              <a:rPr sz="14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All-in-one system at a competitive price.</a:t>
            </a:r>
            <a:endPar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Wingdings" panose="05000000000000000000" charset="0"/>
            </a:pPr>
            <a:endPar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ct val="100000"/>
              </a:lnSpc>
              <a:spcBef>
                <a:spcPts val="0"/>
              </a:spcBef>
              <a:spcAft>
                <a:spcPts val="800"/>
              </a:spcAft>
              <a:buSzPct val="100000"/>
              <a:buFont typeface="Wingdings" panose="05000000000000000000" charset="0"/>
              <a:buChar char="l"/>
            </a:pPr>
            <a:endPar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ct val="100000"/>
              </a:lnSpc>
              <a:spcBef>
                <a:spcPts val="0"/>
              </a:spcBef>
              <a:spcAft>
                <a:spcPts val="800"/>
              </a:spcAft>
              <a:buSzPct val="100000"/>
              <a:buFont typeface="Wingdings" panose="05000000000000000000" charset="0"/>
              <a:buChar char="l"/>
            </a:pPr>
            <a:endPar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pic>
        <p:nvPicPr>
          <p:cNvPr id="5" name="Google Shape;82;p1"/>
          <p:cNvPicPr preferRelativeResize="0"/>
          <p:nvPr/>
        </p:nvPicPr>
        <p:blipFill>
          <a:blip r:embed="rId8"/>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pic>
        <p:nvPicPr>
          <p:cNvPr id="3" name="Picture 2" descr="A close up of a computer&#10;&#10;Description automatically generated"/>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71685" y="4898695"/>
            <a:ext cx="7719659" cy="1466894"/>
          </a:xfrm>
          <a:prstGeom prst="rect">
            <a:avLst/>
          </a:prstGeom>
          <a:effectLst>
            <a:outerShdw blurRad="50800" dist="38100" dir="5400000" algn="t" rotWithShape="0">
              <a:prstClr val="black">
                <a:alpha val="40000"/>
              </a:prstClr>
            </a:outerShdw>
          </a:effectLst>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Quick Installation Guide</a:t>
            </a:r>
          </a:p>
        </p:txBody>
      </p:sp>
      <p:sp>
        <p:nvSpPr>
          <p:cNvPr id="14" name="Title 6"/>
          <p:cNvSpPr txBox="1"/>
          <p:nvPr>
            <p:custDataLst>
              <p:tags r:id="rId4"/>
            </p:custDataLst>
          </p:nvPr>
        </p:nvSpPr>
        <p:spPr>
          <a:xfrm>
            <a:off x="441960" y="1723151"/>
            <a:ext cx="6255385" cy="4190603"/>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algn="l" fontAlgn="ctr">
              <a:lnSpc>
                <a:spcPts val="18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Connect and Plug in</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Follow the wiring instructions in the presentation device’s quick start guide: connect the device’s power interface, in-room PC, display and other conferencing devices (e.g. USB camera, speakerphone, video bar), then plug in the power adapter to turn on the device.</a:t>
            </a:r>
          </a:p>
          <a:p>
            <a:pPr lvl="0" algn="l" fontAlgn="ctr">
              <a:lnSpc>
                <a:spcPts val="100"/>
              </a:lnSpc>
              <a:spcBef>
                <a:spcPts val="0"/>
              </a:spcBef>
              <a:spcAft>
                <a:spcPts val="800"/>
              </a:spcAft>
              <a:buSzPct val="100000"/>
            </a:pPr>
            <a:endPar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285750" algn="l" fontAlgn="ctr">
              <a:lnSpc>
                <a:spcPts val="18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Wired Connection: </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If you prefer wired connection, use USB-C or HDMI+USB cables to connect your laptop to the presentation device, then your laptop contents will be shown on the display screen.</a:t>
            </a:r>
          </a:p>
          <a:p>
            <a:pPr lvl="0" algn="l" fontAlgn="ctr">
              <a:lnSpc>
                <a:spcPts val="100"/>
              </a:lnSpc>
              <a:spcBef>
                <a:spcPts val="0"/>
              </a:spcBef>
              <a:spcAft>
                <a:spcPts val="800"/>
              </a:spcAft>
              <a:buSzPct val="100000"/>
            </a:pPr>
            <a:r>
              <a:rPr lang="en-US" sz="1400" spc="0">
                <a:ln w="3175">
                  <a:noFill/>
                  <a:prstDash val="dash"/>
                </a:ln>
                <a:solidFill>
                  <a:schemeClr val="dk1">
                    <a:lumMod val="75000"/>
                    <a:lumOff val="25000"/>
                  </a:schemeClr>
                </a:solidFill>
                <a:latin typeface="Roboto" charset="0"/>
                <a:ea typeface="Roboto" charset="0"/>
                <a:cs typeface="Arial" panose="020B0604020202020204" pitchFamily="34" charset="0"/>
              </a:rPr>
              <a:t> </a:t>
            </a:r>
            <a:endPar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285750" algn="l" fontAlgn="ctr">
              <a:lnSpc>
                <a:spcPts val="18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Pair the Dongle:</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Plug the dongle into the presentation device’s front pairing port, then they will get paired automatically.</a:t>
            </a:r>
            <a:endParaRPr lang="en-US" sz="1400" spc="0">
              <a:ln w="3175">
                <a:noFill/>
                <a:prstDash val="dash"/>
              </a:ln>
              <a:solidFill>
                <a:schemeClr val="dk1">
                  <a:lumMod val="75000"/>
                  <a:lumOff val="25000"/>
                </a:schemeClr>
              </a:solidFill>
              <a:latin typeface="Roboto" charset="0"/>
              <a:ea typeface="Roboto" charset="0"/>
              <a:cs typeface="Arial" panose="020B0604020202020204" pitchFamily="34" charset="0"/>
            </a:endParaRPr>
          </a:p>
          <a:p>
            <a:pPr lvl="0" algn="l" fontAlgn="ctr">
              <a:lnSpc>
                <a:spcPts val="100"/>
              </a:lnSpc>
              <a:spcBef>
                <a:spcPts val="0"/>
              </a:spcBef>
              <a:spcAft>
                <a:spcPts val="800"/>
              </a:spcAft>
              <a:buSzPct val="100000"/>
            </a:pPr>
            <a:endPar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285750" algn="l" fontAlgn="ctr">
              <a:lnSpc>
                <a:spcPts val="18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Wireless Casting and Conferencing:</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Plug the dongle into your own laptop, then click the “casting” button to share your screen, and click the “conferencing” button to control USB peripherals wirelessly.</a:t>
            </a:r>
            <a:endParaRPr lang="en-US" sz="1400" i="1"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pic>
        <p:nvPicPr>
          <p:cNvPr id="4" name="Google Shape;82;p1"/>
          <p:cNvPicPr preferRelativeResize="0"/>
          <p:nvPr/>
        </p:nvPicPr>
        <p:blipFill>
          <a:blip r:embed="rId9"/>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20" name="Title 6"/>
          <p:cNvSpPr txBox="1"/>
          <p:nvPr>
            <p:custDataLst>
              <p:tags r:id="rId5"/>
            </p:custDataLst>
          </p:nvPr>
        </p:nvSpPr>
        <p:spPr>
          <a:xfrm>
            <a:off x="457155" y="1356678"/>
            <a:ext cx="8968105" cy="513714"/>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Wingdings" panose="05000000000000000000" charset="0"/>
            </a:pPr>
            <a:r>
              <a:rPr lang="en-US" sz="2000" b="1" spc="0">
                <a:ln w="3175">
                  <a:noFill/>
                  <a:prstDash val="dash"/>
                </a:ln>
                <a:solidFill>
                  <a:schemeClr val="dk1">
                    <a:lumMod val="75000"/>
                    <a:lumOff val="25000"/>
                  </a:schemeClr>
                </a:solidFill>
                <a:uFillTx/>
                <a:latin typeface="Roboto" charset="0"/>
                <a:ea typeface="Roboto" charset="0"/>
                <a:cs typeface="Arial" panose="020B0604020202020204" pitchFamily="34" charset="0"/>
              </a:rPr>
              <a:t>To install the presentation device, it simply takes 4 steps below</a:t>
            </a:r>
            <a:r>
              <a:rPr lang="en-US" sz="2000" b="1" spc="0">
                <a:ln w="3175">
                  <a:noFill/>
                  <a:prstDash val="dash"/>
                </a:ln>
                <a:solidFill>
                  <a:schemeClr val="dk1">
                    <a:lumMod val="75000"/>
                    <a:lumOff val="25000"/>
                  </a:schemeClr>
                </a:solidFill>
                <a:latin typeface="Roboto" charset="0"/>
                <a:ea typeface="Roboto" charset="0"/>
                <a:cs typeface="Arial" panose="020B0604020202020204" pitchFamily="34" charset="0"/>
              </a:rPr>
              <a:t>:</a:t>
            </a:r>
            <a:endParaRPr lang="en-US" sz="2000" b="1"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pic>
        <p:nvPicPr>
          <p:cNvPr id="22" name="图片 4"/>
          <p:cNvPicPr/>
          <p:nvPr/>
        </p:nvPicPr>
        <p:blipFill>
          <a:blip r:embed="rId10"/>
          <a:stretch>
            <a:fillRect/>
          </a:stretch>
        </p:blipFill>
        <p:spPr>
          <a:xfrm>
            <a:off x="7010400" y="2364740"/>
            <a:ext cx="4882723" cy="3068005"/>
          </a:xfrm>
          <a:prstGeom prst="rect">
            <a:avLst/>
          </a:prstGeom>
          <a:effectLst>
            <a:outerShdw blurRad="50800" dist="38100" dir="5400000" algn="t" rotWithShape="0">
              <a:prstClr val="black">
                <a:alpha val="40000"/>
              </a:prstClr>
            </a:outerShdw>
          </a:effectLst>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3"/>
            </p:custDataLst>
          </p:nvPr>
        </p:nvSpPr>
        <p:spPr>
          <a:xfrm>
            <a:off x="466680" y="2076450"/>
            <a:ext cx="11163345" cy="387564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ts val="1700"/>
              </a:lnSpc>
              <a:spcBef>
                <a:spcPts val="0"/>
              </a:spcBef>
              <a:spcAft>
                <a:spcPts val="800"/>
              </a:spcAft>
              <a:buSzPct val="100000"/>
              <a:buFont typeface="Wingdings" panose="05000000000000000000" charset="0"/>
              <a:buAutoNum type="arabicPeriod"/>
            </a:pPr>
            <a:r>
              <a:rPr sz="14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The APO-DG2-PRO dongle doesn’t require any software or driver for wireless conferencing.</a:t>
            </a:r>
            <a:endParaRPr sz="1400" spc="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marL="342900" lvl="0" indent="-342900" algn="l" fontAlgn="ctr">
              <a:lnSpc>
                <a:spcPts val="1700"/>
              </a:lnSpc>
              <a:spcBef>
                <a:spcPts val="0"/>
              </a:spcBef>
              <a:spcAft>
                <a:spcPts val="800"/>
              </a:spcAft>
              <a:buSzPct val="100000"/>
              <a:buFont typeface="Wingdings" panose="05000000000000000000" charset="0"/>
              <a:buAutoNum type="arabicPeriod"/>
            </a:pPr>
            <a:r>
              <a:rPr sz="14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The APO-DG2 dongle requires software installation on your laptop for wireless conferencing.</a:t>
            </a:r>
          </a:p>
          <a:p>
            <a:pPr lvl="0" indent="0" algn="l" fontAlgn="ctr">
              <a:lnSpc>
                <a:spcPts val="100"/>
              </a:lnSpc>
              <a:spcBef>
                <a:spcPts val="0"/>
              </a:spcBef>
              <a:spcAft>
                <a:spcPts val="800"/>
              </a:spcAft>
              <a:buSzPct val="100000"/>
              <a:buFont typeface="Wingdings" panose="05000000000000000000" charset="0"/>
            </a:pPr>
            <a:r>
              <a:rPr sz="14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p>
          <a:p>
            <a:pPr lvl="0" indent="0" algn="l" fontAlgn="ctr">
              <a:lnSpc>
                <a:spcPts val="1500"/>
              </a:lnSpc>
              <a:spcBef>
                <a:spcPts val="0"/>
              </a:spcBef>
              <a:spcAft>
                <a:spcPts val="800"/>
              </a:spcAft>
              <a:buSzPct val="100000"/>
              <a:buFont typeface="Wingdings" panose="05000000000000000000" charset="0"/>
            </a:pPr>
            <a:r>
              <a:rPr lang="en-US" sz="1400" b="1" u="sng" spc="0">
                <a:ln w="3175">
                  <a:noFill/>
                  <a:prstDash val="dash"/>
                </a:ln>
                <a:solidFill>
                  <a:schemeClr val="dk1">
                    <a:lumMod val="75000"/>
                    <a:lumOff val="25000"/>
                  </a:schemeClr>
                </a:solidFill>
                <a:uFillTx/>
                <a:latin typeface="Roboto" charset="0"/>
                <a:ea typeface="Roboto" charset="0"/>
                <a:cs typeface="Arial" panose="020B0604020202020204" pitchFamily="34" charset="0"/>
              </a:rPr>
              <a:t>For Windows Laptops</a:t>
            </a: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a:t>
            </a:r>
          </a:p>
          <a:p>
            <a:pPr marL="285750" lvl="0" indent="-285750" algn="l" fontAlgn="ctr">
              <a:lnSpc>
                <a:spcPts val="1700"/>
              </a:lnSpc>
              <a:spcBef>
                <a:spcPts val="0"/>
              </a:spcBef>
              <a:spcAft>
                <a:spcPts val="800"/>
              </a:spcAft>
              <a:buSzPct val="100000"/>
              <a:buFont typeface="Wingdings" panose="05000000000000000000" charset="0"/>
              <a:buChar char="l"/>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Insert the dongle. The system will automatically prompt you to install the software.</a:t>
            </a:r>
          </a:p>
          <a:p>
            <a:pPr marL="285750" lvl="0" indent="-285750" algn="l" fontAlgn="ctr">
              <a:lnSpc>
                <a:spcPts val="1700"/>
              </a:lnSpc>
              <a:spcBef>
                <a:spcPts val="0"/>
              </a:spcBef>
              <a:spcAft>
                <a:spcPts val="800"/>
              </a:spcAft>
              <a:buSzPct val="100000"/>
              <a:buFont typeface="Wingdings" panose="05000000000000000000" charset="0"/>
              <a:buChar char="l"/>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Click "Confirm" to begin the installation, which will run in the background until complete.</a:t>
            </a:r>
          </a:p>
          <a:p>
            <a:pPr marL="285750" lvl="0" indent="-285750" algn="l" fontAlgn="ctr">
              <a:lnSpc>
                <a:spcPts val="1700"/>
              </a:lnSpc>
              <a:spcBef>
                <a:spcPts val="0"/>
              </a:spcBef>
              <a:spcAft>
                <a:spcPts val="800"/>
              </a:spcAft>
              <a:buSzPct val="100000"/>
              <a:buFont typeface="Wingdings" panose="05000000000000000000" charset="0"/>
              <a:buChar char="l"/>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If no prompt appears, navigate to the "Devices and drives" section in "My Computer" to locate</a:t>
            </a:r>
            <a:b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b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and install the software package.</a:t>
            </a:r>
          </a:p>
          <a:p>
            <a:pPr lvl="0" indent="0" algn="l" fontAlgn="ctr">
              <a:lnSpc>
                <a:spcPts val="100"/>
              </a:lnSpc>
              <a:spcBef>
                <a:spcPts val="0"/>
              </a:spcBef>
              <a:spcAft>
                <a:spcPts val="800"/>
              </a:spcAft>
              <a:buSzPct val="100000"/>
              <a:buFont typeface="Wingdings" panose="05000000000000000000" charset="0"/>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a:t>
            </a:r>
          </a:p>
          <a:p>
            <a:pPr lvl="0" indent="0" algn="l" fontAlgn="ctr">
              <a:lnSpc>
                <a:spcPts val="1500"/>
              </a:lnSpc>
              <a:spcBef>
                <a:spcPts val="0"/>
              </a:spcBef>
              <a:spcAft>
                <a:spcPts val="800"/>
              </a:spcAft>
              <a:buSzPct val="100000"/>
              <a:buFont typeface="Wingdings" panose="05000000000000000000" charset="0"/>
            </a:pPr>
            <a:r>
              <a:rPr lang="en-US" sz="1400" b="1" u="sng" spc="0">
                <a:ln w="3175">
                  <a:noFill/>
                  <a:prstDash val="dash"/>
                </a:ln>
                <a:solidFill>
                  <a:schemeClr val="dk1">
                    <a:lumMod val="75000"/>
                    <a:lumOff val="25000"/>
                  </a:schemeClr>
                </a:solidFill>
                <a:uFillTx/>
                <a:latin typeface="Roboto" charset="0"/>
                <a:ea typeface="Roboto" charset="0"/>
                <a:cs typeface="Arial" panose="020B0604020202020204" pitchFamily="34" charset="0"/>
              </a:rPr>
              <a:t>For MacBook</a:t>
            </a: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a:t>
            </a:r>
          </a:p>
          <a:p>
            <a:pPr marL="285750" lvl="0" indent="-285750" algn="l" fontAlgn="ctr">
              <a:lnSpc>
                <a:spcPts val="1500"/>
              </a:lnSpc>
              <a:spcBef>
                <a:spcPts val="0"/>
              </a:spcBef>
              <a:spcAft>
                <a:spcPts val="800"/>
              </a:spcAft>
              <a:buSzPct val="100000"/>
              <a:buFont typeface="Wingdings" panose="05000000000000000000" charset="0"/>
              <a:buChar char="l"/>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Insert the dongle. An "Apollo Cast" disk will appear on your desktop.</a:t>
            </a:r>
          </a:p>
          <a:p>
            <a:pPr marL="285750" lvl="0" indent="-285750" algn="l" fontAlgn="ctr">
              <a:lnSpc>
                <a:spcPts val="1500"/>
              </a:lnSpc>
              <a:spcBef>
                <a:spcPts val="0"/>
              </a:spcBef>
              <a:spcAft>
                <a:spcPts val="800"/>
              </a:spcAft>
              <a:buSzPct val="100000"/>
              <a:buFont typeface="Wingdings" panose="05000000000000000000" charset="0"/>
              <a:buChar char="l"/>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Open the disk and follow the instructions to install the software package.</a:t>
            </a:r>
          </a:p>
          <a:p>
            <a:pPr lvl="0" indent="0" algn="l" fontAlgn="ctr">
              <a:lnSpc>
                <a:spcPts val="100"/>
              </a:lnSpc>
              <a:spcBef>
                <a:spcPts val="0"/>
              </a:spcBef>
              <a:spcAft>
                <a:spcPts val="800"/>
              </a:spcAft>
              <a:buSzPct val="100000"/>
              <a:buFont typeface="Wingdings" panose="05000000000000000000" charset="0"/>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a:t>
            </a:r>
          </a:p>
          <a:p>
            <a:pPr lvl="0" algn="l" fontAlgn="ctr">
              <a:lnSpc>
                <a:spcPts val="1700"/>
              </a:lnSpc>
              <a:spcBef>
                <a:spcPts val="0"/>
              </a:spcBef>
              <a:spcAft>
                <a:spcPts val="800"/>
              </a:spcAft>
              <a:buSzPct val="100000"/>
            </a:pPr>
            <a:r>
              <a:rPr sz="14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3.    For wireless casting via </a:t>
            </a:r>
            <a:r>
              <a:rPr sz="1400" spc="0" err="1">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AirPlay</a:t>
            </a:r>
            <a:r>
              <a:rPr sz="14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and Miracast, please refer to the product’s user manual.</a:t>
            </a:r>
          </a:p>
          <a:p>
            <a:pPr lvl="0" indent="0" algn="l" fontAlgn="ctr">
              <a:lnSpc>
                <a:spcPts val="1700"/>
              </a:lnSpc>
              <a:spcBef>
                <a:spcPts val="0"/>
              </a:spcBef>
              <a:spcAft>
                <a:spcPts val="800"/>
              </a:spcAft>
              <a:buSzPct val="100000"/>
              <a:buFont typeface="Wingdings" panose="05000000000000000000" charset="0"/>
            </a:pPr>
            <a:r>
              <a:rPr sz="14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4.    For more advanced settings and configuration, you can log onto the presentation device’s web interface.</a:t>
            </a:r>
            <a:endPar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pic>
        <p:nvPicPr>
          <p:cNvPr id="4" name="Google Shape;82;p1"/>
          <p:cNvPicPr preferRelativeResize="0"/>
          <p:nvPr/>
        </p:nvPicPr>
        <p:blipFill>
          <a:blip r:embed="rId9"/>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3" name="Title 6">
            <a:extLst>
              <a:ext uri="{FF2B5EF4-FFF2-40B4-BE49-F238E27FC236}">
                <a16:creationId xmlns:a16="http://schemas.microsoft.com/office/drawing/2014/main" id="{F2D347B0-16EF-E967-C700-C2FD02A1C43D}"/>
              </a:ext>
            </a:extLst>
          </p:cNvPr>
          <p:cNvSpPr txBox="1"/>
          <p:nvPr>
            <p:custDataLst>
              <p:tags r:id="rId4"/>
            </p:custDataLst>
          </p:nvPr>
        </p:nvSpPr>
        <p:spPr>
          <a:xfrm>
            <a:off x="457155" y="1356678"/>
            <a:ext cx="8968105" cy="513714"/>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Wingdings" panose="05000000000000000000" charset="0"/>
            </a:pPr>
            <a:r>
              <a:rPr lang="en-US" sz="2000" b="1" spc="0">
                <a:ln w="3175">
                  <a:noFill/>
                  <a:prstDash val="dash"/>
                </a:ln>
                <a:solidFill>
                  <a:schemeClr val="dk1">
                    <a:lumMod val="75000"/>
                    <a:lumOff val="25000"/>
                  </a:schemeClr>
                </a:solidFill>
                <a:uFillTx/>
                <a:latin typeface="Roboto" charset="0"/>
                <a:ea typeface="Roboto" charset="0"/>
                <a:cs typeface="Arial" panose="020B0604020202020204" pitchFamily="34" charset="0"/>
              </a:rPr>
              <a:t>Important Notes for Installation</a:t>
            </a:r>
          </a:p>
        </p:txBody>
      </p:sp>
      <p:sp>
        <p:nvSpPr>
          <p:cNvPr id="5" name="文本框 6">
            <a:extLst>
              <a:ext uri="{FF2B5EF4-FFF2-40B4-BE49-F238E27FC236}">
                <a16:creationId xmlns:a16="http://schemas.microsoft.com/office/drawing/2014/main" id="{70506383-03D2-E220-E1DF-1C69A7ABD7BB}"/>
              </a:ext>
            </a:extLst>
          </p:cNvPr>
          <p:cNvSpPr txBox="1"/>
          <p:nvPr>
            <p:custDataLst>
              <p:tags r:id="rId5"/>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Quick Installation Guide</a:t>
            </a:r>
          </a:p>
        </p:txBody>
      </p:sp>
      <p:pic>
        <p:nvPicPr>
          <p:cNvPr id="9" name="Picture 8" descr="A blue triangle with a exclamation mark&#10;&#10;Description automatically generated">
            <a:extLst>
              <a:ext uri="{FF2B5EF4-FFF2-40B4-BE49-F238E27FC236}">
                <a16:creationId xmlns:a16="http://schemas.microsoft.com/office/drawing/2014/main" id="{A8B035D9-5D9A-B1D3-92F5-BD17200A2386}"/>
              </a:ext>
            </a:extLst>
          </p:cNvPr>
          <p:cNvPicPr>
            <a:picLocks noChangeAspect="1"/>
          </p:cNvPicPr>
          <p:nvPr/>
        </p:nvPicPr>
        <p:blipFill>
          <a:blip r:embed="rId10"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734424" y="1996263"/>
            <a:ext cx="2771776" cy="2771776"/>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13"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3"/>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Introduction of Web Configuration Interface</a:t>
            </a:r>
          </a:p>
        </p:txBody>
      </p:sp>
      <p:sp>
        <p:nvSpPr>
          <p:cNvPr id="14" name="Title 6"/>
          <p:cNvSpPr txBox="1"/>
          <p:nvPr>
            <p:custDataLst>
              <p:tags r:id="rId4"/>
            </p:custDataLst>
          </p:nvPr>
        </p:nvSpPr>
        <p:spPr>
          <a:xfrm>
            <a:off x="457154" y="1102615"/>
            <a:ext cx="7475266" cy="528129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Wingdings" panose="05000000000000000000" charset="0"/>
            </a:pP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The Web UI of the SW-640L-TX-W presentation system is designed for intuitive management and control of the device through a web browser.  </a:t>
            </a:r>
          </a:p>
          <a:p>
            <a:pPr lvl="0" indent="0" algn="l" fontAlgn="ctr">
              <a:lnSpc>
                <a:spcPct val="100000"/>
              </a:lnSpc>
              <a:spcBef>
                <a:spcPts val="0"/>
              </a:spcBef>
              <a:spcAft>
                <a:spcPts val="800"/>
              </a:spcAft>
              <a:buSzPct val="100000"/>
              <a:buFont typeface="Wingdings" panose="05000000000000000000" charset="0"/>
            </a:pPr>
            <a:r>
              <a:rPr lang="en-US" sz="2000" b="1" spc="0">
                <a:ln w="3175">
                  <a:noFill/>
                  <a:prstDash val="dash"/>
                </a:ln>
                <a:solidFill>
                  <a:schemeClr val="dk1">
                    <a:lumMod val="75000"/>
                    <a:lumOff val="25000"/>
                  </a:schemeClr>
                </a:solidFill>
                <a:uFillTx/>
                <a:latin typeface="Roboto" charset="0"/>
                <a:ea typeface="Roboto" charset="0"/>
                <a:cs typeface="Arial" panose="020B0604020202020204" pitchFamily="34" charset="0"/>
              </a:rPr>
              <a:t>The settings and configurations you can perform are as follows:</a:t>
            </a:r>
          </a:p>
          <a:p>
            <a:pPr lvl="0" indent="0" algn="l" fontAlgn="ctr">
              <a:lnSpc>
                <a:spcPct val="100000"/>
              </a:lnSpc>
              <a:spcBef>
                <a:spcPts val="0"/>
              </a:spcBef>
              <a:spcAft>
                <a:spcPts val="800"/>
              </a:spcAft>
              <a:buSzPct val="100000"/>
              <a:buFont typeface="Wingdings" panose="05000000000000000000" charset="0"/>
            </a:pPr>
            <a:endPar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0" algn="l" fontAlgn="ctr">
              <a:lnSpc>
                <a:spcPct val="100000"/>
              </a:lnSpc>
              <a:spcBef>
                <a:spcPts val="0"/>
              </a:spcBef>
              <a:spcAft>
                <a:spcPts val="800"/>
              </a:spcAft>
              <a:buSzPct val="100000"/>
              <a:buFont typeface="Wingdings" panose="05000000000000000000" charset="0"/>
            </a:pPr>
            <a:r>
              <a:rPr lang="en-US" sz="1600" b="1" u="sng" spc="0">
                <a:ln w="3175">
                  <a:noFill/>
                  <a:prstDash val="dash"/>
                </a:ln>
                <a:solidFill>
                  <a:schemeClr val="dk1">
                    <a:lumMod val="75000"/>
                    <a:lumOff val="25000"/>
                  </a:schemeClr>
                </a:solidFill>
                <a:uFillTx/>
                <a:latin typeface="Roboto" charset="0"/>
                <a:ea typeface="Roboto" charset="0"/>
                <a:cs typeface="Arial" panose="020B0604020202020204" pitchFamily="34" charset="0"/>
              </a:rPr>
              <a:t>Web UI Functionality</a:t>
            </a:r>
            <a:r>
              <a:rPr lang="en-US" sz="1600" b="1" spc="0">
                <a:ln w="3175">
                  <a:noFill/>
                  <a:prstDash val="dash"/>
                </a:ln>
                <a:solidFill>
                  <a:schemeClr val="dk1">
                    <a:lumMod val="75000"/>
                    <a:lumOff val="25000"/>
                  </a:schemeClr>
                </a:solidFill>
                <a:uFillTx/>
                <a:latin typeface="Roboto" charset="0"/>
                <a:ea typeface="Roboto" charset="0"/>
                <a:cs typeface="Arial" panose="020B0604020202020204" pitchFamily="34" charset="0"/>
              </a:rPr>
              <a:t>:</a:t>
            </a:r>
          </a:p>
          <a:p>
            <a:pPr marL="171450" lvl="0" indent="-171450" algn="l" fontAlgn="ctr">
              <a:lnSpc>
                <a:spcPct val="1000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 Interface:</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Manage device settings via web browsers.</a:t>
            </a:r>
          </a:p>
          <a:p>
            <a:pPr marL="171450" lvl="0" indent="-171450" algn="l" fontAlgn="ctr">
              <a:lnSpc>
                <a:spcPct val="1000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 Customization:</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Personalize splash screen and network security.</a:t>
            </a:r>
          </a:p>
          <a:p>
            <a:pPr marL="171450" lvl="0" indent="-171450" algn="l" fontAlgn="ctr">
              <a:lnSpc>
                <a:spcPct val="1000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 Control:</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Configure video inputs, outputs, and wireless settings.</a:t>
            </a:r>
          </a:p>
          <a:p>
            <a:pPr lvl="0" indent="0" algn="l" fontAlgn="ctr">
              <a:lnSpc>
                <a:spcPct val="100000"/>
              </a:lnSpc>
              <a:spcBef>
                <a:spcPts val="0"/>
              </a:spcBef>
              <a:spcAft>
                <a:spcPts val="800"/>
              </a:spcAft>
              <a:buSzPct val="100000"/>
              <a:buFont typeface="Wingdings" panose="05000000000000000000" charset="0"/>
            </a:pPr>
            <a:endParaRPr lang="en-US" sz="1000" spc="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0" algn="l" fontAlgn="ctr">
              <a:lnSpc>
                <a:spcPct val="100000"/>
              </a:lnSpc>
              <a:spcBef>
                <a:spcPts val="0"/>
              </a:spcBef>
              <a:spcAft>
                <a:spcPts val="800"/>
              </a:spcAft>
              <a:buSzPct val="100000"/>
              <a:buFont typeface="Wingdings" panose="05000000000000000000" charset="0"/>
            </a:pPr>
            <a:r>
              <a:rPr lang="en-US" sz="1600" b="1" u="sng" spc="0">
                <a:ln w="3175">
                  <a:noFill/>
                  <a:prstDash val="dash"/>
                </a:ln>
                <a:solidFill>
                  <a:schemeClr val="dk1">
                    <a:lumMod val="75000"/>
                    <a:lumOff val="25000"/>
                  </a:schemeClr>
                </a:solidFill>
                <a:uFillTx/>
                <a:latin typeface="Roboto" charset="0"/>
                <a:ea typeface="Roboto" charset="0"/>
                <a:cs typeface="Arial" panose="020B0604020202020204" pitchFamily="34" charset="0"/>
              </a:rPr>
              <a:t>Key Web UI Configurations</a:t>
            </a: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a:t>
            </a:r>
          </a:p>
          <a:p>
            <a:pPr marL="171450" lvl="0" indent="-171450" algn="l" fontAlgn="ctr">
              <a:lnSpc>
                <a:spcPct val="1000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 General Settings:</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IP configuration, security, and firmware updates,</a:t>
            </a:r>
            <a:b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b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like modifying the device name, or the device’s Wi-Fi hotspot name,</a:t>
            </a:r>
            <a:b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b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setting the</a:t>
            </a:r>
            <a:r>
              <a:rPr lang="en-US" sz="1400" spc="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access code, etc.</a:t>
            </a:r>
          </a:p>
          <a:p>
            <a:pPr marL="171450" lvl="0" indent="-171450" algn="l" fontAlgn="ctr">
              <a:lnSpc>
                <a:spcPct val="1000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 Video Inputs/Outputs:</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Manage HDMI sources and EDID profiles.</a:t>
            </a:r>
          </a:p>
          <a:p>
            <a:pPr marL="171450" lvl="0" indent="-171450" algn="l" fontAlgn="ctr">
              <a:lnSpc>
                <a:spcPct val="1000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 Screen Sharing:</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Enable wireless display or multiview features.</a:t>
            </a:r>
          </a:p>
          <a:p>
            <a:pPr marL="171450" lvl="0" indent="-171450" algn="l" fontAlgn="ctr">
              <a:lnSpc>
                <a:spcPct val="100000"/>
              </a:lnSpc>
              <a:spcBef>
                <a:spcPts val="0"/>
              </a:spcBef>
              <a:spcAft>
                <a:spcPts val="800"/>
              </a:spcAft>
              <a:buSzPct val="100000"/>
              <a:buFont typeface="Wingdings" panose="05000000000000000000" charset="0"/>
              <a:buChar char="l"/>
            </a:pPr>
            <a:r>
              <a:rPr lang="en-US" sz="1400" b="1" spc="0">
                <a:ln w="3175">
                  <a:noFill/>
                  <a:prstDash val="dash"/>
                </a:ln>
                <a:solidFill>
                  <a:schemeClr val="dk1">
                    <a:lumMod val="75000"/>
                    <a:lumOff val="25000"/>
                  </a:schemeClr>
                </a:solidFill>
                <a:uFillTx/>
                <a:latin typeface="Roboto" charset="0"/>
                <a:ea typeface="Roboto" charset="0"/>
                <a:cs typeface="Arial" panose="020B0604020202020204" pitchFamily="34" charset="0"/>
              </a:rPr>
              <a:t> Display Control:</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Use CEC and RS-232 for display management,</a:t>
            </a:r>
            <a:b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b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 customize</a:t>
            </a:r>
            <a:r>
              <a:rPr lang="en-US" sz="1400" spc="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sz="1400" spc="0">
                <a:ln w="3175">
                  <a:noFill/>
                  <a:prstDash val="dash"/>
                </a:ln>
                <a:solidFill>
                  <a:schemeClr val="dk1">
                    <a:lumMod val="75000"/>
                    <a:lumOff val="25000"/>
                  </a:schemeClr>
                </a:solidFill>
                <a:uFillTx/>
                <a:latin typeface="Roboto" charset="0"/>
                <a:ea typeface="Roboto" charset="0"/>
                <a:cs typeface="Arial" panose="020B0604020202020204" pitchFamily="34" charset="0"/>
              </a:rPr>
              <a:t>the guide screen picture, etc.</a:t>
            </a:r>
          </a:p>
        </p:txBody>
      </p:sp>
      <p:pic>
        <p:nvPicPr>
          <p:cNvPr id="5" name="Google Shape;82;p1"/>
          <p:cNvPicPr preferRelativeResize="0"/>
          <p:nvPr/>
        </p:nvPicPr>
        <p:blipFill>
          <a:blip r:embed="rId7"/>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pic>
        <p:nvPicPr>
          <p:cNvPr id="12" name="图片 3"/>
          <p:cNvPicPr/>
          <p:nvPr/>
        </p:nvPicPr>
        <p:blipFill>
          <a:blip r:embed="rId8"/>
          <a:stretch>
            <a:fillRect/>
          </a:stretch>
        </p:blipFill>
        <p:spPr>
          <a:xfrm>
            <a:off x="7010400" y="2364741"/>
            <a:ext cx="4882723" cy="3068005"/>
          </a:xfrm>
          <a:prstGeom prst="rect">
            <a:avLst/>
          </a:prstGeom>
          <a:effectLst>
            <a:outerShdw blurRad="50800" dist="38100" dir="5400000" algn="t" rotWithShape="0">
              <a:prstClr val="black">
                <a:alpha val="40000"/>
              </a:prstClr>
            </a:outerShdw>
          </a:effectLst>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3984293" y="1149489"/>
            <a:ext cx="4159582" cy="707885"/>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80645" y="1153801"/>
            <a:ext cx="12287885" cy="707886"/>
          </a:xfrm>
          <a:prstGeom prst="rect">
            <a:avLst/>
          </a:prstGeom>
          <a:noFill/>
        </p:spPr>
        <p:txBody>
          <a:bodyPr wrap="square" rtlCol="0">
            <a:spAutoFit/>
          </a:bodyPr>
          <a:lstStyle/>
          <a:p>
            <a:pPr algn="ctr"/>
            <a:r>
              <a:rPr lang="en-US" altLang="zh-CN" sz="4000" b="1">
                <a:latin typeface="Montserrat" pitchFamily="2" charset="0"/>
                <a:cs typeface="Arial" panose="020B0604020202020204" pitchFamily="34" charset="0"/>
              </a:rPr>
              <a:t>Q</a:t>
            </a:r>
            <a:r>
              <a:rPr lang="en-US" altLang="zh-CN" sz="2400" b="1">
                <a:latin typeface="Montserrat" pitchFamily="2" charset="0"/>
                <a:cs typeface="Arial" panose="020B0604020202020204" pitchFamily="34" charset="0"/>
              </a:rPr>
              <a:t> </a:t>
            </a:r>
            <a:r>
              <a:rPr lang="en-US" altLang="zh-CN" sz="4000" b="1">
                <a:latin typeface="Montserrat" pitchFamily="2" charset="0"/>
                <a:cs typeface="Arial" panose="020B0604020202020204" pitchFamily="34" charset="0"/>
              </a:rPr>
              <a:t>&amp;</a:t>
            </a:r>
            <a:r>
              <a:rPr lang="en-US" altLang="zh-CN" sz="2400" b="1">
                <a:latin typeface="Montserrat" pitchFamily="2" charset="0"/>
                <a:cs typeface="Arial" panose="020B0604020202020204" pitchFamily="34" charset="0"/>
              </a:rPr>
              <a:t> </a:t>
            </a:r>
            <a:r>
              <a:rPr lang="en-US" altLang="zh-CN" sz="4000" b="1">
                <a:latin typeface="Montserrat" pitchFamily="2" charset="0"/>
                <a:cs typeface="Arial" panose="020B0604020202020204" pitchFamily="34" charset="0"/>
              </a:rPr>
              <a:t>A Session</a:t>
            </a:r>
            <a:endParaRPr lang="en-US" altLang="zh-CN">
              <a:solidFill>
                <a:schemeClr val="tx1">
                  <a:lumMod val="75000"/>
                  <a:lumOff val="25000"/>
                </a:schemeClr>
              </a:solidFill>
              <a:latin typeface="Roboto" charset="0"/>
              <a:ea typeface="Roboto" charset="0"/>
              <a:cs typeface="Arial" panose="020B0604020202020204" pitchFamily="34" charset="0"/>
            </a:endParaRPr>
          </a:p>
        </p:txBody>
      </p:sp>
      <p:pic>
        <p:nvPicPr>
          <p:cNvPr id="7" name="图片 6"/>
          <p:cNvPicPr/>
          <p:nvPr/>
        </p:nvPicPr>
        <p:blipFill>
          <a:blip r:embed="rId5"/>
          <a:stretch>
            <a:fillRect/>
          </a:stretch>
        </p:blipFill>
        <p:spPr>
          <a:xfrm>
            <a:off x="2796857" y="2808363"/>
            <a:ext cx="6502400" cy="3588240"/>
          </a:xfrm>
          <a:prstGeom prst="rect">
            <a:avLst/>
          </a:prstGeom>
          <a:effectLst>
            <a:outerShdw blurRad="50800" dist="38100" dir="5400000" algn="t" rotWithShape="0">
              <a:prstClr val="black">
                <a:alpha val="40000"/>
              </a:prstClr>
            </a:outerShdw>
          </a:effectLst>
        </p:spPr>
      </p:pic>
      <p:pic>
        <p:nvPicPr>
          <p:cNvPr id="5"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a:solidFill>
                  <a:schemeClr val="bg1">
                    <a:lumMod val="50000"/>
                  </a:schemeClr>
                </a:solidFill>
                <a:latin typeface="Roboto" charset="0"/>
                <a:ea typeface="Roboto" charset="0"/>
                <a:cs typeface="Arial" panose="020B0604020202020204" pitchFamily="34" charset="0"/>
                <a:sym typeface="+mn-ea"/>
              </a:rPr>
              <a:t>    Powerful · Reliable · Simple</a:t>
            </a:r>
          </a:p>
        </p:txBody>
      </p:sp>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0"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a:solidFill>
                  <a:schemeClr val="lt1"/>
                </a:solidFill>
                <a:uFillTx/>
                <a:latin typeface="Montserrat" pitchFamily="2" charset="0"/>
                <a:ea typeface="微软雅黑" panose="020B0503020204020204" pitchFamily="34" charset="-122"/>
                <a:sym typeface="Roboto"/>
              </a:rPr>
              <a:t>Final Thoughts</a:t>
            </a:r>
          </a:p>
        </p:txBody>
      </p:sp>
      <p:sp>
        <p:nvSpPr>
          <p:cNvPr id="4" name="文本框 1"/>
          <p:cNvSpPr txBox="1"/>
          <p:nvPr/>
        </p:nvSpPr>
        <p:spPr>
          <a:xfrm>
            <a:off x="-47944" y="2003528"/>
            <a:ext cx="12287885" cy="646331"/>
          </a:xfrm>
          <a:prstGeom prst="rect">
            <a:avLst/>
          </a:prstGeom>
          <a:noFill/>
        </p:spPr>
        <p:txBody>
          <a:bodyPr wrap="square" rtlCol="0">
            <a:spAutoFit/>
          </a:bodyPr>
          <a:lstStyle/>
          <a:p>
            <a:pPr algn="ctr"/>
            <a:r>
              <a:rPr lang="en-US" altLang="zh-CN">
                <a:solidFill>
                  <a:schemeClr val="tx1">
                    <a:lumMod val="75000"/>
                    <a:lumOff val="25000"/>
                  </a:schemeClr>
                </a:solidFill>
                <a:latin typeface="Roboto" charset="0"/>
                <a:ea typeface="Roboto" charset="0"/>
                <a:cs typeface="Arial" panose="020B0604020202020204" pitchFamily="34" charset="0"/>
              </a:rPr>
              <a:t>Got questions? Let's dive into a lively Q&amp;A session! </a:t>
            </a:r>
          </a:p>
          <a:p>
            <a:pPr algn="ctr"/>
            <a:r>
              <a:rPr lang="en-US" altLang="zh-CN">
                <a:solidFill>
                  <a:schemeClr val="tx1">
                    <a:lumMod val="75000"/>
                    <a:lumOff val="25000"/>
                  </a:schemeClr>
                </a:solidFill>
                <a:latin typeface="Roboto" charset="0"/>
                <a:ea typeface="Roboto" charset="0"/>
                <a:cs typeface="Arial" panose="020B0604020202020204" pitchFamily="34" charset="0"/>
              </a:rPr>
              <a:t>Your curiosity fuels the conversation, so don’t hesitate to ask away.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c4NzQzMWI1MGViYjVlYjEzZTIyZjMyNmVmMjIyZTMifQ=="/>
  <p:tag name="RESOURCE_RECORD_KEY" val="{&quot;13&quot;:[4364952],&quot;65&quot;:[20215802]}"/>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9.xml><?xml version="1.0" encoding="utf-8"?>
<p:tagLst xmlns:a="http://schemas.openxmlformats.org/drawingml/2006/main" xmlns:r="http://schemas.openxmlformats.org/officeDocument/2006/relationships" xmlns:p="http://schemas.openxmlformats.org/presentationml/2006/main">
  <p:tag name="KSO_WM_SLIDE_ID" val="diagram20215802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384"/>
  <p:tag name="KSO_WM_SLIDE_POSITION" val="0*0"/>
  <p:tag name="KSO_WM_TAG_VERSION" val="1.0"/>
  <p:tag name="KSO_WM_BEAUTIFY_FLAG" val="#wm#"/>
  <p:tag name="KSO_WM_TEMPLATE_CATEGORY" val="diagram"/>
  <p:tag name="KSO_WM_TEMPLATE_INDEX" val="20215802"/>
  <p:tag name="KSO_WM_SLIDE_LAYOUT" val="a_f"/>
  <p:tag name="KSO_WM_SLIDE_LAYOUT_CNT" val="1_1"/>
  <p:tag name="KSO_WM_SLIDE_LAYOUT_INFO" val="{&quot;id&quot;:&quot;2021-04-01T15:11:2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5:11:24&quot;,&quot;margin&quot;:{&quot;bottom&quot;:0.4230000674724579,&quot;left&quot;:1.2699999809265137,&quot;right&quot;:1.2699999809265137,&quot;top&quot;:0.4230000674724579},&quot;type&quot;:0},{&quot;id&quot;:&quot;2021-04-01T15:11:24&quot;,&quot;margin&quot;:{&quot;bottom&quot;:1.694000005722046,&quot;left&quot;:1.6929999589920044,&quot;right&quot;:1.6929999589920044,&quot;top&quot;:1.6929999589920044},&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78e478fb0c58a940c"/>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support_big_font&quot;:false,&quot;picture_toward&quot;:0,&quot;picture_dockside&quot;:[],&quot;fill_id&quot;:&quot;aae3729e0a0d44488f1a088171be5691&quot;,&quot;fill_align&quot;:&quot;cm&quot;,&quot;chip_types&quot;:[&quot;text&quot;,&quot;picture&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0656ea94054ed1e2fb7fd45"/>
  <p:tag name="KSO_WM_TEMPLATE_ASSEMBLE_GROUPID" val="60656ea94054ed1e2fb7fd45"/>
  <p:tag name="RESOURCE_RECORD_KEY" val="{&quot;13&quot;:[4364952],&quot;65&quot;:[20215802]}"/>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1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02_1*f*1"/>
  <p:tag name="KSO_WM_TEMPLATE_CATEGORY" val="diagram"/>
  <p:tag name="KSO_WM_TEMPLATE_INDEX" val="2021580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d879e39fee614b88a76bb899d600b7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fcd4429fddf4fd9b6b9cae2bcdab05b"/>
  <p:tag name="KSO_WM_UNIT_SUPPORT_UNIT_TYPE" val="[&quot;d&quot;]"/>
  <p:tag name="KSO_WM_UNIT_TEXT_FILL_FORE_SCHEMECOLOR_INDEX_BRIGHTNESS" val="0.25"/>
  <p:tag name="KSO_WM_UNIT_TEXT_FILL_FORE_SCHEMECOLOR_INDEX" val="13"/>
  <p:tag name="KSO_WM_UNIT_TEXT_FILL_TYPE" val="1"/>
  <p:tag name="KSO_WM_TEMPLATE_ASSEMBLE_XID" val="60656ea94054ed1e2fb7fd45"/>
  <p:tag name="KSO_WM_TEMPLATE_ASSEMBLE_GROUPID" val="60656ea94054ed1e2fb7fd45"/>
</p:tagLst>
</file>

<file path=ppt/tags/tag13.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CHIP_GROUPID" val="5f5ee1ca4d6848d78f644aeb"/>
  <p:tag name="KSO_WM_CHIP_XID" val="5f5f3b6d8e478fb0c58a941e"/>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LOCK" val="0"/>
  <p:tag name="KSO_WM_UNIT_COMPATIBLE" val="0"/>
  <p:tag name="KSO_WM_UNIT_DEC_AREA_ID" val="c851648b610c4eed84725474f83dd781"/>
  <p:tag name="KSO_WM_UNIT_DECORATE_INFO" val="{&quot;DecorateInfoH&quot;:{&quot;IsAbs&quot;:true},&quot;DecorateInfoW&quot;:{&quot;IsAbs&quot;:true},&quot;DecorateInfoX&quot;:{&quot;IsAbs&quot;:true,&quot;Pos&quot;:2},&quot;DecorateInfoY&quot;:{&quot;IsAbs&quot;:true,&quot;Pos&quot;:2},&quot;ReferentInfo&quot;:{&quot;Id&quot;:&quot;fa1e37419f9b42fb86bdf596086272a2&quot;,&quot;X&quot;:{&quot;Pos&quot;:2},&quot;Y&quot;:{&quot;Pos&quot;:0}},&quot;whChangeMode&quot;:0}"/>
  <p:tag name="KSO_WM_UNIT_DIAGRAM_ISNUMVISUAL" val="0"/>
  <p:tag name="KSO_WM_UNIT_DIAGRAM_ISREFERUNIT" val="0"/>
  <p:tag name="KSO_WM_UNIT_HIGHLIGHT" val="0"/>
  <p:tag name="KSO_WM_UNIT_ID" val="diagram20215817_1*i*2"/>
  <p:tag name="KSO_WM_UNIT_INDEX" val="2"/>
  <p:tag name="KSO_WM_UNIT_LAYERLEVEL" val="1"/>
  <p:tag name="KSO_WM_UNIT_LINE_FILL_TYPE" val="2"/>
  <p:tag name="KSO_WM_UNIT_LINE_FORE_SCHEMECOLOR_INDEX" val="15"/>
  <p:tag name="KSO_WM_UNIT_LINE_FORE_SCHEMECOLOR_INDEX_BRIGHTNESS" val="0"/>
  <p:tag name="KSO_WM_UNIT_SM_LIMIT_TYPE" val="0"/>
  <p:tag name="KSO_WM_UNIT_TYPE" val="i"/>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CHIP_GROUPID" val="5f5ee1ca4d6848d78f644aeb"/>
  <p:tag name="KSO_WM_CHIP_XID" val="5f5f3b6d8e478fb0c58a941e"/>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LOCK" val="0"/>
  <p:tag name="KSO_WM_UNIT_COMPATIBLE" val="0"/>
  <p:tag name="KSO_WM_UNIT_DEC_AREA_ID" val="3104b9f4692049e9b18edec063ed2171"/>
  <p:tag name="KSO_WM_UNIT_DECORATE_INFO" val="{&quot;DecorateInfoH&quot;:{&quot;IsAbs&quot;:true},&quot;DecorateInfoW&quot;:{&quot;IsAbs&quot;:true},&quot;DecorateInfoX&quot;:{&quot;IsAbs&quot;:true,&quot;Pos&quot;:0},&quot;DecorateInfoY&quot;:{&quot;IsAbs&quot;:true,&quot;Pos&quot;:0},&quot;ReferentInfo&quot;:{&quot;Id&quot;:&quot;fa1e37419f9b42fb86bdf596086272a2&quot;,&quot;X&quot;:{&quot;Pos&quot;:0},&quot;Y&quot;:{&quot;Pos&quot;:2}},&quot;whChangeMode&quot;:0}"/>
  <p:tag name="KSO_WM_UNIT_DIAGRAM_ISNUMVISUAL" val="0"/>
  <p:tag name="KSO_WM_UNIT_DIAGRAM_ISREFERUNIT" val="0"/>
  <p:tag name="KSO_WM_UNIT_HIGHLIGHT" val="0"/>
  <p:tag name="KSO_WM_UNIT_ID" val="diagram20215817_1*i*3"/>
  <p:tag name="KSO_WM_UNIT_INDEX" val="3"/>
  <p:tag name="KSO_WM_UNIT_LAYERLEVEL" val="1"/>
  <p:tag name="KSO_WM_UNIT_LINE_FILL_TYPE" val="2"/>
  <p:tag name="KSO_WM_UNIT_LINE_FORE_SCHEMECOLOR_INDEX" val="15"/>
  <p:tag name="KSO_WM_UNIT_LINE_FORE_SCHEMECOLOR_INDEX_BRIGHTNESS" val="0"/>
  <p:tag name="KSO_WM_UNIT_SM_LIMIT_TYPE" val="0"/>
  <p:tag name="KSO_WM_UNIT_TYPE" val="i"/>
</p:tagLst>
</file>

<file path=ppt/tags/tag1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75.25732283464566,&quot;left&quot;:98.6,&quot;top&quot;:79.59267716535433,&quot;width&quot;:795.4903937007873}"/>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5.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8.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3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1.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4.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3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7.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3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0.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4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3.xml><?xml version="1.0" encoding="utf-8"?>
<p:tagLst xmlns:a="http://schemas.openxmlformats.org/drawingml/2006/main" xmlns:r="http://schemas.openxmlformats.org/officeDocument/2006/relationships" xmlns:p="http://schemas.openxmlformats.org/presentationml/2006/main">
  <p:tag name="TABLE_ENDDRAG_ORIGIN_RECT" val="500*422"/>
  <p:tag name="TABLE_ENDDRAG_RECT" val="28*96*500*422"/>
</p:tagLst>
</file>

<file path=ppt/tags/tag44.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8.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2.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6.xml><?xml version="1.0" encoding="utf-8"?>
<p:tagLst xmlns:a="http://schemas.openxmlformats.org/drawingml/2006/main" xmlns:r="http://schemas.openxmlformats.org/officeDocument/2006/relationships" xmlns:p="http://schemas.openxmlformats.org/presentationml/2006/main">
  <p:tag name="KSO_WM_UNIT_TABLE_BEAUTIFY" val="smartTable{24a5ff3c-0b77-46f1-a1d7-63cde164d70f}"/>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9.xml><?xml version="1.0" encoding="utf-8"?>
<p:tagLst xmlns:a="http://schemas.openxmlformats.org/drawingml/2006/main" xmlns:r="http://schemas.openxmlformats.org/officeDocument/2006/relationships" xmlns:p="http://schemas.openxmlformats.org/presentationml/2006/main">
  <p:tag name="KSO_WM_UNIT_TABLE_BEAUTIFY" val="smartTable{0df4cc24-f499-46a5-93f7-423fc716f17f}"/>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6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62.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6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66.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6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7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71.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7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7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7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76.xml><?xml version="1.0" encoding="utf-8"?>
<p:tagLst xmlns:a="http://schemas.openxmlformats.org/drawingml/2006/main" xmlns:r="http://schemas.openxmlformats.org/officeDocument/2006/relationships"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7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7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navigation"/>
  <p:tag name="KSO_WM_SLIDE_BK_DARK_LIGHT" val="2"/>
  <p:tag name="KSO_WM_TAG_VERSION" val="1.0"/>
  <p:tag name="KSO_WM_TEMPLATE_ASSEMBLE_GROUPID" val="63895f930c9383becde52e83"/>
  <p:tag name="KSO_WM_TEMPLATE_ASSEMBLE_XID" val="63895f930c9383becde52e83"/>
  <p:tag name="KSO_WM_TEMPLATE_CATEGORY" val="diagram"/>
  <p:tag name="KSO_WM_TEMPLATE_INDEX" val="20215817"/>
  <p:tag name="KSO_WM_UNIT_BK_DARK_LIGHT" val="2"/>
  <p:tag name="KSO_WM_UNIT_COMPATIBLE" val="0"/>
  <p:tag name="KSO_WM_UNIT_DIAGRAM_ISNUMVISUAL" val="0"/>
  <p:tag name="KSO_WM_UNIT_DIAGRAM_ISREFERUNIT" val="0"/>
  <p:tag name="KSO_WM_UNIT_FILL_FORE_SCHEMECOLOR_INDEX" val="15"/>
  <p:tag name="KSO_WM_UNIT_FILL_FORE_SCHEMECOLOR_INDEX_BRIGHTNESS" val="0"/>
  <p:tag name="KSO_WM_UNIT_FILL_TYPE" val="1"/>
  <p:tag name="KSO_WM_UNIT_HIGHLIGHT" val="0"/>
  <p:tag name="KSO_WM_UNIT_ID" val="diagram20215817_1*i*1"/>
  <p:tag name="KSO_WM_UNIT_INDEX" val="1"/>
  <p:tag name="KSO_WM_UNIT_LAYERLEVEL" val="1"/>
  <p:tag name="KSO_WM_UNIT_SUBTYPE" val="h"/>
  <p:tag name="KSO_WM_UNIT_TEXT_FILL_FORE_SCHEMECOLOR_INDEX" val="2"/>
  <p:tag name="KSO_WM_UNIT_TEXT_FILL_FORE_SCHEMECOLOR_INDEX_BRIGHTNESS" val="0"/>
  <p:tag name="KSO_WM_UNIT_TEXT_FILL_TYPE" val="1"/>
  <p:tag name="KSO_WM_UNIT_TYPE" val="i"/>
  <p:tag name="KSO_WM_UNIT_VALUE" val="159"/>
</p:tagLst>
</file>

<file path=ppt/tags/tag8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402328"/>
      </a:dk2>
      <a:lt2>
        <a:srgbClr val="EFE6E7"/>
      </a:lt2>
      <a:accent1>
        <a:srgbClr val="D60926"/>
      </a:accent1>
      <a:accent2>
        <a:srgbClr val="B33220"/>
      </a:accent2>
      <a:accent3>
        <a:srgbClr val="905B1A"/>
      </a:accent3>
      <a:accent4>
        <a:srgbClr val="6D8414"/>
      </a:accent4>
      <a:accent5>
        <a:srgbClr val="4AAD0E"/>
      </a:accent5>
      <a:accent6>
        <a:srgbClr val="27D608"/>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1A8FBB3908BD4681554D596DADDBBC" ma:contentTypeVersion="19" ma:contentTypeDescription="Create a new document." ma:contentTypeScope="" ma:versionID="089862c3d7236b297f5be572ccb4bd9e">
  <xsd:schema xmlns:xsd="http://www.w3.org/2001/XMLSchema" xmlns:xs="http://www.w3.org/2001/XMLSchema" xmlns:p="http://schemas.microsoft.com/office/2006/metadata/properties" xmlns:ns2="d634ccb5-745a-4b19-b3da-83dafbb0f953" xmlns:ns3="fa7e1be7-6c27-4381-949e-b43a2eb5089a" targetNamespace="http://schemas.microsoft.com/office/2006/metadata/properties" ma:root="true" ma:fieldsID="38436fc1e1e78720b95f7a357a3e0114" ns2:_="" ns3:_="">
    <xsd:import namespace="d634ccb5-745a-4b19-b3da-83dafbb0f953"/>
    <xsd:import namespace="fa7e1be7-6c27-4381-949e-b43a2eb508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34ccb5-745a-4b19-b3da-83dafbb0f9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a840791-955a-45d0-8f77-cb775012b4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7e1be7-6c27-4381-949e-b43a2eb5089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e5708c9-3083-478d-b2b5-d29c6e746420}" ma:internalName="TaxCatchAll" ma:showField="CatchAllData" ma:web="fa7e1be7-6c27-4381-949e-b43a2eb5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634ccb5-745a-4b19-b3da-83dafbb0f953">
      <Terms xmlns="http://schemas.microsoft.com/office/infopath/2007/PartnerControls"/>
    </lcf76f155ced4ddcb4097134ff3c332f>
    <TaxCatchAll xmlns="fa7e1be7-6c27-4381-949e-b43a2eb5089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092BAE-4728-46F0-84E1-98EDAEE84245}">
  <ds:schemaRefs>
    <ds:schemaRef ds:uri="d634ccb5-745a-4b19-b3da-83dafbb0f953"/>
    <ds:schemaRef ds:uri="fa7e1be7-6c27-4381-949e-b43a2eb508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5E5A65-9427-401A-950E-7D30A7887808}">
  <ds:schemaRefs>
    <ds:schemaRef ds:uri="d634ccb5-745a-4b19-b3da-83dafbb0f953"/>
    <ds:schemaRef ds:uri="fa7e1be7-6c27-4381-949e-b43a2eb5089a"/>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EE99903-FFB2-4CE1-85B4-12EF0E8EE0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11</Notes>
  <HiddenSlides>0</HiddenSlides>
  <ScaleCrop>false</ScaleCrop>
  <HeadingPairs>
    <vt:vector size="4" baseType="variant">
      <vt:variant>
        <vt:lpstr>Theme</vt:lpstr>
      </vt:variant>
      <vt:variant>
        <vt:i4>3</vt:i4>
      </vt:variant>
      <vt:variant>
        <vt:lpstr>Slide Titles</vt:lpstr>
      </vt:variant>
      <vt:variant>
        <vt:i4>20</vt:i4>
      </vt:variant>
    </vt:vector>
  </HeadingPairs>
  <TitlesOfParts>
    <vt:vector size="23" baseType="lpstr">
      <vt:lpstr>Office 主题​​</vt:lpstr>
      <vt:lpstr>1_Office 主题​​</vt:lpstr>
      <vt:lpstr>2_Office 主题​​</vt:lpstr>
      <vt:lpstr>SW-640L-TX-W &amp; APO-DG2 / APO-DG2-PRO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henry@proitav.com</dc:creator>
  <cp:revision>1</cp:revision>
  <dcterms:created xsi:type="dcterms:W3CDTF">2024-10-24T01:32:00Z</dcterms:created>
  <dcterms:modified xsi:type="dcterms:W3CDTF">2026-03-06T01:58:17Z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E205779165384D6681FE05BF827F3D4B_12</vt:lpwstr>
  </property>
  <property fmtid="{D5CDD505-2E9C-101B-9397-08002B2CF9AE}" pid="3" name="KSOProductBuildVer">
    <vt:lpwstr>2052-12.1.0.18608</vt:lpwstr>
  </property>
  <property fmtid="{D5CDD505-2E9C-101B-9397-08002B2CF9AE}" pid="4" name="ContentTypeId">
    <vt:lpwstr>0x010100E01A8FBB3908BD4681554D596DADDBBC</vt:lpwstr>
  </property>
  <property fmtid="{D5CDD505-2E9C-101B-9397-08002B2CF9AE}" pid="5" name="MediaServiceImageTags">
    <vt:lpwstr/>
  </property>
</Properties>
</file>