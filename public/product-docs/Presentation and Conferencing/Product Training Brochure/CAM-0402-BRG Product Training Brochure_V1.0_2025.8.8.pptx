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9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0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1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8" r:id="rId5"/>
    <p:sldId id="1008" r:id="rId6"/>
    <p:sldId id="1010" r:id="rId7"/>
    <p:sldId id="1072" r:id="rId8"/>
    <p:sldId id="1070" r:id="rId9"/>
    <p:sldId id="260" r:id="rId10"/>
    <p:sldId id="1054" r:id="rId11"/>
    <p:sldId id="1013" r:id="rId12"/>
    <p:sldId id="1069" r:id="rId13"/>
    <p:sldId id="267" r:id="rId14"/>
    <p:sldId id="1073" r:id="rId15"/>
    <p:sldId id="272" r:id="rId16"/>
    <p:sldId id="270" r:id="rId17"/>
    <p:sldId id="271" r:id="rId18"/>
    <p:sldId id="1071" r:id="rId19"/>
    <p:sldId id="98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7935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1" autoAdjust="0"/>
    <p:restoredTop sz="64591" autoAdjust="0"/>
  </p:normalViewPr>
  <p:slideViewPr>
    <p:cSldViewPr snapToGrid="0">
      <p:cViewPr varScale="1">
        <p:scale>
          <a:sx n="78" d="100"/>
          <a:sy n="78" d="100"/>
        </p:scale>
        <p:origin x="21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D43EC-1C84-49C6-BCC8-02CB1CF2AAC8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DC33E-859A-4E60-885B-E840829824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DC33E-859A-4E60-885B-E840829824A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* Do not introduce NDI, until NDI is all done;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DC33E-859A-4E60-885B-E840829824A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10622-6127-45EF-BDF7-9ED7109D0A6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10622-6127-45EF-BDF7-9ED7109D0A6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Advantage: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4K@30Hz 4:4:4 8bit, bi-directional A/V bridge (HDMI - USB), </a:t>
            </a:r>
            <a:r>
              <a:rPr lang="zh-CN" altLang="en-US" dirty="0"/>
              <a:t>完整的</a:t>
            </a:r>
            <a:r>
              <a:rPr lang="en-US" altLang="zh-CN" dirty="0"/>
              <a:t>USB</a:t>
            </a:r>
            <a:r>
              <a:rPr lang="zh-CN" altLang="en-US" dirty="0"/>
              <a:t>系统功能；</a:t>
            </a:r>
            <a:endParaRPr lang="en-US" altLang="zh-CN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Multiview, audio;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Other features: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Aver MT300N, Crestron IV-SAM-VX2-P -- voice tracking feature, multi-camera solution, multi-camera switcher;</a:t>
            </a:r>
          </a:p>
          <a:p>
            <a:pPr marL="228600" lvl="0" indent="-228600">
              <a:buAutoNum type="arabicPeriod"/>
            </a:pPr>
            <a:r>
              <a:rPr lang="zh-CN" altLang="en-US" dirty="0"/>
              <a:t>后续发展：</a:t>
            </a:r>
            <a:endParaRPr lang="en-US" altLang="zh-CN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NDI -- </a:t>
            </a:r>
            <a:r>
              <a:rPr lang="zh-CN" altLang="en-US" dirty="0"/>
              <a:t>已经规划，</a:t>
            </a:r>
            <a:r>
              <a:rPr lang="en-US" altLang="zh-CN" dirty="0"/>
              <a:t>NDI</a:t>
            </a:r>
            <a:r>
              <a:rPr lang="zh-CN" altLang="en-US" dirty="0"/>
              <a:t>技术在其他产品上已经实现</a:t>
            </a:r>
            <a:r>
              <a:rPr lang="en-US" altLang="zh-CN" dirty="0"/>
              <a:t>CAM-420-PTZ</a:t>
            </a:r>
            <a:r>
              <a:rPr lang="zh-CN" altLang="en-US" dirty="0"/>
              <a:t>，</a:t>
            </a:r>
            <a:r>
              <a:rPr lang="en-US" altLang="zh-CN" dirty="0"/>
              <a:t>CAM-210-NDI-PTZ</a:t>
            </a:r>
            <a:r>
              <a:rPr lang="zh-CN" altLang="en-US" dirty="0"/>
              <a:t>；</a:t>
            </a:r>
            <a:endParaRPr lang="en-US" altLang="zh-CN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camera switcher -- camera</a:t>
            </a:r>
            <a:r>
              <a:rPr lang="zh-CN" altLang="en-US" dirty="0"/>
              <a:t>进行控制；</a:t>
            </a:r>
            <a:endParaRPr lang="en-US" altLang="zh-CN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dirty="0"/>
              <a:t>Voice tracking (?)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AFD63-67BB-4727-BC05-A273A9609B1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3B847-3905-449C-94E4-8B2EFA2123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8.png"/><Relationship Id="rId17" Type="http://schemas.openxmlformats.org/officeDocument/2006/relationships/image" Target="../media/image13.svg"/><Relationship Id="rId2" Type="http://schemas.openxmlformats.org/officeDocument/2006/relationships/tags" Target="../tags/tag16.xml"/><Relationship Id="rId16" Type="http://schemas.openxmlformats.org/officeDocument/2006/relationships/image" Target="../media/image12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7.png"/><Relationship Id="rId5" Type="http://schemas.openxmlformats.org/officeDocument/2006/relationships/tags" Target="../tags/tag19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svg"/><Relationship Id="rId4" Type="http://schemas.openxmlformats.org/officeDocument/2006/relationships/tags" Target="../tags/tag18.xml"/><Relationship Id="rId9" Type="http://schemas.openxmlformats.org/officeDocument/2006/relationships/image" Target="../media/image4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1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2.xml"/><Relationship Id="rId7" Type="http://schemas.openxmlformats.org/officeDocument/2006/relationships/image" Target="../media/image1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19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20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0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4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4.pn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pic>
        <p:nvPicPr>
          <p:cNvPr id="5" name="图片 4" descr="电子设备的屏幕&#10;&#10;AI 生成的内容可能不正确。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436" y="-347153"/>
            <a:ext cx="877824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69357" y="85372"/>
            <a:ext cx="3694872" cy="503028"/>
          </a:xfrm>
        </p:spPr>
        <p:txBody>
          <a:bodyPr>
            <a:noAutofit/>
          </a:bodyPr>
          <a:lstStyle/>
          <a:p>
            <a:pPr algn="r"/>
            <a:r>
              <a:rPr lang="en-US" altLang="zh-CN" sz="26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CAM-0402-BRG</a:t>
            </a:r>
            <a:endParaRPr lang="zh-CN" altLang="en-US" sz="26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7600122" y="631807"/>
            <a:ext cx="4540036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</a:rPr>
              <a:t>Multiple Camera Switcher with A/V Bridge </a:t>
            </a:r>
          </a:p>
          <a:p>
            <a:pPr algn="r"/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</a:rPr>
              <a:t>(Bi-directional HDMI-USB)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6616271" y="5849316"/>
            <a:ext cx="5691024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Multiple Camera Solution Manufacturer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  <a:endParaRPr lang="en-US" altLang="zh-CN" sz="3200" b="1" strike="noStrike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1795" y="1485189"/>
            <a:ext cx="59502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7193" y="2154343"/>
            <a:ext cx="33594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93768" y="2815106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22393" y="4202967"/>
            <a:ext cx="39690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74518" y="4855252"/>
            <a:ext cx="80648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08168" y="5545637"/>
            <a:ext cx="29975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3662" y="3505491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6"/>
          <p:cNvSpPr txBox="1"/>
          <p:nvPr>
            <p:custDataLst>
              <p:tags r:id="rId4"/>
            </p:custDataLst>
          </p:nvPr>
        </p:nvSpPr>
        <p:spPr>
          <a:xfrm>
            <a:off x="1570188" y="1585463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Product Overview &amp; Key Features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Why Choose Us?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Quick Installation Guide &amp; Web UI Introduction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电子设备的屏幕&#10;&#10;AI 生成的内容可能不正确。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5302" y="765035"/>
            <a:ext cx="6949117" cy="550608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9013875" y="152942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60690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765165" y="1843405"/>
            <a:ext cx="6065520" cy="10229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Multiple Camera Switcher with A/V Bridge (Bi-directional HDMI-USB)</a:t>
            </a:r>
            <a:endParaRPr sz="22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CN" sz="22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29300" y="2480945"/>
            <a:ext cx="6347460" cy="286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CAM-0402-BRG is a multi-camera switcher with USB and HDMI inputs (2x USB &amp; 2x HDMI) and outputs (1x USB &amp; 1xHDMI). It enables fast and seamless switching with no black screen, ensuring a smooth video experience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. It also supports multiview modes (PIP, Pyramid, Quad, etc.), allowing multiple camera feeds to be displayed clearly within a single image -- ideal for hybrid teaching and collaborative meetings. </a:t>
            </a:r>
            <a:r>
              <a:rPr altLang="zh-CN" sz="14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Additionally, the device functions as a bi-directional A/V bridge between HDMI and USB, allowing users to connect HDMI or USB cameras and route the signal to an HDMI monitor or laptop via the USB host port.</a:t>
            </a: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This highly versatile and easy-to-install solution is ideal for collaborative meetings and remote education scenarios where multiple camera angles are required, or HDMI content needs to be captured and transmitted along with camera feeds.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1383665" y="1222375"/>
            <a:ext cx="4599940" cy="339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Comprehensive </a:t>
            </a: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Camera</a:t>
            </a: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 Input Options</a:t>
            </a: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Offers a variety of inputs, including USB and HDMI, ensuring compatibility with cameras used in conferences, meetings, and educational settings.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Fast Seamless Switching Between Multiple Cameras</a:t>
            </a: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Eliminate black screens during source switching between different cameras, enhancing viewing experience with smoothy and clarity image.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Bi-directional A/V Bridge Between HDMI and USB</a:t>
            </a: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This advanced feature allows users to connect HDMI or USB cameras and stream the signal to an HDMI monitor or laptop via the USB host port—delivering a seamless and enhanced multi-camera viewing experience.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solidFill>
                <a:srgbClr val="FF0000"/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875145" y="1321154"/>
            <a:ext cx="4599940" cy="186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Reliable and High-Quality Resolution</a:t>
            </a: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4K resolution guarantees sharp and clear video, delivering a fully immersive presentation experience.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Multiview Mode Support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Displays up to 4 camera sources simultaneously on one screen (PIP, Pyramid, Quad, etc.), to provide an efficient, comprehensive and real-time overview.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880145" y="3108188"/>
            <a:ext cx="4882039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Independent 2-in-1 USB 3.0 Hub 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device integrates a 2-in-1 USB 3.0 hub, allowing connection of USB peripherals—like speakerphones or mice—to a laptop via the USB 3.0 host port, delivering streamlined integration and a smoother workspace experience.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Effortless Setup and User-friendly Operation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Plug-and-play with zero configuration required, offering hassle-free setup and immediate operation out of the box. This feature makes it exceptionally user-friendly, particularly in fast-paced or non-technical environments.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1" name="文本框 6"/>
          <p:cNvSpPr txBox="1"/>
          <p:nvPr>
            <p:custDataLst>
              <p:tags r:id="rId5"/>
            </p:custDataLst>
          </p:nvPr>
        </p:nvSpPr>
        <p:spPr>
          <a:xfrm>
            <a:off x="457155" y="16319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Main Features</a:t>
            </a:r>
          </a:p>
        </p:txBody>
      </p:sp>
      <p:pic>
        <p:nvPicPr>
          <p:cNvPr id="29" name="Picture 28" descr="A close up of a logo&#10;&#10;Description automatically generated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556" y="1376456"/>
            <a:ext cx="501271" cy="319960"/>
          </a:xfrm>
          <a:prstGeom prst="rect">
            <a:avLst/>
          </a:prstGeom>
        </p:spPr>
      </p:pic>
      <p:pic>
        <p:nvPicPr>
          <p:cNvPr id="39" name="Picture 38" descr="A black and grey square with white rectangles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00" y="2179258"/>
            <a:ext cx="535365" cy="391730"/>
          </a:xfrm>
          <a:prstGeom prst="rect">
            <a:avLst/>
          </a:prstGeom>
        </p:spPr>
      </p:pic>
      <p:pic>
        <p:nvPicPr>
          <p:cNvPr id="43" name="Picture 42" descr="A black and white background with circles and dot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5" y="1333305"/>
            <a:ext cx="516314" cy="424368"/>
          </a:xfrm>
          <a:prstGeom prst="rect">
            <a:avLst/>
          </a:prstGeom>
        </p:spPr>
      </p:pic>
      <p:pic>
        <p:nvPicPr>
          <p:cNvPr id="2" name="Picture 32" descr="A black background with arrows pointing to a symbol&#10;&#10;Description automatically generated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5" y="2226434"/>
            <a:ext cx="556469" cy="439318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1377950" y="4509976"/>
            <a:ext cx="462280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Flexible Control Approaches</a:t>
            </a:r>
          </a:p>
          <a:p>
            <a:pPr algn="l" fontAlgn="auto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Offers various control methods, such as control button, API (RS232 &amp; Telnet), and Web-UI, allowing for convenient management and configuration of the camera.</a:t>
            </a:r>
          </a:p>
        </p:txBody>
      </p:sp>
      <p:pic>
        <p:nvPicPr>
          <p:cNvPr id="4" name="Picture 34" descr="A black background with arrows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556" y="3053831"/>
            <a:ext cx="638219" cy="589125"/>
          </a:xfrm>
          <a:prstGeom prst="rect">
            <a:avLst/>
          </a:prstGeom>
        </p:spPr>
      </p:pic>
      <p:pic>
        <p:nvPicPr>
          <p:cNvPr id="5" name="Picture 36" descr="A logo with lines and dots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51" y="4509976"/>
            <a:ext cx="475200" cy="432001"/>
          </a:xfrm>
          <a:prstGeom prst="rect">
            <a:avLst/>
          </a:prstGeom>
        </p:spPr>
      </p:pic>
      <p:pic>
        <p:nvPicPr>
          <p:cNvPr id="6" name="图片 5" descr="资源 5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1850" y="3291205"/>
            <a:ext cx="511810" cy="351790"/>
          </a:xfrm>
          <a:prstGeom prst="rect">
            <a:avLst/>
          </a:prstGeom>
        </p:spPr>
      </p:pic>
      <p:pic>
        <p:nvPicPr>
          <p:cNvPr id="12" name="图片 11" descr="资源 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4445" y="4509770"/>
            <a:ext cx="525780" cy="415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1. </a:t>
            </a:r>
            <a:r>
              <a:rPr lang="en-US" altLang="zh-CN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Immersive Viewing Experience</a:t>
            </a:r>
            <a:endParaRPr lang="en-US" altLang="zh-CN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8657" y="1065135"/>
            <a:ext cx="10184154" cy="10506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Deliver an immersive viewing experience with 4K@30Hz 4:4:4 resolution, seamless switching, and support for multiview modes — ensuring stunning detail and smooth visuals for the audience.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32968" y="4283663"/>
            <a:ext cx="4791557" cy="1745388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4844" y="2181791"/>
            <a:ext cx="336900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文本框 4"/>
          <p:cNvSpPr txBox="1"/>
          <p:nvPr/>
        </p:nvSpPr>
        <p:spPr>
          <a:xfrm>
            <a:off x="916279" y="2219890"/>
            <a:ext cx="394550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High-Quality Video Performance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4"/>
          <p:cNvSpPr txBox="1"/>
          <p:nvPr/>
        </p:nvSpPr>
        <p:spPr>
          <a:xfrm>
            <a:off x="1124483" y="2729651"/>
            <a:ext cx="4209516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Provide high-quality 4K@30Hz 4:4:4 8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bit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resolution for detailed information on HDMI and USB output, providing superior visual quality for your presentations.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774" y="2181791"/>
            <a:ext cx="3739288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文本框 4"/>
          <p:cNvSpPr txBox="1"/>
          <p:nvPr/>
        </p:nvSpPr>
        <p:spPr>
          <a:xfrm>
            <a:off x="6352209" y="2219890"/>
            <a:ext cx="3587853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Fast and Seamless Source Switching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5" name="文本框 4"/>
          <p:cNvSpPr txBox="1"/>
          <p:nvPr/>
        </p:nvSpPr>
        <p:spPr>
          <a:xfrm>
            <a:off x="6531838" y="2672501"/>
            <a:ext cx="4117112" cy="11839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It delivers fast and seamless source switching without black screen, ensuring a consistently smooth video experience.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64844" y="4105421"/>
            <a:ext cx="335399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文本框 4"/>
          <p:cNvSpPr txBox="1"/>
          <p:nvPr/>
        </p:nvSpPr>
        <p:spPr>
          <a:xfrm>
            <a:off x="916279" y="4143520"/>
            <a:ext cx="2886078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Multiview Mode Supports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8" name="文本框 4"/>
          <p:cNvSpPr txBox="1"/>
          <p:nvPr/>
        </p:nvSpPr>
        <p:spPr>
          <a:xfrm>
            <a:off x="1124482" y="4672992"/>
            <a:ext cx="4209517" cy="969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Offers multiple layouts (PIP, Pyramid, Quad, etc.), to provide a comprehensive and real-time overview on a single screen -- ideal for collaborative environments, monitoring, and streamlined decision-making.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6597" y="4326204"/>
            <a:ext cx="2962488" cy="17028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97815" y="151130"/>
            <a:ext cx="11835130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>
              <a:buSzPct val="100000"/>
            </a:pPr>
            <a:r>
              <a:rPr lang="en-US" sz="26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2</a:t>
            </a:r>
            <a:r>
              <a:rPr lang="en-US" sz="26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. Creating Hybrid Environment </a:t>
            </a:r>
            <a:r>
              <a:rPr lang="en-US" altLang="zh-CN" sz="26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with Multi-Camera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59790" y="1112520"/>
            <a:ext cx="10492105" cy="717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With excellent camera adaptability, Integrated 2-in-1 USB Hub, and efficient operation in hybrid environments, the system allows all meeting participants to easily contribute and collaborate productively.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74661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512263"/>
            <a:ext cx="4791557" cy="150958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4844" y="2181791"/>
            <a:ext cx="3132761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4"/>
          <p:cNvSpPr txBox="1"/>
          <p:nvPr/>
        </p:nvSpPr>
        <p:spPr>
          <a:xfrm>
            <a:off x="916279" y="2219890"/>
            <a:ext cx="2981327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ts val="2100"/>
              </a:lnSpc>
              <a:buClrTx/>
              <a:buSzTx/>
              <a:buFontTx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Excellent Camera Adaptability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7229" y="2395506"/>
            <a:ext cx="4791557" cy="1716828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4"/>
          <p:cNvSpPr txBox="1"/>
          <p:nvPr/>
        </p:nvSpPr>
        <p:spPr>
          <a:xfrm>
            <a:off x="1124482" y="2787461"/>
            <a:ext cx="3983762" cy="12270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Equipped with a bi-directional A/V bridge (HDMI - USB), the device supports a diverse array of camera models. It enables the integration of multi-camera, intelligent video solution into the hybrid experience.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454" y="2181790"/>
            <a:ext cx="2525090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4"/>
          <p:cNvSpPr txBox="1"/>
          <p:nvPr/>
        </p:nvSpPr>
        <p:spPr>
          <a:xfrm>
            <a:off x="6351905" y="2219960"/>
            <a:ext cx="3020060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ts val="2100"/>
              </a:lnSpc>
              <a:buClrTx/>
              <a:buSzTx/>
              <a:buFontTx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Built-in USB 3.0 Hub</a:t>
            </a:r>
          </a:p>
        </p:txBody>
      </p:sp>
      <p:sp>
        <p:nvSpPr>
          <p:cNvPr id="33" name="文本框 4"/>
          <p:cNvSpPr txBox="1"/>
          <p:nvPr/>
        </p:nvSpPr>
        <p:spPr>
          <a:xfrm>
            <a:off x="6531838" y="2796326"/>
            <a:ext cx="411711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Works flawlessly with extra speakerphones, keyboard, mouse, and other USB 3.0 peripherals, delivering a seamless and superior hybrid working experience.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4540" y="4333875"/>
            <a:ext cx="3616325" cy="42735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4"/>
          <p:cNvSpPr txBox="1"/>
          <p:nvPr/>
        </p:nvSpPr>
        <p:spPr>
          <a:xfrm>
            <a:off x="764540" y="4385945"/>
            <a:ext cx="3726815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Efficient Operation in Hybrid Meetings</a:t>
            </a:r>
          </a:p>
        </p:txBody>
      </p:sp>
      <p:sp>
        <p:nvSpPr>
          <p:cNvPr id="36" name="文本框 4"/>
          <p:cNvSpPr txBox="1"/>
          <p:nvPr/>
        </p:nvSpPr>
        <p:spPr>
          <a:xfrm>
            <a:off x="1124482" y="5080636"/>
            <a:ext cx="4209517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Enhance the efficiency of hybrid meetings with a user-friendly Web-UI or by integrating with SYN-TOUCH10.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indent="0" fontAlgn="auto"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3. Plug &amp; Play, Guest-Friendly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4845" y="2181791"/>
            <a:ext cx="2695574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4"/>
          <p:cNvSpPr txBox="1"/>
          <p:nvPr/>
        </p:nvSpPr>
        <p:spPr>
          <a:xfrm>
            <a:off x="916278" y="2219890"/>
            <a:ext cx="254414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Flexible Control Methods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4"/>
          <p:cNvSpPr txBox="1"/>
          <p:nvPr/>
        </p:nvSpPr>
        <p:spPr>
          <a:xfrm>
            <a:off x="1124483" y="280585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Offers multiple control methods (buttons, API, Web-UI), allowing for convenient management and configuration of the camera switcher.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774" y="2181791"/>
            <a:ext cx="3020390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6352210" y="2219890"/>
            <a:ext cx="2868954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Plug-and-Play, user-friendly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4" name="文本框 4"/>
          <p:cNvSpPr txBox="1"/>
          <p:nvPr/>
        </p:nvSpPr>
        <p:spPr>
          <a:xfrm>
            <a:off x="6531837" y="2805851"/>
            <a:ext cx="4535679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Plug-and-play functionality means zero configuration is required, offering hassle-free setup and immediate operation out of the box, making it exceptionally user-friendly.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845" y="4105421"/>
            <a:ext cx="2638755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4"/>
          <p:cNvSpPr txBox="1"/>
          <p:nvPr/>
        </p:nvSpPr>
        <p:spPr>
          <a:xfrm>
            <a:off x="916279" y="4143520"/>
            <a:ext cx="248732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Secure Network Access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1124483" y="474853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Independent Ethernet port, IP Setting and advanced protocols like HTTPs, Telnet over TLS, make sure the communication is security and user privacy is fully protected.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Simplify setup with plug-and-play functionality,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allowing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for guests to connect and present without any hassle.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4464" y="1083565"/>
            <a:ext cx="7108885" cy="26275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07632" y="1742157"/>
            <a:ext cx="3400425" cy="40613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500"/>
              </a:lnSpc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2x USB IN &amp; 2x HDMI IN</a:t>
            </a: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800"/>
              </a:lnSpc>
            </a:pP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All four ports connection of 4K camera, and it offers fast seamless switching between different sources for a better viewing experience.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</a:p>
          <a:p>
            <a:endParaRPr lang="en-US" sz="115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HDMI OUT &amp; USB Host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Two output video signals, the USB Host output has mirroring HDMI output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,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both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of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these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two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outputs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can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support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up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to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4K@30Hz</a:t>
            </a:r>
            <a:r>
              <a:rPr lang="zh-CN" alt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resolution.</a:t>
            </a:r>
            <a:endParaRPr lang="en-US" altLang="zh-CN" sz="1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endParaRPr lang="en-US" altLang="zh-CN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2x USB3.0 Expansion Ports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Easily connect speakerphone, keyboard or other USB 3.0 peripherals to your laptop for flexible settings.</a:t>
            </a:r>
          </a:p>
        </p:txBody>
      </p:sp>
      <p:sp>
        <p:nvSpPr>
          <p:cNvPr id="15" name="文本框 8"/>
          <p:cNvSpPr txBox="1"/>
          <p:nvPr/>
        </p:nvSpPr>
        <p:spPr>
          <a:xfrm>
            <a:off x="8207632" y="1054513"/>
            <a:ext cx="1986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>
                <a:latin typeface="Roboto" charset="0"/>
                <a:cs typeface="Roboto" charset="0"/>
              </a:rPr>
              <a:t>Featuring: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464" y="3868461"/>
            <a:ext cx="7108885" cy="28180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6608762" y="1157767"/>
            <a:ext cx="19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Front Panel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66547" y="3927899"/>
            <a:ext cx="185166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  <a:sym typeface="+mn-ea"/>
              </a:rPr>
              <a:t>Rear Panel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410" y="1330485"/>
            <a:ext cx="5576826" cy="2225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336" y="3958070"/>
            <a:ext cx="5729899" cy="266967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08001" y="1428750"/>
          <a:ext cx="6369050" cy="44320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10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Input Video Ports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3.0, 2x HDMI </a:t>
                      </a:r>
                      <a:r>
                        <a:rPr lang="en-US" altLang="zh-CN" sz="1400" b="1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(HDMI 1.4)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 Video Ports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HDMI, 1x USB Host;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1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Resolution (Max)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Output: 4K@30Hz 4:4:4 8bit</a:t>
                      </a:r>
                    </a:p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USB: 4K@30Hz (MJPEG)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72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Multiview Mode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PIP | Side-by-Side | Pyramid | Quad etc.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19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USB-A: </a:t>
                      </a:r>
                      <a:r>
                        <a:rPr lang="en-US" altLang="zh-CN" sz="1400" b="1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3.0 </a:t>
                      </a: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| Max Bandwidth: 5.0 Gbps</a:t>
                      </a:r>
                    </a:p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* USB peripherals connected to your PC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Protocols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UAC | UVC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Ethernet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LAN: 8-pin RJ-45 Female | Web-UI | API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RS232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4-pin 3.5mm Phoenix Connector (API Control)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6821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 Method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Front panel buttons | Web-UI | API (RS232 &amp; Telnet)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20V DC 3A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242219" y="1901190"/>
            <a:ext cx="4597400" cy="289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CAM-0402-BRG;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20V/3A Power Supply (US/UK/EU/AU);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4-pin Phoenix Connector (for RS-232);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4x Mount Bracket and Screws;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Quick Start Guide;</a:t>
            </a: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203835" y="911860"/>
            <a:ext cx="4946015" cy="59626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1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Conference Room, Classroom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(Multi-camera)</a:t>
            </a:r>
            <a:endParaRPr sz="18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This solution simplifies installation by supporting multiple cameras and featuring a plug-and-play design. It significantly improves the efficiency of remote meetings and educational sessions, ensuring every meeting is productive and seamless.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8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Fast and Seamless Multi-Camera Switching:</a:t>
            </a: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rgbClr val="FF0000"/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Switch between up to four HDMI/USB cameras with ultra-fast transitions and zero black screens—ensuring a fluid and uninterrupted viewing experience.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Bi-directional A/V Bridge between HDMI and USB</a:t>
            </a:r>
            <a:r>
              <a:rPr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 reliable HDMI - USB bi-directional bridge that is fully compatible with all USB and HDMI cameras.</a:t>
            </a:r>
          </a:p>
          <a:p>
            <a:pPr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Multiview Display Modes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Supports multiple layouts (PIP, Pyramid, Quad, etc.) to provide a comprehensive, real-time overview on a single screen.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Flexible Room Configuration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Provides multiple control methods, including Buttons, Web UI &amp; API (Telnet, RS232), and a user-friendly Web UI.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9651" y="1388534"/>
            <a:ext cx="6370876" cy="459456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203835" y="911860"/>
            <a:ext cx="4946015" cy="59626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2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ulti-camera setups, working with other products</a:t>
            </a:r>
            <a:endParaRPr lang="en-US" sz="18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WyreStorm multi-camera solution combines multiple cameras, an audio system, and flexible room configurations into a powerful setup. The camera switcher (CAM-0402-BRG) plays a critical role by handling multiple cameras, ensuring a fully immersive hybrid experience.</a:t>
            </a:r>
            <a:endParaRPr lang="en-US" altLang="zh-CN"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8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Better Wireless Casting Experience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Working with SW-640L-TX-W, casting superior image by various cameras.</a:t>
            </a:r>
          </a:p>
          <a:p>
            <a:pPr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</a:pPr>
            <a:r>
              <a:rPr altLang="zh-CN" sz="1400" b="1" spc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Fast and Seamless Multi-Camera Switching:</a:t>
            </a:r>
            <a:r>
              <a:rPr altLang="zh-CN" sz="1400" b="1" spc="0">
                <a:ln w="3175">
                  <a:noFill/>
                  <a:prstDash val="dash"/>
                </a:ln>
                <a:solidFill>
                  <a:srgbClr val="FF0000"/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sz="1400" spc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Switch between up to four HDMI/USB cameras with ultra-fast transitions and zero black screens—ensuring a fluid and uninterrupted viewing experience.</a:t>
            </a: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Multiview Display Modes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Supports multiple layouts (PIP, Pyramid, Quad, etc.) to provide a comprehensive, real-time overview on a single screen.</a:t>
            </a:r>
          </a:p>
          <a:p>
            <a:pPr lvl="0"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Flexible Room Configuration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Provides multiple control methods, including Buttons, Web UI &amp; API (Telnet, RS232), and a user-friendly Web UI.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3189" y="1337732"/>
            <a:ext cx="5941655" cy="46160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2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156335" y="1061085"/>
          <a:ext cx="9732645" cy="544233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4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b="1" u="none" strike="noStrike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Specification</a:t>
                      </a:r>
                      <a:endParaRPr lang="en-US" altLang="zh-CN" sz="1400" b="1" i="0" u="none" strike="noStrike" dirty="0">
                        <a:solidFill>
                          <a:schemeClr val="lt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b="1" u="none" strike="noStrike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CAM-0402-BRG</a:t>
                      </a:r>
                      <a:endParaRPr lang="en-US" altLang="zh-CN" sz="1400" b="1" i="0" u="none" strike="noStrike" dirty="0">
                        <a:solidFill>
                          <a:schemeClr val="lt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b="1" u="none" strike="noStrike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InfoBit iTrans UC-HUB2U</a:t>
                      </a:r>
                      <a:endParaRPr lang="en-US" altLang="zh-CN" sz="1400" b="1" i="0" u="none" strike="noStrike" dirty="0">
                        <a:solidFill>
                          <a:schemeClr val="lt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b="1" u="none" strike="noStrike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AVer MT300N</a:t>
                      </a:r>
                      <a:endParaRPr lang="en-US" altLang="zh-CN" sz="1400" b="1" i="0" u="none" strike="noStrike" dirty="0">
                        <a:solidFill>
                          <a:schemeClr val="lt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400" b="1" u="none" strike="noStrike" dirty="0">
                          <a:solidFill>
                            <a:schemeClr val="lt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Inogeni Share2U</a:t>
                      </a:r>
                      <a:endParaRPr lang="en-US" altLang="zh-CN" sz="1400" b="1" i="0" u="none" strike="noStrike" dirty="0">
                        <a:solidFill>
                          <a:schemeClr val="lt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 row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Input</a:t>
                      </a:r>
                      <a:endParaRPr lang="en-US" altLang="zh-CN" sz="100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Input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Input Timing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1" u="none" strike="noStrike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 4:4:4 8bit</a:t>
                      </a:r>
                      <a:endParaRPr lang="en-US" altLang="zh-CN" sz="1000" b="1" i="0" u="none" strike="noStrike" dirty="0">
                        <a:solidFill>
                          <a:srgbClr val="70AD47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Input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Type-A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2.0 Type-A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Type-A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 USB 2.0 Type-A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2.0 Type-A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Input Timing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1000" b="1" u="none" strike="noStrike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4K@30Hz </a:t>
                      </a: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1000" b="1" u="none" strike="noStrike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(or 2x 1080P@30Hz)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 rowSpan="5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</a:t>
                      </a:r>
                      <a:endParaRPr lang="en-US" altLang="zh-CN" sz="100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Output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4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Output Timing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 4:4:4 8bit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5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Type-B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Type-B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Output Timing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1000" b="1" u="none" strike="noStrike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Unknown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0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Multiview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1000" b="1" u="none" strike="noStrike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Quad View (Up to 4 windows)</a:t>
                      </a: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 View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 View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80">
                <a:tc rowSpan="5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Others</a:t>
                      </a:r>
                      <a:endParaRPr lang="en-US" altLang="zh-CN" sz="100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Peripheral Interface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1000" b="1" u="none" strike="noStrike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Type-A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00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Type-A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0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Audio Interface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Analog in, 3.5mm TRS Jack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Analog Out, 3.5mm TRS Jack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Dante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Analog in, 3.5mm TRS Jack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Analog Out, 3.5mm TRS Jack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4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RS232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Yes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0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 Approach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Button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API (RS232/Telnet)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Button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API (RS232/Telnet)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Automatic (Active Position)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API (RS422)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HID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Button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API (RS232/Telnet)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b="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Additional Feature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Audio mixer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Audio mixer</a:t>
                      </a:r>
                      <a:b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PoE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　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Audio mixer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marL="4828" marR="4828" marT="4828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Quick Installation Guide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03860" y="1769110"/>
            <a:ext cx="6255385" cy="45923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Connect Interfaces: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Follow the standard product connection guidelines and customize connections based on your environment’s layout for optimal performance.</a:t>
            </a: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Start the Device: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Use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‘Quick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Start Guide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’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to locate the device's IP address, then log into the Web-UI for easy equipment configuration.</a:t>
            </a:r>
          </a:p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Select the mode of image: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Select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your multiview layout using the Web-UI. For detailed instructions, refer to the user manual.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Enjoy Superior Visuals: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Experience stunning video clarity and immersive visuals tailored to your needs.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600" i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0" name="Title 6"/>
          <p:cNvSpPr txBox="1"/>
          <p:nvPr>
            <p:custDataLst>
              <p:tags r:id="rId5"/>
            </p:custDataLst>
          </p:nvPr>
        </p:nvSpPr>
        <p:spPr>
          <a:xfrm>
            <a:off x="457200" y="1137920"/>
            <a:ext cx="11070590" cy="5137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Effortlessly set up your </a:t>
            </a: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camera switcher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with simple steps, ensuring seamless configuration and an exceptional hybrid experience.</a:t>
            </a:r>
          </a:p>
        </p:txBody>
      </p:sp>
      <p:pic>
        <p:nvPicPr>
          <p:cNvPr id="22" name="图片 4"/>
          <p:cNvPicPr/>
          <p:nvPr/>
        </p:nvPicPr>
        <p:blipFill>
          <a:blip r:embed="rId9"/>
          <a:stretch>
            <a:fillRect/>
          </a:stretch>
        </p:blipFill>
        <p:spPr>
          <a:xfrm>
            <a:off x="7010400" y="2364740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Important Notes for Installation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57200" y="1099185"/>
            <a:ext cx="11752580" cy="4628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Ensure all cables are securely connected to avoid performance issues.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Check your network settings and confirm that the device is on the correct subnet.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Double-check configuration settings in the Web-UI to optimize display and functionality.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For complex installations, refer to the documentation or seek professional assistance if necessary.</a:t>
            </a:r>
            <a:endParaRPr lang="en-US" sz="2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Introduction of Web Configuration Interface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219710" y="1376045"/>
            <a:ext cx="11752580" cy="4628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Web UI of the CAM-0402-BRG camera switcher is designed for intuitive device management and control through any web browser. With the Web UI, you can easily configure and select mulitview mode with following features:</a:t>
            </a: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Web UI Functionality: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Effortlessly manage device settings via a web browser.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Setting up</a:t>
            </a: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Camera source routing, audio settings, multiview mode select, and USB settings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Control: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Set up and adjust camera source inputs, outputs, and system settings.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Web UI Configurations: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General Settings: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Configure IP settings, manage security, and perform firmware updates.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Video Inputs/Outputs: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Manage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camera source, select HDMI or USB source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marL="28575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Multiview Settings: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Easy setting up to select the mulitiview mode.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Control Settings: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Enable RS-232 for device control and CEC for display control.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Got questions?  Don't hesitate to ask away.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422"/>
  <p:tag name="TABLE_ENDDRAG_RECT" val="28*96*500*42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6*420"/>
  <p:tag name="TABLE_ENDDRAG_RECT" val="16*106*766*4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424D11C2-9CD0-430E-9BC5-9CC095A5ED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A7F3AC-5F2C-4496-8DDD-2C4A59FA0FF7}"/>
</file>

<file path=customXml/itemProps3.xml><?xml version="1.0" encoding="utf-8"?>
<ds:datastoreItem xmlns:ds="http://schemas.openxmlformats.org/officeDocument/2006/customXml" ds:itemID="{24096E3B-5252-4E4B-84B7-E8961CD8C0AE}">
  <ds:schemaRefs>
    <ds:schemaRef ds:uri="http://schemas.microsoft.com/office/2006/metadata/properties"/>
    <ds:schemaRef ds:uri="http://schemas.microsoft.com/office/infopath/2007/PartnerControls"/>
    <ds:schemaRef ds:uri="d634ccb5-745a-4b19-b3da-83dafbb0f953"/>
    <ds:schemaRef ds:uri="fa7e1be7-6c27-4381-949e-b43a2eb508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11930</Words>
  <Application>Microsoft Office PowerPoint</Application>
  <PresentationFormat>Widescreen</PresentationFormat>
  <Paragraphs>466</Paragraphs>
  <Slides>16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主题​​</vt:lpstr>
      <vt:lpstr>CAM-0402-BRG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</dc:creator>
  <cp:lastModifiedBy>一心如初。</cp:lastModifiedBy>
  <cp:revision>53</cp:revision>
  <dcterms:created xsi:type="dcterms:W3CDTF">2025-07-09T01:15:00Z</dcterms:created>
  <dcterms:modified xsi:type="dcterms:W3CDTF">2026-01-20T16:23:33Z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6E20E2641D54428FBE0E1A52BB2D9C00_13</vt:lpwstr>
  </property>
  <property fmtid="{D5CDD505-2E9C-101B-9397-08002B2CF9AE}" pid="3" name="KSOProductBuildVer">
    <vt:lpwstr>2052-12.1.0.23125</vt:lpwstr>
  </property>
  <property fmtid="{D5CDD505-2E9C-101B-9397-08002B2CF9AE}" pid="4" name="ContentTypeId">
    <vt:lpwstr>0x010100E01A8FBB3908BD4681554D596DADDBBC</vt:lpwstr>
  </property>
  <property fmtid="{D5CDD505-2E9C-101B-9397-08002B2CF9AE}" pid="5" name="MediaServiceImageTags">
    <vt:lpwstr/>
  </property>
</Properties>
</file>