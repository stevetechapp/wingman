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3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4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5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6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7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9"/>
  </p:notesMasterIdLst>
  <p:sldIdLst>
    <p:sldId id="256" r:id="rId5"/>
    <p:sldId id="273" r:id="rId6"/>
    <p:sldId id="274" r:id="rId7"/>
    <p:sldId id="1026" r:id="rId8"/>
    <p:sldId id="1053" r:id="rId9"/>
    <p:sldId id="1055" r:id="rId10"/>
    <p:sldId id="1013" r:id="rId11"/>
    <p:sldId id="1014" r:id="rId12"/>
    <p:sldId id="1057" r:id="rId13"/>
    <p:sldId id="1058" r:id="rId14"/>
    <p:sldId id="1059" r:id="rId15"/>
    <p:sldId id="270" r:id="rId16"/>
    <p:sldId id="271" r:id="rId17"/>
    <p:sldId id="265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41392345" name="Austin" initials="A" lastIdx="9" clrIdx="0"/>
  <p:cmAuthor id="341392346" name="Benjamin" initials="BJ" lastIdx="8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861995-C738-D773-4294-8C302C578818}" v="1" dt="2026-01-20T07:15:04.0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340"/>
    <p:restoredTop sz="94800"/>
  </p:normalViewPr>
  <p:slideViewPr>
    <p:cSldViewPr snapToGrid="0">
      <p:cViewPr varScale="1">
        <p:scale>
          <a:sx n="207" d="100"/>
          <a:sy n="207" d="100"/>
        </p:scale>
        <p:origin x="16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m Wu" userId="S::william.wu@wyrestorm.com::00fdaa3e-d262-439e-8977-67c523a4e704" providerId="AD" clId="Web-{FC861995-C738-D773-4294-8C302C578818}"/>
    <pc:docChg chg="modSld">
      <pc:chgData name="William Wu" userId="S::william.wu@wyrestorm.com::00fdaa3e-d262-439e-8977-67c523a4e704" providerId="AD" clId="Web-{FC861995-C738-D773-4294-8C302C578818}" dt="2026-01-20T07:15:04.004" v="0"/>
      <pc:docMkLst>
        <pc:docMk/>
      </pc:docMkLst>
      <pc:sldChg chg="modSp">
        <pc:chgData name="William Wu" userId="S::william.wu@wyrestorm.com::00fdaa3e-d262-439e-8977-67c523a4e704" providerId="AD" clId="Web-{FC861995-C738-D773-4294-8C302C578818}" dt="2026-01-20T07:15:04.004" v="0"/>
        <pc:sldMkLst>
          <pc:docMk/>
          <pc:sldMk cId="0" sldId="1059"/>
        </pc:sldMkLst>
        <pc:graphicFrameChg chg="modGraphic">
          <ac:chgData name="William Wu" userId="S::william.wu@wyrestorm.com::00fdaa3e-d262-439e-8977-67c523a4e704" providerId="AD" clId="Web-{FC861995-C738-D773-4294-8C302C578818}" dt="2026-01-20T07:15:04.004" v="0"/>
          <ac:graphicFrameMkLst>
            <pc:docMk/>
            <pc:sldMk cId="0" sldId="1059"/>
            <ac:graphicFrameMk id="10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017785-6CB2-4B7E-8A91-4F7470540DB9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A51B16-AD60-4549-AAE1-D6250DDEDCE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A306D-6C12-4E72-AF59-54F4E5C1E327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A51B16-AD60-4549-AAE1-D6250DDEDCE6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A51B16-AD60-4549-AAE1-D6250DDEDCE6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A306D-6C12-4E72-AF59-54F4E5C1E327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A306D-6C12-4E72-AF59-54F4E5C1E327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97C61-D7AE-4736-99B8-76332541D56E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15505-7F13-4B82-8432-8F61BD32AB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97C61-D7AE-4736-99B8-76332541D56E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15505-7F13-4B82-8432-8F61BD32AB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97C61-D7AE-4736-99B8-76332541D56E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15505-7F13-4B82-8432-8F61BD32AB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97C61-D7AE-4736-99B8-76332541D56E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15505-7F13-4B82-8432-8F61BD32AB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97C61-D7AE-4736-99B8-76332541D56E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15505-7F13-4B82-8432-8F61BD32AB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97C61-D7AE-4736-99B8-76332541D56E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15505-7F13-4B82-8432-8F61BD32AB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97C61-D7AE-4736-99B8-76332541D56E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15505-7F13-4B82-8432-8F61BD32AB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97C61-D7AE-4736-99B8-76332541D56E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15505-7F13-4B82-8432-8F61BD32AB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97C61-D7AE-4736-99B8-76332541D56E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15505-7F13-4B82-8432-8F61BD32AB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97C61-D7AE-4736-99B8-76332541D56E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15505-7F13-4B82-8432-8F61BD32AB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97C61-D7AE-4736-99B8-76332541D56E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15505-7F13-4B82-8432-8F61BD32AB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A97C61-D7AE-4736-99B8-76332541D56E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615505-7F13-4B82-8432-8F61BD32AB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tags" Target="../tags/tag3.xml"/><Relationship Id="rId7" Type="http://schemas.openxmlformats.org/officeDocument/2006/relationships/image" Target="../media/image1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10" Type="http://schemas.openxmlformats.org/officeDocument/2006/relationships/image" Target="../media/image3.png"/><Relationship Id="rId4" Type="http://schemas.openxmlformats.org/officeDocument/2006/relationships/tags" Target="../tags/tag4.xml"/><Relationship Id="rId9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7.xml"/><Relationship Id="rId7" Type="http://schemas.openxmlformats.org/officeDocument/2006/relationships/image" Target="../media/image4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11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10" Type="http://schemas.openxmlformats.org/officeDocument/2006/relationships/image" Target="../media/image3.png"/><Relationship Id="rId4" Type="http://schemas.openxmlformats.org/officeDocument/2006/relationships/tags" Target="../tags/tag12.xml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26.xml"/><Relationship Id="rId7" Type="http://schemas.openxmlformats.org/officeDocument/2006/relationships/image" Target="../media/image5.png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29.xml"/><Relationship Id="rId7" Type="http://schemas.openxmlformats.org/officeDocument/2006/relationships/image" Target="../media/image4.png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7" Type="http://schemas.openxmlformats.org/officeDocument/2006/relationships/image" Target="../media/image7.png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7" Type="http://schemas.openxmlformats.org/officeDocument/2006/relationships/image" Target="../media/image8.png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43.xml"/><Relationship Id="rId7" Type="http://schemas.openxmlformats.org/officeDocument/2006/relationships/notesSlide" Target="../notesSlides/notesSlide6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5.xml"/><Relationship Id="rId10" Type="http://schemas.openxmlformats.org/officeDocument/2006/relationships/image" Target="../media/image9.jpeg"/><Relationship Id="rId4" Type="http://schemas.openxmlformats.org/officeDocument/2006/relationships/tags" Target="../tags/tag44.xml"/><Relationship Id="rId9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48.xml"/><Relationship Id="rId7" Type="http://schemas.openxmlformats.org/officeDocument/2006/relationships/image" Target="../media/image4.png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image" Target="../media/image5.png"/><Relationship Id="rId5" Type="http://schemas.openxmlformats.org/officeDocument/2006/relationships/image" Target="../media/image10.jpe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erson and person sitting in a room with a computer&#10;&#10;Description automatically generated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13000" contrast="-49000"/>
                    </a14:imgEffect>
                    <a14:imgEffect>
                      <a14:saturation sat="16000"/>
                    </a14:imgEffect>
                    <a14:imgEffect>
                      <a14:sharpenSoften amount="-2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7153"/>
            <a:ext cx="12192000" cy="6120322"/>
          </a:xfrm>
          <a:prstGeom prst="rect">
            <a:avLst/>
          </a:prstGeom>
        </p:spPr>
      </p:pic>
      <p:sp>
        <p:nvSpPr>
          <p:cNvPr id="9" name="矩形 7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1203942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0" name="矩形 7"/>
          <p:cNvSpPr/>
          <p:nvPr>
            <p:custDataLst>
              <p:tags r:id="rId2"/>
            </p:custDataLst>
          </p:nvPr>
        </p:nvSpPr>
        <p:spPr>
          <a:xfrm>
            <a:off x="0" y="1086295"/>
            <a:ext cx="12192000" cy="4567763"/>
          </a:xfrm>
          <a:prstGeom prst="rect">
            <a:avLst/>
          </a:prstGeom>
          <a:solidFill>
            <a:srgbClr val="73B98F">
              <a:alpha val="5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0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2" name="文本框 20"/>
          <p:cNvSpPr txBox="1"/>
          <p:nvPr>
            <p:custDataLst>
              <p:tags r:id="rId3"/>
            </p:custDataLst>
          </p:nvPr>
        </p:nvSpPr>
        <p:spPr>
          <a:xfrm>
            <a:off x="399346" y="257682"/>
            <a:ext cx="4077404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800" b="1" strike="noStrike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cs typeface="Roboto" charset="0"/>
                <a:sym typeface="Roboto"/>
              </a:rPr>
              <a:t>Product Guide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55833" y="198014"/>
            <a:ext cx="4738182" cy="503028"/>
          </a:xfrm>
        </p:spPr>
        <p:txBody>
          <a:bodyPr>
            <a:noAutofit/>
          </a:bodyPr>
          <a:lstStyle/>
          <a:p>
            <a:r>
              <a:rPr lang="en-US" altLang="zh-CN" sz="2600" b="1" dirty="0">
                <a:solidFill>
                  <a:schemeClr val="bg1"/>
                </a:solidFill>
                <a:latin typeface="Roboto" charset="0"/>
                <a:ea typeface="Roboto"/>
                <a:cs typeface="Roboto" charset="0"/>
                <a:sym typeface="+mn-ea"/>
              </a:rPr>
              <a:t>CAM-420-PTZ</a:t>
            </a:r>
            <a:endParaRPr lang="zh-CN" altLang="en-US" sz="2600" b="1" dirty="0">
              <a:solidFill>
                <a:schemeClr val="bg1"/>
              </a:solidFill>
              <a:latin typeface="Roboto" charset="0"/>
              <a:ea typeface="宋体" panose="02010600030101010101" pitchFamily="2" charset="-122"/>
              <a:cs typeface="Roboto" charset="0"/>
              <a:sym typeface="+mn-ea"/>
            </a:endParaRPr>
          </a:p>
        </p:txBody>
      </p:sp>
      <p:sp>
        <p:nvSpPr>
          <p:cNvPr id="3" name="Title 1"/>
          <p:cNvSpPr txBox="1"/>
          <p:nvPr/>
        </p:nvSpPr>
        <p:spPr>
          <a:xfrm>
            <a:off x="6360007" y="505913"/>
            <a:ext cx="6543720" cy="43466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800" dirty="0">
                <a:solidFill>
                  <a:schemeClr val="accent6">
                    <a:lumMod val="40000"/>
                    <a:lumOff val="60000"/>
                  </a:schemeClr>
                </a:solidFill>
                <a:latin typeface="Roboto" charset="0"/>
                <a:ea typeface="宋体" panose="02010600030101010101" pitchFamily="2" charset="-122"/>
                <a:cs typeface="Roboto" charset="0"/>
                <a:sym typeface="+mn-ea"/>
              </a:rPr>
              <a:t>4K Dual-Lens AI PTZ Camera with AI Features</a:t>
            </a:r>
          </a:p>
        </p:txBody>
      </p:sp>
      <p:sp>
        <p:nvSpPr>
          <p:cNvPr id="13" name="矩形 7"/>
          <p:cNvSpPr/>
          <p:nvPr>
            <p:custDataLst>
              <p:tags r:id="rId4"/>
            </p:custDataLst>
          </p:nvPr>
        </p:nvSpPr>
        <p:spPr>
          <a:xfrm>
            <a:off x="0" y="5654059"/>
            <a:ext cx="12192000" cy="1203436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6" name="Picture 25" descr="A picture containing text, clock&#10;&#10;Description automatically generated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346" y="5877970"/>
            <a:ext cx="4315581" cy="863114"/>
          </a:xfrm>
          <a:prstGeom prst="rect">
            <a:avLst/>
          </a:prstGeom>
        </p:spPr>
      </p:pic>
      <p:sp>
        <p:nvSpPr>
          <p:cNvPr id="19" name="Title 1"/>
          <p:cNvSpPr txBox="1"/>
          <p:nvPr/>
        </p:nvSpPr>
        <p:spPr>
          <a:xfrm>
            <a:off x="7788421" y="5849316"/>
            <a:ext cx="4368803" cy="81161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i="1" dirty="0">
                <a:latin typeface="Montserrat"/>
                <a:ea typeface="Roboto"/>
                <a:cs typeface="Arial" panose="020B0604020202020204"/>
              </a:rPr>
              <a:t>4K Dual-Lens PTZ Camera with NDI &amp; AI Features</a:t>
            </a:r>
            <a:endParaRPr lang="en-US" sz="2400" b="1" i="1" dirty="0">
              <a:latin typeface="Montserrat"/>
              <a:ea typeface="Roboto"/>
              <a:cs typeface="Arial" panose="020B0604020202020204"/>
            </a:endParaRPr>
          </a:p>
        </p:txBody>
      </p:sp>
      <p:pic>
        <p:nvPicPr>
          <p:cNvPr id="4" name="图片 3" descr="桌子上放着照相机&#10;&#10;AI 生成的内容可能不正确。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0829" y="1359462"/>
            <a:ext cx="7358355" cy="41390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7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457155" y="161926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2800" b="1" strike="noStrike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cs typeface="Roboto" charset="0"/>
                <a:sym typeface="Roboto"/>
              </a:rPr>
              <a:t>Contents</a:t>
            </a:r>
          </a:p>
        </p:txBody>
      </p:sp>
      <p:pic>
        <p:nvPicPr>
          <p:cNvPr id="2" name="Google Shape;82;p1"/>
          <p:cNvPicPr preferRelativeResize="0"/>
          <p:nvPr/>
        </p:nvPicPr>
        <p:blipFill>
          <a:blip r:embed="rId8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031795" y="1200269"/>
            <a:ext cx="5950280" cy="553324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327193" y="1869423"/>
            <a:ext cx="3359482" cy="553324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593768" y="2530186"/>
            <a:ext cx="4826332" cy="553324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008386" y="4597936"/>
            <a:ext cx="8064832" cy="553324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4508168" y="5276410"/>
            <a:ext cx="2997532" cy="553324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853662" y="3220571"/>
            <a:ext cx="6306544" cy="553324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269918" y="3891906"/>
            <a:ext cx="5474032" cy="553324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itle 6"/>
          <p:cNvSpPr txBox="1"/>
          <p:nvPr>
            <p:custDataLst>
              <p:tags r:id="rId4"/>
            </p:custDataLst>
          </p:nvPr>
        </p:nvSpPr>
        <p:spPr>
          <a:xfrm>
            <a:off x="1570188" y="1324371"/>
            <a:ext cx="8873491" cy="4209932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 algn="ctr" fontAlgn="ctr">
              <a:lnSpc>
                <a:spcPts val="45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en-US" altLang="zh-CN" sz="2800" b="1" strike="noStrike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Product Overview &amp; </a:t>
            </a:r>
            <a:r>
              <a:rPr lang="en-US" altLang="zh-CN" sz="2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Main</a:t>
            </a:r>
            <a:r>
              <a:rPr lang="en-US" altLang="zh-CN" sz="2800" b="1" strike="noStrike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Features</a:t>
            </a:r>
          </a:p>
          <a:p>
            <a:pPr lvl="0" algn="ctr" fontAlgn="ctr">
              <a:lnSpc>
                <a:spcPts val="45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en-US" altLang="zh-CN" sz="2800" b="1" strike="noStrike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Why Choose Us?</a:t>
            </a:r>
          </a:p>
          <a:p>
            <a:pPr lvl="0" algn="ctr" fontAlgn="ctr">
              <a:lnSpc>
                <a:spcPts val="45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altLang="zh-CN" sz="2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Interface &amp; Specifications</a:t>
            </a:r>
            <a:endParaRPr lang="en-US" altLang="zh-CN" sz="2800" b="1" strike="noStrike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  <a:p>
            <a:pPr lvl="0" algn="ctr" fontAlgn="ctr">
              <a:lnSpc>
                <a:spcPts val="45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en-US" altLang="zh-CN" sz="2800" b="1" strike="noStrike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Typical Connection &amp; Applications </a:t>
            </a:r>
          </a:p>
          <a:p>
            <a:pPr lvl="0" algn="ctr" fontAlgn="ctr">
              <a:lnSpc>
                <a:spcPts val="45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en-US" altLang="zh-CN" sz="2800" b="1" strike="noStrike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Competitor Analysis</a:t>
            </a:r>
          </a:p>
          <a:p>
            <a:pPr lvl="0" algn="ctr" fontAlgn="ctr">
              <a:lnSpc>
                <a:spcPts val="45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en-US" altLang="zh-CN" sz="2800" b="1" strike="noStrike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Quick Installation Guide</a:t>
            </a:r>
          </a:p>
          <a:p>
            <a:pPr lvl="0" algn="ctr" fontAlgn="ctr">
              <a:lnSpc>
                <a:spcPts val="45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en-US" altLang="zh-CN" sz="2800" b="1" strike="noStrike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Q &amp; A Session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8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11" name="直接连接符 10"/>
          <p:cNvCxnSpPr/>
          <p:nvPr>
            <p:custDataLst>
              <p:tags r:id="rId3"/>
            </p:custDataLst>
          </p:nvPr>
        </p:nvCxnSpPr>
        <p:spPr>
          <a:xfrm>
            <a:off x="8904655" y="1635474"/>
            <a:ext cx="2489200" cy="0"/>
          </a:xfrm>
          <a:prstGeom prst="line">
            <a:avLst/>
          </a:prstGeom>
          <a:ln w="28575" cmpd="sng">
            <a:solidFill>
              <a:schemeClr val="dk2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4"/>
            </p:custDataLst>
          </p:nvPr>
        </p:nvCxnSpPr>
        <p:spPr>
          <a:xfrm>
            <a:off x="5829257" y="5517369"/>
            <a:ext cx="2489200" cy="0"/>
          </a:xfrm>
          <a:prstGeom prst="line">
            <a:avLst/>
          </a:prstGeom>
          <a:ln w="28575" cmpd="sng">
            <a:solidFill>
              <a:schemeClr val="dk2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457155" y="155572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8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Product Overview</a:t>
            </a:r>
          </a:p>
        </p:txBody>
      </p:sp>
      <p:pic>
        <p:nvPicPr>
          <p:cNvPr id="3" name="Google Shape;82;p1"/>
          <p:cNvPicPr preferRelativeResize="0"/>
          <p:nvPr/>
        </p:nvPicPr>
        <p:blipFill>
          <a:blip r:embed="rId9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itle 6"/>
          <p:cNvSpPr txBox="1"/>
          <p:nvPr>
            <p:custDataLst>
              <p:tags r:id="rId6"/>
            </p:custDataLst>
          </p:nvPr>
        </p:nvSpPr>
        <p:spPr>
          <a:xfrm>
            <a:off x="5829300" y="4624842"/>
            <a:ext cx="6201410" cy="1940011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/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 indent="-285750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endParaRPr lang="en-US" altLang="zh-CN" sz="40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  <a:p>
            <a:pPr lvl="0" indent="-285750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en-US" altLang="zh-CN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The CAM-420-PTZ is a 4K dual-lens AI tracking camera designed for medium and huddle rooms. It features a 3x optical zoom and 5x digital zoom PTZ camera with a 110</a:t>
            </a:r>
            <a:r>
              <a:rPr lang="en-US" altLang="en-US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°</a:t>
            </a:r>
            <a:r>
              <a:rPr lang="en-US" altLang="zh-CN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 DFOV and a panoramic lens with a 120</a:t>
            </a:r>
            <a:r>
              <a:rPr lang="en-US" altLang="en-US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°</a:t>
            </a:r>
            <a:r>
              <a:rPr lang="en-US" altLang="zh-CN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 DFOV. With four built-in microphones, it supports voice detection and audio tracking to deliver a more intelligent and engaging conferencing experience.</a:t>
            </a:r>
          </a:p>
          <a:p>
            <a:pPr lvl="0" indent="-285750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en-US" altLang="zh-CN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Powered by advanced AI technology, the camera offers Auto Framing, Speaker Tracking, Presenter Tracking, and Individuals Gallery for a more immersive meeting. NDI technology ensures seamless IP-based video distribution and flexible system integration. In addition, multiple installation options—on a conference table, on top of a TV, wall-mounted, or tripod-mounted—make it instantly ready for any meeting environment.</a:t>
            </a:r>
          </a:p>
          <a:p>
            <a:pPr lvl="0" indent="-285750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endParaRPr lang="en-US" altLang="zh-CN" sz="14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  <a:p>
            <a:pPr lvl="0" indent="-285750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endParaRPr lang="en-US" altLang="zh-CN" sz="14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  <a:p>
            <a:pPr lvl="0" indent="-285750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endParaRPr lang="en-US" altLang="zh-CN" sz="14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  <a:p>
            <a:pPr lvl="0" indent="-285750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endParaRPr lang="en-US" altLang="zh-CN" sz="14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  <a:p>
            <a:pPr lvl="0" indent="-285750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endParaRPr lang="en-US" altLang="zh-CN" sz="14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  <a:p>
            <a:pPr lvl="0" indent="-285750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endParaRPr lang="en-US" altLang="zh-CN" sz="14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  <a:p>
            <a:pPr lvl="0" indent="-285750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endParaRPr lang="en-US" altLang="zh-CN" sz="14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  <a:p>
            <a:pPr lvl="0" indent="-285750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endParaRPr lang="en-US" altLang="zh-CN" sz="14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  <a:p>
            <a:pPr lvl="0" indent="-285750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endParaRPr lang="en-US" altLang="zh-CN" sz="14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  <a:p>
            <a:pPr lvl="0" indent="-285750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endParaRPr lang="en-US" altLang="zh-CN" sz="14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  <a:p>
            <a:pPr lvl="0" indent="-285750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endParaRPr lang="en-US" altLang="zh-CN" sz="14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  <a:p>
            <a:pPr lvl="0" indent="-285750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endParaRPr lang="en-US" altLang="zh-CN" sz="14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  <a:p>
            <a:pPr lvl="0" indent="-285750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endParaRPr lang="en-US" altLang="zh-CN" sz="14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712460" y="1636052"/>
            <a:ext cx="6318250" cy="46277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-285750" algn="l" defTabSz="913765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altLang="zh-CN" sz="2200" b="1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4K dual-lens PTZ Camera with NDI &amp; AI features</a:t>
            </a:r>
            <a:endParaRPr lang="zh-CN" altLang="en-US" sz="2200" dirty="0"/>
          </a:p>
        </p:txBody>
      </p:sp>
      <p:pic>
        <p:nvPicPr>
          <p:cNvPr id="6" name="图片 5" descr="桌子上放着照相机&#10;&#10;AI 生成的内容可能不正确。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88476"/>
            <a:ext cx="5575783" cy="313637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457155" y="17145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8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Why Choose Us:  1. </a:t>
            </a:r>
            <a:r>
              <a:rPr lang="en-US" altLang="zh-CN" sz="2800" b="1" dirty="0">
                <a:solidFill>
                  <a:schemeClr val="lt1"/>
                </a:solidFill>
                <a:latin typeface="Montserrat" pitchFamily="2" charset="0"/>
                <a:ea typeface="微软雅黑" panose="020B0503020204020204" pitchFamily="34" charset="-122"/>
                <a:sym typeface="Roboto"/>
              </a:rPr>
              <a:t>Immersive Viewing Experience</a:t>
            </a:r>
            <a:endParaRPr lang="en-US" altLang="zh-CN" sz="2800" b="1" dirty="0">
              <a:solidFill>
                <a:schemeClr val="lt1"/>
              </a:solidFill>
              <a:uFillTx/>
              <a:latin typeface="Montserrat" pitchFamily="2" charset="0"/>
              <a:ea typeface="微软雅黑" panose="020B0503020204020204" pitchFamily="34" charset="-122"/>
              <a:sym typeface="Roboto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68657" y="1065135"/>
            <a:ext cx="10184154" cy="105061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buFont typeface="Wingdings" panose="05000000000000000000" charset="0"/>
              <a:buNone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Deliver an immersive conferencing experience with 4K high-resolution video, a dual-lens design, and built-in PIP functionality – ensuring stunning detail and captivating visuals throughout the meeting.</a:t>
            </a:r>
          </a:p>
        </p:txBody>
      </p:sp>
      <p:pic>
        <p:nvPicPr>
          <p:cNvPr id="4" name="Google Shape;82;p1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32968" y="2381249"/>
            <a:ext cx="4791557" cy="1439265"/>
          </a:xfrm>
          <a:prstGeom prst="rect">
            <a:avLst/>
          </a:prstGeom>
          <a:solidFill>
            <a:srgbClr val="CDE7ED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932968" y="4283663"/>
            <a:ext cx="4791557" cy="1687827"/>
          </a:xfrm>
          <a:prstGeom prst="rect">
            <a:avLst/>
          </a:prstGeom>
          <a:solidFill>
            <a:srgbClr val="CDE7ED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764844" y="2181791"/>
            <a:ext cx="3369005" cy="427428"/>
          </a:xfrm>
          <a:prstGeom prst="rect">
            <a:avLst/>
          </a:prstGeom>
          <a:solidFill>
            <a:srgbClr val="E1F1F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文本框 4"/>
          <p:cNvSpPr txBox="1"/>
          <p:nvPr/>
        </p:nvSpPr>
        <p:spPr>
          <a:xfrm>
            <a:off x="916279" y="2219890"/>
            <a:ext cx="3945509" cy="323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ts val="2100"/>
              </a:lnSpc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4K high-resolution video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6377229" y="2395505"/>
            <a:ext cx="4791557" cy="1439265"/>
          </a:xfrm>
          <a:prstGeom prst="rect">
            <a:avLst/>
          </a:prstGeom>
          <a:solidFill>
            <a:srgbClr val="CDE7ED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文本框 4"/>
          <p:cNvSpPr txBox="1"/>
          <p:nvPr/>
        </p:nvSpPr>
        <p:spPr>
          <a:xfrm>
            <a:off x="1124483" y="2729651"/>
            <a:ext cx="4209516" cy="10070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buFont typeface="Wingdings" panose="05000000000000000000" charset="0"/>
              <a:buNone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Supports up to 4K@30fps video output via HDMI, USB-C, and NDI, ensuring superior image clarity for your presentations.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00774" y="2181791"/>
            <a:ext cx="2886078" cy="427428"/>
          </a:xfrm>
          <a:prstGeom prst="rect">
            <a:avLst/>
          </a:prstGeom>
          <a:solidFill>
            <a:srgbClr val="E1F1F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文本框 4"/>
          <p:cNvSpPr txBox="1"/>
          <p:nvPr/>
        </p:nvSpPr>
        <p:spPr>
          <a:xfrm>
            <a:off x="6352209" y="2219890"/>
            <a:ext cx="3587853" cy="323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ts val="2100"/>
              </a:lnSpc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Dual-lens design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</p:txBody>
      </p:sp>
      <p:sp>
        <p:nvSpPr>
          <p:cNvPr id="55" name="文本框 4"/>
          <p:cNvSpPr txBox="1"/>
          <p:nvPr/>
        </p:nvSpPr>
        <p:spPr>
          <a:xfrm>
            <a:off x="6531838" y="2672501"/>
            <a:ext cx="4117112" cy="118393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buFont typeface="Wingdings" panose="05000000000000000000" charset="0"/>
              <a:buNone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Features a built-in dual-lens system: a 4K PTZ camera with a 110</a:t>
            </a:r>
            <a:r>
              <a:rPr lang="en-US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°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 DFOV to capture every detail of participants in the room, and a 120</a:t>
            </a:r>
            <a:r>
              <a:rPr lang="en-US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°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 DFOV panoramic lens to capture the entire meeting space.</a:t>
            </a:r>
          </a:p>
          <a:p>
            <a:pPr indent="0" fontAlgn="auto">
              <a:buFont typeface="Wingdings" panose="05000000000000000000" charset="0"/>
              <a:buNone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764844" y="4105421"/>
            <a:ext cx="3353995" cy="427428"/>
          </a:xfrm>
          <a:prstGeom prst="rect">
            <a:avLst/>
          </a:prstGeom>
          <a:solidFill>
            <a:srgbClr val="E1F1F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文本框 4"/>
          <p:cNvSpPr txBox="1"/>
          <p:nvPr/>
        </p:nvSpPr>
        <p:spPr>
          <a:xfrm>
            <a:off x="916279" y="4143520"/>
            <a:ext cx="2886078" cy="323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ts val="2100"/>
              </a:lnSpc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Built-in PIP functionality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</p:txBody>
      </p:sp>
      <p:sp>
        <p:nvSpPr>
          <p:cNvPr id="58" name="文本框 4"/>
          <p:cNvSpPr txBox="1"/>
          <p:nvPr/>
        </p:nvSpPr>
        <p:spPr>
          <a:xfrm>
            <a:off x="1124482" y="4672992"/>
            <a:ext cx="4209517" cy="129849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buFont typeface="Wingdings" panose="05000000000000000000" charset="0"/>
              <a:buNone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The built-in PIP feature allows participants to view multiple perspectives simultaneously — for example, seeing both the speaker and the room view at once — creating a more dynamic conferencing experience.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318135" y="171450"/>
            <a:ext cx="11631930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8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Why Choose Us:  2. Smart AI-Powered Experience &amp; NDI Support</a:t>
            </a:r>
          </a:p>
        </p:txBody>
      </p:sp>
      <p:pic>
        <p:nvPicPr>
          <p:cNvPr id="4" name="Google Shape;82;p1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23" name="文本框 4"/>
          <p:cNvSpPr txBox="1"/>
          <p:nvPr/>
        </p:nvSpPr>
        <p:spPr>
          <a:xfrm>
            <a:off x="868657" y="1030845"/>
            <a:ext cx="10184154" cy="100256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buFont typeface="Wingdings" panose="05000000000000000000" charset="0"/>
              <a:buNone/>
            </a:pP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Smart AI enables effortless Auto Framing, the Individuals Gallery feature, and intelligent tracking to maintain a natural meeting flow. Meanwhile, NDI technology delivers high-quality streaming for seamless integration into any professional setup.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968" y="2381249"/>
            <a:ext cx="4791557" cy="1690112"/>
          </a:xfrm>
          <a:prstGeom prst="rect">
            <a:avLst/>
          </a:prstGeom>
          <a:solidFill>
            <a:srgbClr val="D0ECCE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952018" y="4683730"/>
            <a:ext cx="4791557" cy="1785015"/>
          </a:xfrm>
          <a:prstGeom prst="rect">
            <a:avLst/>
          </a:prstGeom>
          <a:solidFill>
            <a:srgbClr val="D0ECCE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64845" y="2181791"/>
            <a:ext cx="4005274" cy="427428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文本框 4"/>
          <p:cNvSpPr txBox="1"/>
          <p:nvPr/>
        </p:nvSpPr>
        <p:spPr>
          <a:xfrm>
            <a:off x="916278" y="2219890"/>
            <a:ext cx="4005274" cy="2688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 fontAlgn="auto">
              <a:lnSpc>
                <a:spcPts val="2100"/>
              </a:lnSpc>
              <a:buClrTx/>
              <a:buSzTx/>
              <a:buFontTx/>
            </a:pP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Precise and smooth tracking experience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77229" y="2395505"/>
            <a:ext cx="4791557" cy="1690112"/>
          </a:xfrm>
          <a:prstGeom prst="rect">
            <a:avLst/>
          </a:prstGeom>
          <a:solidFill>
            <a:srgbClr val="D0ECCE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文本框 4"/>
          <p:cNvSpPr txBox="1"/>
          <p:nvPr/>
        </p:nvSpPr>
        <p:spPr>
          <a:xfrm>
            <a:off x="1124483" y="2815376"/>
            <a:ext cx="4209516" cy="87039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buFont typeface="Wingdings" panose="05000000000000000000" charset="0"/>
              <a:buNone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Supports Auto Framing, Speaker Tracking, and Presenter Tracking to enhance tracking stability and provide a smoother, more reliable experience.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00773" y="2181791"/>
            <a:ext cx="3802400" cy="427428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文本框 4"/>
          <p:cNvSpPr txBox="1"/>
          <p:nvPr/>
        </p:nvSpPr>
        <p:spPr>
          <a:xfrm>
            <a:off x="6352209" y="2219890"/>
            <a:ext cx="3802401" cy="323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ts val="2100"/>
              </a:lnSpc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Individuals Gallery merges close-ups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</p:txBody>
      </p:sp>
      <p:sp>
        <p:nvSpPr>
          <p:cNvPr id="33" name="文本框 4"/>
          <p:cNvSpPr txBox="1"/>
          <p:nvPr/>
        </p:nvSpPr>
        <p:spPr>
          <a:xfrm>
            <a:off x="6531838" y="2796326"/>
            <a:ext cx="4117112" cy="10070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buFont typeface="Wingdings" panose="05000000000000000000" charset="0"/>
              <a:buNone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The Individuals Gallery feature presents dedicated close-up views of each attendee in the room. This significantly improves visibility, enhances engagement, and creates a more immersive meeting experience.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3894" y="4505488"/>
            <a:ext cx="3398593" cy="427428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文本框 4"/>
          <p:cNvSpPr txBox="1"/>
          <p:nvPr/>
        </p:nvSpPr>
        <p:spPr>
          <a:xfrm>
            <a:off x="916278" y="4543587"/>
            <a:ext cx="3266209" cy="323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ts val="2100"/>
              </a:lnSpc>
            </a:pP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NDI | HX for flexible IP workflows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</p:txBody>
      </p:sp>
      <p:sp>
        <p:nvSpPr>
          <p:cNvPr id="36" name="文本框 4"/>
          <p:cNvSpPr txBox="1"/>
          <p:nvPr/>
        </p:nvSpPr>
        <p:spPr>
          <a:xfrm>
            <a:off x="1143532" y="5139073"/>
            <a:ext cx="4209517" cy="12324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buFont typeface="Wingdings" panose="05000000000000000000" charset="0"/>
              <a:buNone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NDI technology offers greater system flexibility. All NDI-compatible devices on the same network can be accessed easily, enabling more sources to be used for hybrid teaching and meetings.</a:t>
            </a: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457155" y="17145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 fontScale="92500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8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Why Choose Us:  3. Multiple Installation Options</a:t>
            </a:r>
            <a:r>
              <a:rPr lang="en-US" sz="2800" b="1" dirty="0">
                <a:solidFill>
                  <a:schemeClr val="lt1"/>
                </a:solidFill>
                <a:latin typeface="Montserrat" pitchFamily="2" charset="0"/>
                <a:ea typeface="微软雅黑" panose="020B0503020204020204" pitchFamily="34" charset="-122"/>
                <a:sym typeface="Roboto"/>
              </a:rPr>
              <a:t>, Plug &amp; Play</a:t>
            </a:r>
            <a:endParaRPr lang="en-US" sz="2800" b="1" dirty="0">
              <a:solidFill>
                <a:schemeClr val="lt1"/>
              </a:solidFill>
              <a:uFillTx/>
              <a:latin typeface="Montserrat" pitchFamily="2" charset="0"/>
              <a:ea typeface="微软雅黑" panose="020B0503020204020204" pitchFamily="34" charset="-122"/>
              <a:sym typeface="Roboto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32968" y="2400705"/>
            <a:ext cx="4791557" cy="1439265"/>
          </a:xfrm>
          <a:prstGeom prst="rect">
            <a:avLst/>
          </a:prstGeom>
          <a:solidFill>
            <a:srgbClr val="EAECCE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oogle Shape;82;p1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64845" y="2201247"/>
            <a:ext cx="3020389" cy="427428"/>
          </a:xfrm>
          <a:prstGeom prst="rect">
            <a:avLst/>
          </a:prstGeom>
          <a:solidFill>
            <a:srgbClr val="F3F2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文本框 4"/>
          <p:cNvSpPr txBox="1"/>
          <p:nvPr/>
        </p:nvSpPr>
        <p:spPr>
          <a:xfrm>
            <a:off x="916279" y="2239346"/>
            <a:ext cx="3020389" cy="323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ts val="2100"/>
              </a:lnSpc>
            </a:pP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Multiple Installation Options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377229" y="2414961"/>
            <a:ext cx="4791557" cy="1439265"/>
          </a:xfrm>
          <a:prstGeom prst="rect">
            <a:avLst/>
          </a:prstGeom>
          <a:solidFill>
            <a:srgbClr val="EAECCE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文本框 4"/>
          <p:cNvSpPr txBox="1"/>
          <p:nvPr/>
        </p:nvSpPr>
        <p:spPr>
          <a:xfrm>
            <a:off x="1124483" y="2702774"/>
            <a:ext cx="3983762" cy="10070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buFont typeface="Wingdings" panose="05000000000000000000" charset="0"/>
              <a:buNone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Flexible installation options—including placement on a conference table, on a display, on the wall, or on a tripod—make the system adaptable to any meeting environment.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00773" y="2201247"/>
            <a:ext cx="3120391" cy="427428"/>
          </a:xfrm>
          <a:prstGeom prst="rect">
            <a:avLst/>
          </a:prstGeom>
          <a:solidFill>
            <a:srgbClr val="F3F2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文本框 4"/>
          <p:cNvSpPr txBox="1"/>
          <p:nvPr/>
        </p:nvSpPr>
        <p:spPr>
          <a:xfrm>
            <a:off x="6352210" y="2239346"/>
            <a:ext cx="4059962" cy="323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ts val="2100"/>
              </a:lnSpc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Simplified Setup</a:t>
            </a:r>
            <a:endParaRPr sz="1600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</p:txBody>
      </p:sp>
      <p:sp>
        <p:nvSpPr>
          <p:cNvPr id="14" name="文本框 4"/>
          <p:cNvSpPr txBox="1"/>
          <p:nvPr/>
        </p:nvSpPr>
        <p:spPr>
          <a:xfrm>
            <a:off x="6531837" y="2825307"/>
            <a:ext cx="4535679" cy="10070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buFont typeface="Wingdings" panose="05000000000000000000" charset="0"/>
              <a:buNone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Plug-and-play functionality allows guests to connect and start presenting easily, without the need for additional software or complex configuration.</a:t>
            </a:r>
          </a:p>
        </p:txBody>
      </p:sp>
      <p:sp>
        <p:nvSpPr>
          <p:cNvPr id="23" name="文本框 4"/>
          <p:cNvSpPr txBox="1"/>
          <p:nvPr/>
        </p:nvSpPr>
        <p:spPr>
          <a:xfrm>
            <a:off x="868657" y="1274686"/>
            <a:ext cx="10184154" cy="7172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buFont typeface="Wingdings" panose="05000000000000000000" charset="0"/>
              <a:buNone/>
            </a:pP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Multiple installation options simplify the setup process, making it easy for guests to connect and present effortlessly.</a:t>
            </a: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6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644464" y="1083565"/>
            <a:ext cx="7108885" cy="262758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457155" y="17145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8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Interface of the Product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207632" y="1678574"/>
            <a:ext cx="3231512" cy="421422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lnSpc>
                <a:spcPts val="1380"/>
              </a:lnSpc>
            </a:pPr>
            <a:r>
              <a:rPr lang="en-US" sz="1600" b="1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USB-C </a:t>
            </a:r>
            <a:r>
              <a:rPr lang="en-US" altLang="zh-CN" sz="1600" b="1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output</a:t>
            </a:r>
            <a:endParaRPr lang="en-US" sz="16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  <a:p>
            <a:pPr indent="0" fontAlgn="auto">
              <a:lnSpc>
                <a:spcPts val="1380"/>
              </a:lnSpc>
            </a:pPr>
            <a:r>
              <a:rPr lang="en-US" altLang="zh-CN" sz="14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Connect to a laptop or base unit (e.g., SW-640L-TX-W, MX-0403-H3-MST, MX-0402-MST, NHD-500 series, etc.) to create an immersive hybrid meeting experience.</a:t>
            </a:r>
          </a:p>
          <a:p>
            <a:pPr indent="0" fontAlgn="auto">
              <a:lnSpc>
                <a:spcPts val="1380"/>
              </a:lnSpc>
            </a:pPr>
            <a:endParaRPr lang="en-US" altLang="zh-CN" sz="1600" b="1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  <a:p>
            <a:pPr indent="0" fontAlgn="auto">
              <a:lnSpc>
                <a:spcPts val="1380"/>
              </a:lnSpc>
            </a:pPr>
            <a:r>
              <a:rPr lang="en-US" altLang="zh-CN" sz="1600" b="1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HDMI output</a:t>
            </a:r>
          </a:p>
          <a:p>
            <a:pPr indent="0" algn="l" fontAlgn="auto">
              <a:lnSpc>
                <a:spcPts val="1380"/>
              </a:lnSpc>
              <a:buClrTx/>
              <a:buSzTx/>
              <a:buNone/>
            </a:pPr>
            <a:r>
              <a:rPr lang="en-US" altLang="zh-CN" sz="14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Connect to a display with high-quality video up to 4K@30Hz.</a:t>
            </a:r>
            <a:endParaRPr lang="en-US" altLang="zh-CN" sz="1400" b="1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  <a:p>
            <a:pPr indent="0" algn="l" fontAlgn="auto">
              <a:lnSpc>
                <a:spcPts val="1380"/>
              </a:lnSpc>
              <a:buClrTx/>
              <a:buSzTx/>
              <a:buNone/>
            </a:pPr>
            <a:endParaRPr lang="en-US" altLang="zh-CN" sz="1600" b="1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  <a:p>
            <a:pPr indent="0" fontAlgn="auto">
              <a:lnSpc>
                <a:spcPts val="1380"/>
              </a:lnSpc>
            </a:pPr>
            <a:r>
              <a:rPr lang="en-US" altLang="zh-CN" sz="1600" b="1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Ethernet Port</a:t>
            </a:r>
            <a:endParaRPr lang="en-US" sz="16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  <a:p>
            <a:pPr indent="0" fontAlgn="auto">
              <a:lnSpc>
                <a:spcPts val="1380"/>
              </a:lnSpc>
            </a:pPr>
            <a:r>
              <a:rPr lang="en-US" altLang="zh-CN" sz="14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Connect to a network switch for remote device management via the web interface, or for NDI transmission to deliver video over Ethernet.</a:t>
            </a:r>
          </a:p>
        </p:txBody>
      </p:sp>
      <p:sp>
        <p:nvSpPr>
          <p:cNvPr id="15" name="文本框 8"/>
          <p:cNvSpPr txBox="1"/>
          <p:nvPr/>
        </p:nvSpPr>
        <p:spPr>
          <a:xfrm>
            <a:off x="8171223" y="1157767"/>
            <a:ext cx="1986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u="sng" dirty="0">
                <a:latin typeface="Roboto" charset="0"/>
                <a:cs typeface="Roboto" charset="0"/>
              </a:rPr>
              <a:t>Featuring:</a:t>
            </a:r>
          </a:p>
        </p:txBody>
      </p:sp>
      <p:pic>
        <p:nvPicPr>
          <p:cNvPr id="16" name="Google Shape;82;p1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4464" y="3868461"/>
            <a:ext cx="7108885" cy="2818087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文本框 8"/>
          <p:cNvSpPr txBox="1"/>
          <p:nvPr/>
        </p:nvSpPr>
        <p:spPr>
          <a:xfrm>
            <a:off x="6608762" y="1157767"/>
            <a:ext cx="1986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Roboto" charset="0"/>
                <a:cs typeface="Roboto" charset="0"/>
              </a:rPr>
              <a:t>Front Panel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666547" y="3927899"/>
            <a:ext cx="1851660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400" b="1" dirty="0">
                <a:latin typeface="Roboto" charset="0"/>
                <a:cs typeface="Roboto" charset="0"/>
                <a:sym typeface="+mn-ea"/>
              </a:rPr>
              <a:t>Rear Panel</a:t>
            </a:r>
          </a:p>
        </p:txBody>
      </p:sp>
      <p:pic>
        <p:nvPicPr>
          <p:cNvPr id="3" name="图片 2" descr="桌子上放着照相机&#10;&#10;AI 生成的内容可能不正确。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1014" y="761802"/>
            <a:ext cx="5575783" cy="3136378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08802" y="3963711"/>
            <a:ext cx="3508367" cy="262758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7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457155" y="17145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8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Specifications &amp; Packing List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242219" y="1901190"/>
            <a:ext cx="4597400" cy="25488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b="1" dirty="0">
                <a:latin typeface="Roboto" charset="0"/>
                <a:cs typeface="Arial" panose="020B0604020202020204" pitchFamily="34" charset="0"/>
              </a:rPr>
              <a:t>What’s in the Box?</a:t>
            </a:r>
          </a:p>
          <a:p>
            <a:pPr>
              <a:lnSpc>
                <a:spcPts val="900"/>
              </a:lnSpc>
            </a:pPr>
            <a:endParaRPr lang="zh-CN" altLang="en-US" sz="1600" dirty="0">
              <a:latin typeface="Roboto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cs typeface="Arial" panose="020B0604020202020204" pitchFamily="34" charset="0"/>
              </a:rPr>
              <a:t>1x CAM-420-PTZ Camera</a:t>
            </a: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cs typeface="Arial" panose="020B0604020202020204" pitchFamily="34" charset="0"/>
              </a:rPr>
              <a:t>1x 12V/3.0A Power Supply (US, UK, EU, AU)</a:t>
            </a: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cs typeface="Arial" panose="020B0604020202020204" pitchFamily="34" charset="0"/>
              </a:rPr>
              <a:t>1x USB-C to USB3.0 Type-A cable (1.8m)</a:t>
            </a: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cs typeface="Arial" panose="020B0604020202020204" pitchFamily="34" charset="0"/>
              </a:rPr>
              <a:t>1x Mounting Kits (installation on table or wall)</a:t>
            </a: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cs typeface="Arial" panose="020B0604020202020204" pitchFamily="34" charset="0"/>
              </a:rPr>
              <a:t>1x Quick Start Guide</a:t>
            </a: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cs typeface="Arial" panose="020B0604020202020204" pitchFamily="34" charset="0"/>
              </a:rPr>
              <a:t>1x Remote Controller</a:t>
            </a: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cs typeface="Arial" panose="020B0604020202020204" pitchFamily="34" charset="0"/>
              </a:rPr>
              <a:t>1x Privacy Cover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cs typeface="Arial" panose="020B0604020202020204" pitchFamily="34" charset="0"/>
            </a:endParaRPr>
          </a:p>
        </p:txBody>
      </p:sp>
      <p:pic>
        <p:nvPicPr>
          <p:cNvPr id="6" name="Google Shape;82;p1"/>
          <p:cNvPicPr preferRelativeResize="0"/>
          <p:nvPr/>
        </p:nvPicPr>
        <p:blipFill>
          <a:blip r:embed="rId8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457155" y="952502"/>
          <a:ext cx="6290945" cy="5749925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12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0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80">
                <a:tc gridSpan="2">
                  <a:txBody>
                    <a:bodyPr/>
                    <a:lstStyle/>
                    <a:p>
                      <a:r>
                        <a:rPr lang="en-US" altLang="zh-CN" sz="16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Main Specifications</a:t>
                      </a:r>
                    </a:p>
                  </a:txBody>
                  <a:tcPr anchor="ctr">
                    <a:solidFill>
                      <a:srgbClr val="0B793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Outputs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Roboto" charset="0"/>
                          <a:cs typeface="Arial" panose="020B0604020202020204" pitchFamily="34" charset="0"/>
                        </a:rPr>
                        <a:t>1x USB-C output, 1x HDMI output, 1x NDI output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Video Resolution (Max)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Roboto" charset="0"/>
                          <a:cs typeface="Arial" panose="020B0604020202020204" pitchFamily="34" charset="0"/>
                        </a:rPr>
                        <a:t>4K@30fps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893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Output Video Encoding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Roboto" charset="0"/>
                          <a:cs typeface="Arial" panose="020B0604020202020204" pitchFamily="34" charset="0"/>
                        </a:rPr>
                        <a:t>MJPEG (default) | H.265 | H.264 | NV12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Sensor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Roboto" charset="0"/>
                          <a:cs typeface="Arial" panose="020B0604020202020204" pitchFamily="34" charset="0"/>
                        </a:rPr>
                        <a:t>AI lens: 8MP | 3x optical zoom; 5x digital zoom | DFOV: 110°</a:t>
                      </a:r>
                    </a:p>
                    <a:p>
                      <a:r>
                        <a:rPr lang="en-US" altLang="zh-CN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Roboto" charset="0"/>
                          <a:cs typeface="Arial" panose="020B0604020202020204" pitchFamily="34" charset="0"/>
                        </a:rPr>
                        <a:t>Panoramic lens: 2MP | Fixed lens DFOV: 120°</a:t>
                      </a:r>
                      <a:endParaRPr lang="en-US" altLang="zh-CN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Roboto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835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Rotation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Roboto" charset="0"/>
                          <a:cs typeface="Arial" panose="020B0604020202020204" pitchFamily="34" charset="0"/>
                        </a:rPr>
                        <a:t>Horizontal: ±75°| Vertical: ±45°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Smart AI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Roboto" charset="0"/>
                          <a:cs typeface="Arial" panose="020B0604020202020204" pitchFamily="34" charset="0"/>
                        </a:rPr>
                        <a:t>Auto Framing (default as on), Speaker Tracking</a:t>
                      </a:r>
                    </a:p>
                    <a:p>
                      <a:r>
                        <a:rPr lang="en-US" altLang="zh-CN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Roboto" charset="0"/>
                          <a:cs typeface="Arial" panose="020B0604020202020204" pitchFamily="34" charset="0"/>
                        </a:rPr>
                        <a:t>Presenter Tracking, Individuals Gallery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5824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Microphone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Roboto" charset="0"/>
                          <a:cs typeface="Arial" panose="020B0604020202020204" pitchFamily="34" charset="0"/>
                        </a:rPr>
                        <a:t>4x MEMS mic array</a:t>
                      </a:r>
                    </a:p>
                    <a:p>
                      <a:r>
                        <a:rPr lang="en-US" altLang="zh-CN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Roboto" charset="0"/>
                          <a:cs typeface="Arial" panose="020B0604020202020204" pitchFamily="34" charset="0"/>
                        </a:rPr>
                        <a:t>Pickup Range: 5m</a:t>
                      </a:r>
                    </a:p>
                    <a:p>
                      <a:r>
                        <a:rPr lang="en-US" altLang="zh-CN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Roboto" charset="0"/>
                          <a:cs typeface="Arial" panose="020B0604020202020204" pitchFamily="34" charset="0"/>
                        </a:rPr>
                        <a:t>* Note: MIC is used for internal AI processing and does not capture audio for hybrid transmission in conferences;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1650">
                <a:tc rowSpan="2"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USB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Roboto" charset="0"/>
                          <a:cs typeface="Arial" panose="020B0604020202020204" pitchFamily="34" charset="0"/>
                        </a:rPr>
                        <a:t>1x USB-C: USB 3.2 Gen 1 | Max Bandwidth: 5.0 Gbps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Roboto" charset="0"/>
                          <a:cs typeface="Arial" panose="020B0604020202020204" pitchFamily="34" charset="0"/>
                        </a:rPr>
                        <a:t>1x USB-A: USB 2.0 | Max Bandwidth: 480Mbps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Ethernet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Roboto" charset="0"/>
                          <a:cs typeface="Arial" panose="020B0604020202020204" pitchFamily="34" charset="0"/>
                        </a:rPr>
                        <a:t>1x LAN port | NDI output | Web UI | API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Control Method 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Roboto" charset="0"/>
                          <a:cs typeface="Arial" panose="020B0604020202020204" pitchFamily="34" charset="0"/>
                        </a:rPr>
                        <a:t>Web UI | RCU | API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Power Supply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Roboto" charset="0"/>
                          <a:cs typeface="Arial" panose="020B0604020202020204" pitchFamily="34" charset="0"/>
                        </a:rPr>
                        <a:t>12V DC 3A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6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/>
          <p:nvPr>
            <p:custDataLst>
              <p:tags r:id="rId2"/>
            </p:custDataLst>
          </p:nvPr>
        </p:nvSpPr>
        <p:spPr>
          <a:xfrm>
            <a:off x="655954" y="1068070"/>
            <a:ext cx="4638289" cy="549275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/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sz="1800" b="1" u="sng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Application Scenario 1</a:t>
            </a:r>
            <a:r>
              <a:rPr sz="1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:</a:t>
            </a:r>
            <a:br>
              <a:rPr sz="1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</a:br>
            <a:r>
              <a:rPr sz="20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Medium Conference Room</a:t>
            </a:r>
          </a:p>
          <a:p>
            <a:pPr lvl="0" indent="-285750" fontAlgn="ctr">
              <a:lnSpc>
                <a:spcPts val="15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en-US" altLang="zh-CN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Deliver a professional hybrid meeting experience with the CAM-420-PTZ camera and HALO-80 speakerphone. Participants can easily share content, interact with remote colleagues, and enjoy a seamless and efficient meeting experience.</a:t>
            </a:r>
          </a:p>
          <a:p>
            <a:pPr lvl="0" indent="-285750" fontAlgn="ctr">
              <a:lnSpc>
                <a:spcPts val="15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endParaRPr lang="en-US" altLang="zh-CN" sz="14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  <a:p>
            <a:pPr lvl="0" indent="-285750" fontAlgn="ctr">
              <a:lnSpc>
                <a:spcPts val="15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sz="16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Key Benefits </a:t>
            </a:r>
            <a:r>
              <a:rPr sz="16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I</a:t>
            </a:r>
            <a:r>
              <a:rPr sz="16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nclude:</a:t>
            </a:r>
          </a:p>
          <a:p>
            <a:pPr marL="290830" lvl="0" indent="-290830" fontAlgn="ctr">
              <a:lnSpc>
                <a:spcPts val="15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altLang="zh-CN" sz="14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Multiple casting methods : </a:t>
            </a:r>
            <a:r>
              <a:rPr lang="en-US" altLang="zh-CN" sz="1400" spc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Simplifies presentations with various options.</a:t>
            </a:r>
            <a:endParaRPr lang="en-US" sz="1400" spc="0" dirty="0">
              <a:ln w="3175">
                <a:noFill/>
                <a:prstDash val="dash"/>
              </a:ln>
              <a:solidFill>
                <a:prstClr val="black">
                  <a:lumMod val="75000"/>
                  <a:lumOff val="25000"/>
                </a:prstClr>
              </a:solidFill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  <a:p>
            <a:pPr marL="290830" lvl="0" indent="-290830" algn="l" fontAlgn="ctr">
              <a:lnSpc>
                <a:spcPts val="15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l"/>
            </a:pPr>
            <a:r>
              <a:rPr lang="en-US" altLang="zh-CN" sz="14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Hybrid Teaching &amp; Meeting </a:t>
            </a:r>
            <a:r>
              <a:rPr sz="14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: </a:t>
            </a:r>
            <a:r>
              <a:rPr lang="en-US" altLang="zh-CN" sz="1400" spc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Connects to the CAM-420-PTZ and HALO-80 speakerphone to provide a professional hybrid conferencing experience.</a:t>
            </a:r>
          </a:p>
          <a:p>
            <a:pPr marL="290830" lvl="0" indent="-290830" algn="l" fontAlgn="ctr">
              <a:lnSpc>
                <a:spcPts val="15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altLang="zh-CN" sz="14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Flexible control methods </a:t>
            </a:r>
            <a:r>
              <a:rPr sz="14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: </a:t>
            </a:r>
            <a:r>
              <a:rPr lang="en-US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Quick and smooth control by RS232, or Web-UI or working with our In-Desk Box.</a:t>
            </a:r>
            <a:endParaRPr lang="en-US" sz="14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2" name="矩形 7"/>
          <p:cNvSpPr/>
          <p:nvPr>
            <p:custDataLst>
              <p:tags r:id="rId3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6"/>
          <p:cNvSpPr txBox="1"/>
          <p:nvPr>
            <p:custDataLst>
              <p:tags r:id="rId4"/>
            </p:custDataLst>
          </p:nvPr>
        </p:nvSpPr>
        <p:spPr>
          <a:xfrm>
            <a:off x="457155" y="15621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8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Typical Connection &amp; Applications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3FD2211-F62E-0372-65E3-9D3F4ABEDC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1981082"/>
            <a:ext cx="5203763" cy="428877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6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/>
          <p:nvPr>
            <p:custDataLst>
              <p:tags r:id="rId2"/>
            </p:custDataLst>
          </p:nvPr>
        </p:nvSpPr>
        <p:spPr>
          <a:xfrm>
            <a:off x="655955" y="1068070"/>
            <a:ext cx="4535245" cy="549275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/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sz="1800" b="1" u="sng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Application Scenario 2</a:t>
            </a:r>
            <a:r>
              <a:rPr sz="1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:</a:t>
            </a:r>
            <a:br>
              <a:rPr sz="1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</a:br>
            <a:r>
              <a:rPr sz="20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Medium Conference Room </a:t>
            </a:r>
            <a:r>
              <a:rPr lang="en-US" sz="20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(NDI)</a:t>
            </a:r>
            <a:endParaRPr sz="2000" b="1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  <a:p>
            <a:pPr lvl="0" indent="-285750" fontAlgn="ctr">
              <a:lnSpc>
                <a:spcPts val="15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en-US" altLang="zh-CN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Designed to create a seamless, professional hybrid experience with NDI technique (CAM-420-PTZ, CAM-0402-BRG). Participants can easily share content, interact with remote colleagues, and enjoy a professional and efficient meeting experience.</a:t>
            </a:r>
            <a:endParaRPr sz="14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  <a:p>
            <a:pPr marL="0" lvl="0" indent="-285750" algn="l" fontAlgn="ctr">
              <a:lnSpc>
                <a:spcPts val="15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endParaRPr sz="12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  <a:p>
            <a:pPr marL="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sz="1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Key Benefits </a:t>
            </a:r>
            <a:r>
              <a:rPr sz="1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I</a:t>
            </a:r>
            <a:r>
              <a:rPr sz="1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nclude:</a:t>
            </a:r>
            <a:endParaRPr sz="18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  <a:p>
            <a:pPr marL="290830" lvl="0" indent="-290830" fontAlgn="ctr">
              <a:lnSpc>
                <a:spcPts val="15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altLang="zh-CN" sz="14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Multiple casting methods : </a:t>
            </a:r>
            <a:r>
              <a:rPr lang="en-US" altLang="zh-CN" sz="1400" spc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Simplifies presentations with various options.</a:t>
            </a:r>
            <a:endParaRPr lang="en-US" sz="1400" spc="0" dirty="0">
              <a:ln w="3175">
                <a:noFill/>
                <a:prstDash val="dash"/>
              </a:ln>
              <a:solidFill>
                <a:prstClr val="black">
                  <a:lumMod val="75000"/>
                  <a:lumOff val="25000"/>
                </a:prstClr>
              </a:solidFill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  <a:p>
            <a:pPr marL="290830" lvl="0" indent="-290830" algn="l" fontAlgn="ctr">
              <a:lnSpc>
                <a:spcPts val="15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altLang="zh-CN" sz="14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NDI® | HX2 for NDI cameras: </a:t>
            </a:r>
            <a:r>
              <a:rPr lang="en-US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Enables video sources to be transmitted over Ethernet, allowing more sources to be integrated into hybrid teaching and conferencing setups. </a:t>
            </a:r>
          </a:p>
          <a:p>
            <a:pPr marL="290830" lvl="0" indent="-290830" algn="l" fontAlgn="ctr">
              <a:lnSpc>
                <a:spcPts val="15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altLang="zh-CN" sz="14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Hybrid Teaching &amp; Meeting : </a:t>
            </a:r>
            <a:r>
              <a:rPr lang="en-US" altLang="zh-CN" sz="1400" spc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Connect to CAM-420-PTZ, speakerphone, we offer professional hybrid experience.</a:t>
            </a:r>
            <a:endParaRPr lang="en-US" altLang="zh-CN" sz="1400" b="1" spc="0" dirty="0">
              <a:ln w="3175">
                <a:noFill/>
                <a:prstDash val="dash"/>
              </a:ln>
              <a:solidFill>
                <a:prstClr val="black">
                  <a:lumMod val="75000"/>
                  <a:lumOff val="25000"/>
                </a:prstClr>
              </a:solidFill>
              <a:uFillTx/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2" name="矩形 7"/>
          <p:cNvSpPr/>
          <p:nvPr>
            <p:custDataLst>
              <p:tags r:id="rId3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6"/>
          <p:cNvSpPr txBox="1"/>
          <p:nvPr>
            <p:custDataLst>
              <p:tags r:id="rId4"/>
            </p:custDataLst>
          </p:nvPr>
        </p:nvSpPr>
        <p:spPr>
          <a:xfrm>
            <a:off x="457155" y="15621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8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Typical Connection &amp; Applications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901" y="1297076"/>
            <a:ext cx="6521184" cy="503473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表格 9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88940108"/>
              </p:ext>
            </p:extLst>
          </p:nvPr>
        </p:nvGraphicFramePr>
        <p:xfrm>
          <a:off x="900747" y="1110234"/>
          <a:ext cx="10111810" cy="515804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624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78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8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0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23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07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81061">
                <a:tc gridSpan="2"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1" u="none" strike="noStrike" kern="1200" dirty="0">
                          <a:solidFill>
                            <a:schemeClr val="lt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Features</a:t>
                      </a:r>
                    </a:p>
                  </a:txBody>
                  <a:tcPr marL="4215" marR="4215" marT="4215" marB="0" anchor="ctr">
                    <a:solidFill>
                      <a:srgbClr val="0B793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4215" marR="4215" marT="4215" marB="0" anchor="ctr">
                    <a:solidFill>
                      <a:srgbClr val="0B79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4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CAM-420-PTZ</a:t>
                      </a:r>
                      <a:endParaRPr lang="en-US" altLang="zh-CN" sz="1400" i="0" u="none" strike="noStrike" dirty="0"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215" marR="4215" marT="4215" marB="0" anchor="ctr">
                    <a:solidFill>
                      <a:srgbClr val="0B79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4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Logi Rally PTZ</a:t>
                      </a:r>
                      <a:endParaRPr lang="en-US" altLang="zh-CN" sz="1400" i="0" u="none" strike="noStrike" dirty="0"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215" marR="4215" marT="4215" marB="0" anchor="ctr">
                    <a:solidFill>
                      <a:srgbClr val="0B79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4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Yealink UVC86</a:t>
                      </a:r>
                      <a:endParaRPr lang="en-US" altLang="zh-CN" sz="1400" i="0" u="none" strike="noStrike" dirty="0"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215" marR="4215" marT="4215" marB="0" anchor="ctr">
                    <a:solidFill>
                      <a:srgbClr val="0B79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4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Aver CAM570</a:t>
                      </a:r>
                      <a:endParaRPr lang="en-US" altLang="zh-CN" sz="1400" i="0" u="none" strike="noStrike" dirty="0"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215" marR="4215" marT="4215" marB="0" anchor="ctr">
                    <a:solidFill>
                      <a:srgbClr val="0B79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138">
                <a:tc rowSpan="4">
                  <a:txBody>
                    <a:bodyPr/>
                    <a:lstStyle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lang="en-US" altLang="zh-CN" sz="1000" u="none" strike="noStrike" kern="1200" dirty="0">
                          <a:solidFill>
                            <a:schemeClr val="dk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Main</a:t>
                      </a:r>
                      <a:r>
                        <a:rPr lang="zh-CN" altLang="en-US" sz="1000" u="none" strike="noStrike" kern="1200" dirty="0">
                          <a:solidFill>
                            <a:schemeClr val="dk1"/>
                          </a:solidFill>
                          <a:latin typeface="Roboto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000" u="none" strike="noStrike" kern="1200" dirty="0">
                          <a:solidFill>
                            <a:schemeClr val="dk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Features</a:t>
                      </a:r>
                      <a:endParaRPr lang="zh-CN" altLang="en-US" sz="1000" u="none" strike="noStrike" kern="1200" dirty="0">
                        <a:solidFill>
                          <a:schemeClr val="dk1"/>
                        </a:solidFill>
                        <a:latin typeface="Roboto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 Resolution</a:t>
                      </a:r>
                      <a:endParaRPr lang="en-US" altLang="zh-CN" sz="1000" i="0" u="none" strike="noStrike" dirty="0"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215" marR="4215" marT="4215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Up to 4K 30fps</a:t>
                      </a:r>
                      <a:endParaRPr lang="en-US" altLang="zh-CN" sz="1000" b="0" i="0" u="none" strike="noStrike" dirty="0"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215" marR="4215" marT="4215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Up to 4K 30fps</a:t>
                      </a:r>
                      <a:endParaRPr lang="en-US" altLang="zh-CN" sz="1000" b="0" i="0" u="none" strike="noStrike" dirty="0"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215" marR="4215" marT="4215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Up to 4K 30fps</a:t>
                      </a:r>
                      <a:endParaRPr lang="en-US" altLang="zh-CN" sz="1000" b="0" i="0" u="none" strike="noStrike" dirty="0"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215" marR="4215" marT="4215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Up to 4K 30fps</a:t>
                      </a:r>
                      <a:endParaRPr lang="en-US" altLang="zh-CN" sz="1000" b="0" i="0" u="none" strike="noStrike" dirty="0"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215" marR="4215" marT="4215" marB="0" anchor="ctr">
                    <a:solidFill>
                      <a:srgbClr val="E3F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736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AI tracking feature</a:t>
                      </a:r>
                      <a:endParaRPr lang="en-US" altLang="zh-CN" sz="1000" i="0" u="none" strike="noStrike" dirty="0"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215" marR="4215" marT="4215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Auto Framing</a:t>
                      </a:r>
                      <a:b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</a:b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Presenter Tracking</a:t>
                      </a:r>
                      <a:b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</a:b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Speaker Tracking</a:t>
                      </a:r>
                      <a:b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</a:b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Individuals Gallery</a:t>
                      </a:r>
                      <a:endParaRPr lang="en-US" altLang="zh-CN" sz="1000" i="0" u="none" strike="noStrike" dirty="0"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215" marR="4215" marT="4215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N/A</a:t>
                      </a:r>
                      <a:endParaRPr lang="en-US" altLang="zh-CN" sz="1000" b="0" i="0" u="none" strike="noStrike" dirty="0"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215" marR="4215" marT="4215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Auto Framing</a:t>
                      </a:r>
                      <a:b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</a:b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Presenter Tracking</a:t>
                      </a:r>
                      <a:b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</a:b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Speaker Tracking</a:t>
                      </a:r>
                      <a:b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</a:b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Smart Gallery</a:t>
                      </a:r>
                      <a:endParaRPr lang="en-US" altLang="zh-CN" sz="1000" b="0" i="0" u="none" strike="noStrike" dirty="0"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215" marR="4215" marT="4215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Auto Framing</a:t>
                      </a:r>
                      <a:b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</a:b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Presenter Tracking</a:t>
                      </a:r>
                      <a:b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</a:b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Speaker Tracking</a:t>
                      </a:r>
                      <a:b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</a:b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Smart Gallery</a:t>
                      </a:r>
                      <a:endParaRPr lang="en-US" altLang="zh-CN" sz="1000" b="0" i="0" u="none" strike="noStrike" dirty="0"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215" marR="4215" marT="4215" marB="0"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38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Picture  Mode</a:t>
                      </a:r>
                      <a:endParaRPr lang="en-US" altLang="zh-CN" sz="1000" i="0" u="none" strike="noStrike" dirty="0"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215" marR="4215" marT="4215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Single / </a:t>
                      </a:r>
                      <a:r>
                        <a:rPr lang="en-US" altLang="zh-CN" sz="1000" u="none" strike="noStrike" dirty="0" err="1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PiP</a:t>
                      </a:r>
                      <a:endParaRPr lang="en-US" altLang="zh-CN" sz="1000" b="0" i="0" u="none" strike="noStrike" dirty="0"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215" marR="4215" marT="4215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Single</a:t>
                      </a:r>
                      <a:endParaRPr lang="en-US" altLang="zh-CN" sz="1000" b="0" i="0" u="none" strike="noStrike" dirty="0"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215" marR="4215" marT="4215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Single / </a:t>
                      </a:r>
                      <a:r>
                        <a:rPr lang="en-US" altLang="zh-CN" sz="1000" u="none" strike="noStrike" dirty="0" err="1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PiP</a:t>
                      </a:r>
                      <a:endParaRPr lang="en-US" altLang="zh-CN" sz="1000" b="0" i="0" u="none" strike="noStrike" dirty="0"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215" marR="4215" marT="4215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Single / </a:t>
                      </a:r>
                      <a:r>
                        <a:rPr lang="en-US" altLang="zh-CN" sz="1000" u="none" strike="noStrike" dirty="0" err="1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PiP</a:t>
                      </a:r>
                      <a:endParaRPr lang="en-US" altLang="zh-CN" sz="1000" b="0" i="0" u="none" strike="noStrike" dirty="0"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215" marR="4215" marT="4215" marB="0" anchor="ctr">
                    <a:solidFill>
                      <a:srgbClr val="E3F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709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4215" marR="4215" marT="4215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u="none" strike="noStrike" kern="1200" dirty="0">
                          <a:solidFill>
                            <a:schemeClr val="dk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Outputs</a:t>
                      </a:r>
                    </a:p>
                  </a:txBody>
                  <a:tcPr marL="4215" marR="4215" marT="4215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USB output: 4K@30fps</a:t>
                      </a:r>
                      <a:b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</a:b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HDMI output: 4K@30Hz</a:t>
                      </a:r>
                      <a:b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</a:b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NDI output: 4K@30Hz</a:t>
                      </a:r>
                      <a:endParaRPr lang="en-US" altLang="zh-CN" sz="1000" i="0" u="none" dirty="0"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215" marR="4215" marT="4215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USB output: 4K@30fps</a:t>
                      </a:r>
                      <a:endParaRPr lang="en-US" altLang="zh-CN" sz="1000" b="0" i="0" u="none" strike="noStrike" dirty="0"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215" marR="4215" marT="4215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USB output: 4K@30fps</a:t>
                      </a:r>
                      <a:b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</a:b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HDMI output: 4K@30Hz</a:t>
                      </a:r>
                      <a:endParaRPr lang="en-US" altLang="zh-CN" sz="1000" b="0" i="0" u="none" strike="noStrike" dirty="0"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215" marR="4215" marT="4215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USB output: 4K@30fps</a:t>
                      </a:r>
                      <a:b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</a:b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HDMI output: 4K@30Hz</a:t>
                      </a:r>
                      <a:b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</a:b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NDI output: 4K@30Hz</a:t>
                      </a:r>
                      <a:endParaRPr lang="en-US" altLang="zh-CN" sz="1000" b="0" i="0" u="none" dirty="0"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215" marR="4215" marT="4215" marB="0"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8767">
                <a:tc rowSpan="2">
                  <a:txBody>
                    <a:bodyPr/>
                    <a:lstStyle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lang="en-US" altLang="zh-CN" sz="1000" u="none" strike="noStrike" kern="1200" dirty="0">
                          <a:solidFill>
                            <a:schemeClr val="dk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Lens</a:t>
                      </a:r>
                    </a:p>
                  </a:txBody>
                  <a:tcPr marL="4215" marR="4215" marT="4215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AI Lens</a:t>
                      </a:r>
                      <a:endParaRPr lang="en-US" altLang="zh-CN" sz="1000" i="0" u="none" strike="noStrike" dirty="0"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215" marR="4215" marT="4215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8MP, </a:t>
                      </a: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3x optical Zoom,</a:t>
                      </a: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5x digital Zoom</a:t>
                      </a: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DFOV 110°</a:t>
                      </a:r>
                      <a:endParaRPr lang="en-US" altLang="zh-CN" sz="1000" i="0" u="none" strike="noStrike" dirty="0"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215" marR="4215" marT="4215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8MP,</a:t>
                      </a: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 5x optical Zoom, </a:t>
                      </a: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DFOV 90°</a:t>
                      </a:r>
                      <a:endParaRPr lang="en-US" altLang="zh-CN" sz="1000" b="0" i="0" u="none" strike="noStrike" dirty="0"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215" marR="4215" marT="4215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8MP,</a:t>
                      </a: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 12x optical Zoom, </a:t>
                      </a: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DFOV 90°</a:t>
                      </a:r>
                      <a:endParaRPr lang="en-US" altLang="zh-CN" sz="1000" b="0" i="0" u="none" strike="noStrike" dirty="0"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215" marR="4215" marT="4215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8MP,</a:t>
                      </a: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 12x optical Zoom, </a:t>
                      </a: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DFOV 90°</a:t>
                      </a:r>
                      <a:endParaRPr lang="en-US" altLang="zh-CN" sz="1000" b="0" i="0" u="none" strike="noStrike" dirty="0"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215" marR="4215" marT="4215" marB="0" anchor="ctr">
                    <a:solidFill>
                      <a:srgbClr val="E3F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18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Panoramic Lens</a:t>
                      </a:r>
                      <a:endParaRPr lang="en-US" altLang="zh-CN" sz="1000" i="0" u="none" strike="noStrike" dirty="0"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215" marR="4215" marT="4215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2MP, fixed focus, DFOV 120°</a:t>
                      </a:r>
                      <a:endParaRPr lang="en-US" altLang="zh-CN" sz="1000" i="0" u="none" strike="noStrike" dirty="0"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215" marR="4215" marT="4215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N/A</a:t>
                      </a:r>
                      <a:endParaRPr lang="en-US" altLang="zh-CN" sz="1000" b="0" i="0" u="none" strike="noStrike" dirty="0"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215" marR="4215" marT="4215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8MP, fixed focus, DFOV 120°</a:t>
                      </a:r>
                      <a:endParaRPr lang="en-US" altLang="zh-CN" sz="1000" b="0" i="0" u="none" strike="noStrike" dirty="0"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215" marR="4215" marT="4215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8MP, fixed focus, DFOV 95°</a:t>
                      </a:r>
                      <a:endParaRPr lang="en-US" altLang="zh-CN" sz="1000" b="0" i="0" u="none" strike="noStrike" dirty="0"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215" marR="4215" marT="4215" marB="0"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65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lang="en-US" altLang="zh-CN" sz="1000" u="none" strike="noStrike" kern="1200" dirty="0">
                          <a:solidFill>
                            <a:schemeClr val="dk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Audio</a:t>
                      </a:r>
                    </a:p>
                  </a:txBody>
                  <a:tcPr marL="4215" marR="4215" marT="4215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Mic array</a:t>
                      </a:r>
                      <a:r>
                        <a:rPr lang="zh-CN" altLang="en-US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*</a:t>
                      </a:r>
                      <a:endParaRPr lang="en-US" altLang="zh-CN" sz="1000" i="0" u="none" strike="noStrike" dirty="0"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215" marR="4215" marT="4215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4x</a:t>
                      </a:r>
                      <a:r>
                        <a:rPr lang="zh-CN" altLang="en-US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mics</a:t>
                      </a:r>
                      <a:endParaRPr lang="en-US" altLang="zh-CN" sz="1000" b="0" i="0" u="none" strike="noStrike" dirty="0"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215" marR="4215" marT="4215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N/A</a:t>
                      </a:r>
                      <a:endParaRPr lang="en-US" altLang="zh-CN" sz="1000" b="0" i="0" u="none" strike="noStrike" dirty="0"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215" marR="4215" marT="4215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6x</a:t>
                      </a:r>
                      <a:r>
                        <a:rPr lang="zh-CN" altLang="en-US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mics</a:t>
                      </a:r>
                      <a:endParaRPr lang="en-US" altLang="zh-CN" sz="1000" b="0" i="0" u="none" strike="noStrike" dirty="0"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215" marR="4215" marT="4215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3x</a:t>
                      </a:r>
                      <a:r>
                        <a:rPr lang="zh-CN" altLang="en-US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mics</a:t>
                      </a:r>
                      <a:endParaRPr lang="en-US" altLang="zh-CN" sz="1000" b="0" i="0" u="none" strike="noStrike" dirty="0"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215" marR="4215" marT="4215" marB="0"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0403">
                <a:tc gridSpan="2"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Control  Type</a:t>
                      </a:r>
                    </a:p>
                  </a:txBody>
                  <a:tcPr marL="4215" marR="4215" marT="4215" marB="0" anchor="ctr">
                    <a:solidFill>
                      <a:srgbClr val="E3F2E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Remote</a:t>
                      </a:r>
                      <a:r>
                        <a:rPr lang="zh-CN" altLang="en-US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Control,</a:t>
                      </a:r>
                      <a:b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</a:b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WEB UI</a:t>
                      </a:r>
                      <a:endParaRPr lang="en-US" altLang="zh-CN" sz="1000" b="0" i="0" u="none" strike="noStrike" dirty="0"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215" marR="4215" marT="4215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Remote</a:t>
                      </a:r>
                      <a:r>
                        <a:rPr lang="zh-CN" altLang="en-US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Control</a:t>
                      </a:r>
                      <a:b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</a:b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Software</a:t>
                      </a:r>
                      <a:endParaRPr lang="en-US" altLang="zh-CN" sz="1000" b="0" i="0" u="none" strike="noStrike" dirty="0"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215" marR="4215" marT="4215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Remote</a:t>
                      </a:r>
                      <a:r>
                        <a:rPr lang="zh-CN" altLang="en-US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Control,</a:t>
                      </a:r>
                      <a:b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</a:b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WEB UI</a:t>
                      </a:r>
                      <a:endParaRPr lang="en-US" altLang="zh-CN" sz="1000" b="0" i="0" u="none" strike="noStrike" dirty="0"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215" marR="4215" marT="4215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Remote</a:t>
                      </a:r>
                      <a:r>
                        <a:rPr lang="zh-CN" altLang="en-US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Control</a:t>
                      </a:r>
                      <a:r>
                        <a:rPr lang="en-US" altLang="zh-CN" sz="1000" b="1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,</a:t>
                      </a:r>
                      <a:b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</a:br>
                      <a:r>
                        <a:rPr lang="en-US" altLang="zh-CN" sz="1000" u="none" strike="noStrike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WEB UI</a:t>
                      </a:r>
                      <a:endParaRPr lang="en-US" altLang="zh-CN" sz="1000" b="0" i="0" u="none" strike="noStrike" dirty="0"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215" marR="4215" marT="4215" marB="0" anchor="ctr">
                    <a:solidFill>
                      <a:srgbClr val="E3F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solidFill>
              <a:schemeClr val="accent6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23240" y="198120"/>
            <a:ext cx="86563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8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Comparison with Other Competitors</a:t>
            </a:r>
            <a:endParaRPr lang="en-US" altLang="en-US" sz="2800" b="1" dirty="0">
              <a:solidFill>
                <a:schemeClr val="lt1"/>
              </a:solidFill>
              <a:uFillTx/>
              <a:latin typeface="Montserrat" pitchFamily="2" charset="0"/>
              <a:ea typeface="微软雅黑" panose="020B0503020204020204" pitchFamily="34" charset="-122"/>
              <a:sym typeface="Roboto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00747" y="6320560"/>
            <a:ext cx="9690100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ClrTx/>
              <a:buSzTx/>
              <a:buFontTx/>
            </a:pPr>
            <a:r>
              <a:rPr lang="zh-CN" altLang="en-US" sz="1200" dirty="0">
                <a:solidFill>
                  <a:schemeClr val="dk1"/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*</a:t>
            </a:r>
            <a:r>
              <a:rPr lang="en-US" altLang="zh-CN" sz="1200" dirty="0">
                <a:solidFill>
                  <a:schemeClr val="dk1"/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The built-in mics are for the audio-tracking function, it cannot be used as an audio source for video-conferencing software.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8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457155" y="16002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8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Quick Installation Guide</a:t>
            </a:r>
          </a:p>
        </p:txBody>
      </p:sp>
      <p:sp>
        <p:nvSpPr>
          <p:cNvPr id="14" name="Title 6"/>
          <p:cNvSpPr txBox="1"/>
          <p:nvPr>
            <p:custDataLst>
              <p:tags r:id="rId4"/>
            </p:custDataLst>
          </p:nvPr>
        </p:nvSpPr>
        <p:spPr>
          <a:xfrm>
            <a:off x="403860" y="1769110"/>
            <a:ext cx="6255385" cy="459232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/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sz="1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Connect Interfaces: </a:t>
            </a:r>
            <a:r>
              <a:rPr lang="en-US" sz="18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Follow the standard product connection guidelines and customize connections based on your environment’s layout for optimal performance.</a:t>
            </a:r>
          </a:p>
          <a:p>
            <a:pPr lvl="0" indent="-285750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sz="1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Create Your Hybrid Environment:</a:t>
            </a:r>
            <a:r>
              <a:rPr lang="en-US" sz="18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 </a:t>
            </a:r>
            <a:r>
              <a:rPr lang="en-US" sz="18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Create your video, audio, USB settings using the Web-UI. For detailed instructions, refer to the user manual.</a:t>
            </a:r>
            <a:endParaRPr lang="en-US" sz="18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</a:endParaRPr>
          </a:p>
          <a:p>
            <a:pPr marL="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sz="1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Enjoy Superior Visuals: </a:t>
            </a:r>
            <a:r>
              <a:rPr lang="en-US" sz="18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Experience stunning video clarity and immersive visuals tailored to your needs.</a:t>
            </a:r>
          </a:p>
          <a:p>
            <a:pPr lvl="0" indent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</a:pPr>
            <a:endParaRPr lang="en-US" sz="1800" i="1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</a:endParaRPr>
          </a:p>
        </p:txBody>
      </p:sp>
      <p:pic>
        <p:nvPicPr>
          <p:cNvPr id="4" name="Google Shape;82;p1"/>
          <p:cNvPicPr preferRelativeResize="0"/>
          <p:nvPr/>
        </p:nvPicPr>
        <p:blipFill>
          <a:blip r:embed="rId9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20" name="Title 6"/>
          <p:cNvSpPr txBox="1"/>
          <p:nvPr>
            <p:custDataLst>
              <p:tags r:id="rId5"/>
            </p:custDataLst>
          </p:nvPr>
        </p:nvSpPr>
        <p:spPr>
          <a:xfrm>
            <a:off x="457200" y="1137920"/>
            <a:ext cx="11070590" cy="51371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/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 indent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</a:pPr>
            <a:r>
              <a:rPr lang="en-US" sz="20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Effortlessly set up your conference camera with simple steps, ensuring hybrid configuration and an exceptional viewing and hybrid experience.</a:t>
            </a:r>
          </a:p>
        </p:txBody>
      </p:sp>
      <p:pic>
        <p:nvPicPr>
          <p:cNvPr id="22" name="图片 4"/>
          <p:cNvPicPr/>
          <p:nvPr/>
        </p:nvPicPr>
        <p:blipFill>
          <a:blip r:embed="rId10"/>
          <a:stretch>
            <a:fillRect/>
          </a:stretch>
        </p:blipFill>
        <p:spPr>
          <a:xfrm>
            <a:off x="7010400" y="2364740"/>
            <a:ext cx="4882723" cy="306800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7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457155" y="16002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8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Important Notes for Installation</a:t>
            </a:r>
          </a:p>
        </p:txBody>
      </p:sp>
      <p:sp>
        <p:nvSpPr>
          <p:cNvPr id="14" name="Title 6"/>
          <p:cNvSpPr txBox="1"/>
          <p:nvPr>
            <p:custDataLst>
              <p:tags r:id="rId4"/>
            </p:custDataLst>
          </p:nvPr>
        </p:nvSpPr>
        <p:spPr>
          <a:xfrm>
            <a:off x="340360" y="1282700"/>
            <a:ext cx="11752580" cy="462851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/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28575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Ensure all cables are securely connected to avoid performance issues.</a:t>
            </a:r>
          </a:p>
          <a:p>
            <a:pPr marL="28575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Check your network settings and confirm that the device is on the correct subnet.</a:t>
            </a:r>
          </a:p>
          <a:p>
            <a:pPr marL="28575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Double-check configuration settings in the Web-UI to optimize display and functionality.</a:t>
            </a:r>
          </a:p>
          <a:p>
            <a:pPr marL="28575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For complex installations, refer to the documentation or seek professional assistance if necessary.</a:t>
            </a:r>
            <a:endParaRPr lang="en-US" sz="24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4" name="Google Shape;82;p1"/>
          <p:cNvPicPr preferRelativeResize="0"/>
          <p:nvPr/>
        </p:nvPicPr>
        <p:blipFill>
          <a:blip r:embed="rId8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984293" y="1149489"/>
            <a:ext cx="4159582" cy="707885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文本框 1"/>
          <p:cNvSpPr txBox="1"/>
          <p:nvPr/>
        </p:nvSpPr>
        <p:spPr>
          <a:xfrm>
            <a:off x="-80645" y="1153801"/>
            <a:ext cx="122878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latin typeface="Montserrat" pitchFamily="2" charset="0"/>
                <a:cs typeface="Arial" panose="020B0604020202020204" pitchFamily="34" charset="0"/>
              </a:rPr>
              <a:t>Q</a:t>
            </a:r>
            <a:r>
              <a:rPr lang="en-US" altLang="zh-CN" sz="2400" b="1" dirty="0">
                <a:latin typeface="Montserrat" pitchFamily="2" charset="0"/>
                <a:cs typeface="Arial" panose="020B0604020202020204" pitchFamily="34" charset="0"/>
              </a:rPr>
              <a:t> </a:t>
            </a:r>
            <a:r>
              <a:rPr lang="en-US" altLang="zh-CN" sz="4000" b="1" dirty="0">
                <a:latin typeface="Montserrat" pitchFamily="2" charset="0"/>
                <a:cs typeface="Arial" panose="020B0604020202020204" pitchFamily="34" charset="0"/>
              </a:rPr>
              <a:t>&amp;</a:t>
            </a:r>
            <a:r>
              <a:rPr lang="en-US" altLang="zh-CN" sz="2400" b="1" dirty="0">
                <a:latin typeface="Montserrat" pitchFamily="2" charset="0"/>
                <a:cs typeface="Arial" panose="020B0604020202020204" pitchFamily="34" charset="0"/>
              </a:rPr>
              <a:t> </a:t>
            </a:r>
            <a:r>
              <a:rPr lang="en-US" altLang="zh-CN" sz="4000" b="1" dirty="0">
                <a:latin typeface="Montserrat" pitchFamily="2" charset="0"/>
                <a:cs typeface="Arial" panose="020B0604020202020204" pitchFamily="34" charset="0"/>
              </a:rPr>
              <a:t>A Session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</p:txBody>
      </p:sp>
      <p:pic>
        <p:nvPicPr>
          <p:cNvPr id="7" name="图片 6"/>
          <p:cNvPicPr/>
          <p:nvPr/>
        </p:nvPicPr>
        <p:blipFill>
          <a:blip r:embed="rId5"/>
          <a:stretch>
            <a:fillRect/>
          </a:stretch>
        </p:blipFill>
        <p:spPr>
          <a:xfrm>
            <a:off x="2796857" y="2808363"/>
            <a:ext cx="6502400" cy="358824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Google Shape;82;p1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9" name="矩形 7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文本框 6"/>
          <p:cNvSpPr txBox="1"/>
          <p:nvPr>
            <p:custDataLst>
              <p:tags r:id="rId2"/>
            </p:custDataLst>
          </p:nvPr>
        </p:nvSpPr>
        <p:spPr>
          <a:xfrm>
            <a:off x="457155" y="16002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8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Final Thoughts</a:t>
            </a:r>
          </a:p>
        </p:txBody>
      </p:sp>
      <p:sp>
        <p:nvSpPr>
          <p:cNvPr id="4" name="文本框 1"/>
          <p:cNvSpPr txBox="1"/>
          <p:nvPr/>
        </p:nvSpPr>
        <p:spPr>
          <a:xfrm>
            <a:off x="-47944" y="2003528"/>
            <a:ext cx="122878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Got questions? Don't hesitate to ask away.</a:t>
            </a:r>
          </a:p>
          <a:p>
            <a:pPr algn="ctr"/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02_1*a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35545cd6b5ce4dae9dccf4eab288bc6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0992860551d4d4eb792c36bc28c26be"/>
  <p:tag name="KSO_WM_UNIT_TEXT_FILL_FORE_SCHEMECOLOR_INDEX_BRIGHTNESS" val="0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0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384"/>
  <p:tag name="KSO_WM_SLIDE_POSITION" val="0*0"/>
  <p:tag name="KSO_WM_TAG_VERSION" val="1.0"/>
  <p:tag name="KSO_WM_BEAUTIFY_FLAG" val="#wm#"/>
  <p:tag name="KSO_WM_TEMPLATE_CATEGORY" val="diagram"/>
  <p:tag name="KSO_WM_TEMPLATE_INDEX" val="20215802"/>
  <p:tag name="KSO_WM_SLIDE_LAYOUT" val="a_f"/>
  <p:tag name="KSO_WM_SLIDE_LAYOUT_CNT" val="1_1"/>
  <p:tag name="KSO_WM_SLIDE_LAYOUT_INFO" val="{&quot;id&quot;:&quot;2021-04-01T15:11:24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1-04-01T15:11:24&quot;,&quot;margin&quot;:{&quot;bottom&quot;:0.4230000674724579,&quot;left&quot;:1.2699999809265137,&quot;right&quot;:1.2699999809265137,&quot;top&quot;:0.4230000674724579},&quot;type&quot;:0},{&quot;id&quot;:&quot;2021-04-01T15:11:24&quot;,&quot;margin&quot;:{&quot;bottom&quot;:1.694000005722046,&quot;left&quot;:1.6929999589920044,&quot;right&quot;:1.6929999589920044,&quot;top&quot;:1.6929999589920044}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78e478fb0c58a940c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aae3729e0a0d44488f1a088171be5691&quot;,&quot;fill_align&quot;:&quot;cm&quot;,&quot;chip_types&quot;:[&quot;text&quot;,&quot;picture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0656ea94054ed1e2fb7fd45"/>
  <p:tag name="KSO_WM_TEMPLATE_ASSEMBLE_GROUPID" val="60656ea94054ed1e2fb7fd45"/>
  <p:tag name="RESOURCE_RECORD_KEY" val="{&quot;13&quot;:[4364952],&quot;65&quot;:[20215802]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02_1*a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35545cd6b5ce4dae9dccf4eab288bc6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0992860551d4d4eb792c36bc28c26be"/>
  <p:tag name="KSO_WM_UNIT_TEXT_FILL_FORE_SCHEMECOLOR_INDEX_BRIGHTNESS" val="0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02_1*f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144"/>
  <p:tag name="KSO_WM_UNIT_SHOW_EDIT_AREA_INDICATION" val="1"/>
  <p:tag name="KSO_WM_CHIP_GROUPID" val="5e6b05596848fb12bee65ac8"/>
  <p:tag name="KSO_WM_CHIP_XID" val="5e6b05596848fb12bee65aca"/>
  <p:tag name="KSO_WM_UNIT_DEC_AREA_ID" val="d879e39fee614b88a76bb899d600b764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0fcd4429fddf4fd9b6b9cae2bcdab05b"/>
  <p:tag name="KSO_WM_UNIT_SUPPORT_UNIT_TYPE" val="[&quot;d&quot;]"/>
  <p:tag name="KSO_WM_UNIT_TEXT_FILL_FORE_SCHEMECOLOR_INDEX_BRIGHTNESS" val="0.25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2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TYPE" val="i"/>
  <p:tag name="KSO_WM_UNIT_INDEX" val="2"/>
  <p:tag name="KSO_WM_UNIT_BLOCK" val="0"/>
  <p:tag name="KSO_WM_UNIT_SM_LIMIT_TYPE" val="0"/>
  <p:tag name="KSO_WM_UNIT_DEC_AREA_ID" val="c851648b610c4eed84725474f83dd781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2},&quot;ReferentInfo&quot;:{&quot;Id&quot;:&quot;fa1e37419f9b42fb86bdf596086272a2&quot;,&quot;X&quot;:{&quot;Pos&quot;:2},&quot;Y&quot;:{&quot;Pos&quot;:0}},&quot;whChangeMode&quot;:0}"/>
  <p:tag name="KSO_WM_CHIP_GROUPID" val="5f5ee1ca4d6848d78f644aeb"/>
  <p:tag name="KSO_WM_CHIP_XID" val="5f5f3b6d8e478fb0c58a941e"/>
  <p:tag name="KSO_WM_UNIT_LINE_FORE_SCHEMECOLOR_INDEX_BRIGHTNESS" val="0"/>
  <p:tag name="KSO_WM_UNIT_LINE_FORE_SCHEMECOLOR_INDEX" val="15"/>
  <p:tag name="KSO_WM_UNIT_LINE_FILL_TYPE" val="2"/>
  <p:tag name="KSO_WM_TEMPLATE_ASSEMBLE_XID" val="63895f930c9383becde52e83"/>
  <p:tag name="KSO_WM_TEMPLATE_ASSEMBLE_GROUPID" val="63895f930c9383becde52e8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3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TYPE" val="i"/>
  <p:tag name="KSO_WM_UNIT_INDEX" val="3"/>
  <p:tag name="KSO_WM_UNIT_BLOCK" val="0"/>
  <p:tag name="KSO_WM_UNIT_SM_LIMIT_TYPE" val="0"/>
  <p:tag name="KSO_WM_UNIT_DEC_AREA_ID" val="3104b9f4692049e9b18edec063ed2171"/>
  <p:tag name="KSO_WM_UNIT_DECORATE_INFO" val="{&quot;DecorateInfoH&quot;:{&quot;IsAbs&quot;:true},&quot;DecorateInfoW&quot;:{&quot;IsAbs&quot;:true},&quot;DecorateInfoX&quot;:{&quot;IsAbs&quot;:true,&quot;Pos&quot;:0},&quot;DecorateInfoY&quot;:{&quot;IsAbs&quot;:true,&quot;Pos&quot;:0},&quot;ReferentInfo&quot;:{&quot;Id&quot;:&quot;fa1e37419f9b42fb86bdf596086272a2&quot;,&quot;X&quot;:{&quot;Pos&quot;:0},&quot;Y&quot;:{&quot;Pos&quot;:2}},&quot;whChangeMode&quot;:0}"/>
  <p:tag name="KSO_WM_CHIP_GROUPID" val="5f5ee1ca4d6848d78f644aeb"/>
  <p:tag name="KSO_WM_CHIP_XID" val="5f5f3b6d8e478fb0c58a941e"/>
  <p:tag name="KSO_WM_UNIT_LINE_FORE_SCHEMECOLOR_INDEX_BRIGHTNESS" val="0"/>
  <p:tag name="KSO_WM_UNIT_LINE_FORE_SCHEMECOLOR_INDEX" val="15"/>
  <p:tag name="KSO_WM_UNIT_LINE_FILL_TYPE" val="2"/>
  <p:tag name="KSO_WM_TEMPLATE_ASSEMBLE_XID" val="63895f930c9383becde52e83"/>
  <p:tag name="KSO_WM_TEMPLATE_ASSEMBLE_GROUPID" val="63895f930c9383becde52e8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17_1*f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96"/>
  <p:tag name="KSO_WM_UNIT_SHOW_EDIT_AREA_INDICATION" val="1"/>
  <p:tag name="KSO_WM_CHIP_GROUPID" val="5e6b05596848fb12bee65ac8"/>
  <p:tag name="KSO_WM_CHIP_XID" val="5e6b05596848fb12bee65aca"/>
  <p:tag name="KSO_WM_UNIT_DEC_AREA_ID" val="fa1e37419f9b42fb86bdf596086272a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765ccbb1c104f1a8e992a725ddfc8ec"/>
  <p:tag name="KSO_WM_UNIT_TEXT_FILL_FORE_SCHEMECOLOR_INDEX_BRIGHTNESS" val="0.25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95*445"/>
  <p:tag name="TABLE_ENDDRAG_RECT" val="36*80*495*445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17_1*f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96"/>
  <p:tag name="KSO_WM_UNIT_SHOW_EDIT_AREA_INDICATION" val="1"/>
  <p:tag name="KSO_WM_CHIP_GROUPID" val="5e6b05596848fb12bee65ac8"/>
  <p:tag name="KSO_WM_CHIP_XID" val="5e6b05596848fb12bee65aca"/>
  <p:tag name="KSO_WM_UNIT_DEC_AREA_ID" val="fa1e37419f9b42fb86bdf596086272a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765ccbb1c104f1a8e992a725ddfc8ec"/>
  <p:tag name="KSO_WM_UNIT_TEXT_FILL_FORE_SCHEMECOLOR_INDEX_BRIGHTNESS" val="0.25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17_1*f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96"/>
  <p:tag name="KSO_WM_UNIT_SHOW_EDIT_AREA_INDICATION" val="1"/>
  <p:tag name="KSO_WM_CHIP_GROUPID" val="5e6b05596848fb12bee65ac8"/>
  <p:tag name="KSO_WM_CHIP_XID" val="5e6b05596848fb12bee65aca"/>
  <p:tag name="KSO_WM_UNIT_DEC_AREA_ID" val="fa1e37419f9b42fb86bdf596086272a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765ccbb1c104f1a8e992a725ddfc8ec"/>
  <p:tag name="KSO_WM_UNIT_TEXT_FILL_FORE_SCHEMECOLOR_INDEX_BRIGHTNESS" val="0.25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48*350"/>
  <p:tag name="TABLE_ENDDRAG_RECT" val="78*155*748*35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17_1*f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96"/>
  <p:tag name="KSO_WM_UNIT_SHOW_EDIT_AREA_INDICATION" val="1"/>
  <p:tag name="KSO_WM_CHIP_GROUPID" val="5e6b05596848fb12bee65ac8"/>
  <p:tag name="KSO_WM_CHIP_XID" val="5e6b05596848fb12bee65aca"/>
  <p:tag name="KSO_WM_UNIT_DEC_AREA_ID" val="fa1e37419f9b42fb86bdf596086272a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765ccbb1c104f1a8e992a725ddfc8ec"/>
  <p:tag name="KSO_WM_UNIT_TEXT_FILL_FORE_SCHEMECOLOR_INDEX_BRIGHTNESS" val="0.25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17_1*f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96"/>
  <p:tag name="KSO_WM_UNIT_SHOW_EDIT_AREA_INDICATION" val="1"/>
  <p:tag name="KSO_WM_CHIP_GROUPID" val="5e6b05596848fb12bee65ac8"/>
  <p:tag name="KSO_WM_CHIP_XID" val="5e6b05596848fb12bee65aca"/>
  <p:tag name="KSO_WM_UNIT_DEC_AREA_ID" val="fa1e37419f9b42fb86bdf596086272a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765ccbb1c104f1a8e992a725ddfc8ec"/>
  <p:tag name="KSO_WM_UNIT_TEXT_FILL_FORE_SCHEMECOLOR_INDEX_BRIGHTNESS" val="0.25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17_1*f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96"/>
  <p:tag name="KSO_WM_UNIT_SHOW_EDIT_AREA_INDICATION" val="1"/>
  <p:tag name="KSO_WM_CHIP_GROUPID" val="5e6b05596848fb12bee65ac8"/>
  <p:tag name="KSO_WM_CHIP_XID" val="5e6b05596848fb12bee65aca"/>
  <p:tag name="KSO_WM_UNIT_DEC_AREA_ID" val="fa1e37419f9b42fb86bdf596086272a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765ccbb1c104f1a8e992a725ddfc8ec"/>
  <p:tag name="KSO_WM_UNIT_TEXT_FILL_FORE_SCHEMECOLOR_INDEX_BRIGHTNESS" val="0.25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634ccb5-745a-4b19-b3da-83dafbb0f953">
      <Terms xmlns="http://schemas.microsoft.com/office/infopath/2007/PartnerControls"/>
    </lcf76f155ced4ddcb4097134ff3c332f>
    <TaxCatchAll xmlns="fa7e1be7-6c27-4381-949e-b43a2eb5089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1A8FBB3908BD4681554D596DADDBBC" ma:contentTypeVersion="19" ma:contentTypeDescription="Create a new document." ma:contentTypeScope="" ma:versionID="089862c3d7236b297f5be572ccb4bd9e">
  <xsd:schema xmlns:xsd="http://www.w3.org/2001/XMLSchema" xmlns:xs="http://www.w3.org/2001/XMLSchema" xmlns:p="http://schemas.microsoft.com/office/2006/metadata/properties" xmlns:ns2="d634ccb5-745a-4b19-b3da-83dafbb0f953" xmlns:ns3="fa7e1be7-6c27-4381-949e-b43a2eb5089a" targetNamespace="http://schemas.microsoft.com/office/2006/metadata/properties" ma:root="true" ma:fieldsID="38436fc1e1e78720b95f7a357a3e0114" ns2:_="" ns3:_="">
    <xsd:import namespace="d634ccb5-745a-4b19-b3da-83dafbb0f953"/>
    <xsd:import namespace="fa7e1be7-6c27-4381-949e-b43a2eb508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34ccb5-745a-4b19-b3da-83dafbb0f9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a840791-955a-45d0-8f77-cb775012b4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7e1be7-6c27-4381-949e-b43a2eb5089a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e5708c9-3083-478d-b2b5-d29c6e746420}" ma:internalName="TaxCatchAll" ma:showField="CatchAllData" ma:web="fa7e1be7-6c27-4381-949e-b43a2eb508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2491274-6114-4946-878F-06B2DEEEB90A}">
  <ds:schemaRefs>
    <ds:schemaRef ds:uri="http://schemas.microsoft.com/office/2006/metadata/properties"/>
    <ds:schemaRef ds:uri="http://schemas.microsoft.com/office/infopath/2007/PartnerControls"/>
    <ds:schemaRef ds:uri="d634ccb5-745a-4b19-b3da-83dafbb0f953"/>
    <ds:schemaRef ds:uri="fa7e1be7-6c27-4381-949e-b43a2eb5089a"/>
  </ds:schemaRefs>
</ds:datastoreItem>
</file>

<file path=customXml/itemProps2.xml><?xml version="1.0" encoding="utf-8"?>
<ds:datastoreItem xmlns:ds="http://schemas.openxmlformats.org/officeDocument/2006/customXml" ds:itemID="{BBFC44A7-F806-4339-B123-62C1B849EA3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CC1D527-2166-4A6B-A3AE-742CB9D8A4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634ccb5-745a-4b19-b3da-83dafbb0f953"/>
    <ds:schemaRef ds:uri="fa7e1be7-6c27-4381-949e-b43a2eb5089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1606</Words>
  <Application>Microsoft Office PowerPoint</Application>
  <PresentationFormat>宽屏</PresentationFormat>
  <Paragraphs>204</Paragraphs>
  <Slides>14</Slides>
  <Notes>7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5" baseType="lpstr">
      <vt:lpstr>Office 主题​​</vt:lpstr>
      <vt:lpstr>CAM-420-PTZ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Benjamin</dc:creator>
  <cp:lastModifiedBy>Damon Xie</cp:lastModifiedBy>
  <cp:revision>65</cp:revision>
  <dcterms:created xsi:type="dcterms:W3CDTF">2025-09-16T02:20:00Z</dcterms:created>
  <dcterms:modified xsi:type="dcterms:W3CDTF">2026-01-20T07:16:46Z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C5DDB207935E42BCA82FBC2E4B81231F_13</vt:lpwstr>
  </property>
  <property fmtid="{D5CDD505-2E9C-101B-9397-08002B2CF9AE}" pid="3" name="KSOProductBuildVer">
    <vt:lpwstr>2052-12.1.0.24034</vt:lpwstr>
  </property>
  <property fmtid="{D5CDD505-2E9C-101B-9397-08002B2CF9AE}" pid="4" name="ContentTypeId">
    <vt:lpwstr>0x010100E01A8FBB3908BD4681554D596DADDBBC</vt:lpwstr>
  </property>
  <property fmtid="{D5CDD505-2E9C-101B-9397-08002B2CF9AE}" pid="5" name="MediaServiceImageTags">
    <vt:lpwstr/>
  </property>
</Properties>
</file>