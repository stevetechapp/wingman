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2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tags/tag50.xml" ContentType="application/vnd.openxmlformats-officedocument.presentationml.tags+xml"/>
  <Override PartName="/ppt/tags/tag27.xml" ContentType="application/vnd.openxmlformats-officedocument.presentationml.tags+xml"/>
  <Override PartName="/ppt/tags/tag49.xml" ContentType="application/vnd.openxmlformats-officedocument.presentationml.tags+xml"/>
  <Override PartName="/ppt/tags/tag48.xml" ContentType="application/vnd.openxmlformats-officedocument.presentationml.tags+xml"/>
  <Override PartName="/ppt/tags/tag47.xml" ContentType="application/vnd.openxmlformats-officedocument.presentationml.tags+xml"/>
  <Override PartName="/ppt/tags/tag46.xml" ContentType="application/vnd.openxmlformats-officedocument.presentationml.tags+xml"/>
  <Override PartName="/ppt/tags/tag28.xml" ContentType="application/vnd.openxmlformats-officedocument.presentationml.tags+xml"/>
  <Override PartName="/ppt/tags/tag45.xml" ContentType="application/vnd.openxmlformats-officedocument.presentationml.tags+xml"/>
  <Override PartName="/ppt/tags/tag44.xml" ContentType="application/vnd.openxmlformats-officedocument.presentationml.tags+xml"/>
  <Override PartName="/ppt/tags/tag43.xml" ContentType="application/vnd.openxmlformats-officedocument.presentationml.tags+xml"/>
  <Override PartName="/ppt/tags/tag4.xml" ContentType="application/vnd.openxmlformats-officedocument.presentationml.tags+xml"/>
  <Override PartName="/ppt/tags/tag42.xml" ContentType="application/vnd.openxmlformats-officedocument.presentationml.tags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39.xml" ContentType="application/vnd.openxmlformats-officedocument.presentationml.tags+xml"/>
  <Override PartName="/ppt/tags/tag38.xml" ContentType="application/vnd.openxmlformats-officedocument.presentationml.tags+xml"/>
  <Override PartName="/ppt/tags/tag29.xml" ContentType="application/vnd.openxmlformats-officedocument.presentationml.tags+xml"/>
  <Override PartName="/ppt/tags/tag37.xml" ContentType="application/vnd.openxmlformats-officedocument.presentationml.tags+xml"/>
  <Override PartName="/ppt/tags/tag30.xml" ContentType="application/vnd.openxmlformats-officedocument.presentationml.tags+xml"/>
  <Override PartName="/ppt/tags/tag35.xml" ContentType="application/vnd.openxmlformats-officedocument.presentationml.tags+xml"/>
  <Override PartName="/ppt/tags/tag34.xml" ContentType="application/vnd.openxmlformats-officedocument.presentationml.tags+xml"/>
  <Override PartName="/ppt/tags/tag33.xml" ContentType="application/vnd.openxmlformats-officedocument.presentationml.tags+xml"/>
  <Override PartName="/ppt/tags/tag53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2.xml" ContentType="application/vnd.openxmlformats-officedocument.presentationml.tags+xml"/>
  <Override PartName="/ppt/tags/tag21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15.xml" ContentType="application/vnd.openxmlformats-officedocument.presentationml.tags+xml"/>
  <Override PartName="/ppt/tags/tag14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ppt/tags/tag52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ppt/tags/tag36.xml" ContentType="application/vnd.openxmlformats-officedocument.presentationml.tags+xml"/>
  <Override PartName="/ppt/tags/tag32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0"/>
  </p:notesMasterIdLst>
  <p:sldIdLst>
    <p:sldId id="257" r:id="rId3"/>
    <p:sldId id="1070" r:id="rId4"/>
    <p:sldId id="1008" r:id="rId5"/>
    <p:sldId id="260" r:id="rId6"/>
    <p:sldId id="1026" r:id="rId7"/>
    <p:sldId id="1053" r:id="rId8"/>
    <p:sldId id="1054" r:id="rId9"/>
    <p:sldId id="1013" r:id="rId10"/>
    <p:sldId id="1014" r:id="rId11"/>
    <p:sldId id="1010" r:id="rId12"/>
    <p:sldId id="1012" r:id="rId13"/>
    <p:sldId id="1011" r:id="rId14"/>
    <p:sldId id="272" r:id="rId15"/>
    <p:sldId id="1069" r:id="rId16"/>
    <p:sldId id="1016" r:id="rId17"/>
    <p:sldId id="1023" r:id="rId18"/>
    <p:sldId id="984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6" userDrawn="1">
          <p15:clr>
            <a:srgbClr val="A4A3A4"/>
          </p15:clr>
        </p15:guide>
        <p15:guide id="2" orient="horz" pos="7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DF9"/>
    <a:srgbClr val="FAF9FD"/>
    <a:srgbClr val="F1E9F7"/>
    <a:srgbClr val="E6D7F1"/>
    <a:srgbClr val="DFCDED"/>
    <a:srgbClr val="E3E0F4"/>
    <a:srgbClr val="EAECCE"/>
    <a:srgbClr val="F3F2E1"/>
    <a:srgbClr val="CDE7ED"/>
    <a:srgbClr val="E1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0" autoAdjust="0"/>
    <p:restoredTop sz="93803" autoAdjust="0"/>
  </p:normalViewPr>
  <p:slideViewPr>
    <p:cSldViewPr snapToGrid="0" showGuides="1">
      <p:cViewPr varScale="1">
        <p:scale>
          <a:sx n="111" d="100"/>
          <a:sy n="111" d="100"/>
        </p:scale>
        <p:origin x="824" y="200"/>
      </p:cViewPr>
      <p:guideLst>
        <p:guide pos="166"/>
        <p:guide orient="horz" pos="7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90828-D59D-4FB6-B526-44D0AEA8C2BD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306D-6C12-4E72-AF59-54F4E5C1E3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更新封面，不需要展示产品；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7.xml"/><Relationship Id="rId7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tags" Target="../tags/tag8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10" Type="http://schemas.openxmlformats.org/officeDocument/2006/relationships/image" Target="../media/image4.png"/><Relationship Id="rId4" Type="http://schemas.openxmlformats.org/officeDocument/2006/relationships/tags" Target="../tags/tag16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tags" Target="../tags/tag20.xml"/><Relationship Id="rId16" Type="http://schemas.openxmlformats.org/officeDocument/2006/relationships/image" Target="../media/image11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6.png"/><Relationship Id="rId5" Type="http://schemas.openxmlformats.org/officeDocument/2006/relationships/tags" Target="../tags/tag23.xm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4" Type="http://schemas.openxmlformats.org/officeDocument/2006/relationships/tags" Target="../tags/tag22.xml"/><Relationship Id="rId9" Type="http://schemas.openxmlformats.org/officeDocument/2006/relationships/notesSlide" Target="../notesSlides/notesSlide4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37.xml"/><Relationship Id="rId7" Type="http://schemas.openxmlformats.org/officeDocument/2006/relationships/image" Target="../media/image5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17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18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5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tags" Target="../tags/tag66.xml"/><Relationship Id="rId7" Type="http://schemas.openxmlformats.org/officeDocument/2006/relationships/image" Target="../media/image5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5.pn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57682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Product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1065" y="198014"/>
            <a:ext cx="6812704" cy="503028"/>
          </a:xfrm>
        </p:spPr>
        <p:txBody>
          <a:bodyPr>
            <a:noAutofit/>
          </a:bodyPr>
          <a:lstStyle/>
          <a:p>
            <a:pPr algn="r"/>
            <a:r>
              <a:rPr lang="en-US" sz="2600" b="1" dirty="0">
                <a:solidFill>
                  <a:schemeClr val="bg1"/>
                </a:solidFill>
                <a:latin typeface="Roboto" charset="0"/>
                <a:ea typeface="Roboto"/>
                <a:cs typeface="Roboto" charset="0"/>
                <a:sym typeface="+mn-ea"/>
              </a:rPr>
              <a:t>SW-620-TX-W</a:t>
            </a:r>
            <a:endParaRPr lang="zh-CN" altLang="en-US" sz="2600" b="1" dirty="0">
              <a:solidFill>
                <a:schemeClr val="bg1"/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6132701" y="660843"/>
            <a:ext cx="5810184" cy="4346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</a:rPr>
              <a:t>Wireless Presentation and Conferencing System</a:t>
            </a: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</a:rPr>
              <a:t> </a:t>
            </a: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Picture 25" descr="A picture containing text, clock&#10;&#10;Description automatically generated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sp>
        <p:nvSpPr>
          <p:cNvPr id="19" name="Title 1"/>
          <p:cNvSpPr txBox="1"/>
          <p:nvPr/>
        </p:nvSpPr>
        <p:spPr>
          <a:xfrm>
            <a:off x="6616271" y="5849316"/>
            <a:ext cx="5691024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Award-Winning Audio-Visual</a:t>
            </a:r>
            <a:br>
              <a:rPr lang="en-US" sz="2400" b="1" i="1" dirty="0">
                <a:latin typeface="Montserrat" pitchFamily="2" charset="77"/>
                <a:ea typeface="Roboto"/>
                <a:cs typeface="Arial" panose="020B0604020202020204"/>
              </a:rPr>
            </a:br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Solutions Manufacturer</a:t>
            </a:r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0" t="35396" r="27805" b="33429"/>
          <a:stretch>
            <a:fillRect/>
          </a:stretch>
        </p:blipFill>
        <p:spPr>
          <a:xfrm>
            <a:off x="2986601" y="2292487"/>
            <a:ext cx="5473243" cy="2137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Contents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1795" y="1200269"/>
            <a:ext cx="5950280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27193" y="1869423"/>
            <a:ext cx="33594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93768" y="2530186"/>
            <a:ext cx="48263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22393" y="3907551"/>
            <a:ext cx="39690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46400" y="4559935"/>
            <a:ext cx="6130290" cy="5530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08168" y="5250221"/>
            <a:ext cx="29975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3662" y="3220571"/>
            <a:ext cx="6306544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/>
          <p:cNvSpPr txBox="1"/>
          <p:nvPr>
            <p:custDataLst>
              <p:tags r:id="rId4"/>
            </p:custDataLst>
          </p:nvPr>
        </p:nvSpPr>
        <p:spPr>
          <a:xfrm>
            <a:off x="1569554" y="1378981"/>
            <a:ext cx="8873491" cy="420993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Product Overview &amp; Key Features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Why Choose Us?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Comparison</a:t>
            </a: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Web UI Introduction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8904655" y="1635474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5829257" y="5517369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765164" y="1843262"/>
            <a:ext cx="5862319" cy="35071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2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2-Input 4K </a:t>
            </a:r>
            <a:r>
              <a:rPr sz="2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Wireless Presentation and Conferencing System</a:t>
            </a: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The ‘SW-620-TX-W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’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is the lite version of ‘SW-640L-TX-W’ with some enhancement. It is a wireless presentation switcher, when paired with the APO-DG2 or APO-DG2-PRO USB-C casting dongle, forms a powerful 4K wireless presentation and conferencing system. This setup ensures a seamless and superior hybrid meeting experience.</a:t>
            </a: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Building on the strengths of its predecessors, the SW-620-TX-W features one full-function USB-C input, one HDMI input, and two HDMI outputs, offering flexible connectivity options for various setups. It is ideal for small to medium-sized meeting rooms and classrooms, effectively meeting diverse application requirements and enhancing collaboration efficiency.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4" name="图片 3" descr="文本&#10;&#10;AI 生成的内容可能不正确。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0" t="35396" r="27805" b="33429"/>
          <a:stretch>
            <a:fillRect/>
          </a:stretch>
        </p:blipFill>
        <p:spPr>
          <a:xfrm>
            <a:off x="190774" y="2621436"/>
            <a:ext cx="5473243" cy="21379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1288345" y="2467212"/>
            <a:ext cx="459994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Comprehensive Input Options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Offers a variety of inputs, including USB-C and HDMI, ensuring compatibility with devices used in conferences, meetings, and educational settings.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302385" y="1559560"/>
            <a:ext cx="423862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Reliable and High-Quality Resolution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4K resolution guarantees sharp and clear video, delivering a fully immersive presentation experience.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850563" y="3440466"/>
            <a:ext cx="46228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KVM Switch for Display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Includes USB 3.0 (Device and Host) ports for cameras, speakerphones, and keyboards. Perfect for hybrid meetings and education.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809874" y="4333564"/>
            <a:ext cx="4968727" cy="105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Versatile and Flexbile Ethernet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Advanced Ethernet capabilities provide a reliable network environment, enhancing interactive experiences, especially during hybrid meetings and education. Ethernet Bridge and Ethernet Isolation ensure a stable and secure usage experience.</a:t>
            </a:r>
          </a:p>
        </p:txBody>
      </p:sp>
      <p:sp>
        <p:nvSpPr>
          <p:cNvPr id="22" name="矩形 7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Google Shape;82;p1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1" name="文本框 6"/>
          <p:cNvSpPr txBox="1"/>
          <p:nvPr>
            <p:custDataLst>
              <p:tags r:id="rId6"/>
            </p:custDataLst>
          </p:nvPr>
        </p:nvSpPr>
        <p:spPr>
          <a:xfrm>
            <a:off x="457155" y="16319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Main Features</a:t>
            </a:r>
          </a:p>
        </p:txBody>
      </p:sp>
      <p:pic>
        <p:nvPicPr>
          <p:cNvPr id="29" name="Picture 28" descr="A close up of a logo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73" y="1597021"/>
            <a:ext cx="501271" cy="31996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734" y="2521802"/>
            <a:ext cx="528419" cy="480382"/>
          </a:xfrm>
          <a:prstGeom prst="rect">
            <a:avLst/>
          </a:prstGeom>
        </p:spPr>
      </p:pic>
      <p:pic>
        <p:nvPicPr>
          <p:cNvPr id="33" name="Picture 32" descr="A black background with arrows pointing to a symbol&#10;&#10;Description automatically generated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0" y="3353066"/>
            <a:ext cx="556469" cy="439318"/>
          </a:xfrm>
          <a:prstGeom prst="rect">
            <a:avLst/>
          </a:prstGeom>
        </p:spPr>
      </p:pic>
      <p:pic>
        <p:nvPicPr>
          <p:cNvPr id="35" name="Picture 34" descr="A black background with arrows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861" y="3390243"/>
            <a:ext cx="638219" cy="589125"/>
          </a:xfrm>
          <a:prstGeom prst="rect">
            <a:avLst/>
          </a:prstGeom>
        </p:spPr>
      </p:pic>
      <p:pic>
        <p:nvPicPr>
          <p:cNvPr id="39" name="Picture 38" descr="A black and grey square with white rectangles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861" y="1520940"/>
            <a:ext cx="535365" cy="391730"/>
          </a:xfrm>
          <a:prstGeom prst="rect">
            <a:avLst/>
          </a:prstGeom>
        </p:spPr>
      </p:pic>
      <p:pic>
        <p:nvPicPr>
          <p:cNvPr id="41" name="Picture 40" descr="A black and white logo&#10;&#10;Description automatically generated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33" y="4390799"/>
            <a:ext cx="631141" cy="461811"/>
          </a:xfrm>
          <a:prstGeom prst="rect">
            <a:avLst/>
          </a:prstGeom>
        </p:spPr>
      </p:pic>
      <p:pic>
        <p:nvPicPr>
          <p:cNvPr id="43" name="Picture 42" descr="A black and white background with circles and dots&#10;&#10;Description automatically generated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0" y="2524167"/>
            <a:ext cx="516314" cy="424368"/>
          </a:xfrm>
          <a:prstGeom prst="rect">
            <a:avLst/>
          </a:prstGeom>
        </p:spPr>
      </p:pic>
      <p:pic>
        <p:nvPicPr>
          <p:cNvPr id="45" name="Picture 44" descr="A wifi symbol on a black background&#10;&#10;Description automatically generated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27" y="5332038"/>
            <a:ext cx="741900" cy="62776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269124" y="4406131"/>
            <a:ext cx="46228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Multi-Stream Transport(MST) Capability over USB-C</a:t>
            </a:r>
          </a:p>
          <a:p>
            <a:pPr>
              <a:lnSpc>
                <a:spcPts val="1500"/>
              </a:lnSpc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Supports USB-C MST technology, enabling simplified connections, reduced cabling, efficient resource utilization, and flexible multi-screen configurations	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3" name="图片 12" descr="图标&#10;&#10;AI 生成的内容可能不正确。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1" y="4482331"/>
            <a:ext cx="596966" cy="4445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02678" y="3371850"/>
            <a:ext cx="4461953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Full-Featured USB-C Support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The USB-C port provides power delivery, network, video, and USB transmission through a single cable, simplifying connections and maintaining a clean and tidy workspace.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82554" y="1445993"/>
            <a:ext cx="4852289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Multiview Support &amp; Dual HDMI Outputs</a:t>
            </a:r>
          </a:p>
          <a:p>
            <a:pPr>
              <a:lnSpc>
                <a:spcPts val="1500"/>
              </a:lnSpc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Displays up to dual-view when connecting one screen. Supports dual HDMI outputs with two independent full-screen sources displayed simultaneously for maximum flexibility.</a:t>
            </a:r>
            <a:endParaRPr lang="en-US" altLang="zh-CN" sz="1400" dirty="0">
              <a:latin typeface="Roboto" charset="0"/>
              <a:ea typeface="Roboto" charset="0"/>
              <a:cs typeface="Roboto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50563" y="2530862"/>
            <a:ext cx="4941204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Balanced Audio De-embedding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Independent de-embedding audio works seamlessly with external audio systems. It creates a more immersive audio experience for presenters and participants.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269124" y="5432732"/>
            <a:ext cx="4968726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Wireless Casting and Conferencing Support</a:t>
            </a:r>
          </a:p>
          <a:p>
            <a:pPr>
              <a:lnSpc>
                <a:spcPts val="1500"/>
              </a:lnSpc>
            </a:pPr>
            <a:r>
              <a:rPr lang="en-US" sz="1400" dirty="0">
                <a:latin typeface="Roboto" charset="0"/>
                <a:ea typeface="Roboto" charset="0"/>
                <a:cs typeface="Roboto" charset="0"/>
                <a:sym typeface="+mn-ea"/>
              </a:rPr>
              <a:t>Supports multiple presentation methods for classes or </a:t>
            </a:r>
            <a:r>
              <a:rPr lang="en-US" sz="1400" dirty="0">
                <a:latin typeface="Roboto" charset="0"/>
                <a:ea typeface="Roboto" charset="0"/>
                <a:sym typeface="+mn-ea"/>
              </a:rPr>
              <a:t>meetings, including Airplay mirroring, Miracast, and Dongle. </a:t>
            </a:r>
            <a:r>
              <a:rPr lang="en-US" sz="1400" dirty="0">
                <a:latin typeface="Roboto" charset="0"/>
                <a:ea typeface="Roboto" charset="0"/>
              </a:rPr>
              <a:t>In addition to wireless casting, it also support wireless conferencing through dongle integration.</a:t>
            </a:r>
            <a:endParaRPr lang="en-US" sz="1400" dirty="0">
              <a:latin typeface="Roboto" charset="0"/>
              <a:ea typeface="Roboto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1. </a:t>
            </a:r>
            <a:r>
              <a:rPr lang="en-US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/>
              </a:rPr>
              <a:t>Easy </a:t>
            </a: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Click Wireless Conferencing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Transform your meeting room with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easy 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click wireless conferencing, ensuring easy connectivity,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seamless integration, and enhanced productivity.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32968" y="4283663"/>
            <a:ext cx="4791557" cy="150958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4845" y="2181791"/>
            <a:ext cx="2597480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文本框 4"/>
          <p:cNvSpPr txBox="1"/>
          <p:nvPr/>
        </p:nvSpPr>
        <p:spPr>
          <a:xfrm>
            <a:off x="916279" y="2219890"/>
            <a:ext cx="3945509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Effortless Connectivity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377229" y="4297919"/>
            <a:ext cx="4791557" cy="150958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文本框 4"/>
          <p:cNvSpPr txBox="1"/>
          <p:nvPr/>
        </p:nvSpPr>
        <p:spPr>
          <a:xfrm>
            <a:off x="1124483" y="2729651"/>
            <a:ext cx="4209516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With just click on the APO-DG2/APO-DG2-PRO USB-C dongle, you can control your USB conferencing devices wirelessly, eliminating the hassle of tangled cables.</a:t>
            </a:r>
          </a:p>
          <a:p>
            <a:pPr indent="0" fontAlgn="auto">
              <a:buFont typeface="Wingdings" panose="05000000000000000000" charset="0"/>
              <a:buNone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00774" y="2181791"/>
            <a:ext cx="2438401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文本框 4"/>
          <p:cNvSpPr txBox="1"/>
          <p:nvPr/>
        </p:nvSpPr>
        <p:spPr>
          <a:xfrm>
            <a:off x="6352209" y="2219890"/>
            <a:ext cx="3587853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Seamless Integration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5" name="文本框 4"/>
          <p:cNvSpPr txBox="1"/>
          <p:nvPr/>
        </p:nvSpPr>
        <p:spPr>
          <a:xfrm>
            <a:off x="6531838" y="2729651"/>
            <a:ext cx="411711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Seamlessly integrates with cameras, speakerphones, video bars, touch-screen panels, and other USB 3.0 peripherals, ensuring a superior hybrid meeting experience.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4845" y="4105421"/>
            <a:ext cx="218790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文本框 4"/>
          <p:cNvSpPr txBox="1"/>
          <p:nvPr/>
        </p:nvSpPr>
        <p:spPr>
          <a:xfrm>
            <a:off x="916280" y="4143520"/>
            <a:ext cx="203647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Boost Productivity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58" name="文本框 4"/>
          <p:cNvSpPr txBox="1"/>
          <p:nvPr/>
        </p:nvSpPr>
        <p:spPr>
          <a:xfrm>
            <a:off x="1124482" y="4739006"/>
            <a:ext cx="4209517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Quickly transition between meetings with minimal setup time, ensuring a smooth and productive workflow.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0774" y="4105421"/>
            <a:ext cx="2886078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文本框 4"/>
          <p:cNvSpPr txBox="1"/>
          <p:nvPr/>
        </p:nvSpPr>
        <p:spPr>
          <a:xfrm>
            <a:off x="6352210" y="4143520"/>
            <a:ext cx="4115765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High-Quality Performance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61" name="文本框 4"/>
          <p:cNvSpPr txBox="1"/>
          <p:nvPr/>
        </p:nvSpPr>
        <p:spPr>
          <a:xfrm>
            <a:off x="6531837" y="4739006"/>
            <a:ext cx="4193313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Delivers clear and reliable audio-visual communication, critical for effective collaboration.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6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2. Easy Sharing and Collaboration for Everyone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Simplify screen sharing and collaboration across multiple devices and operating systems, enabling seamless interaction and greater engagement.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32968" y="4283663"/>
            <a:ext cx="4791557" cy="150958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4845" y="2181791"/>
            <a:ext cx="2826080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4"/>
          <p:cNvSpPr txBox="1"/>
          <p:nvPr/>
        </p:nvSpPr>
        <p:spPr>
          <a:xfrm>
            <a:off x="916279" y="2219890"/>
            <a:ext cx="2544141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Multiple Casting Methods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377229" y="4297919"/>
            <a:ext cx="4791557" cy="150958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文本框 4"/>
          <p:cNvSpPr txBox="1"/>
          <p:nvPr/>
        </p:nvSpPr>
        <p:spPr>
          <a:xfrm>
            <a:off x="1124483" y="2805851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Supports AirPlay Mirroring, Miracast, USB-C dongles, and HDMI/USB-C wired connections, offering flexible options for different users and devices.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774" y="2181791"/>
            <a:ext cx="2657476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文本框 4"/>
          <p:cNvSpPr txBox="1"/>
          <p:nvPr/>
        </p:nvSpPr>
        <p:spPr>
          <a:xfrm>
            <a:off x="6352210" y="2219890"/>
            <a:ext cx="347759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Universal Compatibility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33" name="文本框 4"/>
          <p:cNvSpPr txBox="1"/>
          <p:nvPr/>
        </p:nvSpPr>
        <p:spPr>
          <a:xfrm>
            <a:off x="6531838" y="2796326"/>
            <a:ext cx="411711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Seamlessly works with laptops, tablets, and smartphones, supporting major operating systems including Windows, macOS, and Android.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4845" y="4105421"/>
            <a:ext cx="2340305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4"/>
          <p:cNvSpPr txBox="1"/>
          <p:nvPr/>
        </p:nvSpPr>
        <p:spPr>
          <a:xfrm>
            <a:off x="916280" y="4143520"/>
            <a:ext cx="203647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Interactive Learning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36" name="文本框 4"/>
          <p:cNvSpPr txBox="1"/>
          <p:nvPr/>
        </p:nvSpPr>
        <p:spPr>
          <a:xfrm>
            <a:off x="1124482" y="4739006"/>
            <a:ext cx="4209517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Ideal for classrooms, allowing teachers to easily share content and students to engage interactively using their own devices.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0774" y="4105421"/>
            <a:ext cx="2544141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文本框 4"/>
          <p:cNvSpPr txBox="1"/>
          <p:nvPr/>
        </p:nvSpPr>
        <p:spPr>
          <a:xfrm>
            <a:off x="6352210" y="4143520"/>
            <a:ext cx="2392705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Engage Your Audience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39" name="文本框 4"/>
          <p:cNvSpPr txBox="1"/>
          <p:nvPr/>
        </p:nvSpPr>
        <p:spPr>
          <a:xfrm>
            <a:off x="6531837" y="4739006"/>
            <a:ext cx="4193313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Multiview mode allows up to two sources to be displayed simultaneously, making collaboration and data comparison more intuitive and efficient.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Why Choose Us:  3. Plug &amp; Play, Guest-Friendly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32968" y="4283663"/>
            <a:ext cx="4791557" cy="150958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4845" y="2181791"/>
            <a:ext cx="2016455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4"/>
          <p:cNvSpPr txBox="1"/>
          <p:nvPr/>
        </p:nvSpPr>
        <p:spPr>
          <a:xfrm>
            <a:off x="916280" y="2219890"/>
            <a:ext cx="176977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Simplified Setup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377229" y="4297919"/>
            <a:ext cx="4791557" cy="150958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4"/>
          <p:cNvSpPr txBox="1"/>
          <p:nvPr/>
        </p:nvSpPr>
        <p:spPr>
          <a:xfrm>
            <a:off x="1124483" y="2805851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Plug-and-play functionality allows guests to connect instantly with no need for additional software or complex configurations.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0774" y="2181791"/>
            <a:ext cx="2544141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4"/>
          <p:cNvSpPr txBox="1"/>
          <p:nvPr/>
        </p:nvSpPr>
        <p:spPr>
          <a:xfrm>
            <a:off x="6352210" y="2219890"/>
            <a:ext cx="4059962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Versatile Input Options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4" name="文本框 4"/>
          <p:cNvSpPr txBox="1"/>
          <p:nvPr/>
        </p:nvSpPr>
        <p:spPr>
          <a:xfrm>
            <a:off x="6531837" y="2805851"/>
            <a:ext cx="4535679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Equipped with one full-featured USB-C port (100W PD for guests’ laptops) and one HDMI input, it offers maximum flexibility for diverse presentation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845" y="4105421"/>
            <a:ext cx="2283155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4"/>
          <p:cNvSpPr txBox="1"/>
          <p:nvPr/>
        </p:nvSpPr>
        <p:spPr>
          <a:xfrm>
            <a:off x="916280" y="4143520"/>
            <a:ext cx="203647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Present in Seconds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1124483" y="4748531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Guests can simply pick up the dongle and start sharing instantly, ensuring a smooth and efficient presentation experience.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0774" y="4105421"/>
            <a:ext cx="2657476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文本框 4"/>
          <p:cNvSpPr txBox="1"/>
          <p:nvPr/>
        </p:nvSpPr>
        <p:spPr>
          <a:xfrm>
            <a:off x="6352210" y="4143520"/>
            <a:ext cx="2392705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Secure Network Access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2" name="文本框 4"/>
          <p:cNvSpPr txBox="1"/>
          <p:nvPr/>
        </p:nvSpPr>
        <p:spPr>
          <a:xfrm>
            <a:off x="6531837" y="4615181"/>
            <a:ext cx="4193313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Switch to “Isolated Mode” when you need to separate your internal network from the guests’ network. This mode ensures secure and reliable guest access, even during system configuration.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Simplify setup with plug-and-play functionality, making it easy for guests to connect and present without any hassle.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4463" y="1085503"/>
            <a:ext cx="7108885" cy="26275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E18948-2EB9-84FB-7B54-0D6426E65E0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63" y="1126925"/>
            <a:ext cx="7108885" cy="2584225"/>
          </a:xfrm>
          <a:prstGeom prst="rect">
            <a:avLst/>
          </a:prstGeom>
        </p:spPr>
      </p:pic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Interface of the Product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23899" y="3160934"/>
            <a:ext cx="3633139" cy="20587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Multiple Wired Network Connectivity</a:t>
            </a:r>
          </a:p>
          <a:p>
            <a:pPr algn="l">
              <a:lnSpc>
                <a:spcPts val="1800"/>
              </a:lnSpc>
              <a:buClrTx/>
              <a:buSzTx/>
              <a:buFontTx/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Offers multiple wired connections including USB-C, USB Host, and Ethernet (in non-isolated mode), ensuring stable and reliable network performance for AV applications.</a:t>
            </a:r>
          </a:p>
        </p:txBody>
      </p:sp>
      <p:sp>
        <p:nvSpPr>
          <p:cNvPr id="15" name="文本框 8"/>
          <p:cNvSpPr txBox="1"/>
          <p:nvPr/>
        </p:nvSpPr>
        <p:spPr>
          <a:xfrm>
            <a:off x="8207632" y="1227695"/>
            <a:ext cx="1986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u="sng" dirty="0">
                <a:latin typeface="Roboto" charset="0"/>
                <a:cs typeface="Roboto" charset="0"/>
              </a:rPr>
              <a:t>Featuring:</a:t>
            </a:r>
          </a:p>
        </p:txBody>
      </p:sp>
      <p:pic>
        <p:nvPicPr>
          <p:cNvPr id="16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464" y="3868461"/>
            <a:ext cx="7108885" cy="28180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6666547" y="3927899"/>
            <a:ext cx="185166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  <a:sym typeface="+mn-ea"/>
              </a:rPr>
              <a:t>Rear Panel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207632" y="1804152"/>
            <a:ext cx="3698774" cy="112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Advanced USB-C Integration</a:t>
            </a:r>
          </a:p>
          <a:p>
            <a:pPr>
              <a:lnSpc>
                <a:spcPts val="500"/>
              </a:lnSpc>
            </a:pPr>
            <a:endParaRPr lang="en-US" sz="24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It provides not only video, audio, and USB signals, but also 100W power delivery, stable network access, and MST capability.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99" y="4452425"/>
            <a:ext cx="6837759" cy="193967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08762" y="1157767"/>
            <a:ext cx="19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</a:rPr>
              <a:t>Front Panel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Specifications &amp; Packing List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50506956"/>
              </p:ext>
            </p:extLst>
          </p:nvPr>
        </p:nvGraphicFramePr>
        <p:xfrm>
          <a:off x="298877" y="1356569"/>
          <a:ext cx="6369050" cy="49200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010">
                <a:tc gridSpan="2">
                  <a:txBody>
                    <a:bodyPr/>
                    <a:lstStyle/>
                    <a:p>
                      <a:r>
                        <a:rPr lang="en-US" altLang="zh-CN" sz="16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Main Specifications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Input Video Port 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Wired: 1x USB-C, 1x HDMI</a:t>
                      </a:r>
                    </a:p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Wireless: Miracast, Airplay, </a:t>
                      </a:r>
                    </a:p>
                    <a:p>
                      <a:pPr marL="0" indent="714375"/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Dongle(APO-DG2/APO-DG2-PRO)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00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Input Resolutions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USB-C/HDMI: 4K@30Hz</a:t>
                      </a:r>
                    </a:p>
                    <a:p>
                      <a:r>
                        <a:rPr lang="en-US" altLang="zh-CN" sz="2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Miracast: 1080P@60Hz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altLang="zh-CN" sz="8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Airplay Mirroring: 1080P@60Hz</a:t>
                      </a:r>
                    </a:p>
                    <a:p>
                      <a:r>
                        <a:rPr lang="en-US" altLang="zh-CN" sz="2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Dongle: 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44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 Video Port 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9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Output Resolutions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 OUT 1: 4K@60Hz</a:t>
                      </a:r>
                    </a:p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 OUT 2: 4K@30Hz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Input Audio Port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HDMI, 1x USB-C, 2x LAN, 2x Wi-Fi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Output Audio Port 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 x HDMI, 1 x Analog Audio Out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Device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3x USB3.0 Type-A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02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 Method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Web UI, Telnet API, RS-232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20V 10A DC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242218" y="1901190"/>
            <a:ext cx="4707847" cy="289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SW-620-TX-W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20V/10A Power Supply 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4x AC cables, US, EU, UK, AU specification 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4x Plastic Mounting Brackets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2-pin Phoenix Connector (for MUTE port)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4-pin Phoenix Connector (for RS-232)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5-pin Phoenix Connector (for Audio Out)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4x Wi-Fi Antennas 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1x Quick Start Guide</a:t>
            </a:r>
          </a:p>
        </p:txBody>
      </p:sp>
      <p:pic>
        <p:nvPicPr>
          <p:cNvPr id="6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57155" y="1027050"/>
            <a:ext cx="11290300" cy="7588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SW-620-TX-W system seamlessly integrates with all your conferencing equipment, such as room PCs, laptops, displays, webcams, speakerphones, and amplifiers. It’s designed to meet all your needs for high-quality video presentations and remote conferencing. See the typical connection diagram below for reference.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26F60C-7802-7367-13E3-1926A6CAF4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039" y="2146652"/>
            <a:ext cx="6580979" cy="43981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6"/>
          <p:cNvSpPr txBox="1"/>
          <p:nvPr>
            <p:custDataLst>
              <p:tags r:id="rId3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sp>
        <p:nvSpPr>
          <p:cNvPr id="10" name="Title 6"/>
          <p:cNvSpPr txBox="1"/>
          <p:nvPr>
            <p:custDataLst>
              <p:tags r:id="rId4"/>
            </p:custDataLst>
          </p:nvPr>
        </p:nvSpPr>
        <p:spPr>
          <a:xfrm>
            <a:off x="294005" y="1155065"/>
            <a:ext cx="4387215" cy="473900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1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Small Classroom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This solution empowers teachers to easily share teaching content and engage students who can participate using their own devices. It enhances classroom interactivity and improves teaching efficiency.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8575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Full-Featured USB-C Supported: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Provide video, audio, USB3.0, Ethernet, and 100W charging with one cable.</a:t>
            </a:r>
          </a:p>
          <a:p>
            <a:pPr marL="28575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MST Capacity over USB-C: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Enable multi-display extension through a single cable, delivering a cleaner setup and more efficient content sharing.</a:t>
            </a:r>
            <a:endParaRPr lang="en-US" sz="14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Multiple Casting Methods: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Simplifies </a:t>
            </a:r>
            <a:b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presentations with various casting options.</a:t>
            </a:r>
          </a:p>
          <a:p>
            <a:pPr indent="-285750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Dual-Screen Connection: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Ensures clear</a:t>
            </a:r>
            <a:b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and comprehensive display.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Fast Seamless Switching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Quick and smooth </a:t>
            </a:r>
            <a:b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transitions between inputs.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91" y="1064185"/>
            <a:ext cx="6142182" cy="517035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292100" y="765810"/>
            <a:ext cx="4199255" cy="54927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2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Medium Conference Room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This solution simplifies installation with its plug-and-play design, significantly enhancing meeting efficiency for both in-person and remote conferencing, ensuring every meeting is productive and smooth.</a:t>
            </a:r>
            <a:b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69875" indent="-269875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Advanced USB-C Supported: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Provide video, audio, USB3.0, Ethernet, and 100W charging with one cable.</a:t>
            </a:r>
            <a:endParaRPr sz="14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269875" lvl="0" indent="-269875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Multiple Casting Methods: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Simplifies presentations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with various casting options.</a:t>
            </a:r>
          </a:p>
          <a:p>
            <a:pPr marL="28575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Multiview Function: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Synchronous display of multiple information sources.</a:t>
            </a:r>
          </a:p>
          <a:p>
            <a:pPr marL="28575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Fast Seamless Switching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 Quick and smooth transitions between inputs.</a:t>
            </a: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061" y="1238596"/>
            <a:ext cx="7069783" cy="50199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0994229"/>
              </p:ext>
            </p:extLst>
          </p:nvPr>
        </p:nvGraphicFramePr>
        <p:xfrm>
          <a:off x="535190" y="1251300"/>
          <a:ext cx="11199654" cy="48500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60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61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28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57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WyreStorm</a:t>
                      </a:r>
                      <a:b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SW-620-TX-W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Barco</a:t>
                      </a:r>
                      <a:b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CX-50 Gen 2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Creston</a:t>
                      </a:r>
                      <a:b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AM-3200-WF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BlueStream</a:t>
                      </a:r>
                      <a:endParaRPr lang="en-US" altLang="zh-CN" sz="1400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WMF72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Extron</a:t>
                      </a:r>
                      <a:b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Share Link Pro 2500</a:t>
                      </a:r>
                    </a:p>
                  </a:txBody>
                  <a:tcPr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3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Feature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Input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 (Video, USB,</a:t>
                      </a:r>
                      <a:b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Ethernet, 100W Charging)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 (Video only)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USB-C(Video, USB, Ethernet, 65W charging 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5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Input Resolution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Not Given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75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Output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kern="12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 or 1x USB-C</a:t>
                      </a:r>
                      <a:endParaRPr lang="zh-CN" altLang="en-US" sz="1000" dirty="0"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5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Output Resolution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5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Wireless Collaboration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Dongle Casting Resolution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Support,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Resolution not given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35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Wireless Conferencing Resolution*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720P@15Hz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720P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Support,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Resolution not given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35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 Feature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 Host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x USB </a:t>
                      </a: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 Type-B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Type-C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Type-B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Type-C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Type-B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35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 Device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x USB </a:t>
                      </a: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 Type-A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Type-A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Type-C</a:t>
                      </a:r>
                      <a:endParaRPr lang="zh-CN" altLang="en-US" sz="1000" dirty="0"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Type-A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2.0 Type-A</a:t>
                      </a:r>
                      <a:endParaRPr lang="zh-CN" altLang="en-US" sz="1000" dirty="0"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cs typeface="Arial" panose="020B0604020202020204" pitchFamily="34" charset="0"/>
                        </a:rPr>
                        <a:t>3x USB 3.0 Type-A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cs typeface="Arial" panose="020B0604020202020204" pitchFamily="34" charset="0"/>
                        </a:rPr>
                        <a:t>2x USB 2.0 Type-A</a:t>
                      </a:r>
                      <a:endParaRPr lang="zh-CN" altLang="en-US" sz="1000" dirty="0"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Type-A</a:t>
                      </a:r>
                      <a:endParaRPr lang="zh-CN" altLang="en-US" sz="1000" dirty="0"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235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Network Feature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2x RJ45 (Supports network isolation)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1x USB-C &amp; 1x USB3.0 Type-B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(Wired network to laptop)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RJ45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RJ45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RJ45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(Wired network to laptop)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RJ45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52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Multiview Feature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Dual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Dual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Quad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Quad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Quad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3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Other Competitors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90747" y="6312207"/>
            <a:ext cx="4716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Roboto Lt" pitchFamily="2" charset="0"/>
                <a:ea typeface="Roboto Lt" pitchFamily="2" charset="0"/>
              </a:rPr>
              <a:t>*Max. resolution that USB camera can transmit wirelessly to your host by Dongle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695998" y="1137151"/>
          <a:ext cx="10800001" cy="481953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91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82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SW-620-TX-W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SW-640L-TX-W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SW-220-TX-W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059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Feature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Input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 (Video, USB,</a:t>
                      </a:r>
                      <a:b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Ethernet, 100W Charging, MST)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</a:t>
                      </a:r>
                      <a:r>
                        <a:rPr lang="zh-CN" altLang="en-US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HDMI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USB-C</a:t>
                      </a: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(Video, USB,</a:t>
                      </a:r>
                      <a:b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Ethernet, 60W Charging, MST)</a:t>
                      </a:r>
                      <a:endParaRPr lang="en-US" altLang="zh-CN" sz="1000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8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Input Resolution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8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Video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Output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8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Output Resolution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4K@60Hz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Wireless Collaboration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Wireless Casting Dongle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APO-DG2/APO-DG2-PRO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APO-DG2/APO-DG2-PRO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APO-DG1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8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Dongle Casting Resolution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4K@30Hz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Wireless Conference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Supported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Supported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43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Wireless Conferencing Resolution*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1080P@30Hz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4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 Feature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 Host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x USB </a:t>
                      </a: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 Type-B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3.0 Type-C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x USB </a:t>
                      </a: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 Type-B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3.0 Type-C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 2.0 Type-C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43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 Device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x USB </a:t>
                      </a: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 Type-A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+mn-ea"/>
                          <a:cs typeface="Arial" panose="020B0604020202020204" pitchFamily="34" charset="0"/>
                        </a:rPr>
                        <a:t>x USB </a:t>
                      </a: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 Type-A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 2.0 Type-A</a:t>
                      </a:r>
                      <a:endParaRPr lang="zh-CN" altLang="en-US" sz="1000" dirty="0"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3686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Network Feature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RJ45(Supports network isolation)​</a:t>
                      </a:r>
                    </a:p>
                    <a:p>
                      <a:pPr marL="0" algn="ctr" defTabSz="914400" rtl="0" eaLnBrk="1" fontAlgn="base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USB-C&amp;1x USB3.0 Type-B​</a:t>
                      </a:r>
                    </a:p>
                    <a:p>
                      <a:pPr marL="0" algn="ctr" defTabSz="914400" rtl="0" eaLnBrk="1" fontAlgn="base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(Wired network to PCs)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3x RJ45(Support network isolation)​</a:t>
                      </a:r>
                    </a:p>
                    <a:p>
                      <a:pPr marL="0" algn="ctr" defTabSz="914400" rtl="0" eaLnBrk="1" fontAlgn="base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2x USB-C(Wired network to PCs)​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RJ45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80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Multiview Feature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Dual</a:t>
                      </a:r>
                      <a:r>
                        <a:rPr lang="en-US" sz="1000" b="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Quad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Dual View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3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</a:t>
            </a:r>
            <a:r>
              <a:rPr lang="en-US" altLang="zh-CN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Wyrestorm Wireless Conference System</a:t>
            </a:r>
            <a:endParaRPr lang="en-US" sz="32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159" y="6276588"/>
            <a:ext cx="4716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Roboto Lt" pitchFamily="2" charset="0"/>
                <a:ea typeface="Roboto Lt" pitchFamily="2" charset="0"/>
              </a:rPr>
              <a:t>*Max. resolution that USB camera can transmit wirelessly to your host by Dongle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Our Advantages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757970" y="1244917"/>
            <a:ext cx="9801027" cy="525208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This versatile system is designed for conference rooms and classrooms, meeting diverse signal transmission requirements. It delivers efficient, high-quality performance for seamless presentations and hybrid collaboration.</a:t>
            </a:r>
          </a:p>
          <a:p>
            <a:pPr marL="0" lvl="0" indent="-285750" algn="l" fontAlgn="ctr">
              <a:lnSpc>
                <a:spcPts val="19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-US" sz="20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ts val="19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Our key advantages include:</a:t>
            </a:r>
            <a:b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</a:b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endParaRPr lang="en-US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Full-Featured USB-C Port: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Transmits video, audio, USB data, Ethernet (1G), and up to 100W power delivery through a single cable.</a:t>
            </a:r>
            <a:endParaRPr lang="en-US" altLang="zh-CN" sz="14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Multiview Support: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Displays up to two views simultaneously on one screen connection for flexible content sharing.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Dual Ethernet Ports: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Provide secure, stable network access for guest PCs and enable simple system configuration through a web interface.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Dual HDMI Outputs: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Offer flexible display configurations for different room setups.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Cost-Effective Solution: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Combines multiple functions in one system, delivering excellent value at a competitive price.</a:t>
            </a: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endParaRPr lang="en-US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endParaRPr lang="en-US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5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Introduction of Web Configuration Interface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57200" y="1102360"/>
            <a:ext cx="11648440" cy="528129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The Web UI of the SW-620-TX-W presentation system is designed for intuitive device management and configuration through any web browser.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The settings and configurations you can perform are as follows: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sz="14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16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Web UI Functionality</a:t>
            </a: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: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Interface: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Manage device settings via web browsers.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Customization: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Personalize splash screen and network security.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Control: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Configure video inputs, outputs, and wireless settings.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sz="10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16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Key Web UI Configurations</a:t>
            </a: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: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General Settings: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IP configuration, security, and firmware updates,</a:t>
            </a:r>
            <a:b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</a:b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like modifying the device name, or the device’s Wi-Fi hotspot name,</a:t>
            </a:r>
            <a:b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</a:b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setting the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access code, etc.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Video Inputs/Outputs: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Manage HDMI sources and EDID profiles.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Screen Sharing: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Enable wireless display or multiview features.</a:t>
            </a:r>
          </a:p>
          <a:p>
            <a:pPr marL="171450" lvl="0" indent="-1714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Display Control: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Use CEC and RS-232 for display management,</a:t>
            </a:r>
            <a:b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</a:b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 customize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the guide screen picture, etc.</a:t>
            </a:r>
          </a:p>
        </p:txBody>
      </p:sp>
      <p:pic>
        <p:nvPicPr>
          <p:cNvPr id="5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12" name="图片 3"/>
          <p:cNvPicPr/>
          <p:nvPr/>
        </p:nvPicPr>
        <p:blipFill>
          <a:blip r:embed="rId8"/>
          <a:stretch>
            <a:fillRect/>
          </a:stretch>
        </p:blipFill>
        <p:spPr>
          <a:xfrm>
            <a:off x="7010400" y="2364741"/>
            <a:ext cx="4882723" cy="30680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103858"/>
            <a:ext cx="12287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Got questions? Don't hesitate to ask away.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algn="ctr"/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952],&quot;65&quot;:[20215802]}"/>
  <p:tag name="COMMONDATA" val="eyJoZGlkIjoiNTc4NzQzMWI1MGViYjVlYjEzZTIyZjMyNmVmMjIy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2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0"/>
  <p:tag name="KSO_WM_UNIT_DEC_AREA_ID" val="c851648b610c4eed84725474f83dd78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fa1e37419f9b42fb86bdf596086272a2&quot;,&quot;X&quot;:{&quot;Pos&quot;:2},&quot;Y&quot;:{&quot;Pos&quot;:0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3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3"/>
  <p:tag name="KSO_WM_UNIT_BLOCK" val="0"/>
  <p:tag name="KSO_WM_UNIT_SM_LIMIT_TYPE" val="0"/>
  <p:tag name="KSO_WM_UNIT_DEC_AREA_ID" val="3104b9f4692049e9b18edec063ed2171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fa1e37419f9b42fb86bdf596086272a2&quot;,&quot;X&quot;:{&quot;Pos&quot;:0},&quot;Y&quot;:{&quot;Pos&quot;:2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422"/>
  <p:tag name="TABLE_ENDDRAG_RECT" val="28*96*500*42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4a73f3b-737b-44ac-adc8-835e3814dc6f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df4cc24-f499-46a5-93f7-423fc716f17f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Props1.xml><?xml version="1.0" encoding="utf-8"?>
<ds:datastoreItem xmlns:ds="http://schemas.openxmlformats.org/officeDocument/2006/customXml" ds:itemID="{11E6FE85-46A4-43B0-8C81-ADEE6B993338}"/>
</file>

<file path=customXml/itemProps2.xml><?xml version="1.0" encoding="utf-8"?>
<ds:datastoreItem xmlns:ds="http://schemas.openxmlformats.org/officeDocument/2006/customXml" ds:itemID="{7DD46DED-7379-426C-B84F-79296830AD51}"/>
</file>

<file path=customXml/itemProps3.xml><?xml version="1.0" encoding="utf-8"?>
<ds:datastoreItem xmlns:ds="http://schemas.openxmlformats.org/officeDocument/2006/customXml" ds:itemID="{999872AE-6B34-48B9-B1D5-5D90F3C10E73}"/>
</file>

<file path=docProps/app.xml><?xml version="1.0" encoding="utf-8"?>
<Properties xmlns="http://schemas.openxmlformats.org/officeDocument/2006/extended-properties" xmlns:vt="http://schemas.openxmlformats.org/officeDocument/2006/docPropsVTypes">
  <TotalTime>5916</TotalTime>
  <Words>2278</Words>
  <Application>Microsoft Macintosh PowerPoint</Application>
  <PresentationFormat>宽屏</PresentationFormat>
  <Paragraphs>326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等线</vt:lpstr>
      <vt:lpstr>等线 Light</vt:lpstr>
      <vt:lpstr>微软雅黑</vt:lpstr>
      <vt:lpstr>Arial</vt:lpstr>
      <vt:lpstr>Calibri</vt:lpstr>
      <vt:lpstr>Montserrat</vt:lpstr>
      <vt:lpstr>Roboto</vt:lpstr>
      <vt:lpstr>Roboto Lt</vt:lpstr>
      <vt:lpstr>Wingdings</vt:lpstr>
      <vt:lpstr>Office 主题​​</vt:lpstr>
      <vt:lpstr>2_Office 主题​​</vt:lpstr>
      <vt:lpstr>SW-620-TX-W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henry@proitav.com</dc:creator>
  <cp:lastModifiedBy>Damon Xie</cp:lastModifiedBy>
  <cp:revision>200</cp:revision>
  <dcterms:created xsi:type="dcterms:W3CDTF">2024-10-24T01:32:00Z</dcterms:created>
  <dcterms:modified xsi:type="dcterms:W3CDTF">2025-12-19T08:27:25Z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E227984EDA9E42A78FBFF2E4D2E15629_13</vt:lpwstr>
  </property>
  <property fmtid="{D5CDD505-2E9C-101B-9397-08002B2CF9AE}" pid="3" name="KSOProductBuildVer">
    <vt:lpwstr>2052-12.1.0.23542</vt:lpwstr>
  </property>
  <property fmtid="{D5CDD505-2E9C-101B-9397-08002B2CF9AE}" pid="4" name="ContentTypeId">
    <vt:lpwstr>0x010100E01A8FBB3908BD4681554D596DADDBBC</vt:lpwstr>
  </property>
</Properties>
</file>