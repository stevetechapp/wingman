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6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7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8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9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0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3"/>
  </p:notesMasterIdLst>
  <p:sldIdLst>
    <p:sldId id="256" r:id="rId5"/>
    <p:sldId id="273" r:id="rId6"/>
    <p:sldId id="274" r:id="rId7"/>
    <p:sldId id="260" r:id="rId8"/>
    <p:sldId id="1026" r:id="rId9"/>
    <p:sldId id="1053" r:id="rId10"/>
    <p:sldId id="1054" r:id="rId11"/>
    <p:sldId id="1055" r:id="rId12"/>
    <p:sldId id="1013" r:id="rId13"/>
    <p:sldId id="1014" r:id="rId14"/>
    <p:sldId id="1011" r:id="rId15"/>
    <p:sldId id="1057" r:id="rId16"/>
    <p:sldId id="1015" r:id="rId17"/>
    <p:sldId id="1059" r:id="rId18"/>
    <p:sldId id="270" r:id="rId19"/>
    <p:sldId id="271" r:id="rId20"/>
    <p:sldId id="1058" r:id="rId21"/>
    <p:sldId id="26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9468A0-F036-4BF6-B7F4-A88968B5BF54}" v="2" dt="2025-12-19T11:24:11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0427" autoAdjust="0"/>
  </p:normalViewPr>
  <p:slideViewPr>
    <p:cSldViewPr snapToGrid="0">
      <p:cViewPr varScale="1">
        <p:scale>
          <a:sx n="97" d="100"/>
          <a:sy n="97" d="100"/>
        </p:scale>
        <p:origin x="14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ssi Pan" userId="S::sissi.pan@wyrestorm.com::8543c895-7edf-43de-b1b0-704c4478ed01" providerId="AD" clId="Web-{4B8F1445-23D1-731F-1B9B-AFEF9E271A97}"/>
    <pc:docChg chg="modSld">
      <pc:chgData name="Sissi Pan" userId="S::sissi.pan@wyrestorm.com::8543c895-7edf-43de-b1b0-704c4478ed01" providerId="AD" clId="Web-{4B8F1445-23D1-731F-1B9B-AFEF9E271A97}" dt="2025-12-16T05:55:55.342" v="1" actId="1076"/>
      <pc:docMkLst>
        <pc:docMk/>
      </pc:docMkLst>
      <pc:sldChg chg="modSp">
        <pc:chgData name="Sissi Pan" userId="S::sissi.pan@wyrestorm.com::8543c895-7edf-43de-b1b0-704c4478ed01" providerId="AD" clId="Web-{4B8F1445-23D1-731F-1B9B-AFEF9E271A97}" dt="2025-12-16T05:55:55.342" v="1" actId="1076"/>
        <pc:sldMkLst>
          <pc:docMk/>
          <pc:sldMk cId="0" sldId="271"/>
        </pc:sldMkLst>
        <pc:spChg chg="mod">
          <ac:chgData name="Sissi Pan" userId="S::sissi.pan@wyrestorm.com::8543c895-7edf-43de-b1b0-704c4478ed01" providerId="AD" clId="Web-{4B8F1445-23D1-731F-1B9B-AFEF9E271A97}" dt="2025-12-16T05:55:55.342" v="1" actId="1076"/>
          <ac:spMkLst>
            <pc:docMk/>
            <pc:sldMk cId="0" sldId="271"/>
            <ac:spMk id="23" creationId="{00000000-0000-0000-0000-000000000000}"/>
          </ac:spMkLst>
        </pc:spChg>
      </pc:sldChg>
    </pc:docChg>
  </pc:docChgLst>
  <pc:docChgLst>
    <pc:chgData name="Franklyn Mogale" userId="S::franklyn.mogale@wyrestorm.com::2af9dd90-5c0a-4309-9664-3098185c05fd" providerId="AD" clId="Web-{D69468A0-F036-4BF6-B7F4-A88968B5BF54}"/>
    <pc:docChg chg="modSld">
      <pc:chgData name="Franklyn Mogale" userId="S::franklyn.mogale@wyrestorm.com::2af9dd90-5c0a-4309-9664-3098185c05fd" providerId="AD" clId="Web-{D69468A0-F036-4BF6-B7F4-A88968B5BF54}" dt="2025-12-19T11:24:11.171" v="1"/>
      <pc:docMkLst>
        <pc:docMk/>
      </pc:docMkLst>
      <pc:sldChg chg="addSp delSp">
        <pc:chgData name="Franklyn Mogale" userId="S::franklyn.mogale@wyrestorm.com::2af9dd90-5c0a-4309-9664-3098185c05fd" providerId="AD" clId="Web-{D69468A0-F036-4BF6-B7F4-A88968B5BF54}" dt="2025-12-19T11:24:11.171" v="1"/>
        <pc:sldMkLst>
          <pc:docMk/>
          <pc:sldMk cId="0" sldId="1057"/>
        </pc:sldMkLst>
        <pc:picChg chg="add del">
          <ac:chgData name="Franklyn Mogale" userId="S::franklyn.mogale@wyrestorm.com::2af9dd90-5c0a-4309-9664-3098185c05fd" providerId="AD" clId="Web-{D69468A0-F036-4BF6-B7F4-A88968B5BF54}" dt="2025-12-19T11:24:11.171" v="1"/>
          <ac:picMkLst>
            <pc:docMk/>
            <pc:sldMk cId="0" sldId="1057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93BD0-32CF-4066-A499-98934A72AF26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96CFC-49C4-497E-BE20-28B8CAB7AD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96CFC-49C4-497E-BE20-28B8CAB7AD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13F4F-6775-4A7A-877C-4EE03C1C85CD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4051D-83B6-46CA-9F59-39CE12A3CA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7.png"/><Relationship Id="rId4" Type="http://schemas.openxmlformats.org/officeDocument/2006/relationships/tags" Target="../tags/tag12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tags" Target="../tags/tag17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16.xml"/><Relationship Id="rId16" Type="http://schemas.openxmlformats.org/officeDocument/2006/relationships/image" Target="../media/image14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9.png"/><Relationship Id="rId5" Type="http://schemas.openxmlformats.org/officeDocument/2006/relationships/tags" Target="../tags/tag19.xml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tags" Target="../tags/tag18.xml"/><Relationship Id="rId9" Type="http://schemas.openxmlformats.org/officeDocument/2006/relationships/image" Target="../media/image5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8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7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50.xml"/><Relationship Id="rId7" Type="http://schemas.openxmlformats.org/officeDocument/2006/relationships/image" Target="../media/image22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2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56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9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5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5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57682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panose="02000000000000000000" charset="0"/>
                <a:sym typeface="Roboto" panose="02000000000000000000"/>
              </a:rPr>
              <a:t>Product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5833" y="198014"/>
            <a:ext cx="4738182" cy="503028"/>
          </a:xfrm>
        </p:spPr>
        <p:txBody>
          <a:bodyPr>
            <a:noAutofit/>
          </a:bodyPr>
          <a:lstStyle/>
          <a:p>
            <a:r>
              <a:rPr lang="en-US" altLang="zh-CN" sz="2600" b="1" dirty="0">
                <a:solidFill>
                  <a:schemeClr val="bg1"/>
                </a:solidFill>
                <a:latin typeface="Roboto" panose="02000000000000000000" charset="0"/>
                <a:ea typeface="Roboto" panose="02000000000000000000"/>
                <a:cs typeface="Roboto" panose="02000000000000000000" charset="0"/>
                <a:sym typeface="+mn-ea"/>
              </a:rPr>
              <a:t>MX-0403-H3-MST</a:t>
            </a:r>
            <a:endParaRPr lang="zh-CN" altLang="en-US" sz="2600" b="1" dirty="0">
              <a:solidFill>
                <a:schemeClr val="bg1"/>
              </a:solidFill>
              <a:latin typeface="Roboto" panose="02000000000000000000" charset="0"/>
              <a:ea typeface="宋体" panose="02010600030101010101" pitchFamily="2" charset="-122"/>
              <a:cs typeface="Roboto" panose="02000000000000000000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6360007" y="505913"/>
            <a:ext cx="6543720" cy="4346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panose="02000000000000000000" charset="0"/>
                <a:ea typeface="宋体" panose="02010600030101010101" pitchFamily="2" charset="-122"/>
                <a:cs typeface="Roboto" panose="02000000000000000000" charset="0"/>
                <a:sym typeface="+mn-ea"/>
              </a:rPr>
              <a:t>Advanced 4K Conference Presentation Switcher</a:t>
            </a: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Picture 25" descr="A picture containing text, clock&#10;&#10;Description automatically generated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sp>
        <p:nvSpPr>
          <p:cNvPr id="19" name="Title 1"/>
          <p:cNvSpPr txBox="1"/>
          <p:nvPr/>
        </p:nvSpPr>
        <p:spPr>
          <a:xfrm>
            <a:off x="7788421" y="5849316"/>
            <a:ext cx="4368803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i="1" dirty="0">
                <a:latin typeface="Montserrat"/>
                <a:ea typeface="Roboto" panose="02000000000000000000"/>
                <a:cs typeface="Arial" panose="020B0604020202020204"/>
              </a:rPr>
              <a:t>Award-Winning Audio-Visual Solutions Manufacturer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997104" y="-368589"/>
            <a:ext cx="10509141" cy="6623714"/>
            <a:chOff x="-4478594" y="-918230"/>
            <a:chExt cx="10509141" cy="6623714"/>
          </a:xfrm>
        </p:grpSpPr>
        <p:pic>
          <p:nvPicPr>
            <p:cNvPr id="12" name="图片 11" descr="图形用户界面, 文本, 应用程序&#10;&#10;AI 生成的内容可能不正确。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453798" y="-918230"/>
              <a:ext cx="10468303" cy="5888420"/>
            </a:xfrm>
            <a:prstGeom prst="rect">
              <a:avLst/>
            </a:prstGeom>
          </p:spPr>
        </p:pic>
        <p:pic>
          <p:nvPicPr>
            <p:cNvPr id="10" name="图片 9" descr="图形用户界面, 文本&#10;&#10;AI 生成的内容可能不正确。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478594" y="-205908"/>
              <a:ext cx="10509141" cy="59113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2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panose="02000000000000000000" charset="0"/>
                <a:sym typeface="Roboto" panose="02000000000000000000"/>
              </a:rPr>
              <a:t>Contents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1795" y="1200269"/>
            <a:ext cx="5950280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27193" y="1869423"/>
            <a:ext cx="33594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93768" y="2530186"/>
            <a:ext cx="48263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008386" y="4597936"/>
            <a:ext cx="80648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508168" y="5276410"/>
            <a:ext cx="29975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3662" y="3220571"/>
            <a:ext cx="6306544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69918" y="3891906"/>
            <a:ext cx="54740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/>
          <p:cNvSpPr txBox="1"/>
          <p:nvPr>
            <p:custDataLst>
              <p:tags r:id="rId4"/>
            </p:custDataLst>
          </p:nvPr>
        </p:nvSpPr>
        <p:spPr>
          <a:xfrm>
            <a:off x="1570188" y="1324371"/>
            <a:ext cx="8873491" cy="420993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Product Overview &amp; </a:t>
            </a:r>
            <a:r>
              <a:rPr lang="en-US"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Main</a:t>
            </a: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Features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Why Choose Us?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Competitor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Quick Installation Guide &amp; Web UI Introduction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3"/>
            </p:custDataLst>
          </p:nvPr>
        </p:nvCxnSpPr>
        <p:spPr>
          <a:xfrm>
            <a:off x="8904655" y="1635474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5829257" y="5517369"/>
            <a:ext cx="2489200" cy="0"/>
          </a:xfrm>
          <a:prstGeom prst="line">
            <a:avLst/>
          </a:prstGeom>
          <a:ln w="28575" cmpd="sng">
            <a:solidFill>
              <a:schemeClr val="dk2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690235" y="3972697"/>
            <a:ext cx="6201410" cy="1940011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25000" lnSpcReduction="2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5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5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The MX-0403-H3-MST Conference Presentation Switcher is the ultimate solution for modern mid-to-large conference rooms, designed to simplify and enhance your presentation experience. This all-in-one device integrates video, audio, long-distance transmission, USB, Ethernet, and control functionalities. With dual USB-C and dual HDMI inputs, automatic source switching, and Multi-Stream Transport (MST) capabilities, the MX-0403-H3-MST delivers an immersive and seamless experience for any conference environment. Its advanced HDBaseT output supports long-distance transmission of up to 4K@60Hz 4:4:4 8-bit over 100m via Cat 6a/7 cable, perfectly suited for medium-to-large spaces. </a:t>
            </a: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5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In addition, USB 3.2 ports support transfer speeds of up to 10Gbps, enabling a professional hybrid experience for remote meetings or distance learning. This product is ideal for conference rooms or classrooms seeking an immersive AV environment, advanced hybrid functionality, and versatile control options.</a:t>
            </a: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lvl="0" indent="-285750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-US" altLang="zh-CN"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90235" y="1924976"/>
            <a:ext cx="6318250" cy="1034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85750" algn="l" defTabSz="913765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z="22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Advanced 4K Conference </a:t>
            </a:r>
            <a:r>
              <a:rPr lang="en-US" altLang="zh-CN" sz="22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Presentation Switcher</a:t>
            </a:r>
          </a:p>
          <a:p>
            <a:pPr indent="-285750" algn="l" defTabSz="913765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endParaRPr lang="zh-CN" altLang="en-US" sz="2200" dirty="0"/>
          </a:p>
          <a:p>
            <a:pPr indent="-285750" algn="l" defTabSz="913765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endParaRPr lang="zh-CN" altLang="en-US" sz="22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-251876" y="1237592"/>
            <a:ext cx="6164340" cy="4363004"/>
            <a:chOff x="-4478594" y="-918230"/>
            <a:chExt cx="10509141" cy="6623714"/>
          </a:xfrm>
        </p:grpSpPr>
        <p:pic>
          <p:nvPicPr>
            <p:cNvPr id="13" name="图片 12" descr="图形用户界面, 文本, 应用程序&#10;&#10;AI 生成的内容可能不正确。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453798" y="-918230"/>
              <a:ext cx="10468303" cy="5888420"/>
            </a:xfrm>
            <a:prstGeom prst="rect">
              <a:avLst/>
            </a:prstGeom>
          </p:spPr>
        </p:pic>
        <p:pic>
          <p:nvPicPr>
            <p:cNvPr id="15" name="图片 14" descr="图形用户界面, 文本&#10;&#10;AI 生成的内容可能不正确。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478594" y="-205908"/>
              <a:ext cx="10509141" cy="5911392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1377950" y="1276350"/>
            <a:ext cx="459994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Comprehensive Input Options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solidFill>
                  <a:schemeClr val="tx1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Offers a variety of inputs, including USB-C and HDMI, ensuring compatibility with devices used in conferences, meetings, and educational settings.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200" b="1" dirty="0">
              <a:solidFill>
                <a:srgbClr val="71BF44"/>
              </a:solidFill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Full-Featured USB-C Support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The USB-C port provides power delivery, network, video, audio and USB transmission through a single cable, simplifying connections and maintaining a clean and tidy workspace.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Long-Distance Transmission (HDBaseT)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Supports long-distance transmission of up to 4K@60Hz 4:4:4 8-bit over 100m via Cat 6a/7 cable. Ensures full compatibility with RX3-100 receivers or other peripheral HDBaseT devices such as projectors and professional displays.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875023" y="1121952"/>
            <a:ext cx="4599940" cy="220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200" b="1" dirty="0">
              <a:solidFill>
                <a:srgbClr val="71BF44"/>
              </a:solidFill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Reliable and High-Quality Resolution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4K resolution (4K@60Hz 4:4:4 8bit) guarantees sharp and clear video, delivering a fully immersive presentation experience.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200" b="1" dirty="0">
              <a:solidFill>
                <a:srgbClr val="71BF44"/>
              </a:solidFill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USB-C MST (Multi-Stream Transport) Supports</a:t>
            </a:r>
            <a:endParaRPr lang="en-US" sz="1400" b="1" dirty="0">
              <a:solidFill>
                <a:srgbClr val="0B7935"/>
              </a:solidFill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Supports USB-C MST technology, enabling simplified connections, reduced cabling, efficient resource utilization, and flexible multi-screen configurations. Also aligns with the trend toward slimmer, more streamlined device designs.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77950" y="4445635"/>
            <a:ext cx="46228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KVM Switch for Display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Includes USB 3.0 (Device and Host) ports for cameras, speakerphones, and keyboards. Perfect for hybrid meetings and education, it simplifies cable management and allows easy switching between devices using a single hub, streamlining workflows.</a:t>
            </a: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Centralized Control and Automation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Offers various control methods, such as RS232, GPIO, Telnet, and Web-UI, enabling remote monitoring and control of the presentation system (SYGMA). Provides real-time access to system status, configuration, and performance.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875145" y="3268345"/>
            <a:ext cx="4882039" cy="2207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Balanced Audio De-embedding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Independent de-embedding audio works seamlessly with external audio systems. When paired with a professional amplifier, speaker, and mic, it creates a more immersive audio experience for presenters and participants.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400" dirty="0">
              <a:latin typeface="Roboto" panose="02000000000000000000" charset="0"/>
              <a:ea typeface="Roboto" panose="02000000000000000000" charset="0"/>
              <a:cs typeface="Roboto" panose="02000000000000000000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Versatile and Flexible Ethernet</a:t>
            </a:r>
          </a:p>
          <a:p>
            <a:pPr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dirty="0"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+mn-ea"/>
              </a:rPr>
              <a:t>Advanced Ethernet capabilities provide a reliable network environment, enhancing interactive experiences, especially during hybrid meetings and education. Ethernet Bridge and Ethernet Isolation ensure a stable and secure usage experience.</a:t>
            </a:r>
          </a:p>
        </p:txBody>
      </p:sp>
      <p:sp>
        <p:nvSpPr>
          <p:cNvPr id="22" name="矩形 7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1" name="文本框 6"/>
          <p:cNvSpPr txBox="1"/>
          <p:nvPr>
            <p:custDataLst>
              <p:tags r:id="rId6"/>
            </p:custDataLst>
          </p:nvPr>
        </p:nvSpPr>
        <p:spPr>
          <a:xfrm>
            <a:off x="457155" y="16319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Main Features</a:t>
            </a:r>
          </a:p>
        </p:txBody>
      </p:sp>
      <p:pic>
        <p:nvPicPr>
          <p:cNvPr id="29" name="Picture 28" descr="A close up of a logo&#10;&#10;Description automatically generated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556" y="1376456"/>
            <a:ext cx="501271" cy="319960"/>
          </a:xfrm>
          <a:prstGeom prst="rect">
            <a:avLst/>
          </a:prstGeom>
        </p:spPr>
      </p:pic>
      <p:pic>
        <p:nvPicPr>
          <p:cNvPr id="33" name="Picture 32" descr="A black background with arrows pointing to a symbol&#10;&#10;Description automatically generated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5" y="2263682"/>
            <a:ext cx="556469" cy="439318"/>
          </a:xfrm>
          <a:prstGeom prst="rect">
            <a:avLst/>
          </a:prstGeom>
        </p:spPr>
      </p:pic>
      <p:pic>
        <p:nvPicPr>
          <p:cNvPr id="35" name="Picture 34" descr="A black background with arrows&#10;&#10;Description automatically generated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5" y="4444760"/>
            <a:ext cx="638219" cy="589125"/>
          </a:xfrm>
          <a:prstGeom prst="rect">
            <a:avLst/>
          </a:prstGeom>
        </p:spPr>
      </p:pic>
      <p:pic>
        <p:nvPicPr>
          <p:cNvPr id="37" name="Picture 36" descr="A logo with lines and dots&#10;&#10;Description automatically generated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75" y="5853061"/>
            <a:ext cx="475200" cy="432001"/>
          </a:xfrm>
          <a:prstGeom prst="rect">
            <a:avLst/>
          </a:prstGeom>
        </p:spPr>
      </p:pic>
      <p:pic>
        <p:nvPicPr>
          <p:cNvPr id="43" name="Picture 42" descr="A black and white background with circles and dots&#10;&#10;Description automatically generated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5" y="1333305"/>
            <a:ext cx="516314" cy="424368"/>
          </a:xfrm>
          <a:prstGeom prst="rect">
            <a:avLst/>
          </a:prstGeom>
        </p:spPr>
      </p:pic>
      <p:pic>
        <p:nvPicPr>
          <p:cNvPr id="2" name="Picture 40" descr="A black and white logo&#10;&#10;Description automatically generated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404" y="4446931"/>
            <a:ext cx="631141" cy="461811"/>
          </a:xfrm>
          <a:prstGeom prst="rect">
            <a:avLst/>
          </a:prstGeom>
        </p:spPr>
      </p:pic>
      <p:pic>
        <p:nvPicPr>
          <p:cNvPr id="3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716" y="3291293"/>
            <a:ext cx="528419" cy="480382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7"/>
          <a:srcRect t="12010" r="3620" b="9225"/>
          <a:stretch>
            <a:fillRect/>
          </a:stretch>
        </p:blipFill>
        <p:spPr>
          <a:xfrm>
            <a:off x="818514" y="3291521"/>
            <a:ext cx="519920" cy="334039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10762" y="2213786"/>
            <a:ext cx="664115" cy="461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Why Choose Us:  1. </a:t>
            </a:r>
            <a:r>
              <a:rPr lang="en-US" altLang="zh-CN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Immersive Viewing Experience</a:t>
            </a:r>
            <a:endParaRPr lang="en-US" altLang="zh-CN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 panose="0200000000000000000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8657" y="1065135"/>
            <a:ext cx="10184154" cy="10506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Deliver an immersive viewing experience with 4K@60Hz 4:4:4 8bit resolution, full-featured USB-C inputs, long-distance transmission, and MST capability, providing high-detail and engaging visuals for the audience.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932968" y="4283663"/>
            <a:ext cx="4791557" cy="150958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4844" y="2181791"/>
            <a:ext cx="336900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文本框 4"/>
          <p:cNvSpPr txBox="1"/>
          <p:nvPr/>
        </p:nvSpPr>
        <p:spPr>
          <a:xfrm>
            <a:off x="916279" y="2219890"/>
            <a:ext cx="3945509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High-Quality Video Performance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6377229" y="4297919"/>
            <a:ext cx="4791557" cy="1509585"/>
          </a:xfrm>
          <a:prstGeom prst="rect">
            <a:avLst/>
          </a:prstGeom>
          <a:solidFill>
            <a:srgbClr val="CDE7E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文本框 4"/>
          <p:cNvSpPr txBox="1"/>
          <p:nvPr/>
        </p:nvSpPr>
        <p:spPr>
          <a:xfrm>
            <a:off x="1124483" y="2729651"/>
            <a:ext cx="4209516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Provide high-quality 4K@60Hz 4:4:4 8bit resolution for detailed information on large-format screens, ensuring clear and reliable AV communication, essential for effective decision-making.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0774" y="2181791"/>
            <a:ext cx="2886078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文本框 4"/>
          <p:cNvSpPr txBox="1"/>
          <p:nvPr/>
        </p:nvSpPr>
        <p:spPr>
          <a:xfrm>
            <a:off x="6352209" y="2219890"/>
            <a:ext cx="3587853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Full-Featured USB-C Inputs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55" name="文本框 4"/>
          <p:cNvSpPr txBox="1"/>
          <p:nvPr/>
        </p:nvSpPr>
        <p:spPr>
          <a:xfrm>
            <a:off x="6531838" y="2672501"/>
            <a:ext cx="4117112" cy="11839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Featuring 2x full-featured USB-C inputs, supporting AV and USB signal transmission, 60W PD charging, and 1G network delivery. Ensures participants enjoy uninterrupted meetings without concerns about power or connectivity.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4844" y="4105421"/>
            <a:ext cx="3353995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文本框 4"/>
          <p:cNvSpPr txBox="1"/>
          <p:nvPr/>
        </p:nvSpPr>
        <p:spPr>
          <a:xfrm>
            <a:off x="916279" y="4143520"/>
            <a:ext cx="2886078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Long-Distance Transmission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58" name="文本框 4"/>
          <p:cNvSpPr txBox="1"/>
          <p:nvPr/>
        </p:nvSpPr>
        <p:spPr>
          <a:xfrm>
            <a:off x="1124482" y="4672992"/>
            <a:ext cx="4209517" cy="969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Supports long-distance transmission up to 4K@60Hz 4:4:4 over 100m (Cat 6a/7), simplifying installation and providing an effective solution for medium to large-scale applications.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0774" y="4105421"/>
            <a:ext cx="2886078" cy="427428"/>
          </a:xfrm>
          <a:prstGeom prst="rect">
            <a:avLst/>
          </a:prstGeom>
          <a:solidFill>
            <a:srgbClr val="E1F1F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文本框 4"/>
          <p:cNvSpPr txBox="1"/>
          <p:nvPr/>
        </p:nvSpPr>
        <p:spPr>
          <a:xfrm>
            <a:off x="6352210" y="4143520"/>
            <a:ext cx="4115765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MST Technology Supports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61" name="文本框 4"/>
          <p:cNvSpPr txBox="1"/>
          <p:nvPr/>
        </p:nvSpPr>
        <p:spPr>
          <a:xfrm>
            <a:off x="6531838" y="4628921"/>
            <a:ext cx="4193313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With USB-C MST (Multi-Stream Transport), connecting multiple displays is effortless, requiring fewer cables and cleaner setups, while aligning with the trend toward slimmer, lighter devices.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200" y="171450"/>
            <a:ext cx="11675745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Why Choose Us:  2. </a:t>
            </a:r>
            <a:r>
              <a:rPr lang="en-US" altLang="zh-CN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Creating Professional Hybrid Environment</a:t>
            </a:r>
            <a:endParaRPr lang="en-US" altLang="zh-CN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 panose="02000000000000000000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030845"/>
            <a:ext cx="10184154" cy="1002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Provides effortless connectivity, flexible USB extension, and efficient operation for hybrid conferencing and teaching, enabling all participants to collaborate effectively.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576783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32968" y="4370376"/>
            <a:ext cx="4791557" cy="1509585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4845" y="2181791"/>
            <a:ext cx="2826080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4"/>
          <p:cNvSpPr txBox="1"/>
          <p:nvPr/>
        </p:nvSpPr>
        <p:spPr>
          <a:xfrm>
            <a:off x="916279" y="2219890"/>
            <a:ext cx="2544141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fontAlgn="auto">
              <a:lnSpc>
                <a:spcPts val="2100"/>
              </a:lnSpc>
              <a:buClrTx/>
              <a:buSzTx/>
              <a:buFontTx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Effortless Connectivity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7229" y="2395505"/>
            <a:ext cx="4791557" cy="1539308"/>
          </a:xfrm>
          <a:prstGeom prst="rect">
            <a:avLst/>
          </a:prstGeom>
          <a:solidFill>
            <a:srgbClr val="D0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文本框 4"/>
          <p:cNvSpPr txBox="1"/>
          <p:nvPr/>
        </p:nvSpPr>
        <p:spPr>
          <a:xfrm>
            <a:off x="1124483" y="2767751"/>
            <a:ext cx="4209516" cy="1167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Works flawlessly with USB3.0 peripherals (cameras, speakerphones, etc.) and seamlessly switches between different host devices (laptops, mini-PCs), delivering a high-quality hybrid experience.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773" y="2181791"/>
            <a:ext cx="3477590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文本框 4"/>
          <p:cNvSpPr txBox="1"/>
          <p:nvPr/>
        </p:nvSpPr>
        <p:spPr>
          <a:xfrm>
            <a:off x="6352210" y="2219890"/>
            <a:ext cx="347759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Flexible USB Peripheral Extension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33" name="文本框 4"/>
          <p:cNvSpPr txBox="1"/>
          <p:nvPr/>
        </p:nvSpPr>
        <p:spPr>
          <a:xfrm>
            <a:off x="6531838" y="2796326"/>
            <a:ext cx="411711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Supports both local and remote USB device connections (HDBT), ensuring greater flexibility for customers in accessing video and audio in hybrid environments.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4844" y="4192134"/>
            <a:ext cx="3012059" cy="427428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本框 4"/>
          <p:cNvSpPr txBox="1"/>
          <p:nvPr/>
        </p:nvSpPr>
        <p:spPr>
          <a:xfrm>
            <a:off x="897229" y="4230233"/>
            <a:ext cx="301206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Efficient Operation in Hybrid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36" name="文本框 4"/>
          <p:cNvSpPr txBox="1"/>
          <p:nvPr/>
        </p:nvSpPr>
        <p:spPr>
          <a:xfrm>
            <a:off x="1124482" y="4825719"/>
            <a:ext cx="4209517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Enhance efficiency of the hybrid meetings with auto-switching features or by integrating with SYN-TOUCH10.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200" y="171450"/>
            <a:ext cx="11734800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Why Choose Us:  3. </a:t>
            </a:r>
            <a:r>
              <a:rPr lang="en-US" altLang="zh-CN" sz="2800" b="1" dirty="0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Powerful Ethernet Capability and Security</a:t>
            </a:r>
            <a:endParaRPr lang="en-US" altLang="zh-CN" sz="2800" b="1" dirty="0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sym typeface="Roboto" panose="0200000000000000000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32968" y="4283663"/>
            <a:ext cx="4791557" cy="150958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4845" y="2181791"/>
            <a:ext cx="2695575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4"/>
          <p:cNvSpPr txBox="1"/>
          <p:nvPr/>
        </p:nvSpPr>
        <p:spPr>
          <a:xfrm>
            <a:off x="916279" y="2219890"/>
            <a:ext cx="2544141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Flexible Network Settings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EAECC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4"/>
          <p:cNvSpPr txBox="1"/>
          <p:nvPr/>
        </p:nvSpPr>
        <p:spPr>
          <a:xfrm>
            <a:off x="1124483" y="2683318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Featuring 2x Ethernet ports, providing Ethernet Bridge, perfect for efficient communication without restrictions; and Ethernet Isolation, ideal for customer to separate internal and guest network connection. 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00773" y="2181791"/>
            <a:ext cx="3120391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4"/>
          <p:cNvSpPr txBox="1"/>
          <p:nvPr/>
        </p:nvSpPr>
        <p:spPr>
          <a:xfrm>
            <a:off x="6352210" y="2219890"/>
            <a:ext cx="4059962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Versatile Network Connection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4" name="文本框 4"/>
          <p:cNvSpPr txBox="1"/>
          <p:nvPr/>
        </p:nvSpPr>
        <p:spPr>
          <a:xfrm>
            <a:off x="6531837" y="2805851"/>
            <a:ext cx="4535679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Seamless network access through multiple interfaces: 2x Ethernet ports, 2x USB Host, 2x USB-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 inputs.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Reliable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network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connectivity keeps your meetings smooth and stress-free.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4844" y="4105421"/>
            <a:ext cx="2568905" cy="427428"/>
          </a:xfrm>
          <a:prstGeom prst="rect">
            <a:avLst/>
          </a:prstGeom>
          <a:solidFill>
            <a:srgbClr val="F3F2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文本框 4"/>
          <p:cNvSpPr txBox="1"/>
          <p:nvPr/>
        </p:nvSpPr>
        <p:spPr>
          <a:xfrm>
            <a:off x="916280" y="4143520"/>
            <a:ext cx="2417470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Secure Network Access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8" name="文本框 4"/>
          <p:cNvSpPr txBox="1"/>
          <p:nvPr/>
        </p:nvSpPr>
        <p:spPr>
          <a:xfrm>
            <a:off x="1124483" y="4748531"/>
            <a:ext cx="3983762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Independent Ethernet switching, VLAN settings, and advanced protocols such as HTTPS and 802.1X ensure secure communication and safeguard user privacy.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The advanced network framework supports flexible network settings, versatile network connection, and network security.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Why Choose Us:  4. Effortless Device Management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" name="Rectangle 1"/>
          <p:cNvSpPr/>
          <p:nvPr/>
        </p:nvSpPr>
        <p:spPr>
          <a:xfrm>
            <a:off x="932968" y="2381249"/>
            <a:ext cx="4791557" cy="1439265"/>
          </a:xfrm>
          <a:prstGeom prst="rect">
            <a:avLst/>
          </a:prstGeom>
          <a:solidFill>
            <a:srgbClr val="F1E9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32968" y="4283663"/>
            <a:ext cx="4791557" cy="1584675"/>
          </a:xfrm>
          <a:prstGeom prst="rect">
            <a:avLst/>
          </a:prstGeom>
          <a:solidFill>
            <a:srgbClr val="F1E9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4845" y="2181791"/>
            <a:ext cx="2283155" cy="427428"/>
          </a:xfrm>
          <a:prstGeom prst="rect">
            <a:avLst/>
          </a:prstGeom>
          <a:solidFill>
            <a:srgbClr val="EFEDF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4"/>
          <p:cNvSpPr txBox="1"/>
          <p:nvPr/>
        </p:nvSpPr>
        <p:spPr>
          <a:xfrm>
            <a:off x="916279" y="2219890"/>
            <a:ext cx="3455695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Centralized Control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77229" y="2395505"/>
            <a:ext cx="4791557" cy="1439265"/>
          </a:xfrm>
          <a:prstGeom prst="rect">
            <a:avLst/>
          </a:prstGeom>
          <a:solidFill>
            <a:srgbClr val="F1E9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4"/>
          <p:cNvSpPr txBox="1"/>
          <p:nvPr/>
        </p:nvSpPr>
        <p:spPr>
          <a:xfrm>
            <a:off x="1124482" y="2729651"/>
            <a:ext cx="4133317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Manage and monitor all connected devices through an intuitive web interface or all-in-one touchpad controller, simplifying the administration process.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774" y="2181791"/>
            <a:ext cx="2544141" cy="427428"/>
          </a:xfrm>
          <a:prstGeom prst="rect">
            <a:avLst/>
          </a:prstGeom>
          <a:solidFill>
            <a:srgbClr val="EFEDF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4"/>
          <p:cNvSpPr txBox="1"/>
          <p:nvPr/>
        </p:nvSpPr>
        <p:spPr>
          <a:xfrm>
            <a:off x="6352210" y="2219890"/>
            <a:ext cx="4059962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Remote Configuration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6" name="文本框 4"/>
          <p:cNvSpPr txBox="1"/>
          <p:nvPr/>
        </p:nvSpPr>
        <p:spPr>
          <a:xfrm>
            <a:off x="6531837" y="2805851"/>
            <a:ext cx="4535679" cy="1007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Configure the system remotely via SYGMA cloud device management, ensuring that everything runs smoothly without needing to be physically present.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4845" y="4105421"/>
            <a:ext cx="2807030" cy="427428"/>
          </a:xfrm>
          <a:prstGeom prst="rect">
            <a:avLst/>
          </a:prstGeom>
          <a:solidFill>
            <a:srgbClr val="EFEDF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4"/>
          <p:cNvSpPr txBox="1"/>
          <p:nvPr/>
        </p:nvSpPr>
        <p:spPr>
          <a:xfrm>
            <a:off x="916280" y="4143520"/>
            <a:ext cx="3455694" cy="323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ts val="2100"/>
              </a:lnSpc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More Advanced Control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sp>
        <p:nvSpPr>
          <p:cNvPr id="19" name="文本框 4"/>
          <p:cNvSpPr txBox="1"/>
          <p:nvPr/>
        </p:nvSpPr>
        <p:spPr>
          <a:xfrm>
            <a:off x="1124482" y="4682517"/>
            <a:ext cx="4419067" cy="9865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Pair it with SYN-TOUCH10 for intuitive touch control, or with cable cubby (IDB-300) for effortless, seamless operation. Advanced control methods make operation smarter and simpler.</a:t>
            </a:r>
          </a:p>
        </p:txBody>
      </p:sp>
      <p:sp>
        <p:nvSpPr>
          <p:cNvPr id="23" name="文本框 4"/>
          <p:cNvSpPr txBox="1"/>
          <p:nvPr/>
        </p:nvSpPr>
        <p:spPr>
          <a:xfrm>
            <a:off x="868657" y="1274686"/>
            <a:ext cx="10184154" cy="71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buFont typeface="Wingdings" panose="05000000000000000000" charset="0"/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Centralize and simplify device management to ensure a smooth and efficient operation for all your conferencing needs.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4464" y="1083565"/>
            <a:ext cx="7108885" cy="26275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Interface of the Product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207375" y="1691005"/>
            <a:ext cx="3817620" cy="4498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500"/>
              </a:lnSpc>
            </a:pPr>
            <a:r>
              <a:rPr lang="en-US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2x USB-C Inputs</a:t>
            </a: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800"/>
              </a:lnSpc>
            </a:pPr>
            <a:endParaRPr lang="en-US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Ensures secure and stable network access for guests using their PCs, while allowing easy configuration of the system via a web interface. </a:t>
            </a:r>
          </a:p>
          <a:p>
            <a:endParaRPr lang="en-US" sz="115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HDBT Output</a:t>
            </a:r>
          </a:p>
          <a:p>
            <a:pPr>
              <a:lnSpc>
                <a:spcPts val="180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Long-distance transmission up to 4K@60Hz4:4:4 over 100m (Cat 6a/7), simplifying installation and providing an effective solution.</a:t>
            </a:r>
          </a:p>
          <a:p>
            <a:pPr>
              <a:lnSpc>
                <a:spcPts val="1800"/>
              </a:lnSpc>
            </a:pPr>
            <a:endParaRPr lang="en-US" altLang="zh-CN" sz="16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USB Hosts &amp; Devices</a:t>
            </a:r>
            <a:endParaRPr lang="en-US" sz="20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Provides direct connection for USB peripherals such as cameras, speakerphones, keyboards, and mice, ensuring seamless local device integration and smooth collaboration.</a:t>
            </a:r>
          </a:p>
          <a:p>
            <a:endParaRPr lang="en-US" sz="115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500"/>
              </a:lnSpc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2x</a:t>
            </a: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Ethernet Ports</a:t>
            </a:r>
            <a:endParaRPr lang="en-US" altLang="zh-CN" sz="16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500"/>
              </a:lnSpc>
            </a:pPr>
            <a:endParaRPr lang="en-US" sz="20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ts val="1800"/>
              </a:lnSpc>
            </a:pP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Integrated network switch with 2x Ethernet ports, supporting Ethernet bridge and isolation functions for flexible network deployment and device configuration.</a:t>
            </a:r>
          </a:p>
        </p:txBody>
      </p:sp>
      <p:sp>
        <p:nvSpPr>
          <p:cNvPr id="15" name="文本框 8"/>
          <p:cNvSpPr txBox="1"/>
          <p:nvPr/>
        </p:nvSpPr>
        <p:spPr>
          <a:xfrm>
            <a:off x="8207632" y="1054513"/>
            <a:ext cx="1986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u="sng" dirty="0">
                <a:latin typeface="Roboto" panose="02000000000000000000" charset="0"/>
                <a:cs typeface="Roboto" panose="02000000000000000000" charset="0"/>
              </a:rPr>
              <a:t>Featuring: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464" y="3868461"/>
            <a:ext cx="7108885" cy="28180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6608762" y="1157767"/>
            <a:ext cx="1986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Roboto" panose="02000000000000000000" charset="0"/>
                <a:cs typeface="Roboto" panose="02000000000000000000" charset="0"/>
              </a:rPr>
              <a:t>Front Panel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66547" y="3927899"/>
            <a:ext cx="185166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 dirty="0">
                <a:latin typeface="Roboto" panose="02000000000000000000" charset="0"/>
                <a:cs typeface="Roboto" panose="02000000000000000000" charset="0"/>
                <a:sym typeface="+mn-ea"/>
              </a:rPr>
              <a:t>Rear Panel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491" y="1354741"/>
            <a:ext cx="5622990" cy="207109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5491" y="4327213"/>
            <a:ext cx="5729668" cy="199270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Specifications &amp; Packing List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42219" y="1901189"/>
            <a:ext cx="4597400" cy="31685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buClrTx/>
              <a:buSzTx/>
              <a:buNone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panose="02000000000000000000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1x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MX-0403-H3-MST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1x 20V/10A Power Supply (US/UK/EU/AU)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2x USB-C 2m cables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2x USB 3.0 A to B 1.8m Cables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4x Mounting Brackets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4x Bracket Screws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1x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5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-pin Phoenix Connector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1x 3-pin Phoenix Connector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1x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8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-pin Phoenix Connector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cs typeface="Arial" panose="020B0604020202020204" pitchFamily="34" charset="0"/>
              </a:rPr>
              <a:t>1x Quick Start Guide</a:t>
            </a:r>
          </a:p>
        </p:txBody>
      </p:sp>
      <p:pic>
        <p:nvPicPr>
          <p:cNvPr id="6" name="Google Shape;82;p1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57155" y="1083565"/>
          <a:ext cx="6369050" cy="53693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010">
                <a:tc gridSpan="2">
                  <a:txBody>
                    <a:bodyPr/>
                    <a:lstStyle/>
                    <a:p>
                      <a:r>
                        <a:rPr lang="en-US" altLang="zh-CN" sz="16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Main Specifications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Input Video Port 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USB-C, 2x HDMI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Output Video Port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HDMI, 1x HDBT</a:t>
                      </a:r>
                      <a:r>
                        <a:rPr lang="zh-CN" altLang="en-US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 </a:t>
                      </a:r>
                      <a:endParaRPr lang="en-US" altLang="zh-CN" sz="1400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1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Output Video Signal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 1: HDMI 2.0, HDCP 2.3</a:t>
                      </a:r>
                    </a:p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 2: HDMI 2.0, HDCP 2.3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441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Input Resolutions</a:t>
                      </a:r>
                      <a:b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(Maximum)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USB-C/HDMI:4K</a:t>
                      </a:r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@60Hz 4:4:4 8bit</a:t>
                      </a:r>
                    </a:p>
                    <a:p>
                      <a:r>
                        <a:rPr lang="en-US" altLang="zh-CN" sz="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197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Output Resolutions</a:t>
                      </a:r>
                      <a:b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(Maximum)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 1 &amp; 2: 4K@60Hz 4:4:4 8bit</a:t>
                      </a:r>
                    </a:p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HDBT OUT: 4K@60Hz 4:4:4 8bit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Input Audio Port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HDMI, 2x USB-C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Output Audio Port 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 x HDMI, 1x HDBT 1 x Analog Audio Out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Host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n-NO" altLang="zh-CN" sz="1400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Host IN  1&amp;2: USB3.2, up to 10Gbit/s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66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Device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USB3.2, up to 10Gbit/s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669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Ethernet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1000M/100M adaptive network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8116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Control Method 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Front panel buttons, LAN (Web UI &amp; Telnet API),</a:t>
                      </a:r>
                      <a:b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RS-232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20V 10A DC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219710" y="1138555"/>
            <a:ext cx="4923790" cy="536638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Application Scenario 1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</a:b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Medium Conference Room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Enable seamless collaboration in medium conference rooms by integrating high-quality video, long-distance transmission, hybrid connectivity, and flexible control options. Participants can easily share content, interact with remote colleagues, and enjoy a professional and efficient meeting experience.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High-quality viewing experience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Deliver up to 4K@60Hz 4:4:4 8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bit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resolution;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Long-distance transmission: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Up to 4K@60Hz 100m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(Cat 6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/7), working with RX3-100;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Hybrid teaching &amp; meeting 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 </a:t>
            </a:r>
            <a:r>
              <a:rPr kumimoji="0" lang="en-US" altLang="zh-CN" sz="1400" b="0" i="0" u="none" strike="noStrike" kern="1200" cap="none" spc="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Connect to videobar, keyboard and mouse, we offer professional hybrid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experience.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Powerful Ethernet capability: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2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x Ethernet ports for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Ethernet bridge and Ethernet isolation, USB Hosts also support Ethernet passthrough;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Flexible control methods 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Working with IDB-300 or Web-UI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make the control easier ;</a:t>
            </a: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Typical Connection &amp; Applications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90" y="1511838"/>
            <a:ext cx="6095518" cy="405612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292100" y="1023620"/>
            <a:ext cx="4679315" cy="549275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Application Scenario 2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</a:b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Medium Conference Room (</a:t>
            </a: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Hybrid</a:t>
            </a:r>
            <a:r>
              <a:rPr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)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Deliver a professional hybrid conferencing solution for medium rooms by combining high-quality video, advanced audio integration, and reliable long-distance transmission. Both in-room and remote participants can clearly see, hear, and interact with each other, creating an efficient and engaging collaboration environment.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Key Benefits 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I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nclude:</a:t>
            </a:r>
            <a:endParaRPr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High-quality viewing experience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Deliver up to 4K@60Hz 4:4:4 8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bit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resolution;</a:t>
            </a: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Long-distance transmission: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Up to 4K@60Hz 100m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(Cat 6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/7), working with RX3-100;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Provide professional audio performance</a:t>
            </a: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Integrate with external audio DSPs, amplifiers, microphones, and ceiling speakers to enhance the audio experience</a:t>
            </a:r>
            <a:endParaRPr lang="en-US" altLang="zh-CN" sz="14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Hybrid teaching &amp; meeting 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 </a:t>
            </a:r>
            <a:r>
              <a:rPr kumimoji="0" lang="en-US" altLang="zh-CN" sz="1400" b="0" i="0" u="none" strike="noStrike" kern="1200" cap="none" spc="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Connect to </a:t>
            </a:r>
            <a:r>
              <a:rPr lang="en-US" altLang="zh-CN" sz="1400" spc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CAM-210-PTZ</a:t>
            </a:r>
            <a:r>
              <a:rPr kumimoji="0" lang="en-US" altLang="zh-CN" sz="1400" b="0" i="0" u="none" strike="noStrike" kern="1200" cap="none" spc="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, extra audio system, and keyboard and mouse, we offer professional hybrid experience.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charset="0"/>
              <a:buChar char="l"/>
            </a:pP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Powerful Ethernet capability:</a:t>
            </a:r>
            <a:r>
              <a:rPr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2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x Ethernet ports for Ethernet bridge and Ethernet isolation, USB Hosts also support Ethernet passthrough;</a:t>
            </a:r>
            <a:endParaRPr sz="1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Flexible control methods </a:t>
            </a:r>
            <a:r>
              <a:rPr sz="14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Cooperating with Web-UI, SYN- TOUCH10</a:t>
            </a:r>
            <a:r>
              <a:rPr lang="en-US" sz="1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make the control easier;</a:t>
            </a: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11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Typical Connection &amp; Applications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1987" y="1284889"/>
            <a:ext cx="6227913" cy="493712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Grp="1" noUngrp="1" noRot="1" noMove="1" noResize="1"/>
          </p:cNvGrpSpPr>
          <p:nvPr/>
        </p:nvGrpSpPr>
        <p:grpSpPr>
          <a:xfrm>
            <a:off x="2255578" y="-308352"/>
            <a:ext cx="7938655" cy="5352474"/>
            <a:chOff x="720" y="166"/>
            <a:chExt cx="17372" cy="1211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3" name="图片 2" descr="MS0402-N008-A00 (1)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2" y="1484"/>
              <a:ext cx="17280" cy="10800"/>
            </a:xfrm>
            <a:prstGeom prst="rect">
              <a:avLst/>
            </a:prstGeom>
          </p:spPr>
        </p:pic>
        <p:pic>
          <p:nvPicPr>
            <p:cNvPr id="8" name="图片 7" descr="MS0402-N008-A00 (4)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0" y="166"/>
              <a:ext cx="17280" cy="10800"/>
            </a:xfrm>
            <a:prstGeom prst="rect">
              <a:avLst/>
            </a:prstGeom>
          </p:spPr>
        </p:pic>
      </p:grpSp>
      <p:sp>
        <p:nvSpPr>
          <p:cNvPr id="1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History of Previous Products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143499" y="3121660"/>
            <a:ext cx="190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000" b="1" dirty="0">
                <a:solidFill>
                  <a:srgbClr val="70AD47">
                    <a:lumMod val="75000"/>
                  </a:srgbClr>
                </a:solidFill>
                <a:latin typeface="Roboto" panose="02000000000000000000" charset="0"/>
                <a:ea typeface="Roboto" panose="02000000000000000000"/>
                <a:cs typeface="Roboto" panose="02000000000000000000" charset="0"/>
                <a:sym typeface="+mn-ea"/>
              </a:rPr>
              <a:t>MX-0402-MST</a:t>
            </a:r>
            <a:endParaRPr lang="en-US" altLang="en-US" sz="2000" b="1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Roboto" panose="02000000000000000000" charset="0"/>
              <a:ea typeface="Roboto" panose="02000000000000000000"/>
              <a:cs typeface="Roboto" panose="02000000000000000000" charset="0"/>
              <a:sym typeface="+mn-ea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09625" y="3719830"/>
            <a:ext cx="3409315" cy="2609215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800"/>
              </a:lnSpc>
            </a:pPr>
            <a:r>
              <a:rPr lang="en-US" altLang="zh-CN" sz="1400" b="1" dirty="0">
                <a:latin typeface="Roboto" panose="02000000000000000000" charset="0"/>
                <a:ea typeface="Roboto" panose="02000000000000000000" charset="0"/>
              </a:rPr>
              <a:t>VIDEO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High-quality resolution:</a:t>
            </a: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4K@60Hz 4:4:4 8 bit, HDCP2.3</a:t>
            </a:r>
          </a:p>
          <a:p>
            <a:pPr marL="171450" indent="-171450" algn="l">
              <a:lnSpc>
                <a:spcPts val="18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Full-featured USB-C:</a:t>
            </a: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 supports AV, USB, 60W PD and 1G network to laptop</a:t>
            </a:r>
          </a:p>
          <a:p>
            <a:pPr marL="171450" indent="-171450" algn="l">
              <a:lnSpc>
                <a:spcPts val="18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Support MST: </a:t>
            </a: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output 2 different images from 1 USB-C laptop to 2 displays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Dual Outputs：</a:t>
            </a: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(Do not support long-distance transmission [HDBT output] comparing with MX-0403-H3-MST)</a:t>
            </a:r>
          </a:p>
        </p:txBody>
      </p:sp>
      <p:sp>
        <p:nvSpPr>
          <p:cNvPr id="16" name="文本框 5"/>
          <p:cNvSpPr txBox="1"/>
          <p:nvPr/>
        </p:nvSpPr>
        <p:spPr>
          <a:xfrm>
            <a:off x="8529320" y="3719830"/>
            <a:ext cx="3363595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1800"/>
              </a:lnSpc>
              <a:buFont typeface="Wingdings" panose="05000000000000000000" charset="0"/>
              <a:buNone/>
            </a:pPr>
            <a:r>
              <a:rPr lang="en-US" altLang="zh-CN" sz="1400" b="1" dirty="0">
                <a:latin typeface="Roboto" panose="02000000000000000000" charset="0"/>
                <a:ea typeface="Roboto" panose="02000000000000000000" charset="0"/>
              </a:rPr>
              <a:t>AUDIO</a:t>
            </a:r>
            <a:endParaRPr lang="en-US" altLang="zh-CN" sz="11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 algn="l">
              <a:lnSpc>
                <a:spcPts val="18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Balanced De-embedding Audio Out </a:t>
            </a:r>
            <a:endParaRPr lang="en-US" altLang="zh-CN" sz="11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indent="0">
              <a:lnSpc>
                <a:spcPts val="1800"/>
              </a:lnSpc>
              <a:buFont typeface="Wingdings" panose="05000000000000000000" charset="0"/>
              <a:buNone/>
            </a:pPr>
            <a:r>
              <a:rPr lang="en-US" altLang="zh-CN" sz="1400" b="1" dirty="0">
                <a:latin typeface="Roboto" panose="02000000000000000000" charset="0"/>
                <a:ea typeface="Roboto" panose="02000000000000000000" charset="0"/>
              </a:rPr>
              <a:t>ETHERNET</a:t>
            </a:r>
            <a:endParaRPr lang="en-US" altLang="zh-CN" sz="11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Ethernet Isolation, Ensure Network Security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Ethernet extension, when there’s no enough network cables</a:t>
            </a:r>
          </a:p>
          <a:p>
            <a:pPr marL="171450" indent="-171450" algn="l">
              <a:lnSpc>
                <a:spcPts val="18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USB HOST supports Ethernet pass through, easy to enjoy the networking</a:t>
            </a:r>
          </a:p>
        </p:txBody>
      </p:sp>
      <p:sp>
        <p:nvSpPr>
          <p:cNvPr id="17" name="文本框 7"/>
          <p:cNvSpPr txBox="1"/>
          <p:nvPr/>
        </p:nvSpPr>
        <p:spPr>
          <a:xfrm>
            <a:off x="4647565" y="3719830"/>
            <a:ext cx="3595370" cy="309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ts val="1800"/>
              </a:lnSpc>
              <a:buFont typeface="Wingdings" panose="05000000000000000000" charset="0"/>
              <a:buNone/>
            </a:pPr>
            <a:r>
              <a:rPr lang="en-US" altLang="zh-CN" sz="1400" b="1" dirty="0">
                <a:latin typeface="Roboto" panose="02000000000000000000" charset="0"/>
                <a:ea typeface="Roboto" panose="02000000000000000000" charset="0"/>
              </a:rPr>
              <a:t>USB</a:t>
            </a:r>
            <a:endParaRPr lang="en-US" altLang="zh-CN" sz="1100" b="1" dirty="0">
              <a:latin typeface="Roboto" panose="02000000000000000000" charset="0"/>
              <a:ea typeface="Roboto" panose="02000000000000000000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Built-in 4x USB Host (2x USB-C built-in, 2x USB HOST) and 4x USB3.0 ports, ideal for hybrid meeting and hybrid teaching</a:t>
            </a:r>
            <a:endParaRPr lang="en-US" altLang="zh-CN" sz="1100" dirty="0">
              <a:ln>
                <a:noFill/>
              </a:ln>
              <a:solidFill>
                <a:srgbClr val="000000"/>
              </a:solidFill>
              <a:effectLst/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USB Host delivers 1G network to PC/laptop</a:t>
            </a:r>
            <a:endParaRPr lang="en-US" altLang="zh-CN" sz="11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indent="0">
              <a:lnSpc>
                <a:spcPts val="1800"/>
              </a:lnSpc>
              <a:buFont typeface="Wingdings" panose="05000000000000000000" charset="0"/>
              <a:buNone/>
            </a:pPr>
            <a:r>
              <a:rPr lang="en-US" altLang="zh-CN" sz="1400" b="1" dirty="0">
                <a:latin typeface="Roboto" panose="02000000000000000000" charset="0"/>
                <a:ea typeface="Roboto" panose="02000000000000000000" charset="0"/>
              </a:rPr>
              <a:t>CONTROL</a:t>
            </a:r>
            <a:endParaRPr lang="en-US" altLang="zh-CN" sz="11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Work with SYN-TOUCH10 for Smart Control</a:t>
            </a:r>
          </a:p>
          <a:p>
            <a:pPr marL="171450" indent="-171450" algn="l">
              <a:lnSpc>
                <a:spcPts val="18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RS232, GPIO</a:t>
            </a:r>
          </a:p>
          <a:p>
            <a:pPr marL="171450" indent="-171450" algn="l">
              <a:lnSpc>
                <a:spcPts val="18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Pair with IDB-300-BTN/IDB-300 for tidy setup and efficient control.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2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Comparison with Other Competitors</a:t>
            </a:r>
          </a:p>
        </p:txBody>
      </p:sp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711835" y="988695"/>
          <a:ext cx="10742295" cy="597256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1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9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8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3304" marR="3304" marT="3304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kern="1200" dirty="0">
                          <a:solidFill>
                            <a:schemeClr val="lt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WyreStorm</a:t>
                      </a:r>
                    </a:p>
                  </a:txBody>
                  <a:tcPr marL="3304" marR="3304" marT="3304" marB="0" anchor="ctr"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b="1" dirty="0">
                        <a:solidFill>
                          <a:schemeClr val="lt1"/>
                        </a:solidFill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B793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chemeClr val="lt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Lightware</a:t>
                      </a:r>
                    </a:p>
                  </a:txBody>
                  <a:tcPr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Model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b="1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MX-0403-H3-MST</a:t>
                      </a:r>
                      <a:endParaRPr lang="en-US" altLang="zh-CN" sz="900" b="1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1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UCX-4x3-HC40-BD (New)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UCX-4x3-TPX-TX20</a:t>
                      </a:r>
                      <a:endParaRPr lang="en-US" altLang="zh-CN" sz="900" b="1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UCX-4x3-TPN-TX20 (New)</a:t>
                      </a:r>
                      <a:endParaRPr lang="en-US" altLang="zh-CN" sz="900" b="1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UCX-4x3-HCM40 (New)</a:t>
                      </a:r>
                      <a:endParaRPr lang="en-US" altLang="zh-CN" sz="900" b="1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input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HDMI, HDMI2.0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HDMI2.0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HDMI2.0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HDMI2.0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HDMI2.0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USB-C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</a:pPr>
                      <a:r>
                        <a:rPr lang="en-US" altLang="zh-CN" sz="900" b="1" u="none" strike="noStrike" kern="1200" dirty="0">
                          <a:solidFill>
                            <a:srgbClr val="70AD47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USB-C, USB3.2 Gen2 10Gbit/s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USB3.1 Gen1 5Gbit/s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USB3.1 Gen1 5Gbit/s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2x, USB2.0 480Mbit/s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1x, USB3.1 Gen1 5Gbit/s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Output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Output x 2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HDBT Output x1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Output x 3</a:t>
                      </a:r>
                    </a:p>
                  </a:txBody>
                  <a:tcPr marL="7620" marR="7620" marT="7620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Output x 2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AVP Output x 1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Output x 2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AVP Output x 1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HDMI Output * 3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HDBT/AVP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HDBT 3.0 out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Yes/AVP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* Point to point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Yes/AVP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* over Ethernet switch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PoE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Dual Screen Expansion (MST)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900" b="1" i="0" u="none" strike="noStrike" dirty="0">
                          <a:solidFill>
                            <a:srgbClr val="70AD47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DP Alt + DisplayLink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Resolution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4K@60Hz 4:4:4 8bit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4K@60Hz 4:4:4 8bit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4K@60Hz 4:4:4 8bit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4K@60Hz 4:4:4 8bit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4K@60Hz 4:4:4 8bit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Audio out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 FAN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(No noise)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900" b="1" u="none" strike="noStrike" kern="1200" dirty="0">
                          <a:solidFill>
                            <a:srgbClr val="70AD47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KVM Host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 Host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USB-C (USB</a:t>
                      </a:r>
                      <a:r>
                        <a:rPr lang="zh-CN" altLang="en-US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host built-in)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1x USB Host</a:t>
                      </a:r>
                      <a:b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1x USB-C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 Host (Type-B)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 Host</a:t>
                      </a:r>
                      <a:b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USB-C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1x USB Host (Type-B)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Device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3.0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2.0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KVM Device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4x USB Device (Type-A)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4x USB Device (Type-A)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4x USB Device (Type-A)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4x USB Device (Type-A)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4x USB Device (Type-A)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Host Switching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Ethernet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2x Ethernet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4x: 3x Ethernet, 1x Dante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3x: 3x Ethernet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3x: 3x Ethernet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3x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 to Ethernet Bridge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b="1" u="none" strike="noStrike" dirty="0">
                          <a:solidFill>
                            <a:srgbClr val="70AD47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All USB-C/B</a:t>
                      </a:r>
                      <a:endParaRPr lang="en-US" altLang="zh-CN" sz="900" b="1" i="0" u="none" strike="noStrike" dirty="0">
                        <a:solidFill>
                          <a:srgbClr val="70AD47"/>
                        </a:solidFill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USB-C only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USB-C only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USB-C only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RS232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kern="1200" cap="none" spc="0" normalizeH="0" baseline="0" dirty="0">
                          <a:solidFill>
                            <a:srgbClr val="70AD47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GPIO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OCS Sensor (with 24V power supply)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b="0" i="0" u="none" strike="noStrike" kern="120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Panel Control Button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0" i="0" u="none" strike="noStrike" kern="1200" cap="none" spc="0" normalizeH="0" baseline="0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USB-C Charging</a:t>
                      </a:r>
                      <a:endParaRPr lang="en-US" altLang="zh-CN" sz="90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60W+60W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ClrTx/>
                        <a:buSzTx/>
                        <a:buFontTx/>
                      </a:pP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100W (120W total)</a:t>
                      </a:r>
                    </a:p>
                  </a:txBody>
                  <a:tcPr marL="7620" marR="7620" marT="7620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100W (120W total)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100W (120W total)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900" u="none" strike="noStrike" dirty="0">
                          <a:latin typeface="Roboto" panose="02000000000000000000" charset="0"/>
                          <a:ea typeface="Roboto" panose="02000000000000000000" charset="0"/>
                          <a:cs typeface="Arial" panose="020B0604020202020204" pitchFamily="34" charset="0"/>
                        </a:rPr>
                        <a:t>100W (120W total)</a:t>
                      </a:r>
                      <a:endParaRPr lang="en-US" altLang="zh-CN" sz="900" b="0" i="0" u="none" strike="noStrike" dirty="0">
                        <a:latin typeface="Roboto" panose="02000000000000000000" charset="0"/>
                        <a:ea typeface="Roboto" panose="02000000000000000000" charset="0"/>
                        <a:cs typeface="Arial" panose="020B0604020202020204" pitchFamily="34" charset="0"/>
                      </a:endParaRPr>
                    </a:p>
                  </a:txBody>
                  <a:tcPr marL="3304" marR="3304" marT="3304" marB="0"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Quick Installation Guide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03860" y="1769110"/>
            <a:ext cx="6255385" cy="45923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Connect Interfaces: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Follow the standard product connection guidelines and customize connections based on your environment’s layout for optimal performance.</a:t>
            </a: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Start the Device: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Use SmartGUI to locate the device's IP address, then log into the Web-UI for easy equipment configuration.</a:t>
            </a:r>
          </a:p>
          <a:p>
            <a:pPr lvl="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Create Your Hybrid Environment: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Create your video, audio, USB settings using the Web-UI. For detailed instructions, refer to the user manual..</a:t>
            </a:r>
            <a:endParaRPr lang="en-US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Enjoy Superior Visuals: </a:t>
            </a:r>
            <a:r>
              <a:rPr lang="en-US" sz="18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Experience stunning video clarity and immersive visuals tailored to your needs.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sz="1800" i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0" name="Title 6"/>
          <p:cNvSpPr txBox="1"/>
          <p:nvPr>
            <p:custDataLst>
              <p:tags r:id="rId5"/>
            </p:custDataLst>
          </p:nvPr>
        </p:nvSpPr>
        <p:spPr>
          <a:xfrm>
            <a:off x="457200" y="1137920"/>
            <a:ext cx="11070590" cy="5137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Effortlessly set up your </a:t>
            </a:r>
            <a:r>
              <a:rPr lang="en-US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presentation switcher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 with simple steps, ensuring seamless configuration and an exceptional viewing experience.</a:t>
            </a:r>
          </a:p>
        </p:txBody>
      </p:sp>
      <p:pic>
        <p:nvPicPr>
          <p:cNvPr id="22" name="图片 4"/>
          <p:cNvPicPr/>
          <p:nvPr/>
        </p:nvPicPr>
        <p:blipFill>
          <a:blip r:embed="rId9"/>
          <a:stretch>
            <a:fillRect/>
          </a:stretch>
        </p:blipFill>
        <p:spPr>
          <a:xfrm>
            <a:off x="7010400" y="2364740"/>
            <a:ext cx="4882723" cy="30680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Important Notes for Installation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340360" y="1282700"/>
            <a:ext cx="11752580" cy="4628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Ensure all cables are securely connected to avoid performance issues.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Check your network settings and confirm that the device is on the correct subnet.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Double-check configuration settings in the Web-UI to optimize display and functionality.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</a:rPr>
              <a:t>For complex installations, refer to the documentation or seek professional assistance if necessary.</a:t>
            </a:r>
            <a:endParaRPr lang="en-US" sz="24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Introduction of Web Configuration Interface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219710" y="1376045"/>
            <a:ext cx="11752580" cy="46285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The Web UI of the 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MX-0403-H3-MST presentation switcher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is designed for intuitive device management and control through any web browser. With the Web UI, you can easily configure and customize your 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own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settings with the following features: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endParaRPr lang="en-US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Web UI Functionality: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Interface: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Effortlessly manage device settings via a web browser.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Setting up</a:t>
            </a: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Video routing, audio control, and USB settings or other general settings such as Ethernet, RS232, CEC, etc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Control: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Set up and adjust video inputs, outputs, and EDID profiles.</a:t>
            </a: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Key Web UI Configurations: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General: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Configure video switching, auto-switching, EDID, and HDCP.</a:t>
            </a: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Control: 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Enable RS-232, GPIO for device control and CEC for display control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.</a:t>
            </a:r>
          </a:p>
          <a:p>
            <a:pPr marL="285750" indent="-28575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Network: 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Easy setting up about Ethernet capabilities.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  <a:p>
            <a:pPr marL="28575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System</a:t>
            </a:r>
            <a:r>
              <a:rPr lang="en-US" sz="16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:</a:t>
            </a:r>
            <a:r>
              <a:rPr lang="en-US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Configure login password, system log, and perform firmware updates</a:t>
            </a:r>
            <a:r>
              <a:rPr lang="en-US" altLang="zh-CN" sz="16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.</a:t>
            </a:r>
            <a:endParaRPr lang="en-US" sz="16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charset="0"/>
              <a:ea typeface="Roboto" panose="02000000000000000000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28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 panose="02000000000000000000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003528"/>
            <a:ext cx="12287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charset="0"/>
                <a:ea typeface="Roboto" panose="02000000000000000000" charset="0"/>
                <a:cs typeface="Arial" panose="020B0604020202020204" pitchFamily="34" charset="0"/>
                <a:sym typeface="+mn-ea"/>
              </a:rPr>
              <a:t>Got questions?  Don't hesitate to ask away.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charset="0"/>
              <a:ea typeface="Roboto" panose="02000000000000000000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2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0"/>
  <p:tag name="KSO_WM_UNIT_DEC_AREA_ID" val="c851648b610c4eed84725474f83dd78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2},&quot;ReferentInfo&quot;:{&quot;Id&quot;:&quot;fa1e37419f9b42fb86bdf596086272a2&quot;,&quot;X&quot;:{&quot;Pos&quot;:2},&quot;Y&quot;:{&quot;Pos&quot;:0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3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TYPE" val="i"/>
  <p:tag name="KSO_WM_UNIT_INDEX" val="3"/>
  <p:tag name="KSO_WM_UNIT_BLOCK" val="0"/>
  <p:tag name="KSO_WM_UNIT_SM_LIMIT_TYPE" val="0"/>
  <p:tag name="KSO_WM_UNIT_DEC_AREA_ID" val="3104b9f4692049e9b18edec063ed2171"/>
  <p:tag name="KSO_WM_UNIT_DECORATE_INFO" val="{&quot;DecorateInfoH&quot;:{&quot;IsAbs&quot;:true},&quot;DecorateInfoW&quot;:{&quot;IsAbs&quot;:true},&quot;DecorateInfoX&quot;:{&quot;IsAbs&quot;:true,&quot;Pos&quot;:0},&quot;DecorateInfoY&quot;:{&quot;IsAbs&quot;:true,&quot;Pos&quot;:0},&quot;ReferentInfo&quot;:{&quot;Id&quot;:&quot;fa1e37419f9b42fb86bdf596086272a2&quot;,&quot;X&quot;:{&quot;Pos&quot;:0},&quot;Y&quot;:{&quot;Pos&quot;:2}},&quot;whChangeMode&quot;:0}"/>
  <p:tag name="KSO_WM_CHIP_GROUPID" val="5f5ee1ca4d6848d78f644aeb"/>
  <p:tag name="KSO_WM_CHIP_XID" val="5f5f3b6d8e478fb0c58a941e"/>
  <p:tag name="KSO_WM_UNIT_LINE_FORE_SCHEMECOLOR_INDEX_BRIGHTNESS" val="0"/>
  <p:tag name="KSO_WM_UNIT_LINE_FORE_SCHEMECOLOR_INDEX" val="15"/>
  <p:tag name="KSO_WM_UNIT_LINE_FILL_TYPE" val="2"/>
  <p:tag name="KSO_WM_TEMPLATE_ASSEMBLE_XID" val="63895f930c9383becde52e83"/>
  <p:tag name="KSO_WM_TEMPLATE_ASSEMBLE_GROUPID" val="63895f930c9383becde52e8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422"/>
  <p:tag name="TABLE_ENDDRAG_RECT" val="28*96*500*42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5*452"/>
  <p:tag name="TABLE_ENDDRAG_RECT" val="56*77*845*45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00B050"/>
          </a:solidFill>
          <a:headEnd type="oval" w="med" len="med"/>
          <a:tailEnd type="oval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Props1.xml><?xml version="1.0" encoding="utf-8"?>
<ds:datastoreItem xmlns:ds="http://schemas.openxmlformats.org/officeDocument/2006/customXml" ds:itemID="{D33868FA-A4FB-4D0B-8BDB-C573E16D1C19}"/>
</file>

<file path=customXml/itemProps2.xml><?xml version="1.0" encoding="utf-8"?>
<ds:datastoreItem xmlns:ds="http://schemas.openxmlformats.org/officeDocument/2006/customXml" ds:itemID="{A13CC629-9C53-4FA9-A331-C493D6A30A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DBAD01-B15D-4613-B919-AAE8805A97F1}">
  <ds:schemaRefs>
    <ds:schemaRef ds:uri="http://schemas.microsoft.com/office/2006/metadata/properties"/>
    <ds:schemaRef ds:uri="http://schemas.microsoft.com/office/infopath/2007/PartnerControls"/>
    <ds:schemaRef ds:uri="d634ccb5-745a-4b19-b3da-83dafbb0f953"/>
    <ds:schemaRef ds:uri="fa7e1be7-6c27-4381-949e-b43a2eb508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15149</Words>
  <Application>Microsoft Office PowerPoint</Application>
  <PresentationFormat>Widescreen</PresentationFormat>
  <Paragraphs>602</Paragraphs>
  <Slides>18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主题​​</vt:lpstr>
      <vt:lpstr>MX-0403-H3-MST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</dc:creator>
  <cp:lastModifiedBy>一心如初。</cp:lastModifiedBy>
  <cp:revision>111</cp:revision>
  <dcterms:created xsi:type="dcterms:W3CDTF">2025-05-17T02:14:00Z</dcterms:created>
  <dcterms:modified xsi:type="dcterms:W3CDTF">2025-12-19T11:24:17Z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2AE78336FCE04B7BB0DF9770D420F8B2_13</vt:lpwstr>
  </property>
  <property fmtid="{D5CDD505-2E9C-101B-9397-08002B2CF9AE}" pid="3" name="KSOProductBuildVer">
    <vt:lpwstr>2052-12.1.0.23125</vt:lpwstr>
  </property>
  <property fmtid="{D5CDD505-2E9C-101B-9397-08002B2CF9AE}" pid="4" name="ContentTypeId">
    <vt:lpwstr>0x010100E01A8FBB3908BD4681554D596DADDBBC</vt:lpwstr>
  </property>
  <property fmtid="{D5CDD505-2E9C-101B-9397-08002B2CF9AE}" pid="5" name="MediaServiceImageTags">
    <vt:lpwstr/>
  </property>
</Properties>
</file>