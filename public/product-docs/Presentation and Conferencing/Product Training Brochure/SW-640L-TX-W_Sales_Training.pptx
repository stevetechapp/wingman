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4.xml" ContentType="application/vnd.openxmlformats-officedocument.presentationml.notesSlide+xml"/>
  <Override PartName="/ppt/tags/tag4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1096" r:id="rId2"/>
    <p:sldId id="1106" r:id="rId3"/>
    <p:sldId id="1111" r:id="rId4"/>
    <p:sldId id="1087" r:id="rId5"/>
    <p:sldId id="1109" r:id="rId6"/>
    <p:sldId id="1113" r:id="rId7"/>
    <p:sldId id="1108" r:id="rId8"/>
    <p:sldId id="1104" r:id="rId9"/>
    <p:sldId id="1098" r:id="rId10"/>
    <p:sldId id="1103" r:id="rId11"/>
    <p:sldId id="1094" r:id="rId12"/>
    <p:sldId id="1100" r:id="rId13"/>
    <p:sldId id="1112" r:id="rId14"/>
    <p:sldId id="1099" r:id="rId15"/>
    <p:sldId id="1102" r:id="rId16"/>
    <p:sldId id="109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/>
    <p:restoredTop sz="94626"/>
  </p:normalViewPr>
  <p:slideViewPr>
    <p:cSldViewPr snapToGrid="0">
      <p:cViewPr varScale="1">
        <p:scale>
          <a:sx n="121" d="100"/>
          <a:sy n="121" d="100"/>
        </p:scale>
        <p:origin x="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Gagliardi" userId="972efb24-6ad2-402f-bca8-d0c6d5826641" providerId="ADAL" clId="{41D2315C-04C6-527C-AF25-E7E5EEA1B6C8}"/>
    <pc:docChg chg="modSld sldOrd">
      <pc:chgData name="Joseph Gagliardi" userId="972efb24-6ad2-402f-bca8-d0c6d5826641" providerId="ADAL" clId="{41D2315C-04C6-527C-AF25-E7E5EEA1B6C8}" dt="2026-04-15T18:55:55.153" v="3" actId="20577"/>
      <pc:docMkLst>
        <pc:docMk/>
      </pc:docMkLst>
      <pc:sldChg chg="ord">
        <pc:chgData name="Joseph Gagliardi" userId="972efb24-6ad2-402f-bca8-d0c6d5826641" providerId="ADAL" clId="{41D2315C-04C6-527C-AF25-E7E5EEA1B6C8}" dt="2026-04-15T18:55:29.083" v="0" actId="20578"/>
        <pc:sldMkLst>
          <pc:docMk/>
          <pc:sldMk cId="1553276686" sldId="1087"/>
        </pc:sldMkLst>
      </pc:sldChg>
      <pc:sldChg chg="modSp mod">
        <pc:chgData name="Joseph Gagliardi" userId="972efb24-6ad2-402f-bca8-d0c6d5826641" providerId="ADAL" clId="{41D2315C-04C6-527C-AF25-E7E5EEA1B6C8}" dt="2026-04-15T18:55:55.153" v="3" actId="20577"/>
        <pc:sldMkLst>
          <pc:docMk/>
          <pc:sldMk cId="308249025" sldId="1094"/>
        </pc:sldMkLst>
        <pc:spChg chg="mod">
          <ac:chgData name="Joseph Gagliardi" userId="972efb24-6ad2-402f-bca8-d0c6d5826641" providerId="ADAL" clId="{41D2315C-04C6-527C-AF25-E7E5EEA1B6C8}" dt="2026-04-15T18:55:55.153" v="3" actId="20577"/>
          <ac:spMkLst>
            <pc:docMk/>
            <pc:sldMk cId="308249025" sldId="1094"/>
            <ac:spMk id="6" creationId="{9023C600-19B3-732B-0C6A-81271F09DC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DE376-40F0-6A4A-A018-4C41EB73C307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1F3CE-FC55-0A42-B68A-7163032F7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96FA-F41F-5C2A-5DC4-549059D6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566F2-99B6-7F92-8C6B-1D8FBABF6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1CC6E-87F2-CF23-62A8-3C96C59C6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070A5-0DA6-35A3-D84F-FB012B1CB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013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C439-E0F3-A57C-662F-3652A15E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BB371-0FAB-C50B-FE97-1CCA940F8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25118-AAAE-CEBE-ECB5-CC275C955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E6079-392B-2B37-472F-5A21C9276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423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FC2AB-21E7-860B-B88E-96C6114B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6FF21-566C-8768-908F-E4737FD3B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0A20E-91D7-FA62-BCF6-81AA715DC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93C23-6F4F-D866-7F48-5A8A4E130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289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FA329-A4B5-4D0B-66D1-958E5CA5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CE35C-238D-6041-BE3A-771FEB7FD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D4B30-4921-3014-9559-AF04CBB40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29BC-C7C9-D82C-AF00-E889E93FD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650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9DDF5-1B0B-2F97-A7C1-E7DF7E51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092C3-12C6-1FC8-E142-39EF70B3C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E5AC0-4E4F-8213-4C2E-3DC7AECEA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217A0-F764-DE8E-06E1-ED21D03CA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702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8D02-39B2-AACD-A7BA-8ACF28C7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A13CE-C7F6-80CF-8E83-213B86FCC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40F58-7C91-DC28-08ED-849DFE132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64BBC-3B9B-9D0F-E410-69252AF2D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7941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80C6-41DD-4D7A-5C93-F2188D0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36F92-3E2D-D570-86F3-EF03AC232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41119-BC99-02AB-9823-5A42C6B16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354AF-A3BD-0FBD-5E4E-00C1542C2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512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06C24-C55E-2C74-F9C9-EBA4D6DC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40960-BA1D-DBC0-9A3C-DB4E9786A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6B083-ECF9-E6CF-6D80-49C83C3CD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FE4C-F002-0B27-5324-1C121E9AC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958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A81C-5089-268A-3356-23079129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82C9F-D584-82F0-399F-2D2069139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56E82-39C0-49AC-76D0-B1F29B8CD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AAB17-6FB7-FBDF-DB44-71B234EE0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131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F4A1-B44E-AB9C-7E7D-567709EA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79E88-9A52-9A0A-376D-DA635CFAB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4EDB6-1B18-8C91-2643-02E701F03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A268F-16F8-9BD1-C0D6-3665DCA52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888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1C6D-9783-B842-A268-F00AF84C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F0838-6D44-566C-3707-270DA8C71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1708D-6AD4-0CAC-9458-29571ABD5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2E0B8-29D3-5229-8982-FCDC05CCF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952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DADAE-2DDD-EBB7-13BE-8CA830D1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8E74A-331A-C04A-9B1C-C8544925E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7B552-FA1A-B6D6-CD52-45695BE52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C1327-0BBE-56ED-4A9D-52A7E9108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671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4D25-AD4B-5E3C-256F-301EC22A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DB27F-ED41-BF1F-A2A5-6A1164F16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2B342-9422-365D-F154-4C1B9DA2A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E7BC3-C8A6-12B3-AE43-9B5921876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315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F38E-8A96-8F60-567B-ECD37980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B257D-0795-96C5-C56E-36D3754DF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FE0E4-4B76-A7E4-484B-66C700A0D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FA481-C223-B2C1-4192-F9CC3F90B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981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6111-FD89-5EB2-9858-3EE1A00A8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C8398-5389-8C5F-0B05-D222EDC90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FB93B-52F4-3A84-B9E8-A0025E75B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23B97-F2C1-B2DA-5BC0-ABF6F9104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9F3C-0E2A-F4FD-378E-AB172440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8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B7FE-93B4-53E8-A98D-FBC00179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685ED-3B92-CD6D-F36B-7F99117B7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CDA82-5847-74D5-59DF-5306FECC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9EB59-7BA2-C393-86B4-691300F8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39832-AAC3-5BBA-5A79-05CF9896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6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14F8-42B3-140F-3492-8776CF0C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E107E-FD1E-AAD3-3134-5E8291322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62918-BF1C-F113-3F48-CE73DE53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D386E-7D36-0E90-A12C-8FA8A2E3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FC014-44C4-3676-A93A-265BE5B0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1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FC43-C0D2-E5B8-C9FB-6D5FBDBF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AA700-B725-522F-6007-216F24B17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08934-8C0D-E61F-C731-96FDEF7EB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B6A1B-51D7-3BC3-EA63-D0537D06B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C8147-B0B5-5F43-5489-6F604749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CAD1B-DC19-08F1-C691-54E050F5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20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DEA76-1989-4289-CE3D-2962075F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D9DA2-C38B-62A0-4402-4F29F3194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4FCDF-2ACB-A724-BF28-BD46DA2A7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A729D-37D5-0D26-C8CA-06CC92A20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A6FC9-F897-3765-AD7E-6DC68F8407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56E5D-936D-67A6-FD4A-6FE43742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EE5C3-D721-9170-9D62-3ED0E2CE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D66B5-F9CB-8467-7448-8A61E8F19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9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D1C5-03AC-3788-3DB2-5079AA966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D5709-D702-2F30-8103-6082D2A2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0F9F9-DBC5-2237-A474-1EE4BB97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6F7F9-3585-1585-E914-8CBBF0A8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0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159989-09F7-716E-19A5-1449539BA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52E80-2D92-68A5-8149-F8C73BC7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C2C27-7D3D-046E-9DA7-9D1F9FDA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6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AF03-5A4B-5D33-7B06-35561F75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222B6-A89E-C9D9-0356-14E516DF2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FAC3B-8E15-8076-2C2C-F24960D7A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D74D6-361A-2C6F-0BF9-6C5BE77C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7C2DB-CFBB-AE81-392D-FDA5F99F2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BA9D2-A547-55FF-85B8-8D94A02C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0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9426-84A2-9ED1-DA32-EE0EE2D7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C2A42D-44CD-CD93-F21C-80027D94E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F5E45-EAC4-3E1B-1D97-C1892AB37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0D2D8-A94C-7A90-8418-A07EE43B6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187C4-E65B-FEEC-A727-C4DEDC38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FF97D-1109-AE35-73BB-22F942F6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6502-DEED-406F-BE6E-18508FB9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14502-0AA8-E608-7DD7-AE82B616A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7A0B0-A74C-E8CF-CFD0-0709102C7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F95AF-A511-DA11-76A1-EFAC45EF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EB519-94E5-EFC7-8EB1-0635BC2F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1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7B169-BFDE-731E-BB2F-D7E270848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2AC41-FF22-0121-E3C4-A1BF6EB1B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0C562-5EBB-D0D3-14B5-E664466A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9899-F345-6258-FE05-70DF590F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7927D-0A7E-6E53-260A-B434C53B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9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C8382-076A-898E-FF8B-33CC7B40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971FC-C575-1D75-5B54-2B0D4EB25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26EEF-F712-6382-8799-B1547BF02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F7CD9-69C1-3F46-8521-FCFDC324313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EAD75-BCA4-A919-8E59-461D9A11F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F66EC-B71B-FDDF-7339-946318065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1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hyperlink" Target="https://xchange.avixa.org/posts/ndi-technology-revolutionizing-broadcast-av" TargetMode="Externa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2.xml"/><Relationship Id="rId7" Type="http://schemas.openxmlformats.org/officeDocument/2006/relationships/image" Target="../media/image2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7A0A-E38C-2F36-ADB1-2003622CF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 Sales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0A8D9-3B77-11D7-71C4-74EECA6E9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SW-640L-TX-W</a:t>
            </a:r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6FAB64DB-4E4C-4787-546B-3B9FD83A060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Google Shape;82;p1">
            <a:extLst>
              <a:ext uri="{FF2B5EF4-FFF2-40B4-BE49-F238E27FC236}">
                <a16:creationId xmlns:a16="http://schemas.microsoft.com/office/drawing/2014/main" id="{B24C05A4-D739-A91B-6455-73250FDDE498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>
            <a:extLst>
              <a:ext uri="{FF2B5EF4-FFF2-40B4-BE49-F238E27FC236}">
                <a16:creationId xmlns:a16="http://schemas.microsoft.com/office/drawing/2014/main" id="{6D21AA91-5186-1400-CBC7-D308F279927A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extLst>
      <p:ext uri="{BB962C8B-B14F-4D97-AF65-F5344CB8AC3E}">
        <p14:creationId xmlns:p14="http://schemas.microsoft.com/office/powerpoint/2010/main" val="336854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3A2B-1C96-5E79-DE8F-48EC3CD48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9383972E-B4B9-2F0C-F001-E641034F02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458721-6A17-E02C-6A66-E9BC761CEB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fontScale="85000" lnSpcReduction="10000"/>
          </a:bodyPr>
          <a:lstStyle/>
          <a:p>
            <a:pPr>
              <a:buSzPct val="100000"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SW-640L-TX-W – Why It’s Used in Modern Conference Rooms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69391BBD-7BC2-4644-552E-A2F238292EB6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E13FDCDD-58F5-7676-FE96-BAC5ABE99C76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B95FC-2AFC-7793-6E9C-1004CC93999B}"/>
              </a:ext>
            </a:extLst>
          </p:cNvPr>
          <p:cNvSpPr txBox="1"/>
          <p:nvPr/>
        </p:nvSpPr>
        <p:spPr>
          <a:xfrm>
            <a:off x="2038350" y="1061037"/>
            <a:ext cx="843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BYOD Presentation Switching?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plug-and-play method for connecting any device to a room display — wired or wireless, with no apps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Miracast, AirPlay Mirroring, Google Cast, and USB-C Dongle casting up to 4K@30Hz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47FBC-9AA6-BE57-5B6E-74B61DBE8936}"/>
              </a:ext>
            </a:extLst>
          </p:cNvPr>
          <p:cNvSpPr txBox="1"/>
          <p:nvPr/>
        </p:nvSpPr>
        <p:spPr>
          <a:xfrm>
            <a:off x="298877" y="2905213"/>
            <a:ext cx="90805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Why BYOD Presentation Switching is Utilized:</a:t>
            </a:r>
          </a:p>
          <a:p>
            <a:pPr>
              <a:buNone/>
            </a:pPr>
            <a:endParaRPr lang="en-US" sz="1200" b="1" dirty="0"/>
          </a:p>
          <a:p>
            <a:pPr>
              <a:buNone/>
            </a:pPr>
            <a:r>
              <a:rPr lang="en-US" sz="1200" b="1" dirty="0"/>
              <a:t>Universal Device Compatibility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Works with Windows, macOS, iOS, and Android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App-free and driver-free — no software to install on user devices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High-Quality Wired &amp; Wireless Video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2x HDMI + 2x USB-C inputs up to 4K@30Hz; dual HDMI outputs up to 4K@60Hz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USB-C Dongle casting at 4K@30Hz; wireless conference camera at 1080P@30Hz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Wireless Conferencing (BYOM)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Wirelessly shares room cameras and speakerphones to meeting software (Teams, Zoom)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Enables hybrid meeting experiences without dedicated room PCs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Powerful Network &amp; USB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5x GbE ports (3x RJ45, 2x embedded in USB-C) eliminates need for extra network switches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Built-in USB 3.0 hub and 60W USB-C charging for a clean, cable-minimal setup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3354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91E57-603E-CA1A-7731-017ED44E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1F965A3C-2D5D-6442-1B9E-1EAF2F5784C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DA1873-5FD0-7408-A7B8-9CF73EA26F4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Opportunity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0FFA8150-49B5-E118-0B99-C5A0D06FC8AC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B36945F7-AF89-FA75-22F9-6025167B6243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C6A2A3-EE0A-6111-0AB8-437AADD730D1}"/>
              </a:ext>
            </a:extLst>
          </p:cNvPr>
          <p:cNvSpPr txBox="1"/>
          <p:nvPr/>
        </p:nvSpPr>
        <p:spPr>
          <a:xfrm>
            <a:off x="149070" y="179136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SW-640L-TX-W is not just a presentation switcher.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It is a market expansion technology that: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Eliminates cable clutter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wireless-first AV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Expands AV into IT-friendly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Increases user adoption and room utilization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9D4E9D-AE35-33EA-EBDD-BD65BE853959}"/>
              </a:ext>
            </a:extLst>
          </p:cNvPr>
          <p:cNvSpPr txBox="1"/>
          <p:nvPr/>
        </p:nvSpPr>
        <p:spPr>
          <a:xfrm>
            <a:off x="5873749" y="1441452"/>
            <a:ext cx="6096000" cy="3442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Rapid Market Growth:</a:t>
            </a:r>
            <a:r>
              <a:rPr lang="en-US" b="0" i="0" dirty="0">
                <a:effectLst/>
                <a:latin typeface="Google Sans"/>
              </a:rPr>
              <a:t> BYOD and wireless collaboration are becoming standard in corporate, education, and government AV deployments as organizations modernize their meeting spaces.</a:t>
            </a: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Lowered Adoption Barriers:</a:t>
            </a:r>
            <a:r>
              <a:rPr lang="en-US" b="0" i="0" dirty="0">
                <a:effectLst/>
                <a:latin typeface="Google Sans"/>
              </a:rPr>
              <a:t> The SW-640L-TX-W supports Miracast, AirPlay, and USB-C Dongle casting.</a:t>
            </a: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Integration with Hybrid Work:</a:t>
            </a:r>
            <a:r>
              <a:rPr lang="en-US" b="0" i="0" dirty="0">
                <a:effectLst/>
                <a:latin typeface="Google Sans"/>
              </a:rPr>
              <a:t> The rise of hybrid work has made wireless conferencing (BYOM) essential. Users expect to walk in and share their screen</a:t>
            </a:r>
            <a:r>
              <a:rPr lang="en-US" dirty="0">
                <a:latin typeface="Google Sans"/>
              </a:rPr>
              <a:t> </a:t>
            </a:r>
            <a:r>
              <a:rPr lang="en-US" b="0" i="0" dirty="0">
                <a:effectLst/>
                <a:latin typeface="Google Sans"/>
              </a:rPr>
              <a:t>and room camera wirelessly — without IT involvement or app installs.</a:t>
            </a: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"/>
              </a:rPr>
              <a:t>Strategic Versatility:</a:t>
            </a:r>
            <a:r>
              <a:rPr lang="en-US" b="0" i="0" dirty="0">
                <a:effectLst/>
                <a:latin typeface="Google Sans"/>
              </a:rPr>
              <a:t> Major industry players like Sony, </a:t>
            </a:r>
            <a:r>
              <a:rPr lang="en-US" b="0" i="0" dirty="0">
                <a:effectLst/>
                <a:latin typeface="Google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Zoom</a:t>
            </a:r>
            <a:r>
              <a:rPr lang="en-US" b="0" i="0" dirty="0">
                <a:effectLst/>
                <a:latin typeface="Google Sans"/>
              </a:rPr>
              <a:t>, and </a:t>
            </a:r>
            <a:r>
              <a:rPr lang="en-US" b="0" i="0" dirty="0" err="1">
                <a:effectLst/>
                <a:latin typeface="Google Sans"/>
              </a:rPr>
              <a:t>and Apple</a:t>
            </a:r>
            <a:r>
              <a:rPr lang="en-US" b="0" i="0" dirty="0">
                <a:effectLst/>
                <a:latin typeface="Google Sans"/>
              </a:rPr>
              <a:t> are adopting the standard, signaling long-term viability and stability for investments.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548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B75A-D009-3985-D8A2-56B0FFD3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97D02B7C-8370-2C2B-37B0-64B61D4A8F7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5124D1-5EA6-7B84-F007-C9E78556724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>
                <a:solidFill>
                  <a:schemeClr val="lt1"/>
                </a:solidFill>
                <a:latin typeface="Montserrat"/>
                <a:ea typeface="微软雅黑"/>
                <a:cs typeface="Roboto"/>
                <a:sym typeface="Roboto"/>
              </a:rPr>
              <a:t>Design Considerations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  <a:sym typeface="Roboto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8AFA39E2-F49F-B63F-2E4B-8107ED87C8CC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2DFBFBFA-E022-7E49-0B87-B057FB77D928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A58C1-5FB7-0886-7302-57C490D0B4BF}"/>
              </a:ext>
            </a:extLst>
          </p:cNvPr>
          <p:cNvSpPr txBox="1"/>
          <p:nvPr/>
        </p:nvSpPr>
        <p:spPr>
          <a:xfrm>
            <a:off x="457200" y="1506070"/>
            <a:ext cx="79057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Organizations face several key challenges: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Infrastructure Limitations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Meeting rooms rely on fixed HDMI wall plates, limiting which devices and locations can present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 Compatibility Constraints: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laptop brands, operating systems, and ports create a fragmented connection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Operational Inefficiency: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Managing separate wired switching, wireless casting, and conferencing peripherals creates complexity and AV support burden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3276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AFAAB-ABB1-EF24-BD23-F19C22E2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ED89D2C7-9DB2-57C6-BF32-C252E9D0C3D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998625-443E-D600-1641-514C2BFE595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492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Corporate Conference &amp; Meeting Rooms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20591A74-2F37-5680-AA37-DE54EA486D35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AutoShape 6" descr="Generated image">
            <a:extLst>
              <a:ext uri="{FF2B5EF4-FFF2-40B4-BE49-F238E27FC236}">
                <a16:creationId xmlns:a16="http://schemas.microsoft.com/office/drawing/2014/main" id="{7308D3F3-C0DB-2D53-269D-C5446C734C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909060" cy="390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1F5FCA13-07B8-7CE0-DFE6-077328EB65D7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588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CE0F2-6E4E-937E-E027-A7383E67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EE4CB84A-624D-92A8-8A81-413B89256C5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F8533E-77A0-85CA-0D4B-0AF7C43ED89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095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  <a:sym typeface="Roboto"/>
              </a:rPr>
              <a:t>Bridging Wireless BYOD and Traditional Wired AV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  <a:sym typeface="Roboto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B127666E-9A48-8297-BC5E-A98D628D7885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A9D4862A-7511-ABF1-6894-E1D746071544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CF3949-2603-93AE-BC05-231975370473}"/>
              </a:ext>
            </a:extLst>
          </p:cNvPr>
          <p:cNvSpPr txBox="1"/>
          <p:nvPr/>
        </p:nvSpPr>
        <p:spPr>
          <a:xfrm>
            <a:off x="3048000" y="13759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Two Collaboration Worlds — Better Together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D9377-FA8A-23C9-2E0B-431FD09E4CFE}"/>
              </a:ext>
            </a:extLst>
          </p:cNvPr>
          <p:cNvSpPr txBox="1"/>
          <p:nvPr/>
        </p:nvSpPr>
        <p:spPr>
          <a:xfrm>
            <a:off x="711200" y="246863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💻 BYOD / Wireless Collaboration</a:t>
            </a:r>
          </a:p>
          <a:p>
            <a:pPr>
              <a:buNone/>
            </a:pPr>
            <a:r>
              <a:rPr lang="en-US" b="1" dirty="0"/>
              <a:t>Focused on Flexible User Access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Laptops, phones, tablets, and dongles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with Miracast, AirPlay, Google Cast, USB-C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Wireless casting and BYOM conferencing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Ideal for ad-hoc sharing and hybrid meetings</a:t>
            </a:r>
          </a:p>
          <a:p>
            <a:r>
              <a:rPr lang="en-US" dirty="0"/>
              <a:t>➡ Answers: </a:t>
            </a:r>
            <a:r>
              <a:rPr lang="en-US" b="1" dirty="0"/>
              <a:t>“How do users share content?”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2C8A5-5DD8-9347-07DB-90B5C97CC19F}"/>
              </a:ext>
            </a:extLst>
          </p:cNvPr>
          <p:cNvSpPr txBox="1"/>
          <p:nvPr/>
        </p:nvSpPr>
        <p:spPr>
          <a:xfrm>
            <a:off x="6604104" y="24686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🖥️ Wired AV Distribution</a:t>
            </a:r>
          </a:p>
          <a:p>
            <a:pPr>
              <a:buNone/>
            </a:pPr>
            <a:r>
              <a:rPr lang="en-US" b="1" dirty="0"/>
              <a:t>Focused on Reliable Display Output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Fixed HDMI inputs and display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Dual displays, Quad-view multiview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Integrated with control systems and USB peripherals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➡ Answers: </a:t>
            </a:r>
            <a:r>
              <a:rPr lang="en-US" b="1" dirty="0"/>
              <a:t>“How do we route content to displays?”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675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4C3669-C25A-5300-65AF-AFD68C65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DC9EE951-B3FB-A3B0-5562-15F75E60A4D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9F6CC6-C0A3-6611-4B4F-80303E90E59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Wireless Casting Protocol Comparison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025DD811-4951-E23A-7725-5816EE7F0C0C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EADC2066-754A-177B-60B9-A135E2FCF56C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CD3F51-37B0-ED12-D71A-F51D4B31D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015587"/>
              </p:ext>
            </p:extLst>
          </p:nvPr>
        </p:nvGraphicFramePr>
        <p:xfrm>
          <a:off x="653473" y="1409917"/>
          <a:ext cx="6736245" cy="4857965"/>
        </p:xfrm>
        <a:graphic>
          <a:graphicData uri="http://schemas.openxmlformats.org/drawingml/2006/table">
            <a:tbl>
              <a:tblPr/>
              <a:tblGrid>
                <a:gridCol w="1347249">
                  <a:extLst>
                    <a:ext uri="{9D8B030D-6E8A-4147-A177-3AD203B41FA5}">
                      <a16:colId xmlns:a16="http://schemas.microsoft.com/office/drawing/2014/main" val="3882668457"/>
                    </a:ext>
                  </a:extLst>
                </a:gridCol>
                <a:gridCol w="1347249">
                  <a:extLst>
                    <a:ext uri="{9D8B030D-6E8A-4147-A177-3AD203B41FA5}">
                      <a16:colId xmlns:a16="http://schemas.microsoft.com/office/drawing/2014/main" val="1687052900"/>
                    </a:ext>
                  </a:extLst>
                </a:gridCol>
                <a:gridCol w="1347249">
                  <a:extLst>
                    <a:ext uri="{9D8B030D-6E8A-4147-A177-3AD203B41FA5}">
                      <a16:colId xmlns:a16="http://schemas.microsoft.com/office/drawing/2014/main" val="1308821915"/>
                    </a:ext>
                  </a:extLst>
                </a:gridCol>
                <a:gridCol w="1347249">
                  <a:extLst>
                    <a:ext uri="{9D8B030D-6E8A-4147-A177-3AD203B41FA5}">
                      <a16:colId xmlns:a16="http://schemas.microsoft.com/office/drawing/2014/main" val="3454257738"/>
                    </a:ext>
                  </a:extLst>
                </a:gridCol>
                <a:gridCol w="1347249">
                  <a:extLst>
                    <a:ext uri="{9D8B030D-6E8A-4147-A177-3AD203B41FA5}">
                      <a16:colId xmlns:a16="http://schemas.microsoft.com/office/drawing/2014/main" val="1863156198"/>
                    </a:ext>
                  </a:extLst>
                </a:gridCol>
              </a:tblGrid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Feature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Miracast</a:t>
                      </a:r>
                      <a:endParaRPr lang="en-US" sz="1100" dirty="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AirPlay Mirroring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Google Cast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USB-C Dongle (APO-DG2)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280161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Primary Use Case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Windows/Android screen mirroring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Apple device screen mirroring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Chrome/Android casting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Universal 4K casting via hardware dongle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683953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Compression Type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H.264/H.265 compressed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H.264/H.265 compressed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H.264/H.265 compressed (advanced)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Intra-frame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754157"/>
                  </a:ext>
                </a:extLst>
              </a:tr>
              <a:tr h="268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Typical Latency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150–300 ms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100–200 ms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200–400 ms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~100 ms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014543"/>
                  </a:ext>
                </a:extLst>
              </a:tr>
              <a:tr h="268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Bandwidth (1080p60)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Varies (compressed)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Varies (compressed)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Varies (compressed)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~15–30 Mbps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723057"/>
                  </a:ext>
                </a:extLst>
              </a:tr>
              <a:tr h="268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Bandwidth (4K60)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Not supported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4K@30Hz limited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4K@30Hz limited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4K@30Hz supported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769516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Network Requirement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Wi-Fi 5 (802.11ac)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Wi-Fi 5 (802.11ac)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Wi-Fi 5 (802.11ac)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Wi-Fi 5 (802.11ac)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225232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Video Quality</a:t>
                      </a:r>
                      <a:endParaRPr lang="en-US" sz="1100" dirty="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Good (compressed)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Good (compressed)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Good (compressed)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Best (near lossless)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465195"/>
                  </a:ext>
                </a:extLst>
              </a:tr>
              <a:tr h="268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Frame Accuracy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Good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Good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Good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Very good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752149"/>
                  </a:ext>
                </a:extLst>
              </a:tr>
              <a:tr h="268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Discovery / Routing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Auto (Wi-Fi Direct)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Auto (Bonjour)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Auto (mDNS)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Manual pairing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17916"/>
                  </a:ext>
                </a:extLst>
              </a:tr>
              <a:tr h="153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Scalability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Medium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686413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Typical Latency Sensitivity Use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Presentation sharing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Apple content sharing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Chrome/browser casting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High-quality 4K sharing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421057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Best Strength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Wide device compatibility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Apple ecosystem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Google/Android ecosystem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4K quality + no app needed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363709"/>
                  </a:ext>
                </a:extLst>
              </a:tr>
              <a:tr h="38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Main Tradeoff</a:t>
                      </a:r>
                      <a:endParaRPr lang="en-US" sz="11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Variable quality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Apple devices only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 to Google ecosystem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Requires hardware dongle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40435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6055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BF44-DF13-BEDB-6E27-E16791C8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389262FF-2F77-822C-9C7E-2173141DFE4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4F8B37-F138-E382-E8A9-79B322B689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What is the </a:t>
            </a:r>
            <a:r>
              <a:rPr lang="en-US" altLang="zh-CN" sz="32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SW-640L-TX-W</a:t>
            </a: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?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57126525-9C6A-D72D-0D16-8111878E4F40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54BBF0BC-EEA5-BD35-1140-64F6531DD7F1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AA76B2-01F9-C5FF-8601-ACDDFF00E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481457"/>
            <a:ext cx="57150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A98513B-FB37-EAB1-68DC-83229FCA3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1881485"/>
            <a:ext cx="57150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53DAA1-7E8C-29C9-F39B-FCA98E3B4018}"/>
              </a:ext>
            </a:extLst>
          </p:cNvPr>
          <p:cNvSpPr txBox="1"/>
          <p:nvPr/>
        </p:nvSpPr>
        <p:spPr>
          <a:xfrm>
            <a:off x="565150" y="184391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SW-640L-TX-W</a:t>
            </a:r>
          </a:p>
          <a:p>
            <a:pPr>
              <a:buNone/>
            </a:pPr>
            <a:r>
              <a:rPr lang="en-US" b="1" dirty="0"/>
              <a:t>BYOD 4×2 Presentation Switcher</a:t>
            </a:r>
            <a:endParaRPr lang="en-US" dirty="0"/>
          </a:p>
          <a:p>
            <a:pPr>
              <a:buNone/>
            </a:pPr>
            <a:r>
              <a:rPr lang="en-US" dirty="0"/>
              <a:t>• 2× HDMI and 2× USB-C inputs up to 4K@30Hz for wired BYOD connections</a:t>
            </a:r>
            <a:br>
              <a:rPr lang="en-US" dirty="0"/>
            </a:br>
            <a:r>
              <a:rPr lang="en-US" dirty="0"/>
              <a:t>• 2× HDMI outputs up to 4K@60Hz with independent dual-display support</a:t>
            </a:r>
            <a:br>
              <a:rPr lang="en-US" dirty="0"/>
            </a:br>
            <a:r>
              <a:rPr lang="en-US" dirty="0"/>
              <a:t>• App-free wireless casting via Miracast, AirPlay Mirroring, and Google Cast</a:t>
            </a:r>
            <a:br>
              <a:rPr lang="en-US" dirty="0"/>
            </a:br>
            <a:r>
              <a:rPr lang="en-US" dirty="0"/>
              <a:t>• USB-C Dongle (APO-DG2) casting at 4K@30Hz — no software install required</a:t>
            </a:r>
            <a:br>
              <a:rPr lang="en-US" dirty="0"/>
            </a:br>
            <a:r>
              <a:rPr lang="en-US" dirty="0"/>
              <a:t>• Wireless Conference (BYOM): share room camera and speakerphone wirelessly via dongle</a:t>
            </a:r>
            <a:br>
              <a:rPr lang="en-US" dirty="0"/>
            </a:br>
            <a:r>
              <a:rPr lang="en-US" dirty="0"/>
              <a:t>• Built-in 5-port GbE network hub with hardware-level network security</a:t>
            </a:r>
            <a:br>
              <a:rPr lang="en-US" dirty="0"/>
            </a:br>
            <a:r>
              <a:rPr lang="en-US" dirty="0"/>
              <a:t>• 60W USB-C charging, USB 3.0 hub, and quad-view multiview support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3047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67D34-0F3D-3C84-4476-97B3BE5A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F161C487-590A-193B-A5D8-29FDA700AEA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BF296E-E50D-9AC2-C7D0-9BC755160EC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System Diagram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F38FEDF7-2DFF-F49A-E428-516C10004B29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709674" y="613903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403AF723-4A97-EB7A-D27A-847D06ED2F28}"/>
              </a:ext>
            </a:extLst>
          </p:cNvPr>
          <p:cNvSpPr txBox="1"/>
          <p:nvPr/>
        </p:nvSpPr>
        <p:spPr>
          <a:xfrm>
            <a:off x="9378735" y="655129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1384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7045D-711A-5000-E145-73A7BD74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D6356D77-2038-AD2D-F4B3-9FCF450E0D2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29B0C2-30A9-80A1-8069-F9E1ADFE77C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Comparison to Competition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211A1D-B0DF-D91F-FE46-95493BE62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877921"/>
              </p:ext>
            </p:extLst>
          </p:nvPr>
        </p:nvGraphicFramePr>
        <p:xfrm>
          <a:off x="158750" y="933452"/>
          <a:ext cx="11874499" cy="5496164"/>
        </p:xfrm>
        <a:graphic>
          <a:graphicData uri="http://schemas.openxmlformats.org/drawingml/2006/table">
            <a:tbl>
              <a:tblPr/>
              <a:tblGrid>
                <a:gridCol w="1696357">
                  <a:extLst>
                    <a:ext uri="{9D8B030D-6E8A-4147-A177-3AD203B41FA5}">
                      <a16:colId xmlns:a16="http://schemas.microsoft.com/office/drawing/2014/main" val="4164142649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1121186582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3540690160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88124316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2877188017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943286671"/>
                    </a:ext>
                  </a:extLst>
                </a:gridCol>
                <a:gridCol w="1696357">
                  <a:extLst>
                    <a:ext uri="{9D8B030D-6E8A-4147-A177-3AD203B41FA5}">
                      <a16:colId xmlns:a16="http://schemas.microsoft.com/office/drawing/2014/main" val="2141094272"/>
                    </a:ext>
                  </a:extLst>
                </a:gridCol>
              </a:tblGrid>
              <a:tr h="262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Feature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WyreStorm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Barco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Crestron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Extron</a:t>
                      </a:r>
                      <a:endParaRPr lang="en-US" sz="1100" dirty="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Barco (CX-50)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WyreStorm Advantage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584528"/>
                  </a:ext>
                </a:extLst>
              </a:tr>
              <a:tr h="375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Model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SW-640L-TX-W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CX-50 2nd Gen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AM-3200-WF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ShareLink Pro 2500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CX-50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—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304157"/>
                  </a:ext>
                </a:extLst>
              </a:tr>
              <a:tr h="600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Primary Function</a:t>
                      </a:r>
                      <a:endParaRPr lang="en-US" sz="1100" dirty="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BYOD 4×2 Presentation Switcher</a:t>
                      </a:r>
                      <a:endParaRPr lang="en-US" sz="1100" dirty="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Wireless Presentation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Wireless Presentation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Wireless Presentation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Wireless Presentation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Most flexible wired + wireless solution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892110"/>
                  </a:ext>
                </a:extLst>
              </a:tr>
              <a:tr h="713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Input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2× HDMI + 2× USB-C (4K@30Hz)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USB-C (video only)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1× HDMI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HDMI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HDMI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4 inputs vs 1 on competitors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195830"/>
                  </a:ext>
                </a:extLst>
              </a:tr>
              <a:tr h="487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Output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2× HDMI (4K@60Hz)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/>
                        <a:t>1× HDMI or USB-C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HDMI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1× HDMI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2× HDMI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Dual independent display outputs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6192"/>
                  </a:ext>
                </a:extLst>
              </a:tr>
              <a:tr h="487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Wireless Casting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Miracast + AirPlay + Google Cast + Dongle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Miracast + AirPlay + Google Cast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Miracast only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Miracast + AirPlay + Google Cast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Miracast + AirPlay + Google Cast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Most casting protocols supported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895042"/>
                  </a:ext>
                </a:extLst>
              </a:tr>
              <a:tr h="375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Dongle Casting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4K@30Hz (no app)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4K@30Hz (app required)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4K@30Hz (no app)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Not available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4K dongle, app-free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522256"/>
                  </a:ext>
                </a:extLst>
              </a:tr>
              <a:tr h="262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BYOM (Wireless Conference)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Supported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Supported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Supported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Supported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Supported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— Similar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98487"/>
                  </a:ext>
                </a:extLst>
              </a:tr>
              <a:tr h="487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USB-C Input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✅ 2× Full-function (video+USB+LAN+60W)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1× (video only)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 None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 None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 None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Full-function USB-C with charging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877878"/>
                  </a:ext>
                </a:extLst>
              </a:tr>
              <a:tr h="1994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Network Ports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5× GbE (3× RJ45 + 2× USB-C)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RJ45 (2.5G)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2× RJ45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1× RJ45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2× RJ45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 Built-in network hub, no extra switch needed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974906"/>
                  </a:ext>
                </a:extLst>
              </a:tr>
              <a:tr h="600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Multiview</a:t>
                      </a:r>
                      <a:endParaRPr lang="en-US" sz="1100" dirty="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Quad View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Dual View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Quad View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Dual View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Quad View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✅ Quad-view for richer collaboration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215447"/>
                  </a:ext>
                </a:extLst>
              </a:tr>
              <a:tr h="375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HDCP Support</a:t>
                      </a:r>
                      <a:endParaRPr lang="en-US" sz="1100" dirty="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✅</a:t>
                      </a:r>
                      <a:endParaRPr lang="en-US" sz="1100"/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❌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✅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✅ HDCP where competitors lack it</a:t>
                      </a:r>
                    </a:p>
                  </a:txBody>
                  <a:tcPr marL="29401" marR="29401" marT="14700" marB="14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34925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354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212F-3065-07AE-60D2-BFAC865B6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99DDB776-6418-A963-26D1-3F6331B4761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09D786-77AF-1DC1-99E1-71371117AA8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1 (Corporate Boardroom)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649CD1F2-E7A3-47DD-21F6-135049F58C3E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9330BE56-EF15-000D-6260-96CB887735AC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3C600-19B3-732B-0C6A-81271F09DC21}"/>
              </a:ext>
            </a:extLst>
          </p:cNvPr>
          <p:cNvSpPr txBox="1"/>
          <p:nvPr/>
        </p:nvSpPr>
        <p:spPr>
          <a:xfrm>
            <a:off x="342900" y="1014442"/>
            <a:ext cx="62103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presenter devices (Mac, PC, phone) with different 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Guests connect via Zoom/Teams from their own laptop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Room needs to share a camera and speakerphone wirelessly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b="1" dirty="0"/>
              <a:t>How the SW-640L-TX-W Helps: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 inputs (2× HDMI + 2× USB-C) handle any laptop or device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App-free Miracast/AirPlay/Google Cast for all OS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BYOM via USB-C Dongle shares room camera to Teams/Zoom wirelessly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Dual HDMI outputs let presenter view differ from audience display</a:t>
            </a:r>
          </a:p>
        </p:txBody>
      </p:sp>
      <p:sp>
        <p:nvSpPr>
          <p:cNvPr id="7" name="AutoShape 6" descr="Generated image">
            <a:extLst>
              <a:ext uri="{FF2B5EF4-FFF2-40B4-BE49-F238E27FC236}">
                <a16:creationId xmlns:a16="http://schemas.microsoft.com/office/drawing/2014/main" id="{3C871C05-D597-19AB-61EC-30D57AD779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909060" cy="390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24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9A7B-F26C-C7C5-CE73-95AF6ECA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0319453B-B1EC-9D6C-5AB4-6E8F0E3400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0B3413-D7D6-1FFE-BC41-7543416F2C7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2 (Education/Classrooms)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931EB321-0FEE-49C8-7560-9B3C6759A215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3C2848FA-8717-89E3-8DB9-319351BDEFE1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3F6D9-486D-BF8C-FE00-5297CA974E0F}"/>
              </a:ext>
            </a:extLst>
          </p:cNvPr>
          <p:cNvSpPr txBox="1"/>
          <p:nvPr/>
        </p:nvSpPr>
        <p:spPr>
          <a:xfrm>
            <a:off x="313766" y="185020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Teachers and students present from different devices (Mac, PC, Chromebook)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Schools require zero-install solutions — no admin rights on student devices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How the SW-640L-TX-W Helps: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Miracast, AirPlay, and Google Cast cover Windows, Apple, and Chromebook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USB-C input with 60W charging keeps teacher laptop powered during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Quad-view multiview lets instructor show multiple sources simultaneously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0639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FF38-C069-1686-AFD8-5F77F434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E644A467-363A-7282-96EA-B02D587C95A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49CA9B-850A-5FAA-F4EA-25E76952C0A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3 (Healthcare &amp; Government)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C930F564-BCB1-4B35-91B9-ABCA626649D4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CA1BC9EB-E4C9-01B7-3188-1053C9391BE3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1F310-C7A4-6C54-94C3-40F1999AF2E7}"/>
              </a:ext>
            </a:extLst>
          </p:cNvPr>
          <p:cNvSpPr txBox="1"/>
          <p:nvPr/>
        </p:nvSpPr>
        <p:spPr>
          <a:xfrm>
            <a:off x="258586" y="1040223"/>
            <a:ext cx="8097137" cy="5735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Problem:</a:t>
            </a:r>
          </a:p>
          <a:p>
            <a:r>
              <a:rPr lang="en-US" b="1" dirty="0"/>
              <a:t>Strict Security &amp; Compliance Requirements</a:t>
            </a:r>
          </a:p>
          <a:p>
            <a:r>
              <a:rPr lang="en-US" dirty="0"/>
              <a:t>Visitor devices (contractor laptops, tablets) must not access internal network</a:t>
            </a:r>
          </a:p>
          <a:p>
            <a:r>
              <a:rPr lang="en-US" dirty="0"/>
              <a:t>Clinical or sensitive rooms cannot have installed software on presenter devices</a:t>
            </a:r>
          </a:p>
          <a:p>
            <a:r>
              <a:rPr lang="en-US" dirty="0"/>
              <a:t>Rooms require USB peripherals (cameras, mics) for telehealth or remote briefings</a:t>
            </a:r>
          </a:p>
          <a:p>
            <a:r>
              <a:rPr lang="en-US" dirty="0"/>
              <a:t>Multiple displays needed: presenter view vs. audience view</a:t>
            </a:r>
          </a:p>
          <a:p>
            <a:r>
              <a:rPr lang="en-US" dirty="0"/>
              <a:t>These requirements call for hardware-level network isolation and app-free operation.</a:t>
            </a:r>
          </a:p>
          <a:p>
            <a:br>
              <a:rPr lang="en-US" dirty="0"/>
            </a:br>
            <a:r>
              <a:rPr lang="en-US" dirty="0"/>
              <a:t>Most wireless presentation systems cannot meet all of these needs simultaneously.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How the SW-640L-TX-W Helps: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Hardware-level port-based network isolation keeps visitor and internal traffic separate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App-free wireless casting (Miracast/AirPlay/Google Cast) — nothing installed on user device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BYOM enables telehealth/video conferencing with room camera/mic via USB-C Dongle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3736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FF44-1885-2849-50B9-6721F39E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A17C6B41-EE50-7305-7AAB-99DA6B40C87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B6E766-144E-6776-1868-7630B73260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dirty="0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Benefits</a:t>
            </a:r>
            <a:endParaRPr lang="en-US" altLang="zh-CN" sz="3200" b="1" strike="noStrike" dirty="0" err="1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04E69F76-FB70-089D-B44C-88EB83F05139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E82EF8A4-0A91-39C7-028A-B597220262CF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C05C2-1A3C-887F-E754-A45EA538A185}"/>
              </a:ext>
            </a:extLst>
          </p:cNvPr>
          <p:cNvSpPr txBox="1"/>
          <p:nvPr/>
        </p:nvSpPr>
        <p:spPr>
          <a:xfrm>
            <a:off x="457155" y="1113433"/>
            <a:ext cx="719437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Only Unit with Full-Function Dual USB-C Inputs</a:t>
            </a:r>
          </a:p>
          <a:p>
            <a:pPr>
              <a:buNone/>
            </a:pPr>
            <a:r>
              <a:rPr lang="en-US" dirty="0"/>
              <a:t>Competitors typically offer: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1× USB-C, video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USB data, no charging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embedded LAN in USB-C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WyreStorm SW-640L-TX-W: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2× full-function USB-C (video + USB 3.0 + GbE + 60W charging)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MST support: each USB-C carries 2 simultaneous video signals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as a network hub — no extra switch required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2. 4K Dongle Casting Without an App</a:t>
            </a:r>
          </a:p>
          <a:p>
            <a:r>
              <a:rPr lang="en-US" dirty="0"/>
              <a:t>Competitors require:</a:t>
            </a:r>
          </a:p>
          <a:p>
            <a:r>
              <a:rPr lang="en-US" dirty="0"/>
              <a:t>App installation on user device</a:t>
            </a:r>
          </a:p>
          <a:p>
            <a:r>
              <a:rPr lang="en-US" dirty="0"/>
              <a:t>Lower casting resolution (720P–1080P)</a:t>
            </a:r>
          </a:p>
          <a:p>
            <a:endParaRPr lang="en-US" dirty="0"/>
          </a:p>
          <a:p>
            <a:r>
              <a:rPr lang="en-US" dirty="0"/>
              <a:t>SW-640L-TX-W:</a:t>
            </a:r>
          </a:p>
          <a:p>
            <a:r>
              <a:rPr lang="en-US" dirty="0"/>
              <a:t>4K@30Hz dongle casting — zero software on user device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6823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2130-D324-3D45-627A-4FCC480D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7A84C53C-8F71-2A05-EEFE-98F16A09141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A542C6-94EA-7B71-DA8D-637300F8EF6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92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Y.S.K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88745F1C-42CE-06B6-9E93-71617FC5ECFA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709674" y="613903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98412562-9E2A-34B9-5F9C-B7A84601BE63}"/>
              </a:ext>
            </a:extLst>
          </p:cNvPr>
          <p:cNvSpPr txBox="1"/>
          <p:nvPr/>
        </p:nvSpPr>
        <p:spPr>
          <a:xfrm>
            <a:off x="9378735" y="655129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DEEC-4474-E62E-51A4-D2D9E93EB52B}"/>
              </a:ext>
            </a:extLst>
          </p:cNvPr>
          <p:cNvSpPr txBox="1"/>
          <p:nvPr/>
        </p:nvSpPr>
        <p:spPr>
          <a:xfrm>
            <a:off x="517525" y="140051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You should know: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USB host switching takes 10–15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Multiview only works with single display (not dual display mode)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Wireless conference camera max resolution is 1080P@30Hz via dongle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 installation required for Wireless CONFERENCING</a:t>
            </a:r>
          </a:p>
          <a:p>
            <a:endParaRPr lang="en-US" dirty="0"/>
          </a:p>
          <a:p>
            <a:r>
              <a:rPr lang="en-US" b="1" dirty="0"/>
              <a:t>Do NOT position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seamless KVM switch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standalone wireless display adapter</a:t>
            </a:r>
          </a:p>
          <a:p>
            <a:endParaRPr lang="en-US" dirty="0"/>
          </a:p>
          <a:p>
            <a:r>
              <a:rPr lang="en-US" b="1" dirty="0"/>
              <a:t>Position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All-in-one BYOD hub for modern meeting rooms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single device that handles wired, wireless, and conferencing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7192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301C-F1CC-42A3-A140-C3748312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66359-B081-D64D-B7ED-D83EC2F1D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	</a:t>
            </a:r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CCD02476-0D2C-A754-254A-CABC45C0B3A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Google Shape;82;p1">
            <a:extLst>
              <a:ext uri="{FF2B5EF4-FFF2-40B4-BE49-F238E27FC236}">
                <a16:creationId xmlns:a16="http://schemas.microsoft.com/office/drawing/2014/main" id="{3EB9651B-0EB0-F43E-1B89-C26AB70D8B3D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>
            <a:extLst>
              <a:ext uri="{FF2B5EF4-FFF2-40B4-BE49-F238E27FC236}">
                <a16:creationId xmlns:a16="http://schemas.microsoft.com/office/drawing/2014/main" id="{1153B3B4-337C-839E-5D5C-2B125B01CE5D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0597A02-D2A1-45A7-368B-961738D468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97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7e1be7-6c27-4381-949e-b43a2eb5089a" xsi:nil="true"/>
    <lcf76f155ced4ddcb4097134ff3c332f xmlns="d634ccb5-745a-4b19-b3da-83dafbb0f95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BC082E6-9EFF-4AF6-93E6-C553D0859F4E}"/>
</file>

<file path=customXml/itemProps2.xml><?xml version="1.0" encoding="utf-8"?>
<ds:datastoreItem xmlns:ds="http://schemas.openxmlformats.org/officeDocument/2006/customXml" ds:itemID="{019C9AF3-F946-4C6C-A023-E323C224AB21}"/>
</file>

<file path=customXml/itemProps3.xml><?xml version="1.0" encoding="utf-8"?>
<ds:datastoreItem xmlns:ds="http://schemas.openxmlformats.org/officeDocument/2006/customXml" ds:itemID="{D5E91100-8A81-4B36-874A-F00CD7C0C2B0}"/>
</file>

<file path=docProps/app.xml><?xml version="1.0" encoding="utf-8"?>
<Properties xmlns="http://schemas.openxmlformats.org/officeDocument/2006/extended-properties" xmlns:vt="http://schemas.openxmlformats.org/officeDocument/2006/docPropsVTypes">
  <TotalTime>7269</TotalTime>
  <Words>1740</Words>
  <Application>Microsoft Macintosh PowerPoint</Application>
  <PresentationFormat>Widescreen</PresentationFormat>
  <Paragraphs>326</Paragraphs>
  <Slides>16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微软雅黑</vt:lpstr>
      <vt:lpstr>Aptos</vt:lpstr>
      <vt:lpstr>Aptos Display</vt:lpstr>
      <vt:lpstr>Arial</vt:lpstr>
      <vt:lpstr>Calibri</vt:lpstr>
      <vt:lpstr>Google Sans</vt:lpstr>
      <vt:lpstr>Montserrat</vt:lpstr>
      <vt:lpstr>Roboto</vt:lpstr>
      <vt:lpstr>Office Theme</vt:lpstr>
      <vt:lpstr>Solution Sales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Lee</dc:creator>
  <cp:lastModifiedBy>Joseph Gagliardi</cp:lastModifiedBy>
  <cp:revision>110</cp:revision>
  <dcterms:created xsi:type="dcterms:W3CDTF">2026-02-09T07:04:12Z</dcterms:created>
  <dcterms:modified xsi:type="dcterms:W3CDTF">2026-04-15T18:55:59Z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0x010100E01A8FBB3908BD4681554D596DADDBBC</vt:lpwstr>
  </property>
</Properties>
</file>