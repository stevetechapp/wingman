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4.xml" ContentType="application/vnd.openxmlformats-officedocument.presentationml.notes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5.xml" ContentType="application/vnd.openxmlformats-officedocument.presentationml.notesSlide+xml"/>
  <Override PartName="/ppt/slides/slide13.xml" ContentType="application/vnd.openxmlformats-officedocument.presentationml.slide+xml"/>
  <Override PartName="/ppt/notesSlides/notesSlide6.xml" ContentType="application/vnd.openxmlformats-officedocument.presentationml.notesSlide+xml"/>
  <Override PartName="/ppt/slides/slide14.xml" ContentType="application/vnd.openxmlformats-officedocument.presentationml.slide+xml"/>
  <Override PartName="/ppt/notesSlides/notesSlide7.xml" ContentType="application/vnd.openxmlformats-officedocument.presentationml.notesSlide+xml"/>
  <Override PartName="/ppt/slides/slide15.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3" r:id="rId5"/>
    <p:sldId id="257" r:id="rId6"/>
    <p:sldId id="258" r:id="rId7"/>
    <p:sldId id="259" r:id="rId8"/>
    <p:sldId id="260" r:id="rId9"/>
    <p:sldId id="262" r:id="rId10"/>
    <p:sldId id="266" r:id="rId11"/>
    <p:sldId id="274" r:id="rId12"/>
    <p:sldId id="267" r:id="rId13"/>
    <p:sldId id="275" r:id="rId14"/>
    <p:sldId id="270" r:id="rId15"/>
    <p:sldId id="271" r:id="rId16"/>
    <p:sldId id="272" r:id="rId17"/>
    <p:sldId id="26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9" d="100"/>
          <a:sy n="59" d="100"/>
        </p:scale>
        <p:origin x="101" y="8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8" Type="http://schemas.openxmlformats.org/officeDocument/2006/relationships/slide" Target="slides/slide15.xml"/><Relationship Id="rId13" Type="http://schemas.openxmlformats.org/officeDocument/2006/relationships/slide" Target="slides/slide10.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4.xml"/><Relationship Id="rId17" Type="http://schemas.openxmlformats.org/officeDocument/2006/relationships/slide" Target="slides/slide14.xml"/><Relationship Id="rId12" Type="http://schemas.openxmlformats.org/officeDocument/2006/relationships/slide" Target="slides/slide9.xml"/><Relationship Id="rId20" Type="http://schemas.openxmlformats.org/officeDocument/2006/relationships/viewProps" Target="viewProps.xml"/><Relationship Id="rId2" Type="http://schemas.openxmlformats.org/officeDocument/2006/relationships/theme" Target="theme/theme1.xml"/><Relationship Id="rId16" Type="http://schemas.openxmlformats.org/officeDocument/2006/relationships/slide" Target="slides/slide13.xml"/><Relationship Id="rId6" Type="http://schemas.openxmlformats.org/officeDocument/2006/relationships/slide" Target="slides/slide3.xml"/><Relationship Id="rId11" Type="http://schemas.openxmlformats.org/officeDocument/2006/relationships/slide" Target="slides/slide8.xml"/><Relationship Id="rId1" Type="http://schemas.openxmlformats.org/officeDocument/2006/relationships/slideMaster" Target="slideMasters/slideMaster1.xml"/><Relationship Id="rId24"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ustomXml" Target="../customXml/item2.xml"/><Relationship Id="rId19" Type="http://schemas.openxmlformats.org/officeDocument/2006/relationships/presProps" Target="presProps.xml"/><Relationship Id="rId10" Type="http://schemas.openxmlformats.org/officeDocument/2006/relationships/slide" Target="slides/slide7.xml"/><Relationship Id="rId9" Type="http://schemas.openxmlformats.org/officeDocument/2006/relationships/slide" Target="slides/slide6.xml"/><Relationship Id="rId4" Type="http://schemas.openxmlformats.org/officeDocument/2006/relationships/notesMaster" Target="notesMasters/notesMaster1.xml"/><Relationship Id="rId14" Type="http://schemas.openxmlformats.org/officeDocument/2006/relationships/slide" Target="slides/slide11.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97339E-BFFB-4657-832F-4817566F8EC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10622-6127-45EF-BDF7-9ED7109D0A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1. </a:t>
            </a:r>
            <a:r>
              <a:rPr lang="zh-CN" altLang="en-US" dirty="0"/>
              <a:t>更新封面，不需要展示产品；</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microsoft.com/office/2007/relationships/hdphoto" Target="../media/image2.wdp"/><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6.png"/><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image" Target="../media/image5.png"/><Relationship Id="rId7" Type="http://schemas.openxmlformats.org/officeDocument/2006/relationships/image" Target="../media/image7.png"/><Relationship Id="rId6" Type="http://schemas.openxmlformats.org/officeDocument/2006/relationships/tags" Target="../tags/tag13.xml"/><Relationship Id="rId5" Type="http://schemas.openxmlformats.org/officeDocument/2006/relationships/image" Target="../media/image6.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tags" Target="../tags/tag20.xml"/><Relationship Id="rId6" Type="http://schemas.openxmlformats.org/officeDocument/2006/relationships/image" Target="../media/image6.png"/><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7" Type="http://schemas.openxmlformats.org/officeDocument/2006/relationships/notesSlide" Target="../notesSlides/notesSlide3.xml"/><Relationship Id="rId16" Type="http://schemas.openxmlformats.org/officeDocument/2006/relationships/slideLayout" Target="../slideLayouts/slideLayout7.xml"/><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3.xml"/><Relationship Id="rId3" Type="http://schemas.openxmlformats.org/officeDocument/2006/relationships/image" Target="../media/image6.png"/><Relationship Id="rId2" Type="http://schemas.openxmlformats.org/officeDocument/2006/relationships/tags" Target="../tags/tag22.xml"/><Relationship Id="rId1" Type="http://schemas.openxmlformats.org/officeDocument/2006/relationships/tags" Target="../tags/tag21.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6.xml"/><Relationship Id="rId3" Type="http://schemas.openxmlformats.org/officeDocument/2006/relationships/image" Target="../media/image6.png"/><Relationship Id="rId2" Type="http://schemas.openxmlformats.org/officeDocument/2006/relationships/tags" Target="../tags/tag25.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tags" Target="../tags/tag29.xml"/><Relationship Id="rId5" Type="http://schemas.openxmlformats.org/officeDocument/2006/relationships/image" Target="../media/image16.png"/><Relationship Id="rId4" Type="http://schemas.openxmlformats.org/officeDocument/2006/relationships/image" Target="../media/image5.png"/><Relationship Id="rId3" Type="http://schemas.openxmlformats.org/officeDocument/2006/relationships/image" Target="../media/image6.png"/><Relationship Id="rId2" Type="http://schemas.openxmlformats.org/officeDocument/2006/relationships/tags" Target="../tags/tag28.xml"/><Relationship Id="rId1" Type="http://schemas.openxmlformats.org/officeDocument/2006/relationships/tags" Target="../tags/tag27.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3.xml"/><Relationship Id="rId4" Type="http://schemas.openxmlformats.org/officeDocument/2006/relationships/image" Target="../media/image6.png"/><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6.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0.xml"/><Relationship Id="rId5" Type="http://schemas.openxmlformats.org/officeDocument/2006/relationships/image" Target="../media/image19.png"/><Relationship Id="rId4" Type="http://schemas.openxmlformats.org/officeDocument/2006/relationships/image" Target="../media/image6.pn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4.xml"/><Relationship Id="rId5" Type="http://schemas.openxmlformats.org/officeDocument/2006/relationships/image" Target="../media/image20.png"/><Relationship Id="rId4" Type="http://schemas.openxmlformats.org/officeDocument/2006/relationships/image" Target="../media/image6.png"/><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image" Target="../media/image6.png"/><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53.xml"/><Relationship Id="rId4" Type="http://schemas.openxmlformats.org/officeDocument/2006/relationships/image" Target="../media/image6.png"/><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tags" Target="../tags/tag57.xml"/><Relationship Id="rId4" Type="http://schemas.openxmlformats.org/officeDocument/2006/relationships/image" Target="../media/image6.png"/><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6.png"/><Relationship Id="rId1"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3"/>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4"/>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5"/>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rPr>
              <a:t>Product Guide</a:t>
            </a:r>
            <a:endPar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endParaRPr>
          </a:p>
        </p:txBody>
      </p:sp>
      <p:sp>
        <p:nvSpPr>
          <p:cNvPr id="2" name="Title 1"/>
          <p:cNvSpPr>
            <a:spLocks noGrp="1"/>
          </p:cNvSpPr>
          <p:nvPr>
            <p:ph type="ctrTitle"/>
          </p:nvPr>
        </p:nvSpPr>
        <p:spPr>
          <a:xfrm>
            <a:off x="7529493" y="147849"/>
            <a:ext cx="4738182" cy="503028"/>
          </a:xfrm>
        </p:spPr>
        <p:txBody>
          <a:bodyPr>
            <a:noAutofit/>
          </a:bodyPr>
          <a:lstStyle/>
          <a:p>
            <a:r>
              <a:rPr lang="en-US" altLang="zh-CN" sz="2600" b="1" dirty="0">
                <a:solidFill>
                  <a:schemeClr val="bg1"/>
                </a:solidFill>
                <a:latin typeface="Roboto" charset="0"/>
                <a:ea typeface="Roboto"/>
                <a:cs typeface="Roboto" charset="0"/>
                <a:sym typeface="+mn-ea"/>
              </a:rPr>
              <a:t>COM-MIC-HUB</a:t>
            </a:r>
            <a:endParaRPr lang="zh-CN" altLang="en-US" sz="2600" b="1" dirty="0">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6755787" y="651328"/>
            <a:ext cx="6543720"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1800" dirty="0">
                <a:solidFill>
                  <a:schemeClr val="accent6">
                    <a:lumMod val="40000"/>
                    <a:lumOff val="60000"/>
                  </a:schemeClr>
                </a:solidFill>
                <a:latin typeface="Roboto" charset="0"/>
                <a:ea typeface="宋体" panose="02010600030101010101" pitchFamily="2" charset="-122"/>
                <a:cs typeface="Roboto" charset="0"/>
                <a:sym typeface="+mn-ea"/>
              </a:rPr>
              <a:t> Professional Microphone Hub</a:t>
            </a:r>
            <a:endParaRPr lang="en-US" altLang="zh-CN" sz="1800" dirty="0">
              <a:solidFill>
                <a:schemeClr val="accent6">
                  <a:lumMod val="40000"/>
                  <a:lumOff val="60000"/>
                </a:schemeClr>
              </a:solidFill>
              <a:latin typeface="Roboto" charset="0"/>
              <a:ea typeface="宋体" panose="02010600030101010101" pitchFamily="2" charset="-122"/>
              <a:cs typeface="Roboto" charset="0"/>
              <a:sym typeface="+mn-ea"/>
            </a:endParaRPr>
          </a:p>
          <a:p>
            <a:endParaRPr lang="en-US" altLang="zh-CN" sz="1800" dirty="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6"/>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26" name="Picture 25" descr="A picture containing text, clock&#10;&#10;Description automatically generated"/>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7788421" y="5849316"/>
            <a:ext cx="4368803"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dirty="0">
                <a:latin typeface="Montserrat"/>
                <a:ea typeface="Roboto"/>
                <a:cs typeface="Arial" panose="020B0604020202020204"/>
              </a:rPr>
              <a:t>Wired and wireless mic system</a:t>
            </a:r>
            <a:endParaRPr lang="en-US" sz="2400" b="1" i="1" dirty="0">
              <a:latin typeface="Montserrat"/>
              <a:ea typeface="Roboto"/>
              <a:cs typeface="Arial" panose="020B0604020202020204"/>
            </a:endParaRPr>
          </a:p>
        </p:txBody>
      </p:sp>
      <p:sp>
        <p:nvSpPr>
          <p:cNvPr id="15" name="Title 1"/>
          <p:cNvSpPr>
            <a:spLocks noGrp="1"/>
          </p:cNvSpPr>
          <p:nvPr/>
        </p:nvSpPr>
        <p:spPr>
          <a:xfrm>
            <a:off x="3709075" y="3094136"/>
            <a:ext cx="5069317" cy="10873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70000"/>
              </a:lnSpc>
            </a:pPr>
            <a:r>
              <a:rPr lang="en-US" sz="1800" b="1" dirty="0">
                <a:solidFill>
                  <a:schemeClr val="bg1"/>
                </a:solidFill>
                <a:latin typeface="Roboto" charset="0"/>
                <a:ea typeface="Roboto"/>
                <a:cs typeface="Roboto" charset="0"/>
              </a:rPr>
              <a:t>COM-MIC-HUB</a:t>
            </a:r>
            <a:endParaRPr lang="en-US" sz="1800" b="1" dirty="0">
              <a:solidFill>
                <a:schemeClr val="bg1"/>
              </a:solidFill>
              <a:latin typeface="Roboto" charset="0"/>
              <a:ea typeface="Roboto"/>
              <a:cs typeface="Roboto" charset="0"/>
            </a:endParaRPr>
          </a:p>
        </p:txBody>
      </p:sp>
      <p:pic>
        <p:nvPicPr>
          <p:cNvPr id="5" name="图片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65020" y="1449070"/>
            <a:ext cx="8272145" cy="4653280"/>
          </a:xfrm>
          <a:prstGeom prst="rect">
            <a:avLst/>
          </a:prstGeom>
        </p:spPr>
      </p:pic>
      <p:pic>
        <p:nvPicPr>
          <p:cNvPr id="4" name="图片 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5020" y="867410"/>
            <a:ext cx="8272145" cy="4653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2"/>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3200" b="1" strike="noStrike" dirty="0">
                <a:solidFill>
                  <a:schemeClr val="lt1"/>
                </a:solidFill>
                <a:uFillTx/>
                <a:latin typeface="Montserrat" pitchFamily="2" charset="0"/>
                <a:ea typeface="微软雅黑" panose="020B0503020204020204" pitchFamily="34" charset="-122"/>
                <a:cs typeface="Roboto" charset="0"/>
                <a:sym typeface="Roboto"/>
              </a:rPr>
              <a:t>Contents</a:t>
            </a:r>
            <a:endParaRPr lang="en-US" altLang="zh-CN" sz="3200" b="1" strike="noStrike" dirty="0">
              <a:solidFill>
                <a:schemeClr val="lt1"/>
              </a:solidFill>
              <a:uFillTx/>
              <a:latin typeface="Montserrat" pitchFamily="2" charset="0"/>
              <a:ea typeface="微软雅黑" panose="020B0503020204020204" pitchFamily="34" charset="-122"/>
              <a:cs typeface="Roboto" charset="0"/>
              <a:sym typeface="Roboto"/>
            </a:endParaRPr>
          </a:p>
        </p:txBody>
      </p:sp>
      <p:pic>
        <p:nvPicPr>
          <p:cNvPr id="2"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974096" y="3962936"/>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p:txBody>
      </p:sp>
      <p:sp>
        <p:nvSpPr>
          <p:cNvPr id="15" name="Rectangle 14"/>
          <p:cNvSpPr/>
          <p:nvPr/>
        </p:nvSpPr>
        <p:spPr>
          <a:xfrm>
            <a:off x="4508168" y="4702370"/>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512403" y="1045606"/>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a:t>
            </a:r>
            <a:r>
              <a:rPr lang="en-US" altLang="zh-CN" sz="2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Main</a:t>
            </a: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Features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2"/>
            </p:custDataLst>
          </p:nvPr>
        </p:nvCxnSpPr>
        <p:spPr>
          <a:xfrm>
            <a:off x="8904655" y="163547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3"/>
            </p:custDataLst>
          </p:nvPr>
        </p:nvCxnSpPr>
        <p:spPr>
          <a:xfrm>
            <a:off x="5829257" y="551736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4"/>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Product Overview</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3"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5737859" y="1798323"/>
            <a:ext cx="5862319" cy="353480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spcAft>
                <a:spcPts val="1200"/>
              </a:spcAft>
            </a:pPr>
            <a:r>
              <a:rPr lang="en-US" altLang="zh-CN" sz="2800" b="1" dirty="0">
                <a:latin typeface="Roboto" charset="0"/>
                <a:ea typeface="Roboto" charset="0"/>
                <a:cs typeface="Calibri" panose="020F0502020204030204" pitchFamily="34" charset="0"/>
              </a:rPr>
              <a:t> </a:t>
            </a:r>
            <a:r>
              <a:rPr lang="en-US" altLang="zh-CN" sz="2700" b="1" spc="0" dirty="0">
                <a:ln w="3175">
                  <a:noFill/>
                  <a:prstDash val="dash"/>
                </a:ln>
                <a:solidFill>
                  <a:schemeClr val="dk1">
                    <a:lumMod val="75000"/>
                    <a:lumOff val="25000"/>
                  </a:schemeClr>
                </a:solidFill>
                <a:latin typeface="Roboto" charset="0"/>
                <a:ea typeface="Roboto" charset="0"/>
                <a:cs typeface="Arial" panose="020B0604020202020204" pitchFamily="34" charset="0"/>
              </a:rPr>
              <a:t>Professional Microphone Hub</a:t>
            </a:r>
            <a:endParaRPr lang="en-US" altLang="zh-CN" sz="2700" b="1"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a:spcAft>
                <a:spcPts val="1200"/>
              </a:spcAft>
            </a:pPr>
            <a:r>
              <a:rPr lang="en-US" altLang="zh-CN" sz="1300" spc="0" dirty="0">
                <a:ln w="3175">
                  <a:noFill/>
                  <a:prstDash val="dash"/>
                </a:ln>
                <a:solidFill>
                  <a:schemeClr val="dk1">
                    <a:lumMod val="75000"/>
                    <a:lumOff val="25000"/>
                  </a:schemeClr>
                </a:solidFill>
                <a:latin typeface="Roboto" charset="0"/>
                <a:ea typeface="Roboto" charset="0"/>
                <a:cs typeface="Arial" panose="020B0604020202020204" pitchFamily="34" charset="0"/>
              </a:rPr>
              <a:t>The COM-MIC-HUB is a central audio processing device designed for extended sound pickup in classrooms, conference rooms, and similar environments. It seamlessly integrates with APO-SKY-MIC ceiling microphones, third-party wireless microphones, as well as PCs and amplifiers, ensuring an optimal hybrid meeting and teaching experience. This versatile system supports both wired and wireless microphones, making it ideal for hybrid scenarios that require remote voice conferencing and local amplification. </a:t>
            </a:r>
            <a:endParaRPr lang="en-US" altLang="zh-CN" sz="13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a:spcAft>
                <a:spcPts val="1200"/>
              </a:spcAft>
            </a:pPr>
            <a:r>
              <a:rPr lang="en-US" altLang="zh-CN" sz="1300" spc="0" dirty="0">
                <a:ln w="3175">
                  <a:noFill/>
                  <a:prstDash val="dash"/>
                </a:ln>
                <a:solidFill>
                  <a:schemeClr val="dk1">
                    <a:lumMod val="75000"/>
                    <a:lumOff val="25000"/>
                  </a:schemeClr>
                </a:solidFill>
                <a:latin typeface="Roboto" charset="0"/>
                <a:ea typeface="Roboto" charset="0"/>
                <a:cs typeface="Arial" panose="020B0604020202020204" pitchFamily="34" charset="0"/>
              </a:rPr>
              <a:t>Additionally, it features an alarm function compatible with external emergency systems, while its user-friendly Web UI enables effortless setup and configuration. Perfect for any setting requiring simultaneous audio pickup and amplification, the COM-MIC-HUB enhances sound clarity and convenience in professional and educational environments.</a:t>
            </a:r>
            <a:endParaRPr lang="en-US" altLang="zh-CN" sz="13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grpSp>
        <p:nvGrpSpPr>
          <p:cNvPr id="4" name="组合 3"/>
          <p:cNvGrpSpPr/>
          <p:nvPr/>
        </p:nvGrpSpPr>
        <p:grpSpPr>
          <a:xfrm>
            <a:off x="165748" y="1913598"/>
            <a:ext cx="5663509" cy="3553663"/>
            <a:chOff x="1317889" y="-1163557"/>
            <a:chExt cx="8274107" cy="5191726"/>
          </a:xfrm>
        </p:grpSpPr>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19904" y="-624883"/>
              <a:ext cx="8272092" cy="4653052"/>
            </a:xfrm>
            <a:prstGeom prst="rect">
              <a:avLst/>
            </a:prstGeom>
          </p:spPr>
        </p:pic>
        <p:pic>
          <p:nvPicPr>
            <p:cNvPr id="6" name="图片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17889" y="-1163557"/>
              <a:ext cx="8272095" cy="4653053"/>
            </a:xfrm>
            <a:prstGeom prst="rect">
              <a:avLst/>
            </a:prstGeom>
          </p:spPr>
        </p:pic>
      </p:gr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1352108" y="1812566"/>
            <a:ext cx="4599940" cy="2592070"/>
          </a:xfrm>
          <a:prstGeom prst="rect">
            <a:avLst/>
          </a:prstGeom>
          <a:noFill/>
        </p:spPr>
        <p:txBody>
          <a:bodyPr wrap="square" rtlCol="0">
            <a:spAutoFit/>
          </a:bodyPr>
          <a:lstStyle/>
          <a:p>
            <a:pPr>
              <a:lnSpc>
                <a:spcPts val="1500"/>
              </a:lnSpc>
            </a:pPr>
            <a:r>
              <a:rPr lang="en-US" altLang="zh-CN" sz="1400" b="1" dirty="0">
                <a:solidFill>
                  <a:srgbClr val="0B7935"/>
                </a:solidFill>
                <a:latin typeface="Roboto" charset="0"/>
                <a:ea typeface="Roboto" charset="0"/>
                <a:cs typeface="Roboto" charset="0"/>
                <a:sym typeface="+mn-ea"/>
              </a:rPr>
              <a:t>Ceiling Mic Connection and Cascades</a:t>
            </a:r>
            <a:endParaRPr lang="en-US" altLang="zh-CN"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Supports Ceiling Mic cable connection and can cascade it up to 5 devices. It’s ideal for remote conference in large meeting room.</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a:lnSpc>
                <a:spcPts val="1500"/>
              </a:lnSpc>
            </a:pPr>
            <a:endParaRPr lang="en-US" sz="1400" b="1" dirty="0">
              <a:solidFill>
                <a:srgbClr val="0B7935"/>
              </a:solidFill>
              <a:latin typeface="Roboto" charset="0"/>
              <a:ea typeface="Roboto" charset="0"/>
              <a:cs typeface="Roboto" charset="0"/>
              <a:sym typeface="+mn-ea"/>
            </a:endParaRPr>
          </a:p>
          <a:p>
            <a:pPr>
              <a:lnSpc>
                <a:spcPts val="1500"/>
              </a:lnSpc>
            </a:pPr>
            <a:r>
              <a:rPr lang="en-US" sz="1400" b="1" dirty="0">
                <a:solidFill>
                  <a:srgbClr val="0B7935"/>
                </a:solidFill>
                <a:latin typeface="Roboto" charset="0"/>
                <a:ea typeface="Roboto" charset="0"/>
                <a:cs typeface="Roboto" charset="0"/>
                <a:sym typeface="+mn-ea"/>
              </a:rPr>
              <a:t>Ability to Mix and Route Audio Signals</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Supports to mix multiple audio inputs and route them to different outputs for local amplification or remote conference.</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sz="1400" b="1" dirty="0">
              <a:solidFill>
                <a:srgbClr val="0B7935"/>
              </a:solidFill>
              <a:latin typeface="Roboto" charset="0"/>
              <a:ea typeface="Roboto" charset="0"/>
              <a:cs typeface="Roboto" charset="0"/>
              <a:sym typeface="+mn-ea"/>
            </a:endParaRPr>
          </a:p>
          <a:p>
            <a:pPr>
              <a:lnSpc>
                <a:spcPts val="1500"/>
              </a:lnSpc>
            </a:pPr>
            <a:r>
              <a:rPr lang="en-US" sz="1400" b="1" dirty="0">
                <a:solidFill>
                  <a:srgbClr val="0B7935"/>
                </a:solidFill>
                <a:latin typeface="Roboto" charset="0"/>
                <a:ea typeface="Roboto" charset="0"/>
                <a:cs typeface="Roboto" charset="0"/>
                <a:sym typeface="+mn-ea"/>
              </a:rPr>
              <a:t>Built-in Audio DSP</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Supports AEC, AGC and ANS to provide a fully immersive audio experience for all participants.</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8" name="文本框 7"/>
          <p:cNvSpPr txBox="1"/>
          <p:nvPr>
            <p:custDataLst>
              <p:tags r:id="rId2"/>
            </p:custDataLst>
          </p:nvPr>
        </p:nvSpPr>
        <p:spPr>
          <a:xfrm>
            <a:off x="6889628" y="1618522"/>
            <a:ext cx="4599940" cy="2014855"/>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endParaRPr lang="en-US" sz="1200" b="1" dirty="0">
              <a:solidFill>
                <a:srgbClr val="71BF44"/>
              </a:solidFill>
              <a:latin typeface="Roboto" charset="0"/>
              <a:ea typeface="Roboto" charset="0"/>
              <a:cs typeface="Roboto" charset="0"/>
              <a:sym typeface="+mn-ea"/>
            </a:endParaRPr>
          </a:p>
          <a:p>
            <a:pPr>
              <a:lnSpc>
                <a:spcPts val="1500"/>
              </a:lnSpc>
            </a:pPr>
            <a:r>
              <a:rPr lang="en-US" sz="1400" b="1" dirty="0">
                <a:solidFill>
                  <a:srgbClr val="0B7935"/>
                </a:solidFill>
                <a:latin typeface="Roboto" charset="0"/>
                <a:ea typeface="Roboto" charset="0"/>
                <a:cs typeface="Roboto" charset="0"/>
                <a:sym typeface="+mn-ea"/>
              </a:rPr>
              <a:t>Wireless Mic Access</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Provide wireless MIC IN interface for local amplification and remote teaching.</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a:lnSpc>
                <a:spcPts val="1500"/>
              </a:lnSpc>
            </a:pP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sz="1200" b="1" dirty="0">
              <a:solidFill>
                <a:srgbClr val="71BF44"/>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Optional Connection Methods to Hosts</a:t>
            </a:r>
            <a:endParaRPr lang="en-US" sz="1400" b="1" dirty="0">
              <a:solidFill>
                <a:srgbClr val="0B7935"/>
              </a:solidFill>
              <a:latin typeface="Roboto" charset="0"/>
              <a:ea typeface="Roboto" charset="0"/>
              <a:cs typeface="Roboto" charset="0"/>
              <a:sym typeface="+mn-ea"/>
            </a:endParaRPr>
          </a:p>
          <a:p>
            <a:pPr algn="l" fontAlgn="auto">
              <a:lnSpc>
                <a:spcPts val="1500"/>
              </a:lnSpc>
              <a:spcBef>
                <a:spcPts val="0"/>
              </a:spcBef>
              <a:spcAft>
                <a:spcPts val="0"/>
              </a:spcAft>
              <a:buClrTx/>
              <a:buSzTx/>
              <a:buFont typeface="Wingdings" panose="05000000000000000000" pitchFamily="2" charset="2"/>
              <a:buNone/>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Provides two optional ways to connect to a PC or other host device for remote conference and teaching: analog audio I/O and USB audio.</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6" name="文本框 5"/>
          <p:cNvSpPr txBox="1"/>
          <p:nvPr>
            <p:custDataLst>
              <p:tags r:id="rId3"/>
            </p:custDataLst>
          </p:nvPr>
        </p:nvSpPr>
        <p:spPr>
          <a:xfrm>
            <a:off x="1351915" y="4660900"/>
            <a:ext cx="4622800" cy="848758"/>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Emergency Alarm Function</a:t>
            </a:r>
            <a:endParaRPr lang="en-US" sz="1400" b="1" dirty="0">
              <a:solidFill>
                <a:srgbClr val="0B7935"/>
              </a:solidFill>
              <a:latin typeface="Roboto" charset="0"/>
              <a:ea typeface="Roboto" charset="0"/>
              <a:cs typeface="Roboto" charset="0"/>
              <a:sym typeface="+mn-ea"/>
            </a:endParaRPr>
          </a:p>
          <a:p>
            <a:pPr>
              <a:lnSpc>
                <a:spcPts val="1500"/>
              </a:lnSpc>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Provides interfaces to connect the external emergency system and send the alarm message via three optional message output methods.</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9" name="文本框 8"/>
          <p:cNvSpPr txBox="1"/>
          <p:nvPr>
            <p:custDataLst>
              <p:tags r:id="rId4"/>
            </p:custDataLst>
          </p:nvPr>
        </p:nvSpPr>
        <p:spPr>
          <a:xfrm>
            <a:off x="6934755" y="3762900"/>
            <a:ext cx="4882039" cy="1630045"/>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sz="1400" b="1" dirty="0">
                <a:solidFill>
                  <a:srgbClr val="0B7935"/>
                </a:solidFill>
                <a:latin typeface="Roboto" charset="0"/>
                <a:ea typeface="Roboto" charset="0"/>
                <a:cs typeface="Roboto" charset="0"/>
                <a:sym typeface="+mn-ea"/>
              </a:rPr>
              <a:t>Ducking Function </a:t>
            </a:r>
            <a:endParaRPr lang="en-US" sz="1400" b="1" dirty="0">
              <a:solidFill>
                <a:srgbClr val="0B7935"/>
              </a:solidFill>
              <a:latin typeface="Roboto" charset="0"/>
              <a:ea typeface="Roboto" charset="0"/>
              <a:cs typeface="Roboto" charset="0"/>
              <a:sym typeface="+mn-ea"/>
            </a:endParaRPr>
          </a:p>
          <a:p>
            <a:pPr indent="0" algn="l" fontAlgn="auto">
              <a:lnSpc>
                <a:spcPts val="1500"/>
              </a:lnSpc>
              <a:spcBef>
                <a:spcPts val="0"/>
              </a:spcBef>
              <a:spcAft>
                <a:spcPts val="0"/>
              </a:spcAft>
              <a:buClrTx/>
              <a:buSzTx/>
              <a:buFont typeface="Wingdings" panose="05000000000000000000" pitchFamily="2" charset="2"/>
              <a:buNone/>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Lower the background sound so that the current speaker's voice can be heard clearly.</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a:p>
            <a:pPr indent="0" algn="l" fontAlgn="auto">
              <a:lnSpc>
                <a:spcPts val="1500"/>
              </a:lnSpc>
              <a:spcBef>
                <a:spcPts val="0"/>
              </a:spcBef>
              <a:spcAft>
                <a:spcPts val="0"/>
              </a:spcAft>
              <a:buClrTx/>
              <a:buSzTx/>
              <a:buFont typeface="Wingdings" panose="05000000000000000000" pitchFamily="2" charset="2"/>
              <a:buNone/>
            </a:pPr>
            <a:endParaRPr lang="en-US" altLang="zh-CN" sz="1200" dirty="0">
              <a:latin typeface="Roboto" charset="0"/>
              <a:ea typeface="Roboto" charset="0"/>
              <a:cs typeface="Roboto" charset="0"/>
              <a:sym typeface="+mn-ea"/>
            </a:endParaRPr>
          </a:p>
          <a:p>
            <a:pPr>
              <a:lnSpc>
                <a:spcPts val="1500"/>
              </a:lnSpc>
            </a:pPr>
            <a:r>
              <a:rPr lang="en-US" altLang="zh-CN" sz="1400" b="1" dirty="0">
                <a:solidFill>
                  <a:srgbClr val="0B7935"/>
                </a:solidFill>
                <a:latin typeface="Roboto" charset="0"/>
                <a:ea typeface="Roboto" charset="0"/>
                <a:cs typeface="Roboto" charset="0"/>
                <a:sym typeface="+mn-ea"/>
              </a:rPr>
              <a:t>User-Friendly Web UI</a:t>
            </a:r>
            <a:endParaRPr lang="en-US" altLang="zh-CN" sz="1400" b="1" dirty="0">
              <a:solidFill>
                <a:srgbClr val="0B7935"/>
              </a:solidFill>
              <a:latin typeface="Roboto" charset="0"/>
              <a:ea typeface="Roboto" charset="0"/>
              <a:cs typeface="Roboto" charset="0"/>
              <a:sym typeface="+mn-ea"/>
            </a:endParaRPr>
          </a:p>
          <a:p>
            <a:pPr>
              <a:lnSpc>
                <a:spcPts val="1500"/>
              </a:lnSpc>
              <a:buFont typeface="Wingdings" panose="05000000000000000000" pitchFamily="2" charset="2"/>
            </a:pPr>
            <a:r>
              <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rPr>
              <a:t>Provides a very user-friendly and intuitive WEB UI for setup and control as well as firmware upgrade.</a:t>
            </a:r>
            <a:endParaRPr lang="en-US" altLang="zh-CN" sz="1200" dirty="0">
              <a:solidFill>
                <a:schemeClr val="tx1">
                  <a:lumMod val="75000"/>
                  <a:lumOff val="25000"/>
                </a:schemeClr>
              </a:solidFill>
              <a:latin typeface="Arial" panose="020B0604020202020204" pitchFamily="34" charset="0"/>
              <a:ea typeface="Roboto" charset="0"/>
              <a:cs typeface="Arial" panose="020B0604020202020204" pitchFamily="34" charset="0"/>
              <a:sym typeface="+mn-ea"/>
            </a:endParaRPr>
          </a:p>
        </p:txBody>
      </p:sp>
      <p:sp>
        <p:nvSpPr>
          <p:cNvPr id="22" name="矩形 7"/>
          <p:cNvSpPr/>
          <p:nvPr>
            <p:custDataLst>
              <p:tags r:id="rId5"/>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6"/>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1" name="文本框 6"/>
          <p:cNvSpPr txBox="1"/>
          <p:nvPr>
            <p:custDataLst>
              <p:tags r:id="rId7"/>
            </p:custDataLst>
          </p:nvPr>
        </p:nvSpPr>
        <p:spPr>
          <a:xfrm>
            <a:off x="457155" y="163192"/>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Main Features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31" name="Picture 3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61501" y="1812378"/>
            <a:ext cx="528419" cy="480382"/>
          </a:xfrm>
          <a:prstGeom prst="rect">
            <a:avLst/>
          </a:prstGeom>
        </p:spPr>
      </p:pic>
      <p:pic>
        <p:nvPicPr>
          <p:cNvPr id="41" name="Picture 40" descr="A black and white logo&#10;&#10;Description automatically generat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61574" y="2797260"/>
            <a:ext cx="631141" cy="461811"/>
          </a:xfrm>
          <a:prstGeom prst="rect">
            <a:avLst/>
          </a:prstGeom>
        </p:spPr>
      </p:pic>
      <p:pic>
        <p:nvPicPr>
          <p:cNvPr id="45" name="Picture 44" descr="A wifi symbol on a black background&#10;&#10;Description automatically generated"/>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54495" y="4676457"/>
            <a:ext cx="638220" cy="540032"/>
          </a:xfrm>
          <a:prstGeom prst="rect">
            <a:avLst/>
          </a:prstGeom>
        </p:spPr>
      </p:pic>
      <p:pic>
        <p:nvPicPr>
          <p:cNvPr id="35" name="Picture 34" descr="A black background with arrows&#10;&#10;Description automatically generat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9900" y="3633230"/>
            <a:ext cx="638219" cy="589125"/>
          </a:xfrm>
          <a:prstGeom prst="rect">
            <a:avLst/>
          </a:prstGeom>
        </p:spPr>
      </p:pic>
      <p:pic>
        <p:nvPicPr>
          <p:cNvPr id="2" name="Picture 32" descr="A black background with arrows pointing to a symbol&#10;&#10;Description automatically generat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5655" y="1840772"/>
            <a:ext cx="556469" cy="439318"/>
          </a:xfrm>
          <a:prstGeom prst="rect">
            <a:avLst/>
          </a:prstGeom>
        </p:spPr>
      </p:pic>
      <p:pic>
        <p:nvPicPr>
          <p:cNvPr id="3" name="Picture 38" descr="A black and grey square with white rectangles&#10;&#10;Description automatically generat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16399" y="2817770"/>
            <a:ext cx="535365" cy="391730"/>
          </a:xfrm>
          <a:prstGeom prst="rect">
            <a:avLst/>
          </a:prstGeom>
        </p:spPr>
      </p:pic>
      <p:pic>
        <p:nvPicPr>
          <p:cNvPr id="4" name="Picture 42" descr="A black and white background with circles and dots&#10;&#10;Description automatically generated"/>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5450" y="4677850"/>
            <a:ext cx="516314" cy="424368"/>
          </a:xfrm>
          <a:prstGeom prst="rect">
            <a:avLst/>
          </a:prstGeom>
        </p:spPr>
      </p:pic>
      <p:pic>
        <p:nvPicPr>
          <p:cNvPr id="37" name="Picture 36" descr="A logo with lines and dots&#10;&#10;Description automatically generated"/>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414850" y="3853446"/>
            <a:ext cx="475200" cy="4320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fontScale="97500"/>
          </a:bodyPr>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1. Wired and </a:t>
            </a:r>
            <a:r>
              <a:rPr lang="en-US" sz="2400" b="1" dirty="0">
                <a:solidFill>
                  <a:schemeClr val="lt1"/>
                </a:solidFill>
                <a:latin typeface="Montserrat" pitchFamily="2" charset="0"/>
                <a:ea typeface="微软雅黑" panose="020B0503020204020204" pitchFamily="34" charset="-122"/>
                <a:sym typeface="Roboto"/>
              </a:rPr>
              <a:t>Wireless Mic system for hybrid application </a:t>
            </a:r>
            <a:endParaRPr lang="en-US" sz="2400" b="1" dirty="0">
              <a:solidFill>
                <a:schemeClr val="lt1"/>
              </a:solidFill>
              <a:latin typeface="Montserrat" pitchFamily="2" charset="0"/>
              <a:ea typeface="微软雅黑" panose="020B0503020204020204" pitchFamily="34" charset="-122"/>
              <a:sym typeface="Roboto"/>
            </a:endParaRPr>
          </a:p>
        </p:txBody>
      </p:sp>
      <p:sp>
        <p:nvSpPr>
          <p:cNvPr id="5" name="文本框 4"/>
          <p:cNvSpPr txBox="1"/>
          <p:nvPr/>
        </p:nvSpPr>
        <p:spPr>
          <a:xfrm>
            <a:off x="838177" y="1107800"/>
            <a:ext cx="10184154" cy="958061"/>
          </a:xfrm>
          <a:prstGeom prst="rect">
            <a:avLst/>
          </a:prstGeom>
          <a:noFill/>
        </p:spPr>
        <p:txBody>
          <a:bodyPr wrap="square" rtlCol="0">
            <a:noAutofit/>
          </a:bodyPr>
          <a:lstStyle/>
          <a:p>
            <a:pPr indent="0" fontAlgn="auto">
              <a:buFont typeface="Wingdings" panose="05000000000000000000" charset="0"/>
              <a:buNone/>
            </a:pPr>
            <a:r>
              <a:rPr lang="en-US" sz="2000" b="1" dirty="0">
                <a:solidFill>
                  <a:schemeClr val="tx1">
                    <a:lumMod val="75000"/>
                    <a:lumOff val="25000"/>
                  </a:schemeClr>
                </a:solidFill>
                <a:latin typeface="Roboto" charset="0"/>
                <a:ea typeface="Roboto" charset="0"/>
                <a:cs typeface="Arial" panose="020B0604020202020204" pitchFamily="34" charset="0"/>
              </a:rPr>
              <a:t>A central audio processing device for extended sound pickup system for remote voice conferencing and local amplification. </a:t>
            </a: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32968" y="4283663"/>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4" y="2181791"/>
            <a:ext cx="3235655"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685154" y="2219890"/>
            <a:ext cx="3560469"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Various Microphones Compatibility</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4791557" cy="1499030"/>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3" y="2729651"/>
            <a:ext cx="4209516"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Support both wired and wireless microphones, allowing customers to flexibly choose the type of microphone based on project requirements.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3" name="Rectangle 52"/>
          <p:cNvSpPr/>
          <p:nvPr/>
        </p:nvSpPr>
        <p:spPr>
          <a:xfrm>
            <a:off x="6200774" y="2181791"/>
            <a:ext cx="2585086"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352209" y="2219890"/>
            <a:ext cx="3587853"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Expand Your Reach</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5" name="文本框 4"/>
          <p:cNvSpPr txBox="1"/>
          <p:nvPr/>
        </p:nvSpPr>
        <p:spPr>
          <a:xfrm>
            <a:off x="6531838" y="2709770"/>
            <a:ext cx="4599988" cy="1164885"/>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Add on the APO-SKY-MIC ceiling microphone for expanded pickup range in your meeting space. This microphone features a 360°-degree pick-up angle at a distance up to 3m. Cascade up to 5 mics and ensure even the largest rooms are fully covered.</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56" name="Rectangle 55"/>
          <p:cNvSpPr/>
          <p:nvPr/>
        </p:nvSpPr>
        <p:spPr>
          <a:xfrm>
            <a:off x="764845" y="4105421"/>
            <a:ext cx="2187905"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733400" y="4122020"/>
            <a:ext cx="234773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Audio Signal Routing</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1124482" y="4739006"/>
            <a:ext cx="4209517"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Route multiple inputs and outputs to meet the needs of meeting rooms or classrooms, enabling both local amplification and remote conferencing.</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200" y="171450"/>
            <a:ext cx="11734800" cy="609600"/>
          </a:xfrm>
          <a:prstGeom prst="rect">
            <a:avLst/>
          </a:prstGeom>
          <a:noFill/>
        </p:spPr>
        <p:txBody>
          <a:bodyPr wrap="square" lIns="63500" tIns="25400" rIns="63500" bIns="25400" rtlCol="0" anchor="ctr" anchorCtr="0"/>
          <a:lstStyle/>
          <a:p>
            <a:pPr>
              <a:buSzPct val="100000"/>
            </a:pPr>
            <a:r>
              <a:rPr lang="en-US" sz="2400" b="1" dirty="0">
                <a:solidFill>
                  <a:schemeClr val="lt1"/>
                </a:solidFill>
                <a:uFillTx/>
                <a:latin typeface="Montserrat" pitchFamily="2" charset="0"/>
                <a:ea typeface="微软雅黑" panose="020B0503020204020204" pitchFamily="34" charset="-122"/>
                <a:sym typeface="Roboto"/>
              </a:rPr>
              <a:t>Why Choose Us:  2</a:t>
            </a:r>
            <a:r>
              <a:rPr lang="en-US" sz="2400" b="1" dirty="0">
                <a:solidFill>
                  <a:schemeClr val="lt1"/>
                </a:solidFill>
                <a:latin typeface="Montserrat" pitchFamily="2" charset="0"/>
                <a:ea typeface="微软雅黑" panose="020B0503020204020204" pitchFamily="34" charset="-122"/>
                <a:sym typeface="Roboto"/>
              </a:rPr>
              <a:t>.  </a:t>
            </a:r>
            <a:r>
              <a:rPr lang="en-US" altLang="zh-CN" sz="2400" b="1" dirty="0">
                <a:solidFill>
                  <a:schemeClr val="lt1"/>
                </a:solidFill>
                <a:latin typeface="Montserrat" pitchFamily="2" charset="0"/>
                <a:ea typeface="微软雅黑" panose="020B0503020204020204" pitchFamily="34" charset="-122"/>
                <a:sym typeface="Roboto"/>
              </a:rPr>
              <a:t>Enhanced Application Features &amp; </a:t>
            </a:r>
            <a:r>
              <a:rPr lang="en-US" sz="2400" b="1" dirty="0">
                <a:solidFill>
                  <a:schemeClr val="lt1"/>
                </a:solidFill>
                <a:uFillTx/>
                <a:latin typeface="Montserrat" pitchFamily="2" charset="0"/>
                <a:ea typeface="微软雅黑" panose="020B0503020204020204" pitchFamily="34" charset="-122"/>
                <a:sym typeface="Roboto"/>
              </a:rPr>
              <a:t>Professional centralized Control</a:t>
            </a:r>
            <a:endParaRPr lang="en-US" altLang="zh-CN" sz="2400" b="1" dirty="0">
              <a:solidFill>
                <a:schemeClr val="lt1"/>
              </a:solidFill>
              <a:latin typeface="Montserrat" pitchFamily="2" charset="0"/>
              <a:ea typeface="微软雅黑" panose="020B0503020204020204" pitchFamily="34" charset="-122"/>
              <a:sym typeface="Roboto"/>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3" name="文本框 4"/>
          <p:cNvSpPr txBox="1"/>
          <p:nvPr/>
        </p:nvSpPr>
        <p:spPr>
          <a:xfrm>
            <a:off x="868657" y="1274686"/>
            <a:ext cx="10184154" cy="717264"/>
          </a:xfrm>
          <a:prstGeom prst="rect">
            <a:avLst/>
          </a:prstGeom>
          <a:noFill/>
        </p:spPr>
        <p:txBody>
          <a:bodyPr wrap="square" rtlCol="0">
            <a:noAutofit/>
          </a:bodyPr>
          <a:lstStyle/>
          <a:p>
            <a:pPr indent="0" fontAlgn="auto">
              <a:buFont typeface="Wingdings" panose="05000000000000000000" charset="0"/>
              <a:buNone/>
            </a:pPr>
            <a:r>
              <a:rPr lang="en-US" altLang="zh-CN" sz="2000" b="1" dirty="0">
                <a:solidFill>
                  <a:schemeClr val="tx1">
                    <a:lumMod val="75000"/>
                    <a:lumOff val="25000"/>
                  </a:schemeClr>
                </a:solidFill>
                <a:latin typeface="Roboto" charset="0"/>
                <a:ea typeface="Roboto" charset="0"/>
                <a:cs typeface="Arial" panose="020B0604020202020204" pitchFamily="34" charset="0"/>
              </a:rPr>
              <a:t>Our system offers advanced audio processing, versatile connectivity, and centralized control for a seamless and efficient hybrid experience.</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sp>
        <p:nvSpPr>
          <p:cNvPr id="24" name="Rectangle 23"/>
          <p:cNvSpPr/>
          <p:nvPr/>
        </p:nvSpPr>
        <p:spPr>
          <a:xfrm>
            <a:off x="932968" y="2381249"/>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64845" y="2181791"/>
            <a:ext cx="2826080"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916280" y="2219890"/>
            <a:ext cx="2777101"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Ability to Audio Processing</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377229" y="23955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124483" y="2744891"/>
            <a:ext cx="4560700"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Provides the ability to AEC, AGC, ANS, and can mix the multiple inputs to output. Besides, it has ducking function that offers a perfect conference or teaching experience for end-users. </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31" name="Rectangle 30"/>
          <p:cNvSpPr/>
          <p:nvPr/>
        </p:nvSpPr>
        <p:spPr>
          <a:xfrm>
            <a:off x="6200773" y="2181791"/>
            <a:ext cx="354752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4"/>
          <p:cNvSpPr txBox="1"/>
          <p:nvPr/>
        </p:nvSpPr>
        <p:spPr>
          <a:xfrm>
            <a:off x="6352210" y="2219890"/>
            <a:ext cx="347759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External Emergency System Access </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33" name="文本框 4"/>
          <p:cNvSpPr txBox="1"/>
          <p:nvPr/>
        </p:nvSpPr>
        <p:spPr>
          <a:xfrm>
            <a:off x="6531838" y="2796326"/>
            <a:ext cx="4117112"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Provides two alarm in and three alarm out interfaces to connect external emergency or safety system, meeting the needs of various actual application scenarios. </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2" name="Rectangle 27"/>
          <p:cNvSpPr/>
          <p:nvPr/>
        </p:nvSpPr>
        <p:spPr>
          <a:xfrm>
            <a:off x="893676" y="4536353"/>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30"/>
          <p:cNvSpPr/>
          <p:nvPr/>
        </p:nvSpPr>
        <p:spPr>
          <a:xfrm>
            <a:off x="717220" y="4322639"/>
            <a:ext cx="354752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p:cNvSpPr txBox="1"/>
          <p:nvPr/>
        </p:nvSpPr>
        <p:spPr>
          <a:xfrm>
            <a:off x="868657" y="4360738"/>
            <a:ext cx="347759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Connecting Various Hosts Option</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8" name="文本框 4"/>
          <p:cNvSpPr txBox="1"/>
          <p:nvPr/>
        </p:nvSpPr>
        <p:spPr>
          <a:xfrm>
            <a:off x="932990" y="4879242"/>
            <a:ext cx="4617167"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Offer 1x USB Host, 1x analog audio input AEC Ref, and 1x analog audio output AEC OUT to connect PCs or other host devices, providing enhanced connectivity for remote conferences.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13" name="Rectangle 27"/>
          <p:cNvSpPr/>
          <p:nvPr/>
        </p:nvSpPr>
        <p:spPr>
          <a:xfrm>
            <a:off x="6377229" y="45672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30"/>
          <p:cNvSpPr/>
          <p:nvPr/>
        </p:nvSpPr>
        <p:spPr>
          <a:xfrm>
            <a:off x="6200773" y="4353491"/>
            <a:ext cx="3547525"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4"/>
          <p:cNvSpPr txBox="1"/>
          <p:nvPr/>
        </p:nvSpPr>
        <p:spPr>
          <a:xfrm>
            <a:off x="6531838" y="4968026"/>
            <a:ext cx="4117112"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sym typeface="+mn-ea"/>
              </a:rPr>
              <a:t>Provides a user-friendly Web UI and API for setup and control as well as firmware upgrade, </a:t>
            </a:r>
            <a:r>
              <a:rPr lang="en-US" altLang="zh-CN" sz="1400" dirty="0">
                <a:solidFill>
                  <a:schemeClr val="tx1">
                    <a:lumMod val="75000"/>
                    <a:lumOff val="25000"/>
                  </a:schemeClr>
                </a:solidFill>
                <a:latin typeface="Roboto" charset="0"/>
                <a:ea typeface="Roboto" charset="0"/>
                <a:cs typeface="Arial" panose="020B0604020202020204" pitchFamily="34" charset="0"/>
                <a:sym typeface="+mn-ea"/>
              </a:rPr>
              <a:t>greatly enhance the efficiency of hybrid meetings.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16" name="文本框 4"/>
          <p:cNvSpPr txBox="1"/>
          <p:nvPr/>
        </p:nvSpPr>
        <p:spPr>
          <a:xfrm>
            <a:off x="6471895" y="4353490"/>
            <a:ext cx="258892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Centralized Control</a:t>
            </a:r>
            <a:endParaRPr sz="16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28650" y="1076325"/>
            <a:ext cx="6417945" cy="2627630"/>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Interface of the Product</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9" name="文本框 8"/>
          <p:cNvSpPr txBox="1"/>
          <p:nvPr/>
        </p:nvSpPr>
        <p:spPr>
          <a:xfrm>
            <a:off x="5600382" y="1226347"/>
            <a:ext cx="1986280" cy="307777"/>
          </a:xfrm>
          <a:prstGeom prst="rect">
            <a:avLst/>
          </a:prstGeom>
          <a:noFill/>
        </p:spPr>
        <p:txBody>
          <a:bodyPr wrap="square" rtlCol="0">
            <a:spAutoFit/>
          </a:bodyPr>
          <a:lstStyle/>
          <a:p>
            <a:r>
              <a:rPr lang="en-US" altLang="zh-CN" sz="1400" b="1" dirty="0">
                <a:latin typeface="Roboto" charset="0"/>
                <a:cs typeface="Roboto" charset="0"/>
              </a:rPr>
              <a:t>Front Panel</a:t>
            </a:r>
            <a:endParaRPr lang="en-US" altLang="zh-CN" sz="1400" b="1" dirty="0">
              <a:latin typeface="Roboto" charset="0"/>
              <a:cs typeface="Roboto" charset="0"/>
            </a:endParaRPr>
          </a:p>
        </p:txBody>
      </p:sp>
      <p:sp>
        <p:nvSpPr>
          <p:cNvPr id="15" name="文本框 8"/>
          <p:cNvSpPr txBox="1"/>
          <p:nvPr/>
        </p:nvSpPr>
        <p:spPr>
          <a:xfrm>
            <a:off x="7867170" y="967702"/>
            <a:ext cx="1986280" cy="460375"/>
          </a:xfrm>
          <a:prstGeom prst="rect">
            <a:avLst/>
          </a:prstGeom>
          <a:noFill/>
        </p:spPr>
        <p:txBody>
          <a:bodyPr wrap="square" rtlCol="0">
            <a:spAutoFit/>
          </a:bodyPr>
          <a:lstStyle/>
          <a:p>
            <a:r>
              <a:rPr lang="en-US" altLang="zh-CN" sz="2400" b="1" u="sng" dirty="0">
                <a:latin typeface="Roboto" charset="0"/>
                <a:cs typeface="Roboto" charset="0"/>
              </a:rPr>
              <a:t>Featuring:</a:t>
            </a:r>
            <a:endParaRPr lang="en-US" altLang="zh-CN" sz="2400" b="1" u="sng" dirty="0">
              <a:latin typeface="Roboto" charset="0"/>
              <a:cs typeface="Roboto" charset="0"/>
            </a:endParaRPr>
          </a:p>
        </p:txBody>
      </p:sp>
      <p:pic>
        <p:nvPicPr>
          <p:cNvPr id="16"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14" name="矩形 13"/>
          <p:cNvSpPr/>
          <p:nvPr/>
        </p:nvSpPr>
        <p:spPr>
          <a:xfrm>
            <a:off x="3835831" y="3133340"/>
            <a:ext cx="1457872" cy="33855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buFont typeface="Arial" panose="020B0604020202020204" pitchFamily="34" charset="0"/>
              <a:buNone/>
            </a:pPr>
            <a:r>
              <a:rPr lang="en-US" altLang="zh-CN" sz="800" dirty="0">
                <a:latin typeface="Roboto Lt" charset="0"/>
                <a:ea typeface="Roboto Th" charset="0"/>
                <a:cs typeface="Roboto Lt" charset="0"/>
              </a:rPr>
              <a:t>OLED  Display</a:t>
            </a:r>
            <a:endParaRPr lang="en-US" altLang="zh-CN" sz="800" dirty="0">
              <a:latin typeface="Roboto Lt" charset="0"/>
              <a:ea typeface="Roboto Th" charset="0"/>
              <a:cs typeface="Roboto Lt" charset="0"/>
            </a:endParaRPr>
          </a:p>
          <a:p>
            <a:pPr indent="0" algn="ctr">
              <a:buFont typeface="Arial" panose="020B0604020202020204" pitchFamily="34" charset="0"/>
              <a:buNone/>
            </a:pPr>
            <a:r>
              <a:rPr lang="en-US" altLang="zh-CN" sz="800" dirty="0">
                <a:latin typeface="Roboto Lt" charset="0"/>
                <a:ea typeface="Roboto Th" charset="0"/>
                <a:cs typeface="Roboto Lt" charset="0"/>
              </a:rPr>
              <a:t>the information of operation</a:t>
            </a:r>
            <a:endParaRPr lang="en-US" altLang="zh-CN" sz="800" dirty="0">
              <a:latin typeface="Roboto Lt" charset="0"/>
              <a:ea typeface="Roboto Th" charset="0"/>
              <a:cs typeface="Roboto Lt" charset="0"/>
            </a:endParaRPr>
          </a:p>
        </p:txBody>
      </p:sp>
      <p:cxnSp>
        <p:nvCxnSpPr>
          <p:cNvPr id="61" name="直接连接符 60"/>
          <p:cNvCxnSpPr/>
          <p:nvPr/>
        </p:nvCxnSpPr>
        <p:spPr>
          <a:xfrm>
            <a:off x="4564767" y="2898736"/>
            <a:ext cx="0" cy="218552"/>
          </a:xfrm>
          <a:prstGeom prst="line">
            <a:avLst/>
          </a:prstGeom>
          <a:ln>
            <a:solidFill>
              <a:srgbClr val="00B050"/>
            </a:solidFill>
            <a:headEnd type="oval" w="med" len="med"/>
            <a:tailEnd type="oval"/>
          </a:ln>
        </p:spPr>
        <p:style>
          <a:lnRef idx="1">
            <a:schemeClr val="accent1"/>
          </a:lnRef>
          <a:fillRef idx="0">
            <a:schemeClr val="accent1"/>
          </a:fillRef>
          <a:effectRef idx="0">
            <a:schemeClr val="accent1"/>
          </a:effectRef>
          <a:fontRef idx="minor">
            <a:schemeClr val="tx1"/>
          </a:fontRef>
        </p:style>
      </p:cxnSp>
      <p:pic>
        <p:nvPicPr>
          <p:cNvPr id="70" name="图片 6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9825" y="781050"/>
            <a:ext cx="6446520" cy="3569335"/>
          </a:xfrm>
          <a:prstGeom prst="rect">
            <a:avLst/>
          </a:prstGeom>
        </p:spPr>
      </p:pic>
      <p:sp>
        <p:nvSpPr>
          <p:cNvPr id="12" name="圆角矩形 20"/>
          <p:cNvSpPr/>
          <p:nvPr/>
        </p:nvSpPr>
        <p:spPr>
          <a:xfrm>
            <a:off x="3836035" y="2539365"/>
            <a:ext cx="889000" cy="285115"/>
          </a:xfrm>
          <a:prstGeom prst="roundRect">
            <a:avLst/>
          </a:prstGeom>
          <a:noFill/>
          <a:ln>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Rectangle 4"/>
          <p:cNvSpPr/>
          <p:nvPr/>
        </p:nvSpPr>
        <p:spPr>
          <a:xfrm>
            <a:off x="628650" y="3945890"/>
            <a:ext cx="6417310" cy="2818130"/>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p:cNvPicPr>
            <a:picLocks noChangeAspect="1"/>
          </p:cNvPicPr>
          <p:nvPr/>
        </p:nvPicPr>
        <p:blipFill>
          <a:blip r:embed="rId5"/>
          <a:stretch>
            <a:fillRect/>
          </a:stretch>
        </p:blipFill>
        <p:spPr>
          <a:xfrm>
            <a:off x="1141730" y="4228465"/>
            <a:ext cx="5375275" cy="2155825"/>
          </a:xfrm>
          <a:prstGeom prst="rect">
            <a:avLst/>
          </a:prstGeom>
        </p:spPr>
      </p:pic>
      <p:sp>
        <p:nvSpPr>
          <p:cNvPr id="10" name="文本框 9"/>
          <p:cNvSpPr txBox="1"/>
          <p:nvPr/>
        </p:nvSpPr>
        <p:spPr>
          <a:xfrm>
            <a:off x="5734633" y="3964376"/>
            <a:ext cx="1851660" cy="307777"/>
          </a:xfrm>
          <a:prstGeom prst="rect">
            <a:avLst/>
          </a:prstGeom>
          <a:noFill/>
        </p:spPr>
        <p:txBody>
          <a:bodyPr wrap="square" rtlCol="0" anchor="t">
            <a:spAutoFit/>
          </a:bodyPr>
          <a:lstStyle/>
          <a:p>
            <a:r>
              <a:rPr lang="en-US" altLang="zh-CN" sz="1400" b="1" dirty="0">
                <a:latin typeface="Roboto" charset="0"/>
                <a:cs typeface="Roboto" charset="0"/>
                <a:sym typeface="+mn-ea"/>
              </a:rPr>
              <a:t>Rear Panel</a:t>
            </a:r>
            <a:endParaRPr lang="en-US" altLang="zh-CN" sz="1400" b="1" dirty="0">
              <a:latin typeface="Roboto" charset="0"/>
              <a:cs typeface="Roboto" charset="0"/>
              <a:sym typeface="+mn-ea"/>
            </a:endParaRPr>
          </a:p>
        </p:txBody>
      </p:sp>
      <p:sp>
        <p:nvSpPr>
          <p:cNvPr id="2" name="文本框 1"/>
          <p:cNvSpPr txBox="1"/>
          <p:nvPr/>
        </p:nvSpPr>
        <p:spPr>
          <a:xfrm>
            <a:off x="7867015" y="1681480"/>
            <a:ext cx="3937000" cy="4469765"/>
          </a:xfrm>
          <a:prstGeom prst="rect">
            <a:avLst/>
          </a:prstGeom>
          <a:noFill/>
        </p:spPr>
        <p:txBody>
          <a:bodyPr wrap="square" rtlCol="0">
            <a:noAutofit/>
          </a:bodyPr>
          <a:lstStyle/>
          <a:p>
            <a:r>
              <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rPr>
              <a:t>Ceiling Mic Connectivity：</a:t>
            </a:r>
            <a:endParaRPr lang="en-US" altLang="zh-CN" dirty="0"/>
          </a:p>
          <a:p>
            <a:pPr algn="l">
              <a:lnSpc>
                <a:spcPts val="1800"/>
              </a:lnSpc>
              <a:buClrTx/>
              <a:buSzTx/>
              <a:buFontTx/>
            </a:pPr>
            <a:r>
              <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rPr>
              <a:t>Simplifies setup by connecting and powering multiple ceiling microphones with a single cable.</a:t>
            </a: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endParaRPr lang="en-US" altLang="zh-CN" dirty="0"/>
          </a:p>
          <a:p>
            <a:pPr algn="l">
              <a:buClrTx/>
              <a:buSzTx/>
              <a:buFontTx/>
            </a:pPr>
            <a:r>
              <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rPr>
              <a:t>AEC Audio Processing</a:t>
            </a:r>
            <a:r>
              <a:rPr lang="zh-CN" altLang="en-US" b="1" dirty="0">
                <a:ln w="3175">
                  <a:noFill/>
                  <a:prstDash val="dash"/>
                </a:ln>
                <a:solidFill>
                  <a:schemeClr val="dk1">
                    <a:lumMod val="75000"/>
                    <a:lumOff val="25000"/>
                  </a:schemeClr>
                </a:solidFill>
                <a:uFillTx/>
                <a:latin typeface="Roboto" charset="0"/>
                <a:ea typeface="宋体" panose="02010600030101010101" pitchFamily="2" charset="-122"/>
                <a:cs typeface="Arial" panose="020B0604020202020204" pitchFamily="34" charset="0"/>
              </a:rPr>
              <a:t>：</a:t>
            </a:r>
            <a:endPar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algn="l">
              <a:lnSpc>
                <a:spcPts val="1800"/>
              </a:lnSpc>
              <a:buClrTx/>
              <a:buSzTx/>
              <a:buFontTx/>
            </a:pPr>
            <a:r>
              <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rPr>
              <a:t>Delivers clear communication with seamless audio input and output processing.</a:t>
            </a: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endParaRPr lang="en-US" altLang="zh-CN" dirty="0"/>
          </a:p>
          <a:p>
            <a:pPr algn="l">
              <a:buClrTx/>
              <a:buSzTx/>
              <a:buFontTx/>
            </a:pPr>
            <a:r>
              <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rPr>
              <a:t>Emergency Integration：</a:t>
            </a:r>
            <a:endParaRPr lang="en-US" b="1"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algn="l">
              <a:lnSpc>
                <a:spcPts val="1800"/>
              </a:lnSpc>
              <a:buClrTx/>
              <a:buSzTx/>
              <a:buFontTx/>
            </a:pPr>
            <a:r>
              <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rPr>
              <a:t>Supports safety systems with RS-232 and trigger input/output for messaging and control.</a:t>
            </a:r>
            <a:endParaRPr lang="en-US" sz="160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Specifications &amp; Packing List</a:t>
            </a:r>
            <a:endParaRPr lang="en-US" sz="3200" b="1" dirty="0">
              <a:solidFill>
                <a:schemeClr val="lt1"/>
              </a:solidFill>
              <a:uFillTx/>
              <a:latin typeface="Montserrat" pitchFamily="2" charset="0"/>
              <a:ea typeface="微软雅黑" panose="020B0503020204020204" pitchFamily="34" charset="-122"/>
              <a:sym typeface="Roboto"/>
            </a:endParaRPr>
          </a:p>
        </p:txBody>
      </p:sp>
      <p:graphicFrame>
        <p:nvGraphicFramePr>
          <p:cNvPr id="5" name="表格 4"/>
          <p:cNvGraphicFramePr>
            <a:graphicFrameLocks noGrp="1"/>
          </p:cNvGraphicFramePr>
          <p:nvPr>
            <p:custDataLst>
              <p:tags r:id="rId3"/>
            </p:custDataLst>
          </p:nvPr>
        </p:nvGraphicFramePr>
        <p:xfrm>
          <a:off x="136625" y="1179430"/>
          <a:ext cx="6369050" cy="536973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834834"/>
                <a:gridCol w="4534216"/>
              </a:tblGrid>
              <a:tr h="371010">
                <a:tc gridSpan="2">
                  <a:txBody>
                    <a:bodyPr/>
                    <a:lstStyle/>
                    <a:p>
                      <a:r>
                        <a:rPr lang="en-US" altLang="zh-CN" sz="1600" dirty="0">
                          <a:latin typeface="Roboto" charset="0"/>
                          <a:ea typeface="Roboto" charset="0"/>
                          <a:cs typeface="Arial" panose="020B0604020202020204" pitchFamily="34" charset="0"/>
                        </a:rPr>
                        <a:t>Main Specifications</a:t>
                      </a:r>
                      <a:endParaRPr lang="en-US" altLang="zh-CN" sz="1600" dirty="0">
                        <a:latin typeface="Roboto" charset="0"/>
                        <a:ea typeface="Roboto" charset="0"/>
                        <a:cs typeface="Arial" panose="020B0604020202020204" pitchFamily="34" charset="0"/>
                      </a:endParaRPr>
                    </a:p>
                  </a:txBody>
                  <a:tcPr anchor="ctr">
                    <a:solidFill>
                      <a:srgbClr val="0B7935"/>
                    </a:solidFill>
                  </a:tcPr>
                </a:tc>
                <a:tc hMerge="1">
                  <a:tcPr/>
                </a:tc>
              </a:tr>
              <a:tr h="0">
                <a:tc>
                  <a:txBody>
                    <a:bodyPr/>
                    <a:lstStyle/>
                    <a:p>
                      <a:r>
                        <a:rPr lang="en-US" altLang="zh-CN" sz="1400" dirty="0">
                          <a:latin typeface="Roboto" charset="0"/>
                          <a:ea typeface="Roboto" charset="0"/>
                          <a:cs typeface="Arial" panose="020B0604020202020204" pitchFamily="34" charset="0"/>
                        </a:rPr>
                        <a:t>USB-B HOST</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1x, USB-B(USB2.0)</a:t>
                      </a:r>
                      <a:endParaRPr lang="en-US" altLang="zh-CN" sz="12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en-US" altLang="zh-CN" sz="1400" dirty="0">
                          <a:latin typeface="Roboto" charset="0"/>
                          <a:ea typeface="Roboto" charset="0"/>
                          <a:cs typeface="Arial" panose="020B0604020202020204" pitchFamily="34" charset="0"/>
                        </a:rPr>
                        <a:t>Input Ceiling Mic</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1x, RJ45( Support up to 5 levels of APO-SKY-MIC cascade)</a:t>
                      </a:r>
                      <a:endParaRPr lang="en-US" altLang="zh-CN" sz="12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en-US" altLang="zh-CN" sz="1400" dirty="0">
                          <a:latin typeface="Roboto" charset="0"/>
                          <a:ea typeface="Roboto" charset="0"/>
                          <a:cs typeface="Arial" panose="020B0604020202020204" pitchFamily="34" charset="0"/>
                        </a:rPr>
                        <a:t>AEC REF</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Roboto" charset="0"/>
                          <a:ea typeface="Roboto" charset="0"/>
                          <a:cs typeface="Arial" panose="020B0604020202020204" pitchFamily="34" charset="0"/>
                        </a:rPr>
                        <a:t>1x, 5 pin Phoenix(Balance stereo input)</a:t>
                      </a:r>
                      <a:endParaRPr lang="en-US" altLang="zh-CN" sz="8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Input Wireless MIC</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Roboto" charset="0"/>
                          <a:ea typeface="Roboto" charset="0"/>
                          <a:cs typeface="Arial" panose="020B0604020202020204" pitchFamily="34" charset="0"/>
                        </a:rPr>
                        <a:t>1x, 3 pin Phoenix(Balance mono input)</a:t>
                      </a:r>
                      <a:endParaRPr lang="en-US" altLang="zh-CN" sz="8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WL MIC (Alarm)</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1x, 2 pin Phoenix(Alarm signal)</a:t>
                      </a:r>
                      <a:endParaRPr lang="en-US" altLang="zh-CN" sz="12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en-US" altLang="zh-CN" sz="1400" dirty="0">
                          <a:latin typeface="Roboto" charset="0"/>
                          <a:ea typeface="Roboto" charset="0"/>
                          <a:cs typeface="Arial" panose="020B0604020202020204" pitchFamily="34" charset="0"/>
                        </a:rPr>
                        <a:t>AEC OUT</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Roboto" charset="0"/>
                          <a:ea typeface="Roboto" charset="0"/>
                          <a:cs typeface="Arial" panose="020B0604020202020204" pitchFamily="34" charset="0"/>
                        </a:rPr>
                        <a:t>1x, 5 pin Phoenix(Balance stereo out)</a:t>
                      </a:r>
                      <a:endParaRPr lang="en-US" altLang="zh-CN" sz="1200" dirty="0">
                        <a:latin typeface="Roboto" charset="0"/>
                        <a:ea typeface="Roboto" charset="0"/>
                        <a:cs typeface="Arial" panose="020B0604020202020204" pitchFamily="34" charset="0"/>
                      </a:endParaRPr>
                    </a:p>
                    <a:p>
                      <a:endParaRPr lang="en-US" altLang="zh-CN" sz="8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en-US" altLang="zh-CN" sz="1400" dirty="0">
                          <a:latin typeface="Roboto" charset="0"/>
                          <a:ea typeface="Roboto" charset="0"/>
                          <a:cs typeface="Arial" panose="020B0604020202020204" pitchFamily="34" charset="0"/>
                        </a:rPr>
                        <a:t>LINE OUT</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Roboto" charset="0"/>
                          <a:ea typeface="Roboto" charset="0"/>
                          <a:cs typeface="Arial" panose="020B0604020202020204" pitchFamily="34" charset="0"/>
                        </a:rPr>
                        <a:t>1x, 5 pin Phoenix (Balance stereo out)</a:t>
                      </a:r>
                      <a:endParaRPr lang="en-US" altLang="zh-CN" sz="12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Communication and Control</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Ethernet: 1x, RJ45</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RS-232: 1x, 3 pin Phoenix</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Trigger IN: 1x, 2 pin Phoenix</a:t>
                      </a:r>
                      <a:endParaRPr lang="en-US" altLang="zh-CN" sz="1200" dirty="0">
                        <a:latin typeface="Roboto" charset="0"/>
                        <a:ea typeface="Roboto" charset="0"/>
                        <a:cs typeface="Arial" panose="020B0604020202020204" pitchFamily="34" charset="0"/>
                      </a:endParaRPr>
                    </a:p>
                    <a:p>
                      <a:r>
                        <a:rPr lang="en-US" altLang="zh-CN" sz="1200" dirty="0">
                          <a:latin typeface="Roboto" charset="0"/>
                          <a:ea typeface="Roboto" charset="0"/>
                          <a:cs typeface="Arial" panose="020B0604020202020204" pitchFamily="34" charset="0"/>
                        </a:rPr>
                        <a:t>Trigger OUT: 1x, 2 pin Phoenix</a:t>
                      </a:r>
                      <a:endParaRPr lang="en-US" altLang="zh-CN" sz="12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Audio Algorithm</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AEC, AGC, ANS</a:t>
                      </a:r>
                      <a:endParaRPr lang="en-US" altLang="zh-CN" sz="12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Control Method</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nn-NO" altLang="zh-CN" sz="1200" dirty="0">
                          <a:latin typeface="Roboto" charset="0"/>
                          <a:ea typeface="Roboto" charset="0"/>
                          <a:cs typeface="Arial" panose="020B0604020202020204" pitchFamily="34" charset="0"/>
                        </a:rPr>
                        <a:t>LAN (Telnet API &amp; Web UI)</a:t>
                      </a:r>
                      <a:endParaRPr lang="nn-NO" altLang="zh-CN" sz="12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en-US" altLang="zh-CN" sz="1400" dirty="0">
                          <a:latin typeface="Roboto" charset="0"/>
                          <a:ea typeface="Roboto" charset="0"/>
                          <a:cs typeface="Arial" panose="020B0604020202020204" pitchFamily="34" charset="0"/>
                        </a:rPr>
                        <a:t>Power Supply</a:t>
                      </a:r>
                      <a:endParaRPr lang="en-US" altLang="zh-CN" sz="1400" dirty="0">
                        <a:latin typeface="Roboto" charset="0"/>
                        <a:ea typeface="Roboto" charset="0"/>
                        <a:cs typeface="Arial" panose="020B0604020202020204" pitchFamily="34" charset="0"/>
                      </a:endParaRPr>
                    </a:p>
                  </a:txBody>
                  <a:tcPr anchor="ctr">
                    <a:solidFill>
                      <a:srgbClr val="E3F2E2"/>
                    </a:solidFill>
                  </a:tcPr>
                </a:tc>
                <a:tc>
                  <a:txBody>
                    <a:bodyPr/>
                    <a:lstStyle/>
                    <a:p>
                      <a:r>
                        <a:rPr lang="en-US" altLang="zh-CN" sz="1200" dirty="0">
                          <a:latin typeface="Roboto" charset="0"/>
                          <a:ea typeface="Roboto" charset="0"/>
                          <a:cs typeface="Arial" panose="020B0604020202020204" pitchFamily="34" charset="0"/>
                        </a:rPr>
                        <a:t>DC 12V/2A PSU</a:t>
                      </a:r>
                      <a:endParaRPr lang="en-US" altLang="zh-CN" sz="1200" dirty="0">
                        <a:latin typeface="Roboto" charset="0"/>
                        <a:ea typeface="Roboto" charset="0"/>
                        <a:cs typeface="Arial" panose="020B0604020202020204" pitchFamily="34" charset="0"/>
                      </a:endParaRPr>
                    </a:p>
                  </a:txBody>
                  <a:tcPr anchor="ctr">
                    <a:solidFill>
                      <a:srgbClr val="E3F2E2"/>
                    </a:solidFill>
                  </a:tcPr>
                </a:tc>
              </a:tr>
              <a:tr h="0">
                <a:tc>
                  <a:txBody>
                    <a:bodyPr/>
                    <a:lstStyle/>
                    <a:p>
                      <a:r>
                        <a:rPr lang="en-US" altLang="zh-CN" sz="1400" dirty="0">
                          <a:latin typeface="Roboto" charset="0"/>
                          <a:ea typeface="Roboto" charset="0"/>
                          <a:cs typeface="Arial" panose="020B0604020202020204" pitchFamily="34" charset="0"/>
                        </a:rPr>
                        <a:t>Power Consumption (max)</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10.2W</a:t>
                      </a:r>
                      <a:endParaRPr lang="en-US" altLang="zh-CN" sz="1200" dirty="0">
                        <a:latin typeface="Roboto" charset="0"/>
                        <a:ea typeface="Roboto" charset="0"/>
                        <a:cs typeface="Arial" panose="020B0604020202020204" pitchFamily="34" charset="0"/>
                      </a:endParaRPr>
                    </a:p>
                  </a:txBody>
                  <a:tcPr anchor="ctr">
                    <a:solidFill>
                      <a:srgbClr val="D6E5D5"/>
                    </a:solidFill>
                  </a:tcPr>
                </a:tc>
              </a:tr>
              <a:tr h="0">
                <a:tc>
                  <a:txBody>
                    <a:bodyPr/>
                    <a:lstStyle/>
                    <a:p>
                      <a:r>
                        <a:rPr lang="pt-BR" altLang="zh-CN" sz="1400" dirty="0">
                          <a:latin typeface="Roboto" charset="0"/>
                          <a:ea typeface="Roboto" charset="0"/>
                          <a:cs typeface="Arial" panose="020B0604020202020204" pitchFamily="34" charset="0"/>
                        </a:rPr>
                        <a:t>Dimensions</a:t>
                      </a:r>
                      <a:endParaRPr lang="pt-BR" altLang="zh-CN" sz="1400" dirty="0">
                        <a:latin typeface="Roboto" charset="0"/>
                        <a:ea typeface="Roboto" charset="0"/>
                        <a:cs typeface="Arial" panose="020B0604020202020204" pitchFamily="34" charset="0"/>
                      </a:endParaRPr>
                    </a:p>
                    <a:p>
                      <a:r>
                        <a:rPr lang="pt-BR" altLang="zh-CN" sz="1400" dirty="0">
                          <a:latin typeface="Roboto" charset="0"/>
                          <a:ea typeface="Roboto" charset="0"/>
                          <a:cs typeface="Arial" panose="020B0604020202020204" pitchFamily="34" charset="0"/>
                        </a:rPr>
                        <a:t> (W x H x D)</a:t>
                      </a:r>
                      <a:endParaRPr lang="en-US" altLang="zh-CN" sz="1400" dirty="0">
                        <a:latin typeface="Roboto" charset="0"/>
                        <a:ea typeface="Roboto" charset="0"/>
                        <a:cs typeface="Arial" panose="020B0604020202020204" pitchFamily="34" charset="0"/>
                      </a:endParaRPr>
                    </a:p>
                  </a:txBody>
                  <a:tcPr anchor="ctr">
                    <a:solidFill>
                      <a:srgbClr val="D6E5D5"/>
                    </a:solidFill>
                  </a:tcPr>
                </a:tc>
                <a:tc>
                  <a:txBody>
                    <a:bodyPr/>
                    <a:lstStyle/>
                    <a:p>
                      <a:r>
                        <a:rPr lang="en-US" altLang="zh-CN" sz="1200" dirty="0">
                          <a:latin typeface="Roboto" charset="0"/>
                          <a:ea typeface="Roboto" charset="0"/>
                          <a:cs typeface="Arial" panose="020B0604020202020204" pitchFamily="34" charset="0"/>
                        </a:rPr>
                        <a:t>215mm x 25mm x 120mm/8.46” x 0.98” x 4.72”</a:t>
                      </a:r>
                      <a:endParaRPr lang="en-US" altLang="zh-CN" sz="1200" dirty="0">
                        <a:latin typeface="Roboto" charset="0"/>
                        <a:ea typeface="Roboto" charset="0"/>
                        <a:cs typeface="Arial" panose="020B0604020202020204" pitchFamily="34" charset="0"/>
                      </a:endParaRPr>
                    </a:p>
                  </a:txBody>
                  <a:tcPr anchor="ctr">
                    <a:solidFill>
                      <a:srgbClr val="D6E5D5"/>
                    </a:solidFill>
                  </a:tcPr>
                </a:tc>
              </a:tr>
            </a:tbl>
          </a:graphicData>
        </a:graphic>
      </p:graphicFrame>
      <p:sp>
        <p:nvSpPr>
          <p:cNvPr id="4" name="文本框 3"/>
          <p:cNvSpPr txBox="1"/>
          <p:nvPr/>
        </p:nvSpPr>
        <p:spPr>
          <a:xfrm>
            <a:off x="6671144" y="1901190"/>
            <a:ext cx="5553985" cy="2899410"/>
          </a:xfrm>
          <a:prstGeom prst="rect">
            <a:avLst/>
          </a:prstGeom>
          <a:noFill/>
        </p:spPr>
        <p:txBody>
          <a:bodyPr wrap="square" rtlCol="0">
            <a:noAutofit/>
          </a:bodyPr>
          <a:lstStyle/>
          <a:p>
            <a:pPr algn="l"/>
            <a:r>
              <a:rPr lang="zh-CN" altLang="en-US" b="1" dirty="0">
                <a:latin typeface="Roboto" charset="0"/>
                <a:cs typeface="Arial" panose="020B0604020202020204" pitchFamily="34" charset="0"/>
              </a:rPr>
              <a:t>What</a:t>
            </a:r>
            <a:r>
              <a:rPr lang="en-US" altLang="zh-CN" b="1" dirty="0">
                <a:latin typeface="Roboto" charset="0"/>
                <a:cs typeface="Arial" panose="020B0604020202020204" pitchFamily="34" charset="0"/>
              </a:rPr>
              <a:t>’</a:t>
            </a:r>
            <a:r>
              <a:rPr lang="zh-CN" altLang="en-US" b="1" dirty="0">
                <a:latin typeface="Roboto" charset="0"/>
                <a:cs typeface="Arial" panose="020B0604020202020204" pitchFamily="34" charset="0"/>
              </a:rPr>
              <a:t>s in the Box?</a:t>
            </a:r>
            <a:endParaRPr lang="zh-CN" altLang="en-US" b="1" dirty="0">
              <a:latin typeface="Roboto" charset="0"/>
              <a:cs typeface="Arial" panose="020B0604020202020204" pitchFamily="34" charset="0"/>
            </a:endParaRPr>
          </a:p>
          <a:p>
            <a:pPr>
              <a:lnSpc>
                <a:spcPts val="900"/>
              </a:lnSpc>
            </a:pPr>
            <a:endParaRPr lang="zh-CN" altLang="en-US" sz="1600" dirty="0">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 x DC 12V Power Adapter (with US, UK, EU &amp; AU Pins) </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4 x 5-Pin 3.5mm Phoenix Male Connector </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3 x 2-Pin 3.5mm Phoenix Male Connectors </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1 x 3-Pin 3.5mm Phoenix Male Connectors </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4 x Mounting Brackets </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altLang="zh-CN" sz="1600" dirty="0">
                <a:solidFill>
                  <a:schemeClr val="tx1">
                    <a:lumMod val="75000"/>
                    <a:lumOff val="25000"/>
                  </a:schemeClr>
                </a:solidFill>
                <a:latin typeface="Roboto" charset="0"/>
                <a:cs typeface="Arial" panose="020B0604020202020204" pitchFamily="34" charset="0"/>
              </a:rPr>
              <a:t>4 x Mounting Screws (M2.5*L5)</a:t>
            </a:r>
            <a:endParaRPr lang="en-US" altLang="zh-CN" sz="1600" dirty="0">
              <a:solidFill>
                <a:schemeClr val="tx1">
                  <a:lumMod val="75000"/>
                  <a:lumOff val="25000"/>
                </a:schemeClr>
              </a:solidFill>
              <a:latin typeface="Roboto" charset="0"/>
              <a:cs typeface="Arial" panose="020B0604020202020204" pitchFamily="34" charset="0"/>
            </a:endParaRPr>
          </a:p>
        </p:txBody>
      </p:sp>
      <p:pic>
        <p:nvPicPr>
          <p:cNvPr id="6"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7"/>
          <p:cNvSpPr/>
          <p:nvPr>
            <p:custDataLst>
              <p:tags r:id="rId1"/>
            </p:custDataLst>
          </p:nvPr>
        </p:nvSpPr>
        <p:spPr>
          <a:xfrm>
            <a:off x="0" y="-125095"/>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2"/>
            </p:custDataLst>
          </p:nvPr>
        </p:nvSpPr>
        <p:spPr>
          <a:xfrm>
            <a:off x="526370" y="8191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2"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6370" y="2129877"/>
            <a:ext cx="4148345" cy="3649666"/>
          </a:xfrm>
          <a:prstGeom prst="rect">
            <a:avLst/>
          </a:prstGeom>
        </p:spPr>
      </p:pic>
      <p:sp>
        <p:nvSpPr>
          <p:cNvPr id="5" name="文本框 4"/>
          <p:cNvSpPr txBox="1"/>
          <p:nvPr/>
        </p:nvSpPr>
        <p:spPr>
          <a:xfrm>
            <a:off x="418420" y="886677"/>
            <a:ext cx="11608480" cy="553998"/>
          </a:xfrm>
          <a:prstGeom prst="rect">
            <a:avLst/>
          </a:prstGeom>
          <a:noFill/>
        </p:spPr>
        <p:txBody>
          <a:bodyPr wrap="square">
            <a:spAutoFit/>
          </a:bodyPr>
          <a:lstStyle/>
          <a:p>
            <a:pPr marL="0" lvl="0" indent="-285750" algn="l" fontAlgn="ctr">
              <a:lnSpc>
                <a:spcPts val="1800"/>
              </a:lnSpc>
              <a:spcBef>
                <a:spcPts val="0"/>
              </a:spcBef>
              <a:spcAft>
                <a:spcPts val="800"/>
              </a:spcAft>
              <a:buSzPct val="100000"/>
              <a:buFont typeface="Wingdings" panose="05000000000000000000" charset="0"/>
              <a:buNone/>
            </a:pPr>
            <a:r>
              <a:rPr lang="en-US" altLang="zh-CN"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The </a:t>
            </a:r>
            <a:r>
              <a:rPr lang="en-US" altLang="zh-CN" sz="1350" dirty="0">
                <a:ln w="3175">
                  <a:noFill/>
                  <a:prstDash val="dash"/>
                </a:ln>
                <a:solidFill>
                  <a:schemeClr val="dk1">
                    <a:lumMod val="75000"/>
                    <a:lumOff val="25000"/>
                  </a:schemeClr>
                </a:solidFill>
                <a:latin typeface="Roboto" charset="0"/>
                <a:ea typeface="微软雅黑" panose="020B0503020204020204" pitchFamily="34" charset="-122"/>
                <a:cs typeface="Arial" panose="020B0604020202020204" pitchFamily="34" charset="0"/>
                <a:sym typeface="+mn-ea"/>
              </a:rPr>
              <a:t>COM-MIC-HUB</a:t>
            </a:r>
            <a:r>
              <a:rPr lang="en-US" altLang="zh-CN"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rPr>
              <a:t> can be connected to APO-SKY-MIC Ceiling Microphones and 3rd party Wireless Microphones and can also be connected to PC and amplifier to provide a perfect hybrid meeting and teaching experience. Please refer to the typical connection diagram below.</a:t>
            </a:r>
            <a:endParaRPr lang="en-US" altLang="zh-CN" sz="1350" spc="0" dirty="0">
              <a:ln w="3175">
                <a:noFill/>
                <a:prstDash val="dash"/>
              </a:ln>
              <a:solidFill>
                <a:schemeClr val="dk1">
                  <a:lumMod val="75000"/>
                  <a:lumOff val="25000"/>
                </a:schemeClr>
              </a:solidFill>
              <a:uFillTx/>
              <a:latin typeface="Roboto" charset="0"/>
              <a:ea typeface="微软雅黑" panose="020B0503020204020204" pitchFamily="34" charset="-122"/>
              <a:cs typeface="Arial" panose="020B0604020202020204" pitchFamily="34" charset="0"/>
              <a:sym typeface="+mn-ea"/>
            </a:endParaRPr>
          </a:p>
        </p:txBody>
      </p:sp>
      <p:pic>
        <p:nvPicPr>
          <p:cNvPr id="3" name="图片 2"/>
          <p:cNvPicPr>
            <a:picLocks noChangeAspect="1"/>
          </p:cNvPicPr>
          <p:nvPr/>
        </p:nvPicPr>
        <p:blipFill>
          <a:blip r:embed="rId5"/>
          <a:stretch>
            <a:fillRect/>
          </a:stretch>
        </p:blipFill>
        <p:spPr>
          <a:xfrm>
            <a:off x="5194300" y="1541145"/>
            <a:ext cx="6266180" cy="4316095"/>
          </a:xfrm>
          <a:prstGeom prst="rect">
            <a:avLst/>
          </a:prstGeom>
        </p:spPr>
      </p:pic>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6533047" y="1032309"/>
            <a:ext cx="5033513" cy="4928676"/>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00000"/>
              </a:lnSpc>
              <a:spcBef>
                <a:spcPts val="0"/>
              </a:spcBef>
              <a:spcAft>
                <a:spcPts val="800"/>
              </a:spcAft>
              <a:buSzPct val="100000"/>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14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Auditorium</a:t>
            </a:r>
            <a:r>
              <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&amp; Lecture Hall </a:t>
            </a:r>
            <a:endPar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ct val="100000"/>
              </a:lnSpc>
              <a:spcBef>
                <a:spcPts val="0"/>
              </a:spcBef>
              <a:spcAft>
                <a:spcPts val="800"/>
              </a:spcAft>
              <a:buSzPct val="100000"/>
            </a:pPr>
            <a:r>
              <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Perfect for auditoriums and lecture halls worked with NHD series AV over IP solution, this advanced audio system delivers seamless hybrid teaching and intuitive controls, ensuring an optimal experience for both instructors and students.</a:t>
            </a:r>
            <a:endParaRPr lang="en-US" altLang="zh-CN"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pPr>
            <a:b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Hybrid application</a:t>
            </a:r>
            <a:r>
              <a:rPr lang="en-US"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r>
              <a:rPr lang="en-US"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Support local amplification and remote teaching at the same time</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endPar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Multi options for Mic:   </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Support wireless mic and wire mic  for hybrid application;</a:t>
            </a:r>
            <a:endPar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Enhance Built-in DSP:  </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Support AEC, AGC, ANS and Ducking function, Audio Mix to provide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fully immersive audio experience for all participants. </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lvl="0" indent="-285750" fontAlgn="ctr">
              <a:lnSpc>
                <a:spcPts val="1500"/>
              </a:lnSpc>
              <a:spcBef>
                <a:spcPts val="0"/>
              </a:spcBef>
              <a:spcAft>
                <a:spcPts val="800"/>
              </a:spcAft>
              <a:buSzPct val="100000"/>
              <a:buFont typeface="Wingdings" panose="05000000000000000000" charset="0"/>
              <a:buChar char="l"/>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Flexible control methods: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The built-in WEB UI allows both students and teachers to easily adjust settings of the COM-MIC-HUB. Additionally, partial function settings can be centrally managed through the TOUCH10 control system.</a:t>
            </a:r>
            <a:endPar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sp>
        <p:nvSpPr>
          <p:cNvPr id="22" name="矩形 7"/>
          <p:cNvSpPr/>
          <p:nvPr>
            <p:custDataLst>
              <p:tags r:id="rId2"/>
            </p:custDataLst>
          </p:nvPr>
        </p:nvSpPr>
        <p:spPr>
          <a:xfrm>
            <a:off x="0" y="-125095"/>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526370" y="8191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2"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pic>
        <p:nvPicPr>
          <p:cNvPr id="3" name="图片 2"/>
          <p:cNvPicPr>
            <a:picLocks noChangeAspect="1"/>
          </p:cNvPicPr>
          <p:nvPr/>
        </p:nvPicPr>
        <p:blipFill>
          <a:blip r:embed="rId5"/>
          <a:stretch>
            <a:fillRect/>
          </a:stretch>
        </p:blipFill>
        <p:spPr>
          <a:xfrm>
            <a:off x="457200" y="1032510"/>
            <a:ext cx="5706745" cy="5607685"/>
          </a:xfrm>
          <a:prstGeom prst="rect">
            <a:avLst/>
          </a:prstGeom>
        </p:spPr>
      </p:pic>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6538727" y="1125208"/>
            <a:ext cx="5033513" cy="4652518"/>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ct val="100000"/>
              </a:lnSpc>
              <a:spcBef>
                <a:spcPts val="0"/>
              </a:spcBef>
              <a:spcAft>
                <a:spcPts val="800"/>
              </a:spcAft>
              <a:buSzPct val="100000"/>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 </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altLang="zh-CN" sz="14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Meeting Room</a:t>
            </a:r>
            <a:endParaRPr lang="en-US" sz="14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ct val="100000"/>
              </a:lnSpc>
              <a:spcBef>
                <a:spcPts val="0"/>
              </a:spcBef>
              <a:spcAft>
                <a:spcPts val="800"/>
              </a:spcAft>
              <a:buSzPct val="100000"/>
            </a:pP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 In meeting room setting, when paired with the SW-640L-TX-W, it can deliver an enhanced audio solution tailored for meeting environments. This system supports both local amplification and remote conferencing capabilities, ensuring crystal-clear audio for in-room participants as well as seamless communication with remote attendees. Whether for local discussions or virtual meetings, this setup ensures an optimal audio experience for all participants.</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pPr>
            <a:b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a:t>
            </a:r>
            <a:r>
              <a:rPr sz="18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I</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Hybrid application</a:t>
            </a: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r>
              <a:rPr sz="12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Support local amplification and remote conferencing at the same time</a:t>
            </a:r>
            <a:r>
              <a:rPr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endParaRPr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2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Enhance Built-in DSP:  </a:t>
            </a:r>
            <a:r>
              <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Support AEC, AGC, ANS and Ducking function, Audio Mix to provide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fully immersive audio experience for all participants. </a:t>
            </a:r>
            <a:endPar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lvl="0" indent="-285750" fontAlgn="ctr">
              <a:lnSpc>
                <a:spcPts val="1500"/>
              </a:lnSpc>
              <a:spcBef>
                <a:spcPts val="0"/>
              </a:spcBef>
              <a:spcAft>
                <a:spcPts val="800"/>
              </a:spcAft>
              <a:buSzPct val="100000"/>
              <a:buFont typeface="Wingdings" panose="05000000000000000000" charset="0"/>
              <a:buChar char="l"/>
            </a:pPr>
            <a:r>
              <a:rPr sz="12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Flexible control methods: </a:t>
            </a:r>
            <a:r>
              <a:rPr lang="en-US" altLang="zh-CN" sz="1200" spc="0" dirty="0">
                <a:ln w="3175">
                  <a:noFill/>
                  <a:prstDash val="dash"/>
                </a:ln>
                <a:solidFill>
                  <a:schemeClr val="dk1">
                    <a:lumMod val="75000"/>
                    <a:lumOff val="25000"/>
                  </a:schemeClr>
                </a:solidFill>
                <a:latin typeface="Roboto" charset="0"/>
                <a:ea typeface="Roboto" charset="0"/>
                <a:cs typeface="Arial" panose="020B0604020202020204" pitchFamily="34" charset="0"/>
              </a:rPr>
              <a:t>TOUCH10 enables centralized control of all meeting room devices, while the COM-MIC-HUB's built-in WEB UI offers simple and convenient configuration options.</a:t>
            </a:r>
            <a:endParaRPr lang="en-US" sz="12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sp>
        <p:nvSpPr>
          <p:cNvPr id="22" name="矩形 7"/>
          <p:cNvSpPr/>
          <p:nvPr>
            <p:custDataLst>
              <p:tags r:id="rId2"/>
            </p:custDataLst>
          </p:nvPr>
        </p:nvSpPr>
        <p:spPr>
          <a:xfrm>
            <a:off x="0" y="-125095"/>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526370" y="8191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Typical Connection &amp; Applications</a:t>
            </a:r>
            <a:endParaRPr lang="en-US" sz="3200" b="1" dirty="0">
              <a:solidFill>
                <a:schemeClr val="lt1"/>
              </a:solidFill>
              <a:uFillTx/>
              <a:latin typeface="Montserrat" pitchFamily="2" charset="0"/>
              <a:ea typeface="微软雅黑" panose="020B0503020204020204" pitchFamily="34" charset="-122"/>
              <a:sym typeface="Roboto"/>
            </a:endParaRPr>
          </a:p>
        </p:txBody>
      </p:sp>
      <p:pic>
        <p:nvPicPr>
          <p:cNvPr id="2"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pic>
        <p:nvPicPr>
          <p:cNvPr id="4" name="图片 3"/>
          <p:cNvPicPr/>
          <p:nvPr/>
        </p:nvPicPr>
        <p:blipFill>
          <a:blip r:embed="rId5"/>
          <a:stretch>
            <a:fillRect/>
          </a:stretch>
        </p:blipFill>
        <p:spPr>
          <a:xfrm>
            <a:off x="184785" y="1397000"/>
            <a:ext cx="6236970" cy="4380865"/>
          </a:xfrm>
          <a:prstGeom prst="rect">
            <a:avLst/>
          </a:prstGeom>
        </p:spPr>
      </p:pic>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Quick Installation Guide</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57200" y="1651635"/>
            <a:ext cx="9757907" cy="45923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Interfaces: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Follow the standard product connection guidelines and customize connections based on your environment’s layout for optimal performance.</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Start the Device: </a:t>
            </a: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the IP Address from the OLED Panel, then log into the Web-UI for easy equipment configuration.</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Create Your Audio </a:t>
            </a: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P</a:t>
            </a: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rocessing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rPr>
              <a:t>Create your specified configuration via Web-UI. For detailed instructions, refer to the user manual.</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Enjoy Superior A</a:t>
            </a: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udio Application</a:t>
            </a: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Experience stunning  and immersive audio application for local amplification and remote teaching at the same time.</a:t>
            </a:r>
            <a:endParaRPr lang="en-US" sz="1800" i="1"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0" name="Title 6"/>
          <p:cNvSpPr txBox="1"/>
          <p:nvPr>
            <p:custDataLst>
              <p:tags r:id="rId5"/>
            </p:custDataLst>
          </p:nvPr>
        </p:nvSpPr>
        <p:spPr>
          <a:xfrm>
            <a:off x="457200" y="1137920"/>
            <a:ext cx="11070590" cy="5137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Effortlessly set up your COM-MIC-HUB with simple steps, ensuring seamless configuration and an exceptional viewing experience.</a:t>
            </a:r>
            <a:endPar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Important Notes for Installation</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340360" y="1282700"/>
            <a:ext cx="1175258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Ensure all cables are securely connected to avoid performance issues.</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your network settings and confirm that the device is on the correct subnet.</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Double-check configuration settings in the Web-UI to optimize functionality.</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For complex installations, refer to the documentation or seek professional assistance if necessary.</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Introduction of Web Configuration Interface</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219710" y="1376045"/>
            <a:ext cx="1175258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Arial" panose="020B0604020202020204" pitchFamily="34" charset="0"/>
            </a:pP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Web UI of the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COM-MIC-HUB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is designed for intuitive device management and control through any web browser. With the Web UI, you can easily configure and customize your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audio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setup with the following features:</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Web UI Functionality:</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Effortlessly manage device settings via a web browser.</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Setting up</a:t>
            </a: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a:t>
            </a:r>
            <a:r>
              <a:rPr lang="en-US"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Audio input and output setting and Ducking mode and parameter.</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Web UI Configurations:</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IP Settings:</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Configure IP settings</a:t>
            </a:r>
            <a:r>
              <a:rPr lang="en-US"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and perform firmware updates.</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altLang="zh-CN"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S.O.S setting: </a:t>
            </a:r>
            <a:r>
              <a:rPr lang="en-US" altLang="zh-CN"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Configure Alarm in mode and Message output mode.</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Audio</a:t>
            </a: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 Inputs/Outputs: </a:t>
            </a:r>
            <a:r>
              <a:rPr lang="en-US"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C</a:t>
            </a:r>
            <a:r>
              <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onfigure the Audio mode and Ducking setting;</a:t>
            </a: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indent="-285750" fontAlgn="ctr">
              <a:lnSpc>
                <a:spcPct val="100000"/>
              </a:lnSpc>
              <a:spcBef>
                <a:spcPts val="0"/>
              </a:spcBef>
              <a:spcAft>
                <a:spcPts val="800"/>
              </a:spcAft>
              <a:buSzPct val="100000"/>
              <a:buFont typeface="Arial" panose="020B0604020202020204" pitchFamily="34" charset="0"/>
              <a:buChar char="•"/>
            </a:pPr>
            <a:r>
              <a:rPr lang="en-US" altLang="zh-CN"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System : </a:t>
            </a:r>
            <a:r>
              <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Device information and perform firmware updates. </a:t>
            </a:r>
            <a:endPar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1"/>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9"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4"/>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3200" b="1" dirty="0">
                <a:solidFill>
                  <a:schemeClr val="lt1"/>
                </a:solidFill>
                <a:uFillTx/>
                <a:latin typeface="Montserrat" pitchFamily="2" charset="0"/>
                <a:ea typeface="微软雅黑" panose="020B0503020204020204" pitchFamily="34" charset="-122"/>
                <a:sym typeface="Roboto"/>
              </a:rPr>
              <a:t>Final Thoughts</a:t>
            </a:r>
            <a:endParaRPr lang="en-US" sz="3200" b="1" dirty="0">
              <a:solidFill>
                <a:schemeClr val="lt1"/>
              </a:solidFill>
              <a:uFillTx/>
              <a:latin typeface="Montserrat" pitchFamily="2" charset="0"/>
              <a:ea typeface="微软雅黑" panose="020B0503020204020204" pitchFamily="34" charset="-122"/>
              <a:sym typeface="Roboto"/>
            </a:endParaRPr>
          </a:p>
        </p:txBody>
      </p:sp>
      <p:sp>
        <p:nvSpPr>
          <p:cNvPr id="4" name="文本框 1"/>
          <p:cNvSpPr txBox="1"/>
          <p:nvPr/>
        </p:nvSpPr>
        <p:spPr>
          <a:xfrm>
            <a:off x="-47944" y="2003528"/>
            <a:ext cx="12287885" cy="460375"/>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Roboto" charset="0"/>
                <a:ea typeface="Roboto" charset="0"/>
                <a:cs typeface="Arial" panose="020B0604020202020204" pitchFamily="34" charset="0"/>
              </a:rPr>
              <a:t>Got questions? Don't hesitate to ask away.</a:t>
            </a:r>
            <a:endParaRPr lang="en-US" altLang="zh-CN" sz="2400" dirty="0">
              <a:solidFill>
                <a:schemeClr val="tx1">
                  <a:lumMod val="75000"/>
                  <a:lumOff val="25000"/>
                </a:schemeClr>
              </a:solidFill>
              <a:latin typeface="Roboto" charset="0"/>
              <a:ea typeface="Roboto"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5.xml><?xml version="1.0" encoding="utf-8"?>
<p:tagLst xmlns:p="http://schemas.openxmlformats.org/presentationml/2006/main">
  <p:tag name="KSO_WM_DIAGRAM_VIRTUALLY_FRAME" val="{&quot;height&quot;:275.25732283464566,&quot;left&quot;:98.6,&quot;top&quot;:79.59267716535433,&quot;width&quot;:795.4903937007873}"/>
</p:tagLst>
</file>

<file path=ppt/tags/tag16.xml><?xml version="1.0" encoding="utf-8"?>
<p:tagLst xmlns:p="http://schemas.openxmlformats.org/presentationml/2006/main">
  <p:tag name="KSO_WM_DIAGRAM_VIRTUALLY_FRAME" val="{&quot;height&quot;:275.25732283464566,&quot;left&quot;:98.6,&quot;top&quot;:79.59267716535433,&quot;width&quot;:795.4903937007873}"/>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3.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9.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2.xml><?xml version="1.0" encoding="utf-8"?>
<p:tagLst xmlns:p="http://schemas.openxmlformats.org/presentationml/2006/main">
  <p:tag name="TABLE_ENDDRAG_ORIGIN_RECT" val="500*422"/>
  <p:tag name="TABLE_ENDDRAG_RECT" val="28*96*500*422"/>
</p:tagLst>
</file>

<file path=ppt/tags/tag33.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9.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9.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3.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7.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9.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970398F7-0C85-4385-B635-3A530FE379FB}"/>
</file>

<file path=customXml/itemProps2.xml><?xml version="1.0" encoding="utf-8"?>
<ds:datastoreItem xmlns:ds="http://schemas.openxmlformats.org/officeDocument/2006/customXml" ds:itemID="{FA75F753-02C5-45BB-811F-A67461C03605}"/>
</file>

<file path=customXml/itemProps3.xml><?xml version="1.0" encoding="utf-8"?>
<ds:datastoreItem xmlns:ds="http://schemas.openxmlformats.org/officeDocument/2006/customXml" ds:itemID="{91C970E4-793E-4986-A7A4-04CF8D6809BC}"/>
</file>

<file path=docProps/app.xml><?xml version="1.0" encoding="utf-8"?>
<Properties xmlns="http://schemas.openxmlformats.org/officeDocument/2006/extended-properties" xmlns:vt="http://schemas.openxmlformats.org/officeDocument/2006/docPropsVTypes">
  <TotalTime>0</TotalTime>
  <Words>9808</Words>
  <Application>WPS 演示</Application>
  <PresentationFormat>宽屏</PresentationFormat>
  <Paragraphs>305</Paragraphs>
  <Slides>15</Slides>
  <Notes>8</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宋体</vt:lpstr>
      <vt:lpstr>Wingdings</vt:lpstr>
      <vt:lpstr>微软雅黑</vt:lpstr>
      <vt:lpstr>Montserrat</vt:lpstr>
      <vt:lpstr>Segoe Print</vt:lpstr>
      <vt:lpstr>Roboto</vt:lpstr>
      <vt:lpstr>Roboto</vt:lpstr>
      <vt:lpstr>Montserrat</vt:lpstr>
      <vt:lpstr>Arial</vt:lpstr>
      <vt:lpstr>Segoe UI</vt:lpstr>
      <vt:lpstr>Calibri</vt:lpstr>
      <vt:lpstr>Calibri</vt:lpstr>
      <vt:lpstr>Times New Roman</vt:lpstr>
      <vt:lpstr>Wingdings</vt:lpstr>
      <vt:lpstr>Roboto Lt</vt:lpstr>
      <vt:lpstr>Roboto Th</vt:lpstr>
      <vt:lpstr>Arial Unicode MS</vt:lpstr>
      <vt:lpstr>Office 主题</vt:lpstr>
      <vt:lpstr>COM-MIC-HUB</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MX-0812-SCL</dc:title>
  <dc:creator>proitav</dc:creator>
  <cp:lastModifiedBy>一心如初。</cp:lastModifiedBy>
  <cp:revision>53</cp:revision>
  <dcterms:created xsi:type="dcterms:W3CDTF">2024-12-26T00:56:00Z</dcterms:created>
  <dcterms:modified xsi:type="dcterms:W3CDTF">2025-03-31T01:01:52Z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A6F6CBACB7B94FDA83D1E9FC57F2AED3_13</vt:lpwstr>
  </property>
  <property fmtid="{D5CDD505-2E9C-101B-9397-08002B2CF9AE}" pid="3" name="KSOProductBuildVer">
    <vt:lpwstr>2052-12.1.0.20305</vt:lpwstr>
  </property>
  <property fmtid="{D5CDD505-2E9C-101B-9397-08002B2CF9AE}" pid="4" name="ContentTypeId">
    <vt:lpwstr>0x010100E01A8FBB3908BD4681554D596DADDBBC</vt:lpwstr>
  </property>
</Properties>
</file>