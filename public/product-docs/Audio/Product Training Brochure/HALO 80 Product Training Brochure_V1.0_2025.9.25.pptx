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9.svg" ContentType="image/svg+xml"/>
  <Override PartName="/ppt/presentation.xml" ContentType="application/vnd.openxmlformats-officedocument.presentationml.presentation.main+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1007" r:id="rId5"/>
    <p:sldId id="1008" r:id="rId6"/>
    <p:sldId id="260" r:id="rId7"/>
    <p:sldId id="259" r:id="rId8"/>
    <p:sldId id="1057" r:id="rId9"/>
    <p:sldId id="262" r:id="rId10"/>
    <p:sldId id="1014" r:id="rId11"/>
    <p:sldId id="1010" r:id="rId12"/>
    <p:sldId id="1055" r:id="rId13"/>
    <p:sldId id="1011" r:id="rId14"/>
    <p:sldId id="272" r:id="rId15"/>
    <p:sldId id="270"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646" autoAdjust="0"/>
    <p:restoredTop sz="92640" autoAdjust="0"/>
  </p:normalViewPr>
  <p:slideViewPr>
    <p:cSldViewPr snapToGrid="0">
      <p:cViewPr varScale="1">
        <p:scale>
          <a:sx n="112" d="100"/>
          <a:sy n="112" d="100"/>
        </p:scale>
        <p:origin x="78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8" Type="http://schemas.openxmlformats.org/officeDocument/2006/relationships/presProps" Target="presProps.xml"/><Relationship Id="rId13" Type="http://schemas.openxmlformats.org/officeDocument/2006/relationships/slide" Target="slides/slide10.xml"/><Relationship Id="rId3" Type="http://schemas.openxmlformats.org/officeDocument/2006/relationships/slide" Target="slides/slide1.xml"/><Relationship Id="rId21" Type="http://schemas.openxmlformats.org/officeDocument/2006/relationships/customXml" Target="../customXml/item1.xml"/><Relationship Id="rId7" Type="http://schemas.openxmlformats.org/officeDocument/2006/relationships/slide" Target="slides/slide4.xml"/><Relationship Id="rId17" Type="http://schemas.openxmlformats.org/officeDocument/2006/relationships/slide" Target="slides/slide14.xml"/><Relationship Id="rId12" Type="http://schemas.openxmlformats.org/officeDocument/2006/relationships/slide" Target="slides/slide9.xml"/><Relationship Id="rId20" Type="http://schemas.openxmlformats.org/officeDocument/2006/relationships/tableStyles" Target="tableStyles.xml"/><Relationship Id="rId2" Type="http://schemas.openxmlformats.org/officeDocument/2006/relationships/theme" Target="theme/theme1.xml"/><Relationship Id="rId16" Type="http://schemas.openxmlformats.org/officeDocument/2006/relationships/slide" Target="slides/slide13.xml"/><Relationship Id="rId6" Type="http://schemas.openxmlformats.org/officeDocument/2006/relationships/slide" Target="slides/slide3.xml"/><Relationship Id="rId11" Type="http://schemas.openxmlformats.org/officeDocument/2006/relationships/slide" Target="slides/slide8.xml"/><Relationship Id="rId1" Type="http://schemas.openxmlformats.org/officeDocument/2006/relationships/slideMaster" Target="slideMasters/slide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customXml" Target="../customXml/item3.xml"/><Relationship Id="rId19" Type="http://schemas.openxmlformats.org/officeDocument/2006/relationships/viewProps" Target="viewProps.xml"/><Relationship Id="rId10" Type="http://schemas.openxmlformats.org/officeDocument/2006/relationships/slide" Target="slides/slide7.xml"/><Relationship Id="rId9" Type="http://schemas.openxmlformats.org/officeDocument/2006/relationships/slide" Target="slides/slide6.xml"/><Relationship Id="rId4" Type="http://schemas.openxmlformats.org/officeDocument/2006/relationships/notesMaster" Target="notesMasters/notesMaster1.xml"/><Relationship Id="rId14" Type="http://schemas.openxmlformats.org/officeDocument/2006/relationships/slide" Target="slides/slide11.xml"/><Relationship Id="rId22"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75F256-DE03-4311-A2CD-0B57A951E273}" type="datetimeFigureOut">
              <a:rPr lang="en-US" smtClean="0"/>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D203B3-63DC-4C8E-ABDC-45C5247258C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4E2AE8AE-A6D6-4C00-AAE4-14AC10745482}"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Slide Number Placeholder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C410622-6127-45EF-BDF7-9ED7109D0A6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altLang="zh-CN"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4E2AE8AE-A6D6-4C00-AAE4-14AC10745482}"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4E2AE8AE-A6D6-4C00-AAE4-14AC10745482}"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4E2AE8AE-A6D6-4C00-AAE4-14AC10745482}"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Slide Number Placeholder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5BD203B3-63DC-4C8E-ABDC-45C5247258C9}"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p:cNvSpPr>
            <a:spLocks noGrp="1"/>
          </p:cNvSpPr>
          <p:nvPr>
            <p:ph type="dt" sz="half" idx="10"/>
          </p:nvPr>
        </p:nvSpPr>
        <p:spPr/>
        <p:txBody>
          <a:bodyPr/>
          <a:lstStyle/>
          <a:p>
            <a:fld id="{234A1757-CAB9-471C-AC9C-DA71F9E279CA}" type="datetimeFigureOut">
              <a:rPr lang="en-US" smtClean="0"/>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2AA11DB2-F4AF-4F54-B065-0195A8334F6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日期占位符 3"/>
          <p:cNvSpPr>
            <a:spLocks noGrp="1"/>
          </p:cNvSpPr>
          <p:nvPr>
            <p:ph type="dt" sz="half" idx="10"/>
          </p:nvPr>
        </p:nvSpPr>
        <p:spPr/>
        <p:txBody>
          <a:bodyPr/>
          <a:lstStyle/>
          <a:p>
            <a:fld id="{234A1757-CAB9-471C-AC9C-DA71F9E279CA}" type="datetimeFigureOut">
              <a:rPr lang="en-US" smtClean="0"/>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2AA11DB2-F4AF-4F54-B065-0195A8334F6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234A1757-CAB9-471C-AC9C-DA71F9E279CA}" type="datetimeFigureOut">
              <a:rPr lang="en-US" smtClean="0"/>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2AA11DB2-F4AF-4F54-B065-0195A8334F6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日期占位符 4"/>
          <p:cNvSpPr>
            <a:spLocks noGrp="1"/>
          </p:cNvSpPr>
          <p:nvPr>
            <p:ph type="dt" sz="half" idx="10"/>
          </p:nvPr>
        </p:nvSpPr>
        <p:spPr/>
        <p:txBody>
          <a:bodyPr/>
          <a:lstStyle/>
          <a:p>
            <a:fld id="{234A1757-CAB9-471C-AC9C-DA71F9E279CA}" type="datetimeFigureOut">
              <a:rPr lang="en-US" smtClean="0"/>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2AA11DB2-F4AF-4F54-B065-0195A8334F6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7" name="日期占位符 6"/>
          <p:cNvSpPr>
            <a:spLocks noGrp="1"/>
          </p:cNvSpPr>
          <p:nvPr>
            <p:ph type="dt" sz="half" idx="10"/>
          </p:nvPr>
        </p:nvSpPr>
        <p:spPr/>
        <p:txBody>
          <a:bodyPr/>
          <a:lstStyle/>
          <a:p>
            <a:fld id="{234A1757-CAB9-471C-AC9C-DA71F9E279CA}" type="datetimeFigureOut">
              <a:rPr lang="en-US" smtClean="0"/>
            </a:fld>
            <a:endParaRPr lang="en-US"/>
          </a:p>
        </p:txBody>
      </p:sp>
      <p:sp>
        <p:nvSpPr>
          <p:cNvPr id="8" name="页脚占位符 7"/>
          <p:cNvSpPr>
            <a:spLocks noGrp="1"/>
          </p:cNvSpPr>
          <p:nvPr>
            <p:ph type="ftr" sz="quarter" idx="11"/>
          </p:nvPr>
        </p:nvSpPr>
        <p:spPr/>
        <p:txBody>
          <a:bodyPr/>
          <a:lstStyle/>
          <a:p>
            <a:endParaRPr lang="en-US"/>
          </a:p>
        </p:txBody>
      </p:sp>
      <p:sp>
        <p:nvSpPr>
          <p:cNvPr id="9" name="灯片编号占位符 8"/>
          <p:cNvSpPr>
            <a:spLocks noGrp="1"/>
          </p:cNvSpPr>
          <p:nvPr>
            <p:ph type="sldNum" sz="quarter" idx="12"/>
          </p:nvPr>
        </p:nvSpPr>
        <p:spPr/>
        <p:txBody>
          <a:bodyPr/>
          <a:lstStyle/>
          <a:p>
            <a:fld id="{2AA11DB2-F4AF-4F54-B065-0195A8334F6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日期占位符 2"/>
          <p:cNvSpPr>
            <a:spLocks noGrp="1"/>
          </p:cNvSpPr>
          <p:nvPr>
            <p:ph type="dt" sz="half" idx="10"/>
          </p:nvPr>
        </p:nvSpPr>
        <p:spPr/>
        <p:txBody>
          <a:bodyPr/>
          <a:lstStyle/>
          <a:p>
            <a:fld id="{234A1757-CAB9-471C-AC9C-DA71F9E279CA}" type="datetimeFigureOut">
              <a:rPr lang="en-US" smtClean="0"/>
            </a:fld>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2AA11DB2-F4AF-4F54-B065-0195A8334F6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34A1757-CAB9-471C-AC9C-DA71F9E279CA}" type="datetimeFigureOut">
              <a:rPr lang="en-US" smtClean="0"/>
            </a:fld>
            <a:endParaRPr lang="en-US"/>
          </a:p>
        </p:txBody>
      </p:sp>
      <p:sp>
        <p:nvSpPr>
          <p:cNvPr id="3" name="页脚占位符 2"/>
          <p:cNvSpPr>
            <a:spLocks noGrp="1"/>
          </p:cNvSpPr>
          <p:nvPr>
            <p:ph type="ftr" sz="quarter" idx="11"/>
          </p:nvPr>
        </p:nvSpPr>
        <p:spPr/>
        <p:txBody>
          <a:bodyPr/>
          <a:lstStyle/>
          <a:p>
            <a:endParaRPr lang="en-US"/>
          </a:p>
        </p:txBody>
      </p:sp>
      <p:sp>
        <p:nvSpPr>
          <p:cNvPr id="4" name="灯片编号占位符 3"/>
          <p:cNvSpPr>
            <a:spLocks noGrp="1"/>
          </p:cNvSpPr>
          <p:nvPr>
            <p:ph type="sldNum" sz="quarter" idx="12"/>
          </p:nvPr>
        </p:nvSpPr>
        <p:spPr/>
        <p:txBody>
          <a:bodyPr/>
          <a:lstStyle/>
          <a:p>
            <a:fld id="{2AA11DB2-F4AF-4F54-B065-0195A8334F6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234A1757-CAB9-471C-AC9C-DA71F9E279CA}" type="datetimeFigureOut">
              <a:rPr lang="en-US" smtClean="0"/>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2AA11DB2-F4AF-4F54-B065-0195A8334F6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234A1757-CAB9-471C-AC9C-DA71F9E279CA}" type="datetimeFigureOut">
              <a:rPr lang="en-US" smtClean="0"/>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2AA11DB2-F4AF-4F54-B065-0195A8334F6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日期占位符 3"/>
          <p:cNvSpPr>
            <a:spLocks noGrp="1"/>
          </p:cNvSpPr>
          <p:nvPr>
            <p:ph type="dt" sz="half" idx="10"/>
          </p:nvPr>
        </p:nvSpPr>
        <p:spPr/>
        <p:txBody>
          <a:bodyPr/>
          <a:lstStyle/>
          <a:p>
            <a:fld id="{234A1757-CAB9-471C-AC9C-DA71F9E279CA}" type="datetimeFigureOut">
              <a:rPr lang="en-US" smtClean="0"/>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2AA11DB2-F4AF-4F54-B065-0195A8334F6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日期占位符 3"/>
          <p:cNvSpPr>
            <a:spLocks noGrp="1"/>
          </p:cNvSpPr>
          <p:nvPr>
            <p:ph type="dt" sz="half" idx="10"/>
          </p:nvPr>
        </p:nvSpPr>
        <p:spPr/>
        <p:txBody>
          <a:bodyPr/>
          <a:lstStyle/>
          <a:p>
            <a:fld id="{234A1757-CAB9-471C-AC9C-DA71F9E279CA}" type="datetimeFigureOut">
              <a:rPr lang="en-US" smtClean="0"/>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2AA11DB2-F4AF-4F54-B065-0195A8334F6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34A1757-CAB9-471C-AC9C-DA71F9E279CA}" type="datetimeFigureOut">
              <a:rPr lang="en-US" smtClean="0"/>
            </a:fld>
            <a:endParaRPr 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A11DB2-F4AF-4F54-B065-0195A8334F6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microsoft.com/office/2007/relationships/hdphoto" Target="../media/image2.wdp"/><Relationship Id="rId10" Type="http://schemas.openxmlformats.org/officeDocument/2006/relationships/notesSlide" Target="../notesSlides/notesSlide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7.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image" Target="../media/image5.png"/><Relationship Id="rId2" Type="http://schemas.openxmlformats.org/officeDocument/2006/relationships/tags" Target="../tags/tag6.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4.xml"/><Relationship Id="rId7" Type="http://schemas.openxmlformats.org/officeDocument/2006/relationships/image" Target="../media/image6.png"/><Relationship Id="rId6" Type="http://schemas.openxmlformats.org/officeDocument/2006/relationships/tags" Target="../tags/tag13.xml"/><Relationship Id="rId5" Type="http://schemas.openxmlformats.org/officeDocument/2006/relationships/image" Target="../media/image5.png"/><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0" Type="http://schemas.openxmlformats.org/officeDocument/2006/relationships/notesSlide" Target="../notesSlides/notesSlide3.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image" Target="../media/image7.png"/><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image" Target="../media/image5.png"/><Relationship Id="rId18" Type="http://schemas.openxmlformats.org/officeDocument/2006/relationships/notesSlide" Target="../notesSlides/notesSlide4.xml"/><Relationship Id="rId17" Type="http://schemas.openxmlformats.org/officeDocument/2006/relationships/slideLayout" Target="../slideLayouts/slideLayout7.xml"/><Relationship Id="rId16" Type="http://schemas.openxmlformats.org/officeDocument/2006/relationships/image" Target="../media/image13.png"/><Relationship Id="rId15" Type="http://schemas.openxmlformats.org/officeDocument/2006/relationships/image" Target="../media/image12.png"/><Relationship Id="rId14" Type="http://schemas.openxmlformats.org/officeDocument/2006/relationships/image" Target="../media/image11.png"/><Relationship Id="rId13" Type="http://schemas.openxmlformats.org/officeDocument/2006/relationships/image" Target="../media/image10.png"/><Relationship Id="rId12" Type="http://schemas.openxmlformats.org/officeDocument/2006/relationships/image" Target="../media/image9.svg"/><Relationship Id="rId11" Type="http://schemas.openxmlformats.org/officeDocument/2006/relationships/image" Target="../media/image8.png"/><Relationship Id="rId10" Type="http://schemas.openxmlformats.org/officeDocument/2006/relationships/tags" Target="../tags/tag22.xml"/><Relationship Id="rId1" Type="http://schemas.openxmlformats.org/officeDocument/2006/relationships/tags" Target="../tags/tag15.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tags" Target="../tags/tag25.xml"/><Relationship Id="rId3" Type="http://schemas.openxmlformats.org/officeDocument/2006/relationships/image" Target="../media/image5.png"/><Relationship Id="rId2" Type="http://schemas.openxmlformats.org/officeDocument/2006/relationships/tags" Target="../tags/tag24.xml"/><Relationship Id="rId1" Type="http://schemas.openxmlformats.org/officeDocument/2006/relationships/tags" Target="../tags/tag23.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28.xml"/><Relationship Id="rId3" Type="http://schemas.openxmlformats.org/officeDocument/2006/relationships/image" Target="../media/image5.png"/><Relationship Id="rId2" Type="http://schemas.openxmlformats.org/officeDocument/2006/relationships/tags" Target="../tags/tag27.xml"/><Relationship Id="rId1" Type="http://schemas.openxmlformats.org/officeDocument/2006/relationships/tags" Target="../tags/tag26.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2.xml"/><Relationship Id="rId6" Type="http://schemas.openxmlformats.org/officeDocument/2006/relationships/tags" Target="../tags/tag31.xml"/><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5.png"/><Relationship Id="rId2" Type="http://schemas.openxmlformats.org/officeDocument/2006/relationships/tags" Target="../tags/tag30.xml"/><Relationship Id="rId1" Type="http://schemas.openxmlformats.org/officeDocument/2006/relationships/tags" Target="../tags/tag29.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34.xml"/><Relationship Id="rId3" Type="http://schemas.openxmlformats.org/officeDocument/2006/relationships/image" Target="../media/image5.png"/><Relationship Id="rId2" Type="http://schemas.openxmlformats.org/officeDocument/2006/relationships/tags" Target="../tags/tag33.xml"/><Relationship Id="rId1" Type="http://schemas.openxmlformats.org/officeDocument/2006/relationships/tags" Target="../tags/tag32.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2.xml"/><Relationship Id="rId6" Type="http://schemas.openxmlformats.org/officeDocument/2006/relationships/tags" Target="../tags/tag38.xml"/><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2.xml"/><Relationship Id="rId5" Type="http://schemas.openxmlformats.org/officeDocument/2006/relationships/tags" Target="../tags/tag42.xml"/><Relationship Id="rId4" Type="http://schemas.openxmlformats.org/officeDocument/2006/relationships/image" Target="../media/image18.png"/><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2.xml"/><Relationship Id="rId5" Type="http://schemas.openxmlformats.org/officeDocument/2006/relationships/tags" Target="../tags/tag46.xml"/><Relationship Id="rId4" Type="http://schemas.openxmlformats.org/officeDocument/2006/relationships/image" Target="../media/image19.png"/><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2.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image" Target="../media/image5.png"/><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2.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image" Target="../media/image5.png"/><Relationship Id="rId1"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and person sitting in a room with a computer&#10;&#10;Description automatically generated"/>
          <p:cNvPicPr>
            <a:picLocks noChangeAspect="1"/>
          </p:cNvPicPr>
          <p:nvPr/>
        </p:nvPicPr>
        <p:blipFill>
          <a:blip r:embed="rId1">
            <a:extLst>
              <a:ext uri="{BEBA8EAE-BF5A-486C-A8C5-ECC9F3942E4B}">
                <a14:imgProps xmlns:a14="http://schemas.microsoft.com/office/drawing/2010/main">
                  <a14:imgLayer r:embed="rId2">
                    <a14:imgEffect>
                      <a14:brightnessContrast bright="13000" contrast="-49000"/>
                    </a14:imgEffect>
                    <a14:imgEffect>
                      <a14:saturation sat="16000"/>
                    </a14:imgEffect>
                    <a14:imgEffect>
                      <a14:sharpenSoften amount="-23000"/>
                    </a14:imgEffect>
                  </a14:imgLayer>
                </a14:imgProps>
              </a:ext>
              <a:ext uri="{28A0092B-C50C-407E-A947-70E740481C1C}">
                <a14:useLocalDpi xmlns:a14="http://schemas.microsoft.com/office/drawing/2010/main" val="0"/>
              </a:ext>
            </a:extLst>
          </a:blip>
          <a:stretch>
            <a:fillRect/>
          </a:stretch>
        </p:blipFill>
        <p:spPr>
          <a:xfrm>
            <a:off x="0" y="347153"/>
            <a:ext cx="12192000" cy="6120322"/>
          </a:xfrm>
          <a:prstGeom prst="rect">
            <a:avLst/>
          </a:prstGeom>
        </p:spPr>
      </p:pic>
      <p:sp>
        <p:nvSpPr>
          <p:cNvPr id="9" name="矩形 7"/>
          <p:cNvSpPr/>
          <p:nvPr>
            <p:custDataLst>
              <p:tags r:id="rId3"/>
            </p:custDataLst>
          </p:nvPr>
        </p:nvSpPr>
        <p:spPr>
          <a:xfrm>
            <a:off x="0" y="0"/>
            <a:ext cx="12192000" cy="1203942"/>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accent6"/>
              </a:solidFill>
              <a:latin typeface="微软雅黑" panose="020B0503020204020204" pitchFamily="34" charset="-122"/>
              <a:ea typeface="微软雅黑" panose="020B0503020204020204" pitchFamily="34" charset="-122"/>
              <a:sym typeface="+mn-ea"/>
            </a:endParaRPr>
          </a:p>
        </p:txBody>
      </p:sp>
      <p:sp>
        <p:nvSpPr>
          <p:cNvPr id="30" name="矩形 7"/>
          <p:cNvSpPr/>
          <p:nvPr>
            <p:custDataLst>
              <p:tags r:id="rId4"/>
            </p:custDataLst>
          </p:nvPr>
        </p:nvSpPr>
        <p:spPr>
          <a:xfrm>
            <a:off x="0" y="1086295"/>
            <a:ext cx="12192000" cy="4567763"/>
          </a:xfrm>
          <a:prstGeom prst="rect">
            <a:avLst/>
          </a:prstGeom>
          <a:solidFill>
            <a:srgbClr val="73B98F">
              <a:alpha val="5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0">
              <a:solidFill>
                <a:schemeClr val="accent6"/>
              </a:solidFill>
              <a:latin typeface="微软雅黑" panose="020B0503020204020204" pitchFamily="34" charset="-122"/>
              <a:ea typeface="微软雅黑" panose="020B0503020204020204" pitchFamily="34" charset="-122"/>
              <a:sym typeface="+mn-ea"/>
            </a:endParaRPr>
          </a:p>
        </p:txBody>
      </p:sp>
      <p:sp>
        <p:nvSpPr>
          <p:cNvPr id="22" name="文本框 20"/>
          <p:cNvSpPr txBox="1"/>
          <p:nvPr>
            <p:custDataLst>
              <p:tags r:id="rId5"/>
            </p:custDataLst>
          </p:nvPr>
        </p:nvSpPr>
        <p:spPr>
          <a:xfrm>
            <a:off x="399346" y="257682"/>
            <a:ext cx="4077404" cy="609600"/>
          </a:xfrm>
          <a:prstGeom prst="rect">
            <a:avLst/>
          </a:prstGeom>
          <a:noFill/>
        </p:spPr>
        <p:txBody>
          <a:bodyPr wrap="square" lIns="63500" tIns="25400" rIns="63500" bIns="25400" rtlCol="0" anchor="ctr" anchorCtr="0">
            <a:noAutofit/>
          </a:bodyPr>
          <a:lstStyle/>
          <a:p>
            <a:pPr marL="0" indent="0" algn="l">
              <a:lnSpc>
                <a:spcPct val="100000"/>
              </a:lnSpc>
              <a:spcBef>
                <a:spcPts val="0"/>
              </a:spcBef>
              <a:spcAft>
                <a:spcPts val="0"/>
              </a:spcAft>
              <a:buSzPct val="100000"/>
              <a:buNone/>
            </a:pPr>
            <a:r>
              <a:rPr lang="en-US" altLang="zh-CN" sz="3800" b="1" strike="noStrike" dirty="0">
                <a:solidFill>
                  <a:schemeClr val="lt1"/>
                </a:solidFill>
                <a:uFillTx/>
                <a:latin typeface="Montserrat" pitchFamily="2" charset="0"/>
                <a:ea typeface="微软雅黑" panose="020B0503020204020204" pitchFamily="34" charset="-122"/>
                <a:cs typeface="Roboto" charset="0"/>
                <a:sym typeface="Roboto"/>
              </a:rPr>
              <a:t>Product Guide</a:t>
            </a:r>
            <a:endParaRPr lang="en-US" altLang="zh-CN" sz="3800" b="1" strike="noStrike" dirty="0">
              <a:solidFill>
                <a:schemeClr val="lt1"/>
              </a:solidFill>
              <a:uFillTx/>
              <a:latin typeface="Montserrat" pitchFamily="2" charset="0"/>
              <a:ea typeface="微软雅黑" panose="020B0503020204020204" pitchFamily="34" charset="-122"/>
              <a:cs typeface="Roboto" charset="0"/>
              <a:sym typeface="Roboto"/>
            </a:endParaRPr>
          </a:p>
        </p:txBody>
      </p:sp>
      <p:sp>
        <p:nvSpPr>
          <p:cNvPr id="2" name="Title 1"/>
          <p:cNvSpPr>
            <a:spLocks noGrp="1"/>
          </p:cNvSpPr>
          <p:nvPr>
            <p:ph type="ctrTitle"/>
          </p:nvPr>
        </p:nvSpPr>
        <p:spPr>
          <a:xfrm>
            <a:off x="4881065" y="198014"/>
            <a:ext cx="7063286" cy="503028"/>
          </a:xfrm>
        </p:spPr>
        <p:txBody>
          <a:bodyPr>
            <a:noAutofit/>
          </a:bodyPr>
          <a:lstStyle/>
          <a:p>
            <a:pPr algn="r"/>
            <a:r>
              <a:rPr lang="en-US" altLang="zh-CN" sz="2600" b="1" dirty="0">
                <a:solidFill>
                  <a:schemeClr val="bg1"/>
                </a:solidFill>
                <a:latin typeface="Roboto" charset="0"/>
                <a:ea typeface="Roboto"/>
                <a:cs typeface="Roboto" charset="0"/>
                <a:sym typeface="+mn-ea"/>
              </a:rPr>
              <a:t>HALO 80</a:t>
            </a:r>
            <a:endParaRPr lang="zh-CN" altLang="en-US" sz="2600" b="1" dirty="0">
              <a:solidFill>
                <a:schemeClr val="bg1"/>
              </a:solidFill>
              <a:latin typeface="Roboto" charset="0"/>
              <a:ea typeface="宋体" panose="02010600030101010101" pitchFamily="2" charset="-122"/>
              <a:cs typeface="Roboto" charset="0"/>
              <a:sym typeface="+mn-ea"/>
            </a:endParaRPr>
          </a:p>
        </p:txBody>
      </p:sp>
      <p:sp>
        <p:nvSpPr>
          <p:cNvPr id="3" name="Title 1"/>
          <p:cNvSpPr txBox="1"/>
          <p:nvPr/>
        </p:nvSpPr>
        <p:spPr>
          <a:xfrm>
            <a:off x="7018474" y="697874"/>
            <a:ext cx="5173526" cy="43466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altLang="zh-CN" sz="1800" dirty="0">
                <a:solidFill>
                  <a:schemeClr val="accent6">
                    <a:lumMod val="40000"/>
                    <a:lumOff val="60000"/>
                  </a:schemeClr>
                </a:solidFill>
                <a:latin typeface="Roboto" charset="0"/>
                <a:ea typeface="宋体" panose="02010600030101010101" pitchFamily="2" charset="-122"/>
                <a:cs typeface="Roboto" charset="0"/>
                <a:sym typeface="+mn-ea"/>
              </a:rPr>
              <a:t>Plug and Play Portable USB and Bluetooth Conference Speakerphone</a:t>
            </a:r>
            <a:endParaRPr lang="zh-CN" altLang="en-US" sz="1800" dirty="0">
              <a:solidFill>
                <a:schemeClr val="accent6">
                  <a:lumMod val="40000"/>
                  <a:lumOff val="60000"/>
                </a:schemeClr>
              </a:solidFill>
              <a:latin typeface="Roboto" charset="0"/>
              <a:ea typeface="宋体" panose="02010600030101010101" pitchFamily="2" charset="-122"/>
              <a:cs typeface="Roboto" charset="0"/>
              <a:sym typeface="+mn-ea"/>
            </a:endParaRPr>
          </a:p>
        </p:txBody>
      </p:sp>
      <p:sp>
        <p:nvSpPr>
          <p:cNvPr id="13" name="矩形 7"/>
          <p:cNvSpPr/>
          <p:nvPr>
            <p:custDataLst>
              <p:tags r:id="rId6"/>
            </p:custDataLst>
          </p:nvPr>
        </p:nvSpPr>
        <p:spPr>
          <a:xfrm>
            <a:off x="0" y="5654059"/>
            <a:ext cx="12192000" cy="1203436"/>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pic>
        <p:nvPicPr>
          <p:cNvPr id="26" name="Picture 25" descr="A picture containing text, clock&#10;&#10;Description automatically generated"/>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9346" y="5877970"/>
            <a:ext cx="4315581" cy="863114"/>
          </a:xfrm>
          <a:prstGeom prst="rect">
            <a:avLst/>
          </a:prstGeom>
        </p:spPr>
      </p:pic>
      <p:sp>
        <p:nvSpPr>
          <p:cNvPr id="19" name="Title 1"/>
          <p:cNvSpPr txBox="1"/>
          <p:nvPr/>
        </p:nvSpPr>
        <p:spPr>
          <a:xfrm>
            <a:off x="6616271" y="5849316"/>
            <a:ext cx="5691024" cy="81161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i="1" dirty="0">
                <a:latin typeface="Montserrat"/>
                <a:ea typeface="Roboto"/>
                <a:cs typeface="Arial" panose="020B0604020202020204"/>
              </a:rPr>
              <a:t>Award-Winning Audio-Visual</a:t>
            </a:r>
            <a:br>
              <a:rPr lang="en-US" sz="2400" b="1" i="1" dirty="0">
                <a:latin typeface="Montserrat" pitchFamily="2" charset="77"/>
                <a:ea typeface="Roboto"/>
                <a:cs typeface="Arial" panose="020B0604020202020204"/>
              </a:rPr>
            </a:br>
            <a:r>
              <a:rPr lang="en-US" sz="2400" b="1" i="1" dirty="0">
                <a:latin typeface="Montserrat"/>
                <a:ea typeface="Roboto"/>
                <a:cs typeface="Arial" panose="020B0604020202020204"/>
              </a:rPr>
              <a:t>Solutions Manufacturer</a:t>
            </a:r>
            <a:endParaRPr lang="en-US" sz="2400" b="1" i="1" dirty="0">
              <a:latin typeface="Montserrat"/>
              <a:ea typeface="Roboto"/>
              <a:cs typeface="Arial" panose="020B0604020202020204"/>
            </a:endParaRPr>
          </a:p>
        </p:txBody>
      </p:sp>
      <p:pic>
        <p:nvPicPr>
          <p:cNvPr id="11" name="图片 10" descr="图片包含 话筒, 桌子, 仪表&#10;&#10;AI 生成的内容可能不正确。"/>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628494" y="1242042"/>
            <a:ext cx="6935011" cy="433438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400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2000"/>
                                        <p:tgtEl>
                                          <p:spTgt spid="26"/>
                                        </p:tgtEl>
                                      </p:cBhvr>
                                    </p:animEffect>
                                    <p:anim calcmode="lin" valueType="num">
                                      <p:cBhvr>
                                        <p:cTn id="15" dur="2000" fill="hold"/>
                                        <p:tgtEl>
                                          <p:spTgt spid="26"/>
                                        </p:tgtEl>
                                        <p:attrNameLst>
                                          <p:attrName>ppt_x</p:attrName>
                                        </p:attrNameLst>
                                      </p:cBhvr>
                                      <p:tavLst>
                                        <p:tav tm="0">
                                          <p:val>
                                            <p:strVal val="#ppt_x"/>
                                          </p:val>
                                        </p:tav>
                                        <p:tav tm="100000">
                                          <p:val>
                                            <p:strVal val="#ppt_x"/>
                                          </p:val>
                                        </p:tav>
                                      </p:tavLst>
                                    </p:anim>
                                    <p:anim calcmode="lin" valueType="num">
                                      <p:cBhvr>
                                        <p:cTn id="16" dur="2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21" name="文本框 20"/>
          <p:cNvSpPr txBox="1"/>
          <p:nvPr>
            <p:custDataLst>
              <p:tags r:id="rId2"/>
            </p:custDataLst>
          </p:nvPr>
        </p:nvSpPr>
        <p:spPr>
          <a:xfrm>
            <a:off x="457155" y="161926"/>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altLang="zh-CN" sz="2800" b="1" strike="noStrike" dirty="0">
                <a:solidFill>
                  <a:schemeClr val="lt1"/>
                </a:solidFill>
                <a:uFillTx/>
                <a:latin typeface="Montserrat" pitchFamily="2" charset="0"/>
                <a:ea typeface="微软雅黑" panose="020B0503020204020204" pitchFamily="34" charset="-122"/>
                <a:cs typeface="Roboto" charset="0"/>
                <a:sym typeface="Roboto"/>
              </a:rPr>
              <a:t>Contents</a:t>
            </a:r>
            <a:endParaRPr lang="en-US" altLang="zh-CN" sz="2800" b="1" strike="noStrike" dirty="0">
              <a:solidFill>
                <a:schemeClr val="lt1"/>
              </a:solidFill>
              <a:uFillTx/>
              <a:latin typeface="Montserrat" pitchFamily="2" charset="0"/>
              <a:ea typeface="微软雅黑" panose="020B0503020204020204" pitchFamily="34" charset="-122"/>
              <a:cs typeface="Roboto" charset="0"/>
              <a:sym typeface="Roboto"/>
            </a:endParaRPr>
          </a:p>
        </p:txBody>
      </p:sp>
      <p:pic>
        <p:nvPicPr>
          <p:cNvPr id="2" name="Google Shape;82;p1"/>
          <p:cNvPicPr preferRelativeResize="0"/>
          <p:nvPr/>
        </p:nvPicPr>
        <p:blipFill>
          <a:blip r:embed="rId3"/>
          <a:stretch>
            <a:fillRect/>
          </a:stretch>
        </p:blipFill>
        <p:spPr>
          <a:xfrm>
            <a:off x="9652104" y="6056488"/>
            <a:ext cx="2241019" cy="440200"/>
          </a:xfrm>
          <a:prstGeom prst="rect">
            <a:avLst/>
          </a:prstGeom>
          <a:noFill/>
          <a:ln>
            <a:noFill/>
          </a:ln>
        </p:spPr>
      </p:pic>
      <p:sp>
        <p:nvSpPr>
          <p:cNvPr id="3"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6" name="Rectangle 5"/>
          <p:cNvSpPr/>
          <p:nvPr/>
        </p:nvSpPr>
        <p:spPr>
          <a:xfrm>
            <a:off x="3031795" y="1200269"/>
            <a:ext cx="5950280"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327193" y="1869423"/>
            <a:ext cx="335948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593768" y="2530186"/>
            <a:ext cx="48263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1974517" y="4580825"/>
            <a:ext cx="80648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4597233" y="5229719"/>
            <a:ext cx="29975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2853662" y="3220571"/>
            <a:ext cx="6306544"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164096" y="3926604"/>
            <a:ext cx="3863808"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6"/>
          <p:cNvSpPr txBox="1"/>
          <p:nvPr>
            <p:custDataLst>
              <p:tags r:id="rId4"/>
            </p:custDataLst>
          </p:nvPr>
        </p:nvSpPr>
        <p:spPr>
          <a:xfrm>
            <a:off x="1570187" y="1366043"/>
            <a:ext cx="8873491" cy="4209932"/>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Product Overview &amp; Key Features</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Why Choose Us?</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altLang="zh-CN" sz="2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Interface &amp; Specifications</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Typical Connection &amp; Applications </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Competitor Analysis</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Quick Installation Guide &amp; Web UI Introduction</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Q &amp; A Session</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spTree>
    <p:custDataLst>
      <p:tags r:id="rId5"/>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cxnSp>
        <p:nvCxnSpPr>
          <p:cNvPr id="11" name="直接连接符 10"/>
          <p:cNvCxnSpPr/>
          <p:nvPr>
            <p:custDataLst>
              <p:tags r:id="rId2"/>
            </p:custDataLst>
          </p:nvPr>
        </p:nvCxnSpPr>
        <p:spPr>
          <a:xfrm>
            <a:off x="8904655" y="1635474"/>
            <a:ext cx="2489200" cy="0"/>
          </a:xfrm>
          <a:prstGeom prst="line">
            <a:avLst/>
          </a:prstGeom>
          <a:ln w="28575" cmpd="sng">
            <a:solidFill>
              <a:schemeClr val="dk2"/>
            </a:solidFill>
            <a:prstDash val="sysDot"/>
          </a:ln>
        </p:spPr>
        <p:style>
          <a:lnRef idx="1">
            <a:schemeClr val="dk1"/>
          </a:lnRef>
          <a:fillRef idx="0">
            <a:schemeClr val="dk1"/>
          </a:fillRef>
          <a:effectRef idx="0">
            <a:schemeClr val="dk1"/>
          </a:effectRef>
          <a:fontRef idx="minor">
            <a:schemeClr val="tx1"/>
          </a:fontRef>
        </p:style>
      </p:cxnSp>
      <p:cxnSp>
        <p:nvCxnSpPr>
          <p:cNvPr id="12" name="直接连接符 11"/>
          <p:cNvCxnSpPr/>
          <p:nvPr>
            <p:custDataLst>
              <p:tags r:id="rId3"/>
            </p:custDataLst>
          </p:nvPr>
        </p:nvCxnSpPr>
        <p:spPr>
          <a:xfrm>
            <a:off x="5829257" y="5517369"/>
            <a:ext cx="2489200" cy="0"/>
          </a:xfrm>
          <a:prstGeom prst="line">
            <a:avLst/>
          </a:prstGeom>
          <a:ln w="28575" cmpd="sng">
            <a:solidFill>
              <a:schemeClr val="dk2"/>
            </a:solidFill>
            <a:prstDash val="sysDot"/>
          </a:ln>
        </p:spPr>
        <p:style>
          <a:lnRef idx="1">
            <a:schemeClr val="dk1"/>
          </a:lnRef>
          <a:fillRef idx="0">
            <a:schemeClr val="dk1"/>
          </a:fillRef>
          <a:effectRef idx="0">
            <a:schemeClr val="dk1"/>
          </a:effectRef>
          <a:fontRef idx="minor">
            <a:schemeClr val="tx1"/>
          </a:fontRef>
        </p:style>
      </p:cxnSp>
      <p:sp>
        <p:nvSpPr>
          <p:cNvPr id="7" name="文本框 6"/>
          <p:cNvSpPr txBox="1"/>
          <p:nvPr>
            <p:custDataLst>
              <p:tags r:id="rId4"/>
            </p:custDataLst>
          </p:nvPr>
        </p:nvSpPr>
        <p:spPr>
          <a:xfrm>
            <a:off x="457155" y="155572"/>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Product Overview</a:t>
            </a:r>
            <a:endParaRPr lang="en-US" sz="2800" b="1" dirty="0">
              <a:solidFill>
                <a:schemeClr val="lt1"/>
              </a:solidFill>
              <a:uFillTx/>
              <a:latin typeface="Montserrat" pitchFamily="2" charset="0"/>
              <a:ea typeface="微软雅黑" panose="020B0503020204020204" pitchFamily="34" charset="-122"/>
              <a:sym typeface="Roboto"/>
            </a:endParaRPr>
          </a:p>
        </p:txBody>
      </p:sp>
      <p:pic>
        <p:nvPicPr>
          <p:cNvPr id="3" name="Google Shape;82;p1"/>
          <p:cNvPicPr preferRelativeResize="0"/>
          <p:nvPr/>
        </p:nvPicPr>
        <p:blipFill>
          <a:blip r:embed="rId5"/>
          <a:stretch>
            <a:fillRect/>
          </a:stretch>
        </p:blipFill>
        <p:spPr>
          <a:xfrm>
            <a:off x="9652104" y="6056488"/>
            <a:ext cx="2241019" cy="440200"/>
          </a:xfrm>
          <a:prstGeom prst="rect">
            <a:avLst/>
          </a:prstGeom>
          <a:noFill/>
          <a:ln>
            <a:noFill/>
          </a:ln>
        </p:spPr>
      </p:pic>
      <p:sp>
        <p:nvSpPr>
          <p:cNvPr id="14" name="Title 6"/>
          <p:cNvSpPr txBox="1"/>
          <p:nvPr>
            <p:custDataLst>
              <p:tags r:id="rId6"/>
            </p:custDataLst>
          </p:nvPr>
        </p:nvSpPr>
        <p:spPr>
          <a:xfrm>
            <a:off x="5765165" y="1710269"/>
            <a:ext cx="5685156" cy="3640098"/>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indent="-285750" fontAlgn="ctr">
              <a:lnSpc>
                <a:spcPts val="2600"/>
              </a:lnSpc>
              <a:spcBef>
                <a:spcPts val="0"/>
              </a:spcBef>
              <a:spcAft>
                <a:spcPts val="800"/>
              </a:spcAft>
              <a:buSzPct val="100000"/>
            </a:pPr>
            <a:r>
              <a:rPr lang="en-US" altLang="zh-CN" sz="2445" b="1" spc="0" dirty="0">
                <a:ln w="3175">
                  <a:noFill/>
                  <a:prstDash val="dash"/>
                </a:ln>
                <a:solidFill>
                  <a:schemeClr val="bg2">
                    <a:lumMod val="25000"/>
                  </a:schemeClr>
                </a:solidFill>
                <a:latin typeface="Roboto" charset="0"/>
                <a:ea typeface="Roboto" charset="0"/>
                <a:cs typeface="Arial" panose="020B0604020202020204" pitchFamily="34" charset="0"/>
              </a:rPr>
              <a:t>Plug and Play Portable USB and Bluetooth Conference Speakerphone</a:t>
            </a:r>
            <a:endParaRPr lang="en-US" altLang="zh-CN" sz="2445" b="1" spc="0" dirty="0">
              <a:ln w="3175">
                <a:noFill/>
                <a:prstDash val="dash"/>
              </a:ln>
              <a:solidFill>
                <a:schemeClr val="bg2">
                  <a:lumMod val="25000"/>
                </a:schemeClr>
              </a:solidFill>
              <a:latin typeface="Roboto" charset="0"/>
              <a:ea typeface="Roboto" charset="0"/>
              <a:cs typeface="Arial" panose="020B0604020202020204" pitchFamily="34" charset="0"/>
              <a:sym typeface="+mn-ea"/>
            </a:endParaRPr>
          </a:p>
          <a:p>
            <a:pPr indent="-285750" fontAlgn="ctr">
              <a:lnSpc>
                <a:spcPct val="120000"/>
              </a:lnSpc>
              <a:spcBef>
                <a:spcPts val="0"/>
              </a:spcBef>
              <a:spcAft>
                <a:spcPts val="800"/>
              </a:spcAft>
              <a:buSzPct val="100000"/>
            </a:pPr>
            <a:r>
              <a:rPr lang="en-US" altLang="zh-CN" sz="1555" spc="0" dirty="0">
                <a:ln w="3175">
                  <a:noFill/>
                  <a:prstDash val="dash"/>
                </a:ln>
                <a:solidFill>
                  <a:schemeClr val="dk1">
                    <a:lumMod val="75000"/>
                    <a:lumOff val="25000"/>
                  </a:schemeClr>
                </a:solidFill>
                <a:latin typeface="Roboto" charset="0"/>
                <a:ea typeface="Roboto" charset="0"/>
                <a:cs typeface="Arial" panose="020B0604020202020204" pitchFamily="34" charset="0"/>
              </a:rPr>
              <a:t>The HALO 80 is designed for modern flexibility and performance. This all-in-one speakerphone features advanced AEC (Acoustic Echo Cancellation), AGC (Auto Gain Control), and ANS (Automatic Noise Suppression), delivering crystal-clear audio in remote conferences. With support for both USB and Bluetooth connectivity, it adapts seamlessly to various setups—from huddle rooms to large meeting spaces. Equipped with four omnidirectional mic arrays and a powerful full-range speaker, it offers plug-and-play convenience and broad compatibility with major operating systems and conferencing platforms.</a:t>
            </a:r>
            <a:endParaRPr lang="en-US" altLang="zh-CN" sz="1555"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a:p>
            <a:pPr indent="-285750" fontAlgn="ctr">
              <a:lnSpc>
                <a:spcPct val="120000"/>
              </a:lnSpc>
              <a:spcBef>
                <a:spcPts val="0"/>
              </a:spcBef>
              <a:spcAft>
                <a:spcPts val="800"/>
              </a:spcAft>
              <a:buSzPct val="100000"/>
            </a:pPr>
            <a:r>
              <a:rPr lang="en-US" altLang="zh-CN" sz="1555" spc="0" dirty="0">
                <a:ln w="3175">
                  <a:noFill/>
                  <a:prstDash val="dash"/>
                </a:ln>
                <a:solidFill>
                  <a:schemeClr val="dk1">
                    <a:lumMod val="75000"/>
                    <a:lumOff val="25000"/>
                  </a:schemeClr>
                </a:solidFill>
                <a:latin typeface="Roboto" charset="0"/>
                <a:ea typeface="Roboto" charset="0"/>
                <a:cs typeface="Arial" panose="020B0604020202020204" pitchFamily="34" charset="0"/>
              </a:rPr>
              <a:t> By cascading up to nine HALO 80 units, it ensures reliable coverage and exceptional audio quality, making it an ideal solution for meeting spaces of any size.</a:t>
            </a:r>
            <a:endParaRPr lang="en-US" altLang="zh-CN" sz="1555"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p:txBody>
      </p:sp>
      <p:sp>
        <p:nvSpPr>
          <p:cNvPr id="2"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pic>
        <p:nvPicPr>
          <p:cNvPr id="10" name="图片 9" descr="图片包含 话筒, 游戏机&#10;&#10;AI 生成的内容可能不正确。"/>
          <p:cNvPicPr>
            <a:picLocks noChangeAspect="1"/>
          </p:cNvPicPr>
          <p:nvPr/>
        </p:nvPicPr>
        <p:blipFill>
          <a:blip r:embed="rId7" cstate="print">
            <a:extLst>
              <a:ext uri="{28A0092B-C50C-407E-A947-70E740481C1C}">
                <a14:useLocalDpi xmlns:a14="http://schemas.microsoft.com/office/drawing/2010/main" val="0"/>
              </a:ext>
            </a:extLst>
          </a:blip>
          <a:srcRect l="19305" r="21709"/>
          <a:stretch>
            <a:fillRect/>
          </a:stretch>
        </p:blipFill>
        <p:spPr>
          <a:xfrm rot="19000905">
            <a:off x="1219200" y="1710269"/>
            <a:ext cx="3725333" cy="3947251"/>
          </a:xfrm>
          <a:prstGeom prst="rect">
            <a:avLst/>
          </a:prstGeom>
        </p:spPr>
      </p:pic>
    </p:spTree>
    <p:custDataLst>
      <p:tags r:id="rId8"/>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pic>
        <p:nvPicPr>
          <p:cNvPr id="10" name="Google Shape;82;p1"/>
          <p:cNvPicPr preferRelativeResize="0"/>
          <p:nvPr/>
        </p:nvPicPr>
        <p:blipFill>
          <a:blip r:embed="rId2"/>
          <a:stretch>
            <a:fillRect/>
          </a:stretch>
        </p:blipFill>
        <p:spPr>
          <a:xfrm>
            <a:off x="9652104" y="6056488"/>
            <a:ext cx="2241019" cy="440200"/>
          </a:xfrm>
          <a:prstGeom prst="rect">
            <a:avLst/>
          </a:prstGeom>
          <a:noFill/>
          <a:ln>
            <a:noFill/>
          </a:ln>
        </p:spPr>
      </p:pic>
      <p:sp>
        <p:nvSpPr>
          <p:cNvPr id="1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21" name="文本框 6"/>
          <p:cNvSpPr txBox="1"/>
          <p:nvPr>
            <p:custDataLst>
              <p:tags r:id="rId3"/>
            </p:custDataLst>
          </p:nvPr>
        </p:nvSpPr>
        <p:spPr>
          <a:xfrm>
            <a:off x="457155" y="163192"/>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Main Features</a:t>
            </a:r>
            <a:endParaRPr lang="en-US" sz="2800" b="1" dirty="0">
              <a:solidFill>
                <a:schemeClr val="lt1"/>
              </a:solidFill>
              <a:uFillTx/>
              <a:latin typeface="Montserrat" pitchFamily="2" charset="0"/>
              <a:ea typeface="微软雅黑" panose="020B0503020204020204" pitchFamily="34" charset="-122"/>
              <a:sym typeface="Roboto"/>
            </a:endParaRPr>
          </a:p>
        </p:txBody>
      </p:sp>
      <p:sp>
        <p:nvSpPr>
          <p:cNvPr id="2" name="文本框 1"/>
          <p:cNvSpPr txBox="1"/>
          <p:nvPr>
            <p:custDataLst>
              <p:tags r:id="rId4"/>
            </p:custDataLst>
          </p:nvPr>
        </p:nvSpPr>
        <p:spPr>
          <a:xfrm>
            <a:off x="1233441" y="3093749"/>
            <a:ext cx="4513352" cy="1052830"/>
          </a:xfrm>
          <a:prstGeom prst="rect">
            <a:avLst/>
          </a:prstGeom>
          <a:noFill/>
        </p:spPr>
        <p:txBody>
          <a:bodyPr wrap="square" rtlCol="0">
            <a:spAutoFit/>
          </a:bodyPr>
          <a:lstStyle/>
          <a:p>
            <a:pPr algn="l">
              <a:lnSpc>
                <a:spcPts val="1500"/>
              </a:lnSpc>
              <a:buClrTx/>
              <a:buSzTx/>
              <a:buFontTx/>
            </a:pPr>
            <a:r>
              <a:rPr lang="en-US" altLang="zh-CN" sz="1600" b="1" dirty="0">
                <a:solidFill>
                  <a:srgbClr val="0B7935"/>
                </a:solidFill>
                <a:latin typeface="Roboto" charset="0"/>
                <a:ea typeface="Roboto" charset="0"/>
              </a:rPr>
              <a:t>Premium</a:t>
            </a:r>
            <a:r>
              <a:rPr lang="en-US" sz="1600" b="1" dirty="0">
                <a:solidFill>
                  <a:srgbClr val="0B7935"/>
                </a:solidFill>
                <a:latin typeface="Roboto" charset="0"/>
                <a:ea typeface="Roboto" charset="0"/>
              </a:rPr>
              <a:t> Audio </a:t>
            </a:r>
            <a:r>
              <a:rPr lang="en-US" altLang="zh-CN" sz="1600" b="1" dirty="0">
                <a:solidFill>
                  <a:srgbClr val="0B7935"/>
                </a:solidFill>
                <a:latin typeface="Roboto" charset="0"/>
                <a:ea typeface="Roboto" charset="0"/>
              </a:rPr>
              <a:t>Performance</a:t>
            </a:r>
            <a:br>
              <a:rPr lang="en-US" sz="1400" dirty="0"/>
            </a:br>
            <a:r>
              <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sym typeface="+mn-ea"/>
              </a:rPr>
              <a:t>Advanced audio processing with Acoustic Echo Cancellation, Noise Suppression, and Automatic Gain Control delivers crystal-clear speech while eliminating distractions to ensure every word is heard.</a:t>
            </a:r>
            <a:endPar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sym typeface="+mn-ea"/>
            </a:endParaRPr>
          </a:p>
        </p:txBody>
      </p:sp>
      <p:pic>
        <p:nvPicPr>
          <p:cNvPr id="13" name="Picture 42" descr="A black and white background with circles and dots&#10;&#10;Description automatically generated"/>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7416" y="3105150"/>
            <a:ext cx="516314" cy="424368"/>
          </a:xfrm>
          <a:prstGeom prst="rect">
            <a:avLst/>
          </a:prstGeom>
        </p:spPr>
      </p:pic>
      <p:sp>
        <p:nvSpPr>
          <p:cNvPr id="15" name="文本框 14"/>
          <p:cNvSpPr txBox="1"/>
          <p:nvPr>
            <p:custDataLst>
              <p:tags r:id="rId6"/>
            </p:custDataLst>
          </p:nvPr>
        </p:nvSpPr>
        <p:spPr>
          <a:xfrm>
            <a:off x="1233441" y="1828922"/>
            <a:ext cx="4599940" cy="860425"/>
          </a:xfrm>
          <a:prstGeom prst="rect">
            <a:avLst/>
          </a:prstGeom>
          <a:noFill/>
        </p:spPr>
        <p:txBody>
          <a:bodyPr wrap="square" rtlCol="0">
            <a:spAutoFit/>
          </a:bodyPr>
          <a:lstStyle/>
          <a:p>
            <a:pPr>
              <a:lnSpc>
                <a:spcPts val="1500"/>
              </a:lnSpc>
            </a:pPr>
            <a:r>
              <a:rPr lang="en-US" sz="1600" b="1" dirty="0">
                <a:solidFill>
                  <a:srgbClr val="0B7935"/>
                </a:solidFill>
                <a:latin typeface="Roboto" charset="0"/>
                <a:ea typeface="Roboto" charset="0"/>
              </a:rPr>
              <a:t>Premium Mic &amp; Speaker Array</a:t>
            </a:r>
            <a:endParaRPr lang="en-US" altLang="zh-CN" sz="1600" b="1" dirty="0">
              <a:solidFill>
                <a:srgbClr val="0B7935"/>
              </a:solidFill>
              <a:latin typeface="Roboto" charset="0"/>
              <a:ea typeface="Roboto" charset="0"/>
              <a:sym typeface="+mn-ea"/>
            </a:endParaRPr>
          </a:p>
          <a:p>
            <a:pPr>
              <a:lnSpc>
                <a:spcPts val="1500"/>
              </a:lnSpc>
            </a:pPr>
            <a:r>
              <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sym typeface="+mn-ea"/>
              </a:rPr>
              <a:t>Four precision omnidirectional microphones pick up voices in all directions, paired with a high-fidelity 3W full-range speaker that delivers rich, natural sound throughout the room.</a:t>
            </a:r>
            <a:endPar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sym typeface="+mn-ea"/>
            </a:endParaRPr>
          </a:p>
        </p:txBody>
      </p:sp>
      <p:sp>
        <p:nvSpPr>
          <p:cNvPr id="17" name="文本框 16"/>
          <p:cNvSpPr txBox="1"/>
          <p:nvPr>
            <p:custDataLst>
              <p:tags r:id="rId7"/>
            </p:custDataLst>
          </p:nvPr>
        </p:nvSpPr>
        <p:spPr>
          <a:xfrm>
            <a:off x="1233441" y="4535219"/>
            <a:ext cx="4599940" cy="860425"/>
          </a:xfrm>
          <a:prstGeom prst="rect">
            <a:avLst/>
          </a:prstGeom>
          <a:noFill/>
        </p:spPr>
        <p:txBody>
          <a:bodyPr wrap="square" rtlCol="0">
            <a:spAutoFit/>
          </a:bodyPr>
          <a:lstStyle/>
          <a:p>
            <a:pPr>
              <a:lnSpc>
                <a:spcPts val="1500"/>
              </a:lnSpc>
            </a:pPr>
            <a:r>
              <a:rPr lang="en-US" sz="1600" b="1" dirty="0">
                <a:solidFill>
                  <a:srgbClr val="0B7935"/>
                </a:solidFill>
                <a:latin typeface="Roboto" charset="0"/>
                <a:ea typeface="Roboto" charset="0"/>
              </a:rPr>
              <a:t>Room‑Ready Scalability</a:t>
            </a:r>
            <a:endParaRPr lang="en-US" sz="1600" b="1" dirty="0">
              <a:solidFill>
                <a:srgbClr val="0B7935"/>
              </a:solidFill>
              <a:latin typeface="Roboto" charset="0"/>
              <a:ea typeface="Roboto" charset="0"/>
            </a:endParaRPr>
          </a:p>
          <a:p>
            <a:pPr>
              <a:lnSpc>
                <a:spcPts val="1500"/>
              </a:lnSpc>
            </a:pPr>
            <a:r>
              <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rPr>
              <a:t>Cascade up to nine units for effortless coverage, from compact huddle rooms to expansive boardrooms, without sacrificing clarity.</a:t>
            </a:r>
            <a:endPar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sym typeface="+mn-ea"/>
            </a:endParaRPr>
          </a:p>
        </p:txBody>
      </p:sp>
      <p:sp>
        <p:nvSpPr>
          <p:cNvPr id="19" name="文本框 18"/>
          <p:cNvSpPr txBox="1"/>
          <p:nvPr>
            <p:custDataLst>
              <p:tags r:id="rId8"/>
            </p:custDataLst>
          </p:nvPr>
        </p:nvSpPr>
        <p:spPr>
          <a:xfrm>
            <a:off x="6792476" y="3089502"/>
            <a:ext cx="4451787" cy="668020"/>
          </a:xfrm>
          <a:prstGeom prst="rect">
            <a:avLst/>
          </a:prstGeom>
          <a:noFill/>
        </p:spPr>
        <p:txBody>
          <a:bodyPr wrap="square" rtlCol="0">
            <a:spAutoFit/>
          </a:bodyPr>
          <a:lstStyle/>
          <a:p>
            <a:pPr>
              <a:lnSpc>
                <a:spcPts val="1500"/>
              </a:lnSpc>
            </a:pPr>
            <a:r>
              <a:rPr lang="en-US" sz="1600" b="1" dirty="0">
                <a:solidFill>
                  <a:srgbClr val="0B7935"/>
                </a:solidFill>
                <a:latin typeface="Roboto" charset="0"/>
                <a:ea typeface="Roboto" charset="0"/>
              </a:rPr>
              <a:t>Instant Meeting Start‑Up</a:t>
            </a:r>
            <a:endParaRPr lang="en-US" sz="1600" b="1" dirty="0">
              <a:solidFill>
                <a:srgbClr val="0B7935"/>
              </a:solidFill>
              <a:latin typeface="Roboto" charset="0"/>
              <a:ea typeface="Roboto" charset="0"/>
            </a:endParaRPr>
          </a:p>
          <a:p>
            <a:pPr algn="l">
              <a:lnSpc>
                <a:spcPts val="1500"/>
              </a:lnSpc>
              <a:buClrTx/>
              <a:buSzTx/>
              <a:buFontTx/>
            </a:pPr>
            <a:r>
              <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rPr>
              <a:t>Truly plug-and-play: easy to install, no complex setup. Just connect, collaborate, and communicate.</a:t>
            </a:r>
            <a:endPar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endParaRPr>
          </a:p>
        </p:txBody>
      </p:sp>
      <p:sp>
        <p:nvSpPr>
          <p:cNvPr id="23" name="文本框 22"/>
          <p:cNvSpPr txBox="1"/>
          <p:nvPr>
            <p:custDataLst>
              <p:tags r:id="rId9"/>
            </p:custDataLst>
          </p:nvPr>
        </p:nvSpPr>
        <p:spPr>
          <a:xfrm>
            <a:off x="6792477" y="1851888"/>
            <a:ext cx="4599940" cy="668020"/>
          </a:xfrm>
          <a:prstGeom prst="rect">
            <a:avLst/>
          </a:prstGeom>
          <a:noFill/>
        </p:spPr>
        <p:txBody>
          <a:bodyPr wrap="square" rtlCol="0">
            <a:spAutoFit/>
          </a:bodyPr>
          <a:lstStyle/>
          <a:p>
            <a:pPr>
              <a:lnSpc>
                <a:spcPts val="1500"/>
              </a:lnSpc>
            </a:pPr>
            <a:r>
              <a:rPr lang="en-US" sz="1600" b="1" dirty="0">
                <a:solidFill>
                  <a:srgbClr val="0B7935"/>
                </a:solidFill>
                <a:latin typeface="Roboto" charset="0"/>
                <a:ea typeface="Roboto" charset="0"/>
              </a:rPr>
              <a:t>Versatile Connection</a:t>
            </a:r>
            <a:endParaRPr lang="en-US" sz="1600" b="1" dirty="0">
              <a:solidFill>
                <a:srgbClr val="0B7935"/>
              </a:solidFill>
              <a:latin typeface="Roboto" charset="0"/>
              <a:ea typeface="Roboto" charset="0"/>
            </a:endParaRPr>
          </a:p>
          <a:p>
            <a:pPr algn="l">
              <a:lnSpc>
                <a:spcPts val="1500"/>
              </a:lnSpc>
              <a:buClrTx/>
              <a:buSzTx/>
              <a:buFontTx/>
            </a:pPr>
            <a:r>
              <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rPr>
              <a:t>Connect instantly via USB or Bluetooth, empowering participants to join meetings their way.</a:t>
            </a:r>
            <a:endPar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endParaRPr>
          </a:p>
        </p:txBody>
      </p:sp>
      <p:sp>
        <p:nvSpPr>
          <p:cNvPr id="25" name="文本框 24"/>
          <p:cNvSpPr txBox="1"/>
          <p:nvPr>
            <p:custDataLst>
              <p:tags r:id="rId10"/>
            </p:custDataLst>
          </p:nvPr>
        </p:nvSpPr>
        <p:spPr>
          <a:xfrm>
            <a:off x="6792477" y="4479855"/>
            <a:ext cx="4599940" cy="860425"/>
          </a:xfrm>
          <a:prstGeom prst="rect">
            <a:avLst/>
          </a:prstGeom>
          <a:noFill/>
        </p:spPr>
        <p:txBody>
          <a:bodyPr wrap="square" rtlCol="0">
            <a:spAutoFit/>
          </a:bodyPr>
          <a:lstStyle/>
          <a:p>
            <a:pPr>
              <a:lnSpc>
                <a:spcPts val="1500"/>
              </a:lnSpc>
            </a:pPr>
            <a:r>
              <a:rPr lang="en-US" sz="1600" b="1" dirty="0">
                <a:solidFill>
                  <a:srgbClr val="0B7935"/>
                </a:solidFill>
                <a:latin typeface="Roboto" charset="0"/>
                <a:ea typeface="Roboto" charset="0"/>
              </a:rPr>
              <a:t>Universal Platform Support</a:t>
            </a:r>
            <a:endParaRPr lang="en-US" sz="1600" b="1" dirty="0">
              <a:solidFill>
                <a:srgbClr val="0B7935"/>
              </a:solidFill>
              <a:latin typeface="Roboto" charset="0"/>
              <a:ea typeface="Roboto" charset="0"/>
            </a:endParaRPr>
          </a:p>
          <a:p>
            <a:pPr algn="l">
              <a:lnSpc>
                <a:spcPts val="1500"/>
              </a:lnSpc>
              <a:buClrTx/>
              <a:buSzTx/>
              <a:buFontTx/>
            </a:pPr>
            <a:r>
              <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rPr>
              <a:t>Fully compatible with Windows, macOS, and all major unified communications platforms for seamless integration into your workflow.</a:t>
            </a:r>
            <a:endPar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endParaRPr>
          </a:p>
        </p:txBody>
      </p:sp>
      <p:pic>
        <p:nvPicPr>
          <p:cNvPr id="27" name="图形 26"/>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096000" y="4536859"/>
            <a:ext cx="527945" cy="439954"/>
          </a:xfrm>
          <a:prstGeom prst="rect">
            <a:avLst/>
          </a:prstGeom>
        </p:spPr>
      </p:pic>
      <p:pic>
        <p:nvPicPr>
          <p:cNvPr id="5" name="图片 4" descr="图标&#10;&#10;AI 生成的内容可能不正确。"/>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93886" y="4536859"/>
            <a:ext cx="445376" cy="424368"/>
          </a:xfrm>
          <a:prstGeom prst="rect">
            <a:avLst/>
          </a:prstGeom>
        </p:spPr>
      </p:pic>
      <p:pic>
        <p:nvPicPr>
          <p:cNvPr id="9" name="图片 8" descr="卡通人物&#10;&#10;AI 生成的内容可能不正确。"/>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74868" y="1892236"/>
            <a:ext cx="558862" cy="393743"/>
          </a:xfrm>
          <a:prstGeom prst="rect">
            <a:avLst/>
          </a:prstGeom>
        </p:spPr>
      </p:pic>
      <p:pic>
        <p:nvPicPr>
          <p:cNvPr id="3" name="图片 2"/>
          <p:cNvPicPr>
            <a:picLocks noChangeAspect="1"/>
          </p:cNvPicPr>
          <p:nvPr/>
        </p:nvPicPr>
        <p:blipFill>
          <a:blip r:embed="rId15"/>
          <a:stretch>
            <a:fillRect/>
          </a:stretch>
        </p:blipFill>
        <p:spPr>
          <a:xfrm>
            <a:off x="6095999" y="3089502"/>
            <a:ext cx="568437" cy="437259"/>
          </a:xfrm>
          <a:prstGeom prst="rect">
            <a:avLst/>
          </a:prstGeom>
        </p:spPr>
      </p:pic>
      <p:pic>
        <p:nvPicPr>
          <p:cNvPr id="4" name="图片 3"/>
          <p:cNvPicPr>
            <a:picLocks noChangeAspect="1"/>
          </p:cNvPicPr>
          <p:nvPr/>
        </p:nvPicPr>
        <p:blipFill>
          <a:blip r:embed="rId16"/>
          <a:stretch>
            <a:fillRect/>
          </a:stretch>
        </p:blipFill>
        <p:spPr>
          <a:xfrm>
            <a:off x="6053862" y="1884223"/>
            <a:ext cx="652710" cy="41814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71451"/>
            <a:ext cx="11277689" cy="609600"/>
          </a:xfrm>
          <a:prstGeom prst="rect">
            <a:avLst/>
          </a:prstGeom>
          <a:noFill/>
        </p:spPr>
        <p:txBody>
          <a:bodyPr wrap="square" lIns="63500" tIns="25400" rIns="63500" bIns="25400" rtlCol="0" anchor="ctr" anchorCtr="0">
            <a:normAutofit/>
          </a:bodyPr>
          <a:lstStyle/>
          <a:p>
            <a:pPr>
              <a:buSzPct val="100000"/>
            </a:pPr>
            <a:r>
              <a:rPr lang="en-US" sz="2800" b="1" dirty="0">
                <a:solidFill>
                  <a:schemeClr val="lt1"/>
                </a:solidFill>
                <a:uFillTx/>
                <a:latin typeface="Montserrat" pitchFamily="2" charset="0"/>
                <a:ea typeface="微软雅黑" panose="020B0503020204020204" pitchFamily="34" charset="-122"/>
                <a:sym typeface="Roboto"/>
              </a:rPr>
              <a:t>Why Choose Us:  1. </a:t>
            </a:r>
            <a:r>
              <a:rPr lang="en-US" sz="2800" b="1" dirty="0">
                <a:solidFill>
                  <a:schemeClr val="lt1"/>
                </a:solidFill>
                <a:latin typeface="Montserrat" pitchFamily="2" charset="0"/>
                <a:ea typeface="微软雅黑" panose="020B0503020204020204" pitchFamily="34" charset="-122"/>
              </a:rPr>
              <a:t>Crystal-Clear Collaboration, Anywhere</a:t>
            </a:r>
            <a:r>
              <a:rPr lang="en-US" sz="2800" b="1" dirty="0">
                <a:solidFill>
                  <a:schemeClr val="lt1"/>
                </a:solidFill>
                <a:latin typeface="Montserrat" pitchFamily="2" charset="0"/>
                <a:ea typeface="微软雅黑" panose="020B0503020204020204" pitchFamily="34" charset="-122"/>
                <a:sym typeface="Roboto"/>
              </a:rPr>
              <a:t> </a:t>
            </a:r>
            <a:endParaRPr lang="en-US" sz="2800" b="1" dirty="0">
              <a:solidFill>
                <a:schemeClr val="lt1"/>
              </a:solidFill>
              <a:latin typeface="Montserrat" pitchFamily="2" charset="0"/>
              <a:ea typeface="微软雅黑" panose="020B0503020204020204" pitchFamily="34" charset="-122"/>
              <a:sym typeface="Roboto"/>
            </a:endParaRPr>
          </a:p>
        </p:txBody>
      </p:sp>
      <p:sp>
        <p:nvSpPr>
          <p:cNvPr id="5" name="文本框 4"/>
          <p:cNvSpPr txBox="1"/>
          <p:nvPr/>
        </p:nvSpPr>
        <p:spPr>
          <a:xfrm>
            <a:off x="838177" y="1107800"/>
            <a:ext cx="10184154" cy="958061"/>
          </a:xfrm>
          <a:prstGeom prst="rect">
            <a:avLst/>
          </a:prstGeom>
          <a:noFill/>
        </p:spPr>
        <p:txBody>
          <a:bodyPr wrap="square" rtlCol="0">
            <a:noAutofit/>
          </a:bodyPr>
          <a:lstStyle/>
          <a:p>
            <a:r>
              <a:rPr lang="en-US" altLang="zh-CN" sz="2000" b="1" dirty="0">
                <a:solidFill>
                  <a:schemeClr val="tx1">
                    <a:lumMod val="75000"/>
                    <a:lumOff val="25000"/>
                  </a:schemeClr>
                </a:solidFill>
                <a:latin typeface="Roboto" charset="0"/>
                <a:ea typeface="Roboto" charset="0"/>
                <a:cs typeface="Arial" panose="020B0604020202020204" pitchFamily="34" charset="0"/>
              </a:rPr>
              <a:t>Engineered for modern hybrid work environments, it delivers exceptional audio quality, seamless connectivity, and effortless scalability, whether in a huddle room, boardroom, or large meeting space.</a:t>
            </a:r>
            <a:endParaRPr lang="en-US" altLang="zh-CN" sz="2000" b="1" dirty="0">
              <a:solidFill>
                <a:schemeClr val="tx1">
                  <a:lumMod val="75000"/>
                  <a:lumOff val="25000"/>
                </a:schemeClr>
              </a:solidFill>
              <a:latin typeface="Roboto" charset="0"/>
              <a:ea typeface="Roboto" charset="0"/>
              <a:cs typeface="Arial" panose="020B0604020202020204" pitchFamily="34" charset="0"/>
            </a:endParaRPr>
          </a:p>
        </p:txBody>
      </p:sp>
      <p:pic>
        <p:nvPicPr>
          <p:cNvPr id="4" name="Google Shape;82;p1"/>
          <p:cNvPicPr preferRelativeResize="0"/>
          <p:nvPr/>
        </p:nvPicPr>
        <p:blipFill>
          <a:blip r:embed="rId3"/>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46" name="Rectangle 45"/>
          <p:cNvSpPr/>
          <p:nvPr/>
        </p:nvSpPr>
        <p:spPr>
          <a:xfrm>
            <a:off x="932968" y="2381249"/>
            <a:ext cx="4791557" cy="1439265"/>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932968" y="4283663"/>
            <a:ext cx="4791557" cy="1509585"/>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64845" y="2181791"/>
            <a:ext cx="2585086"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文本框 4"/>
          <p:cNvSpPr txBox="1"/>
          <p:nvPr/>
        </p:nvSpPr>
        <p:spPr>
          <a:xfrm>
            <a:off x="838177" y="2193781"/>
            <a:ext cx="2267596" cy="323285"/>
          </a:xfrm>
          <a:prstGeom prst="rect">
            <a:avLst/>
          </a:prstGeom>
          <a:noFill/>
        </p:spPr>
        <p:txBody>
          <a:bodyPr wrap="square" rtlCol="0">
            <a:noAutofit/>
          </a:bodyPr>
          <a:lstStyle/>
          <a:p>
            <a:pPr>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Premium Audio Clarity</a:t>
            </a:r>
            <a:endParaRPr lang="en-US" sz="1600" b="1" dirty="0">
              <a:solidFill>
                <a:schemeClr val="tx1">
                  <a:lumMod val="75000"/>
                  <a:lumOff val="25000"/>
                </a:schemeClr>
              </a:solidFill>
              <a:latin typeface="Roboto" charset="0"/>
              <a:ea typeface="Roboto" charset="0"/>
              <a:cs typeface="Arial" panose="020B0604020202020204" pitchFamily="34" charset="0"/>
            </a:endParaRPr>
          </a:p>
        </p:txBody>
      </p:sp>
      <p:sp>
        <p:nvSpPr>
          <p:cNvPr id="50" name="Rectangle 49"/>
          <p:cNvSpPr/>
          <p:nvPr/>
        </p:nvSpPr>
        <p:spPr>
          <a:xfrm>
            <a:off x="6377229" y="2395505"/>
            <a:ext cx="4791557" cy="1499030"/>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文本框 4"/>
          <p:cNvSpPr txBox="1"/>
          <p:nvPr/>
        </p:nvSpPr>
        <p:spPr>
          <a:xfrm>
            <a:off x="1124483" y="2729651"/>
            <a:ext cx="4209516" cy="1007064"/>
          </a:xfrm>
          <a:prstGeom prst="rect">
            <a:avLst/>
          </a:prstGeom>
          <a:noFill/>
        </p:spPr>
        <p:txBody>
          <a:bodyPr wrap="square" rtlCol="0">
            <a:noAutofit/>
          </a:bodyPr>
          <a:lstStyle/>
          <a:p>
            <a:r>
              <a:rPr lang="en-US" altLang="zh-CN" sz="1400" dirty="0">
                <a:solidFill>
                  <a:schemeClr val="tx1">
                    <a:lumMod val="75000"/>
                    <a:lumOff val="25000"/>
                  </a:schemeClr>
                </a:solidFill>
                <a:latin typeface="Roboto" charset="0"/>
                <a:ea typeface="Roboto" charset="0"/>
                <a:cs typeface="Arial" panose="020B0604020202020204" pitchFamily="34" charset="0"/>
              </a:rPr>
              <a:t>Four omnidirectional mic arrays and a powerful 3W speaker ensure every voice is captured with clarity and delivered with natural warmth.</a:t>
            </a:r>
            <a:endParaRPr lang="en-US" altLang="zh-CN" sz="1400" dirty="0">
              <a:solidFill>
                <a:schemeClr val="tx1">
                  <a:lumMod val="75000"/>
                  <a:lumOff val="25000"/>
                </a:schemeClr>
              </a:solidFill>
              <a:latin typeface="Roboto" charset="0"/>
              <a:ea typeface="Roboto" charset="0"/>
              <a:cs typeface="Arial" panose="020B0604020202020204" pitchFamily="34" charset="0"/>
            </a:endParaRPr>
          </a:p>
        </p:txBody>
      </p:sp>
      <p:sp>
        <p:nvSpPr>
          <p:cNvPr id="53" name="Rectangle 52"/>
          <p:cNvSpPr/>
          <p:nvPr/>
        </p:nvSpPr>
        <p:spPr>
          <a:xfrm>
            <a:off x="6200774" y="2181791"/>
            <a:ext cx="2585086"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文本框 4"/>
          <p:cNvSpPr txBox="1"/>
          <p:nvPr/>
        </p:nvSpPr>
        <p:spPr>
          <a:xfrm>
            <a:off x="6352209" y="2219890"/>
            <a:ext cx="3587853" cy="323285"/>
          </a:xfrm>
          <a:prstGeom prst="rect">
            <a:avLst/>
          </a:prstGeom>
          <a:noFill/>
        </p:spPr>
        <p:txBody>
          <a:bodyPr wrap="square" rtlCol="0">
            <a:noAutofit/>
          </a:bodyPr>
          <a:lstStyle/>
          <a:p>
            <a:pPr>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Flexible Connectivity</a:t>
            </a:r>
            <a:endParaRPr lang="en-US" sz="1600" b="1" dirty="0">
              <a:solidFill>
                <a:schemeClr val="tx1">
                  <a:lumMod val="75000"/>
                  <a:lumOff val="25000"/>
                </a:schemeClr>
              </a:solidFill>
              <a:latin typeface="Roboto" charset="0"/>
              <a:ea typeface="Roboto" charset="0"/>
              <a:cs typeface="Arial" panose="020B0604020202020204" pitchFamily="34" charset="0"/>
            </a:endParaRPr>
          </a:p>
        </p:txBody>
      </p:sp>
      <p:sp>
        <p:nvSpPr>
          <p:cNvPr id="55" name="文本框 4"/>
          <p:cNvSpPr txBox="1"/>
          <p:nvPr/>
        </p:nvSpPr>
        <p:spPr>
          <a:xfrm>
            <a:off x="6531838" y="2709770"/>
            <a:ext cx="4599988" cy="1164885"/>
          </a:xfrm>
          <a:prstGeom prst="rect">
            <a:avLst/>
          </a:prstGeom>
          <a:noFill/>
        </p:spPr>
        <p:txBody>
          <a:bodyPr wrap="square" rtlCol="0">
            <a:noAutofit/>
          </a:bodyPr>
          <a:lstStyle/>
          <a:p>
            <a:r>
              <a:rPr lang="en-US" altLang="zh-CN" sz="1400" dirty="0">
                <a:solidFill>
                  <a:schemeClr val="tx1">
                    <a:lumMod val="75000"/>
                    <a:lumOff val="25000"/>
                  </a:schemeClr>
                </a:solidFill>
                <a:latin typeface="Roboto" charset="0"/>
                <a:ea typeface="Roboto" charset="0"/>
                <a:cs typeface="Arial" panose="020B0604020202020204" pitchFamily="34" charset="0"/>
              </a:rPr>
              <a:t>Connect via USB or Bluetooth for seamless compatibility with laptops, tablets, and mobile devices.</a:t>
            </a:r>
            <a:endParaRPr lang="en-US" altLang="zh-CN" sz="1400" dirty="0">
              <a:solidFill>
                <a:schemeClr val="tx1">
                  <a:lumMod val="75000"/>
                  <a:lumOff val="25000"/>
                </a:schemeClr>
              </a:solidFill>
              <a:latin typeface="Roboto" charset="0"/>
              <a:ea typeface="Roboto" charset="0"/>
              <a:cs typeface="Arial" panose="020B0604020202020204" pitchFamily="34" charset="0"/>
            </a:endParaRPr>
          </a:p>
        </p:txBody>
      </p:sp>
      <p:sp>
        <p:nvSpPr>
          <p:cNvPr id="56" name="Rectangle 55"/>
          <p:cNvSpPr/>
          <p:nvPr/>
        </p:nvSpPr>
        <p:spPr>
          <a:xfrm>
            <a:off x="764845" y="4105421"/>
            <a:ext cx="3089963"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文本框 4"/>
          <p:cNvSpPr txBox="1"/>
          <p:nvPr/>
        </p:nvSpPr>
        <p:spPr>
          <a:xfrm>
            <a:off x="733399" y="4122020"/>
            <a:ext cx="3089963" cy="410829"/>
          </a:xfrm>
          <a:prstGeom prst="rect">
            <a:avLst/>
          </a:prstGeom>
          <a:noFill/>
        </p:spPr>
        <p:txBody>
          <a:bodyPr wrap="square" rtlCol="0">
            <a:noAutofit/>
          </a:bodyPr>
          <a:lstStyle/>
          <a:p>
            <a:pPr>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Intelligent Audio Optimization</a:t>
            </a:r>
            <a:endParaRPr lang="en-US" sz="1600" b="1" dirty="0">
              <a:solidFill>
                <a:schemeClr val="tx1">
                  <a:lumMod val="75000"/>
                  <a:lumOff val="25000"/>
                </a:schemeClr>
              </a:solidFill>
              <a:latin typeface="Roboto" charset="0"/>
              <a:ea typeface="Roboto" charset="0"/>
              <a:cs typeface="Arial" panose="020B0604020202020204" pitchFamily="34" charset="0"/>
            </a:endParaRPr>
          </a:p>
        </p:txBody>
      </p:sp>
      <p:sp>
        <p:nvSpPr>
          <p:cNvPr id="58" name="文本框 4"/>
          <p:cNvSpPr txBox="1"/>
          <p:nvPr/>
        </p:nvSpPr>
        <p:spPr>
          <a:xfrm>
            <a:off x="1124482" y="4739006"/>
            <a:ext cx="4209517" cy="1007064"/>
          </a:xfrm>
          <a:prstGeom prst="rect">
            <a:avLst/>
          </a:prstGeom>
          <a:noFill/>
        </p:spPr>
        <p:txBody>
          <a:bodyPr wrap="square" rtlCol="0">
            <a:noAutofit/>
          </a:bodyPr>
          <a:lstStyle/>
          <a:p>
            <a:r>
              <a:rPr lang="en-US" altLang="zh-CN" sz="1400" dirty="0">
                <a:solidFill>
                  <a:schemeClr val="tx1">
                    <a:lumMod val="75000"/>
                    <a:lumOff val="25000"/>
                  </a:schemeClr>
                </a:solidFill>
                <a:latin typeface="Roboto" charset="0"/>
                <a:ea typeface="Roboto" charset="0"/>
                <a:cs typeface="Arial" panose="020B0604020202020204" pitchFamily="34" charset="0"/>
              </a:rPr>
              <a:t>Featuring Acoustic Echo Cancellation, Noise Suppression, and Automatic Gain Control, the system adapts automatically to deliver optimal sound in any environment.</a:t>
            </a: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p:txBody>
      </p:sp>
      <p:sp>
        <p:nvSpPr>
          <p:cNvPr id="2" name="Rectangle 49"/>
          <p:cNvSpPr/>
          <p:nvPr/>
        </p:nvSpPr>
        <p:spPr>
          <a:xfrm>
            <a:off x="6414189" y="4366701"/>
            <a:ext cx="4791557" cy="1499030"/>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52"/>
          <p:cNvSpPr/>
          <p:nvPr/>
        </p:nvSpPr>
        <p:spPr>
          <a:xfrm>
            <a:off x="6237733" y="4152987"/>
            <a:ext cx="2953891"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文本框 4"/>
          <p:cNvSpPr txBox="1"/>
          <p:nvPr/>
        </p:nvSpPr>
        <p:spPr>
          <a:xfrm>
            <a:off x="6352209" y="4185178"/>
            <a:ext cx="2802455" cy="323285"/>
          </a:xfrm>
          <a:prstGeom prst="rect">
            <a:avLst/>
          </a:prstGeom>
          <a:noFill/>
        </p:spPr>
        <p:txBody>
          <a:bodyPr wrap="square" rtlCol="0">
            <a:noAutofit/>
          </a:bodyPr>
          <a:lstStyle/>
          <a:p>
            <a:pPr>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Scalable Meeting Coverage</a:t>
            </a:r>
            <a:endParaRPr lang="en-US" sz="1600" b="1" dirty="0">
              <a:solidFill>
                <a:schemeClr val="tx1">
                  <a:lumMod val="75000"/>
                  <a:lumOff val="25000"/>
                </a:schemeClr>
              </a:solidFill>
              <a:latin typeface="Roboto" charset="0"/>
              <a:ea typeface="Roboto" charset="0"/>
              <a:cs typeface="Arial" panose="020B0604020202020204" pitchFamily="34" charset="0"/>
            </a:endParaRPr>
          </a:p>
        </p:txBody>
      </p:sp>
      <p:sp>
        <p:nvSpPr>
          <p:cNvPr id="10" name="文本框 4"/>
          <p:cNvSpPr txBox="1"/>
          <p:nvPr/>
        </p:nvSpPr>
        <p:spPr>
          <a:xfrm>
            <a:off x="6568798" y="4680966"/>
            <a:ext cx="4599988" cy="1164885"/>
          </a:xfrm>
          <a:prstGeom prst="rect">
            <a:avLst/>
          </a:prstGeom>
          <a:noFill/>
        </p:spPr>
        <p:txBody>
          <a:bodyPr wrap="square" rtlCol="0">
            <a:noAutofit/>
          </a:bodyPr>
          <a:lstStyle/>
          <a:p>
            <a:r>
              <a:rPr lang="en-US" sz="1400" dirty="0">
                <a:solidFill>
                  <a:schemeClr val="tx1">
                    <a:lumMod val="75000"/>
                    <a:lumOff val="25000"/>
                  </a:schemeClr>
                </a:solidFill>
                <a:latin typeface="Roboto" charset="0"/>
                <a:ea typeface="Roboto" charset="0"/>
                <a:cs typeface="Arial" panose="020B0604020202020204" pitchFamily="34" charset="0"/>
              </a:rPr>
              <a:t>Cascade up to nine units to cover large spaces without losing audio quality.</a:t>
            </a:r>
            <a:endParaRPr lang="en-US" sz="1400" dirty="0">
              <a:solidFill>
                <a:schemeClr val="tx1">
                  <a:lumMod val="75000"/>
                  <a:lumOff val="25000"/>
                </a:schemeClr>
              </a:solidFill>
              <a:latin typeface="Roboto" charset="0"/>
              <a:ea typeface="Roboto" charset="0"/>
              <a:cs typeface="Arial" panose="020B0604020202020204" pitchFamily="34" charset="0"/>
            </a:endParaRPr>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200" y="171450"/>
            <a:ext cx="11734800" cy="609600"/>
          </a:xfrm>
          <a:prstGeom prst="rect">
            <a:avLst/>
          </a:prstGeom>
          <a:noFill/>
        </p:spPr>
        <p:txBody>
          <a:bodyPr wrap="square" lIns="63500" tIns="25400" rIns="63500" bIns="25400" rtlCol="0" anchor="ctr" anchorCtr="0"/>
          <a:lstStyle/>
          <a:p>
            <a:pPr>
              <a:buSzPct val="100000"/>
            </a:pPr>
            <a:r>
              <a:rPr lang="en-US" sz="2800" b="1" dirty="0">
                <a:solidFill>
                  <a:schemeClr val="lt1"/>
                </a:solidFill>
                <a:uFillTx/>
                <a:latin typeface="Montserrat" pitchFamily="2" charset="0"/>
                <a:ea typeface="微软雅黑" panose="020B0503020204020204" pitchFamily="34" charset="-122"/>
                <a:sym typeface="Roboto"/>
              </a:rPr>
              <a:t>Why Choose Us:  2</a:t>
            </a:r>
            <a:r>
              <a:rPr lang="en-US" sz="2800" b="1" dirty="0">
                <a:solidFill>
                  <a:schemeClr val="lt1"/>
                </a:solidFill>
                <a:latin typeface="Montserrat" pitchFamily="2" charset="0"/>
                <a:ea typeface="微软雅黑" panose="020B0503020204020204" pitchFamily="34" charset="-122"/>
                <a:sym typeface="Roboto"/>
              </a:rPr>
              <a:t>. </a:t>
            </a:r>
            <a:r>
              <a:rPr lang="en-US" sz="2800" b="1" dirty="0">
                <a:solidFill>
                  <a:schemeClr val="lt1"/>
                </a:solidFill>
                <a:latin typeface="Montserrat" pitchFamily="2" charset="0"/>
                <a:ea typeface="微软雅黑" panose="020B0503020204020204" pitchFamily="34" charset="-122"/>
              </a:rPr>
              <a:t>Simplicity Meets Professional Performance</a:t>
            </a:r>
            <a:endParaRPr lang="en-US" altLang="zh-CN" sz="2800" b="1" dirty="0">
              <a:solidFill>
                <a:schemeClr val="lt1"/>
              </a:solidFill>
              <a:latin typeface="Montserrat" pitchFamily="2" charset="0"/>
              <a:ea typeface="微软雅黑" panose="020B0503020204020204" pitchFamily="34" charset="-122"/>
              <a:sym typeface="Roboto"/>
            </a:endParaRPr>
          </a:p>
        </p:txBody>
      </p:sp>
      <p:pic>
        <p:nvPicPr>
          <p:cNvPr id="4" name="Google Shape;82;p1"/>
          <p:cNvPicPr preferRelativeResize="0"/>
          <p:nvPr/>
        </p:nvPicPr>
        <p:blipFill>
          <a:blip r:embed="rId3"/>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23" name="文本框 4"/>
          <p:cNvSpPr txBox="1"/>
          <p:nvPr/>
        </p:nvSpPr>
        <p:spPr>
          <a:xfrm>
            <a:off x="868657" y="1107333"/>
            <a:ext cx="10405226" cy="717264"/>
          </a:xfrm>
          <a:prstGeom prst="rect">
            <a:avLst/>
          </a:prstGeom>
          <a:noFill/>
        </p:spPr>
        <p:txBody>
          <a:bodyPr wrap="square" rtlCol="0">
            <a:noAutofit/>
          </a:bodyPr>
          <a:lstStyle/>
          <a:p>
            <a:r>
              <a:rPr lang="en-US" altLang="zh-CN" sz="2000" b="1" dirty="0">
                <a:solidFill>
                  <a:schemeClr val="tx1">
                    <a:lumMod val="75000"/>
                    <a:lumOff val="25000"/>
                  </a:schemeClr>
                </a:solidFill>
                <a:latin typeface="Roboto" charset="0"/>
                <a:ea typeface="Roboto" charset="0"/>
                <a:cs typeface="Arial" panose="020B0604020202020204" pitchFamily="34" charset="0"/>
              </a:rPr>
              <a:t>Designed for ease of use and uncompromising quality, our speakerphone combines advanced audio technology with seamless plug-and-play functionality, ensuring more productive meetings.</a:t>
            </a: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sz="2000" b="1" dirty="0">
              <a:solidFill>
                <a:schemeClr val="tx1">
                  <a:lumMod val="75000"/>
                  <a:lumOff val="25000"/>
                </a:schemeClr>
              </a:solidFill>
              <a:latin typeface="Roboto" charset="0"/>
              <a:ea typeface="Roboto" charset="0"/>
              <a:cs typeface="Arial" panose="020B0604020202020204" pitchFamily="34" charset="0"/>
            </a:endParaRPr>
          </a:p>
        </p:txBody>
      </p:sp>
      <p:sp>
        <p:nvSpPr>
          <p:cNvPr id="24" name="Rectangle 23"/>
          <p:cNvSpPr/>
          <p:nvPr/>
        </p:nvSpPr>
        <p:spPr>
          <a:xfrm>
            <a:off x="932968" y="2381249"/>
            <a:ext cx="4791557" cy="1439265"/>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764845" y="2181791"/>
            <a:ext cx="1749755"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文本框 4"/>
          <p:cNvSpPr txBox="1"/>
          <p:nvPr/>
        </p:nvSpPr>
        <p:spPr>
          <a:xfrm>
            <a:off x="916281" y="2219890"/>
            <a:ext cx="1445920"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Instant Setup</a:t>
            </a:r>
            <a:endParaRPr lang="en-US" sz="1600" b="1" dirty="0">
              <a:solidFill>
                <a:schemeClr val="tx1">
                  <a:lumMod val="75000"/>
                  <a:lumOff val="25000"/>
                </a:schemeClr>
              </a:solidFill>
              <a:latin typeface="Roboto" charset="0"/>
              <a:ea typeface="Roboto" charset="0"/>
              <a:cs typeface="Arial" panose="020B0604020202020204" pitchFamily="34" charset="0"/>
            </a:endParaRPr>
          </a:p>
        </p:txBody>
      </p:sp>
      <p:sp>
        <p:nvSpPr>
          <p:cNvPr id="28" name="Rectangle 27"/>
          <p:cNvSpPr/>
          <p:nvPr/>
        </p:nvSpPr>
        <p:spPr>
          <a:xfrm>
            <a:off x="6377229" y="2395505"/>
            <a:ext cx="4791557" cy="1439265"/>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文本框 4"/>
          <p:cNvSpPr txBox="1"/>
          <p:nvPr/>
        </p:nvSpPr>
        <p:spPr>
          <a:xfrm>
            <a:off x="1124483" y="2744891"/>
            <a:ext cx="4560700" cy="1007064"/>
          </a:xfrm>
          <a:prstGeom prst="rect">
            <a:avLst/>
          </a:prstGeom>
          <a:noFill/>
        </p:spPr>
        <p:txBody>
          <a:bodyPr wrap="square" rtlCol="0">
            <a:noAutofit/>
          </a:bodyPr>
          <a:lstStyle/>
          <a:p>
            <a:pPr indent="0" fontAlgn="auto">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rPr>
              <a:t>Easy installation without complex configuration.Plug in or pair via Bluetooth and start your meeting in seconds.</a:t>
            </a:r>
            <a:endParaRPr lang="en-US" sz="1400" dirty="0">
              <a:solidFill>
                <a:schemeClr val="tx1">
                  <a:lumMod val="75000"/>
                  <a:lumOff val="25000"/>
                </a:schemeClr>
              </a:solidFill>
              <a:latin typeface="Roboto" charset="0"/>
              <a:ea typeface="Roboto" charset="0"/>
              <a:cs typeface="Arial" panose="020B0604020202020204" pitchFamily="34" charset="0"/>
            </a:endParaRPr>
          </a:p>
        </p:txBody>
      </p:sp>
      <p:sp>
        <p:nvSpPr>
          <p:cNvPr id="31" name="Rectangle 30"/>
          <p:cNvSpPr/>
          <p:nvPr/>
        </p:nvSpPr>
        <p:spPr>
          <a:xfrm>
            <a:off x="6200773" y="2181791"/>
            <a:ext cx="4535679"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文本框 4"/>
          <p:cNvSpPr txBox="1"/>
          <p:nvPr/>
        </p:nvSpPr>
        <p:spPr>
          <a:xfrm>
            <a:off x="6352210" y="2219890"/>
            <a:ext cx="4296740"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Consistent Audio Quality for Any Room Size</a:t>
            </a:r>
            <a:endParaRPr lang="en-US" sz="1600" b="1" dirty="0">
              <a:solidFill>
                <a:schemeClr val="tx1">
                  <a:lumMod val="75000"/>
                  <a:lumOff val="25000"/>
                </a:schemeClr>
              </a:solidFill>
              <a:latin typeface="Roboto" charset="0"/>
              <a:ea typeface="Roboto" charset="0"/>
              <a:cs typeface="Arial" panose="020B0604020202020204" pitchFamily="34" charset="0"/>
            </a:endParaRPr>
          </a:p>
        </p:txBody>
      </p:sp>
      <p:sp>
        <p:nvSpPr>
          <p:cNvPr id="33" name="文本框 4"/>
          <p:cNvSpPr txBox="1"/>
          <p:nvPr/>
        </p:nvSpPr>
        <p:spPr>
          <a:xfrm>
            <a:off x="6531837" y="2796326"/>
            <a:ext cx="4535679" cy="1007064"/>
          </a:xfrm>
          <a:prstGeom prst="rect">
            <a:avLst/>
          </a:prstGeom>
          <a:noFill/>
        </p:spPr>
        <p:txBody>
          <a:bodyPr wrap="square" rtlCol="0">
            <a:noAutofit/>
          </a:bodyPr>
          <a:lstStyle/>
          <a:p>
            <a:pPr indent="0" fontAlgn="auto">
              <a:buFont typeface="Wingdings" panose="05000000000000000000" charset="0"/>
              <a:buNone/>
            </a:pPr>
            <a:r>
              <a:rPr lang="en-US" altLang="zh-CN" sz="1400" dirty="0">
                <a:solidFill>
                  <a:schemeClr val="tx1">
                    <a:lumMod val="75000"/>
                    <a:lumOff val="25000"/>
                  </a:schemeClr>
                </a:solidFill>
                <a:latin typeface="Roboto" charset="0"/>
                <a:ea typeface="Roboto" charset="0"/>
                <a:cs typeface="Arial" panose="020B0604020202020204" pitchFamily="34" charset="0"/>
              </a:rPr>
              <a:t>Delivers consistent audio quality from small meeting rooms to large conference spaces.</a:t>
            </a:r>
            <a:endParaRPr lang="en-US" altLang="zh-CN" sz="1400" dirty="0">
              <a:solidFill>
                <a:schemeClr val="tx1">
                  <a:lumMod val="75000"/>
                  <a:lumOff val="25000"/>
                </a:schemeClr>
              </a:solidFill>
              <a:latin typeface="Roboto" charset="0"/>
              <a:ea typeface="Roboto" charset="0"/>
              <a:cs typeface="Arial" panose="020B0604020202020204" pitchFamily="34" charset="0"/>
            </a:endParaRPr>
          </a:p>
        </p:txBody>
      </p:sp>
      <p:sp>
        <p:nvSpPr>
          <p:cNvPr id="2" name="Rectangle 27"/>
          <p:cNvSpPr/>
          <p:nvPr/>
        </p:nvSpPr>
        <p:spPr>
          <a:xfrm>
            <a:off x="893676" y="4536353"/>
            <a:ext cx="4791557" cy="1439265"/>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30"/>
          <p:cNvSpPr/>
          <p:nvPr/>
        </p:nvSpPr>
        <p:spPr>
          <a:xfrm>
            <a:off x="717220" y="4322639"/>
            <a:ext cx="2588921"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文本框 4"/>
          <p:cNvSpPr txBox="1"/>
          <p:nvPr/>
        </p:nvSpPr>
        <p:spPr>
          <a:xfrm>
            <a:off x="868657" y="4360738"/>
            <a:ext cx="2360318" cy="323285"/>
          </a:xfrm>
          <a:prstGeom prst="rect">
            <a:avLst/>
          </a:prstGeom>
          <a:noFill/>
        </p:spPr>
        <p:txBody>
          <a:bodyPr wrap="square" rtlCol="0">
            <a:noAutofit/>
          </a:bodyPr>
          <a:lstStyle/>
          <a:p>
            <a:pPr>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Universal Compatibility</a:t>
            </a:r>
            <a:endParaRPr lang="en-US" altLang="zh-CN" sz="1600" b="1" dirty="0">
              <a:solidFill>
                <a:schemeClr val="tx1">
                  <a:lumMod val="75000"/>
                  <a:lumOff val="25000"/>
                </a:schemeClr>
              </a:solidFill>
              <a:latin typeface="Roboto" charset="0"/>
              <a:ea typeface="Roboto" charset="0"/>
              <a:cs typeface="Arial" panose="020B0604020202020204" pitchFamily="34" charset="0"/>
            </a:endParaRPr>
          </a:p>
        </p:txBody>
      </p:sp>
      <p:sp>
        <p:nvSpPr>
          <p:cNvPr id="8" name="文本框 4"/>
          <p:cNvSpPr txBox="1"/>
          <p:nvPr/>
        </p:nvSpPr>
        <p:spPr>
          <a:xfrm>
            <a:off x="932990" y="4879242"/>
            <a:ext cx="4617167" cy="1007064"/>
          </a:xfrm>
          <a:prstGeom prst="rect">
            <a:avLst/>
          </a:prstGeom>
          <a:noFill/>
        </p:spPr>
        <p:txBody>
          <a:bodyPr wrap="square" rtlCol="0">
            <a:noAutofit/>
          </a:bodyPr>
          <a:lstStyle/>
          <a:p>
            <a:pPr indent="0" fontAlgn="auto">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rPr>
              <a:t>Works seamlessly with Windows, macOS, and all major unified communications platforms such as Zoom, Teams, and Webex.</a:t>
            </a:r>
            <a:endParaRPr lang="en-US" altLang="zh-CN" sz="1400" dirty="0">
              <a:solidFill>
                <a:schemeClr val="tx1">
                  <a:lumMod val="75000"/>
                  <a:lumOff val="25000"/>
                </a:schemeClr>
              </a:solidFill>
              <a:latin typeface="Roboto" charset="0"/>
              <a:ea typeface="Roboto" charset="0"/>
              <a:cs typeface="Arial" panose="020B0604020202020204" pitchFamily="34" charset="0"/>
            </a:endParaRPr>
          </a:p>
        </p:txBody>
      </p:sp>
      <p:sp>
        <p:nvSpPr>
          <p:cNvPr id="13" name="Rectangle 27"/>
          <p:cNvSpPr/>
          <p:nvPr/>
        </p:nvSpPr>
        <p:spPr>
          <a:xfrm>
            <a:off x="6377229" y="4567205"/>
            <a:ext cx="4791557" cy="1439265"/>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30"/>
          <p:cNvSpPr/>
          <p:nvPr/>
        </p:nvSpPr>
        <p:spPr>
          <a:xfrm>
            <a:off x="6200773" y="4353491"/>
            <a:ext cx="2588921"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文本框 4"/>
          <p:cNvSpPr txBox="1"/>
          <p:nvPr/>
        </p:nvSpPr>
        <p:spPr>
          <a:xfrm>
            <a:off x="6531838" y="4968026"/>
            <a:ext cx="4117112" cy="1007064"/>
          </a:xfrm>
          <a:prstGeom prst="rect">
            <a:avLst/>
          </a:prstGeom>
          <a:noFill/>
        </p:spPr>
        <p:txBody>
          <a:bodyPr wrap="square" rtlCol="0">
            <a:noAutofit/>
          </a:bodyPr>
          <a:lstStyle/>
          <a:p>
            <a:r>
              <a:rPr lang="en-US" sz="1400" dirty="0">
                <a:solidFill>
                  <a:schemeClr val="tx1">
                    <a:lumMod val="75000"/>
                    <a:lumOff val="25000"/>
                  </a:schemeClr>
                </a:solidFill>
                <a:latin typeface="Roboto" charset="0"/>
                <a:ea typeface="Roboto" charset="0"/>
                <a:cs typeface="Arial" panose="020B0604020202020204" pitchFamily="34" charset="0"/>
              </a:rPr>
              <a:t>Flexible architecture and connectivity options ensure your system can grow with your business needs.</a:t>
            </a:r>
            <a:endParaRPr lang="en-US" sz="1400" dirty="0">
              <a:solidFill>
                <a:schemeClr val="tx1">
                  <a:lumMod val="75000"/>
                  <a:lumOff val="25000"/>
                </a:schemeClr>
              </a:solidFill>
              <a:latin typeface="Roboto" charset="0"/>
              <a:ea typeface="Roboto" charset="0"/>
              <a:cs typeface="Arial" panose="020B0604020202020204" pitchFamily="34" charset="0"/>
            </a:endParaRPr>
          </a:p>
        </p:txBody>
      </p:sp>
      <p:sp>
        <p:nvSpPr>
          <p:cNvPr id="16" name="文本框 4"/>
          <p:cNvSpPr txBox="1"/>
          <p:nvPr/>
        </p:nvSpPr>
        <p:spPr>
          <a:xfrm>
            <a:off x="6324600" y="4378325"/>
            <a:ext cx="2936875" cy="323215"/>
          </a:xfrm>
          <a:prstGeom prst="rect">
            <a:avLst/>
          </a:prstGeom>
          <a:noFill/>
        </p:spPr>
        <p:txBody>
          <a:bodyPr wrap="square" rtlCol="0">
            <a:noAutofit/>
          </a:bodyPr>
          <a:lstStyle/>
          <a:p>
            <a:pPr>
              <a:lnSpc>
                <a:spcPts val="2100"/>
              </a:lnSpc>
            </a:pPr>
            <a:r>
              <a:rPr lang="en-US" altLang="zh-CN" sz="1600" b="1" dirty="0">
                <a:solidFill>
                  <a:schemeClr val="tx1">
                    <a:lumMod val="75000"/>
                    <a:lumOff val="25000"/>
                  </a:schemeClr>
                </a:solidFill>
                <a:latin typeface="Roboto" charset="0"/>
                <a:ea typeface="Roboto" charset="0"/>
                <a:cs typeface="Arial" panose="020B0604020202020204" pitchFamily="34" charset="0"/>
              </a:rPr>
              <a:t>Expansion</a:t>
            </a:r>
            <a:r>
              <a:rPr lang="en-US" sz="1600" b="1" dirty="0">
                <a:solidFill>
                  <a:schemeClr val="tx1">
                    <a:lumMod val="75000"/>
                    <a:lumOff val="25000"/>
                  </a:schemeClr>
                </a:solidFill>
                <a:latin typeface="Roboto" charset="0"/>
                <a:ea typeface="Roboto" charset="0"/>
                <a:cs typeface="Arial" panose="020B0604020202020204" pitchFamily="34" charset="0"/>
              </a:rPr>
              <a:t>‑Ready Design</a:t>
            </a:r>
            <a:endParaRPr sz="1600" b="1" dirty="0">
              <a:solidFill>
                <a:schemeClr val="tx1">
                  <a:lumMod val="75000"/>
                  <a:lumOff val="25000"/>
                </a:schemeClr>
              </a:solidFill>
              <a:latin typeface="Roboto" charset="0"/>
              <a:ea typeface="Roboto" charset="0"/>
              <a:cs typeface="Arial" panose="020B0604020202020204" pitchFamily="34" charset="0"/>
            </a:endParaRPr>
          </a:p>
        </p:txBody>
      </p:sp>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28650" y="1076325"/>
            <a:ext cx="6417945" cy="2627630"/>
          </a:xfrm>
          <a:prstGeom prst="rect">
            <a:avLst/>
          </a:prstGeom>
          <a:solidFill>
            <a:schemeClr val="bg1"/>
          </a:solidFill>
          <a:ln>
            <a:solidFill>
              <a:schemeClr val="bg2">
                <a:lumMod val="9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71451"/>
            <a:ext cx="11277689" cy="609600"/>
          </a:xfrm>
          <a:prstGeom prst="rect">
            <a:avLst/>
          </a:prstGeom>
          <a:noFill/>
        </p:spPr>
        <p:txBody>
          <a:bodyPr wrap="square" lIns="63500" tIns="25400" rIns="63500" bIns="25400" rtlCol="0" anchor="ctr" anchorCtr="0"/>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Interface of the Product</a:t>
            </a:r>
            <a:endParaRPr lang="en-US" sz="2800" b="1" dirty="0">
              <a:solidFill>
                <a:schemeClr val="lt1"/>
              </a:solidFill>
              <a:uFillTx/>
              <a:latin typeface="Montserrat" pitchFamily="2" charset="0"/>
              <a:ea typeface="微软雅黑" panose="020B0503020204020204" pitchFamily="34" charset="-122"/>
              <a:sym typeface="Roboto"/>
            </a:endParaRPr>
          </a:p>
        </p:txBody>
      </p:sp>
      <p:sp>
        <p:nvSpPr>
          <p:cNvPr id="9" name="文本框 8"/>
          <p:cNvSpPr txBox="1"/>
          <p:nvPr/>
        </p:nvSpPr>
        <p:spPr>
          <a:xfrm>
            <a:off x="5600382" y="1226347"/>
            <a:ext cx="1986280" cy="307777"/>
          </a:xfrm>
          <a:prstGeom prst="rect">
            <a:avLst/>
          </a:prstGeom>
          <a:noFill/>
        </p:spPr>
        <p:txBody>
          <a:bodyPr wrap="square" rtlCol="0">
            <a:spAutoFit/>
          </a:bodyPr>
          <a:lstStyle/>
          <a:p>
            <a:r>
              <a:rPr lang="en-US" altLang="zh-CN" sz="1400" b="1" dirty="0">
                <a:latin typeface="Roboto" charset="0"/>
                <a:cs typeface="Roboto" charset="0"/>
              </a:rPr>
              <a:t>Front Panel</a:t>
            </a:r>
            <a:endParaRPr lang="en-US" altLang="zh-CN" sz="1400" b="1" dirty="0">
              <a:latin typeface="Roboto" charset="0"/>
              <a:cs typeface="Roboto" charset="0"/>
            </a:endParaRPr>
          </a:p>
        </p:txBody>
      </p:sp>
      <p:sp>
        <p:nvSpPr>
          <p:cNvPr id="15" name="文本框 8"/>
          <p:cNvSpPr txBox="1"/>
          <p:nvPr/>
        </p:nvSpPr>
        <p:spPr>
          <a:xfrm>
            <a:off x="7867170" y="967702"/>
            <a:ext cx="1986280" cy="460375"/>
          </a:xfrm>
          <a:prstGeom prst="rect">
            <a:avLst/>
          </a:prstGeom>
          <a:noFill/>
        </p:spPr>
        <p:txBody>
          <a:bodyPr wrap="square" rtlCol="0">
            <a:spAutoFit/>
          </a:bodyPr>
          <a:lstStyle/>
          <a:p>
            <a:r>
              <a:rPr lang="en-US" altLang="zh-CN" sz="2400" b="1" u="sng" dirty="0">
                <a:latin typeface="Roboto" charset="0"/>
                <a:cs typeface="Roboto" charset="0"/>
              </a:rPr>
              <a:t>Featuring:</a:t>
            </a:r>
            <a:endParaRPr lang="en-US" altLang="zh-CN" sz="2400" b="1" u="sng" dirty="0">
              <a:latin typeface="Roboto" charset="0"/>
              <a:cs typeface="Roboto" charset="0"/>
            </a:endParaRPr>
          </a:p>
        </p:txBody>
      </p:sp>
      <p:pic>
        <p:nvPicPr>
          <p:cNvPr id="16" name="Google Shape;82;p1"/>
          <p:cNvPicPr preferRelativeResize="0"/>
          <p:nvPr/>
        </p:nvPicPr>
        <p:blipFill>
          <a:blip r:embed="rId3"/>
          <a:stretch>
            <a:fillRect/>
          </a:stretch>
        </p:blipFill>
        <p:spPr>
          <a:xfrm>
            <a:off x="9652104" y="6056488"/>
            <a:ext cx="2241019" cy="440200"/>
          </a:xfrm>
          <a:prstGeom prst="rect">
            <a:avLst/>
          </a:prstGeom>
          <a:noFill/>
          <a:ln>
            <a:noFill/>
          </a:ln>
        </p:spPr>
      </p:pic>
      <p:sp>
        <p:nvSpPr>
          <p:cNvPr id="17"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5" name="Rectangle 4"/>
          <p:cNvSpPr/>
          <p:nvPr/>
        </p:nvSpPr>
        <p:spPr>
          <a:xfrm>
            <a:off x="628650" y="3945890"/>
            <a:ext cx="6417310" cy="2818130"/>
          </a:xfrm>
          <a:prstGeom prst="rect">
            <a:avLst/>
          </a:prstGeom>
          <a:solidFill>
            <a:schemeClr val="bg1"/>
          </a:solidFill>
          <a:ln>
            <a:solidFill>
              <a:schemeClr val="bg2">
                <a:lumMod val="9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文本框 9"/>
          <p:cNvSpPr txBox="1"/>
          <p:nvPr/>
        </p:nvSpPr>
        <p:spPr>
          <a:xfrm>
            <a:off x="5734633" y="3964376"/>
            <a:ext cx="1851660" cy="307777"/>
          </a:xfrm>
          <a:prstGeom prst="rect">
            <a:avLst/>
          </a:prstGeom>
          <a:noFill/>
        </p:spPr>
        <p:txBody>
          <a:bodyPr wrap="square" rtlCol="0" anchor="t">
            <a:spAutoFit/>
          </a:bodyPr>
          <a:lstStyle/>
          <a:p>
            <a:r>
              <a:rPr lang="en-US" altLang="zh-CN" sz="1400" b="1" dirty="0">
                <a:latin typeface="Roboto" charset="0"/>
                <a:cs typeface="Roboto" charset="0"/>
                <a:sym typeface="+mn-ea"/>
              </a:rPr>
              <a:t>Rear Panel</a:t>
            </a:r>
            <a:endParaRPr lang="en-US" altLang="zh-CN" sz="1400" b="1" dirty="0">
              <a:latin typeface="Roboto" charset="0"/>
              <a:cs typeface="Roboto" charset="0"/>
              <a:sym typeface="+mn-ea"/>
            </a:endParaRPr>
          </a:p>
        </p:txBody>
      </p:sp>
      <p:sp>
        <p:nvSpPr>
          <p:cNvPr id="2" name="文本框 1"/>
          <p:cNvSpPr txBox="1"/>
          <p:nvPr/>
        </p:nvSpPr>
        <p:spPr>
          <a:xfrm>
            <a:off x="7867170" y="1661676"/>
            <a:ext cx="3867829" cy="2818131"/>
          </a:xfrm>
          <a:prstGeom prst="rect">
            <a:avLst/>
          </a:prstGeom>
          <a:noFill/>
        </p:spPr>
        <p:txBody>
          <a:bodyPr wrap="square" rtlCol="0">
            <a:noAutofit/>
          </a:bodyPr>
          <a:lstStyle/>
          <a:p>
            <a:pPr algn="l">
              <a:buClrTx/>
              <a:buSzTx/>
              <a:buFont typeface="Wingdings" panose="05000000000000000000" charset="0"/>
            </a:pPr>
            <a:r>
              <a:rPr lang="en-US" sz="1600" b="1" dirty="0">
                <a:solidFill>
                  <a:schemeClr val="tx1">
                    <a:lumMod val="75000"/>
                    <a:lumOff val="25000"/>
                  </a:schemeClr>
                </a:solidFill>
                <a:latin typeface="Roboto" charset="0"/>
                <a:ea typeface="Roboto" charset="0"/>
                <a:cs typeface="Arial" panose="020B0604020202020204" pitchFamily="34" charset="0"/>
              </a:rPr>
              <a:t>Touch Button Controls ：</a:t>
            </a:r>
            <a:endParaRPr lang="en-US" sz="1600" b="1" dirty="0">
              <a:solidFill>
                <a:schemeClr val="tx1">
                  <a:lumMod val="75000"/>
                  <a:lumOff val="25000"/>
                </a:schemeClr>
              </a:solidFill>
              <a:latin typeface="Roboto" charset="0"/>
              <a:ea typeface="Roboto" charset="0"/>
              <a:cs typeface="Arial" panose="020B0604020202020204" pitchFamily="34" charset="0"/>
            </a:endParaRPr>
          </a:p>
          <a:p>
            <a:pPr algn="l">
              <a:lnSpc>
                <a:spcPct val="100000"/>
              </a:lnSpc>
              <a:buClrTx/>
              <a:buSzTx/>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rPr>
              <a:t>Capacitive touch buttons allow easy </a:t>
            </a:r>
            <a:r>
              <a:rPr lang="en-US" sz="1400" dirty="0">
                <a:ln w="3175">
                  <a:noFill/>
                  <a:prstDash val="dash"/>
                </a:ln>
                <a:solidFill>
                  <a:schemeClr val="dk1">
                    <a:lumMod val="75000"/>
                    <a:lumOff val="25000"/>
                  </a:schemeClr>
                </a:solidFill>
                <a:latin typeface="Roboto" charset="0"/>
                <a:ea typeface="Roboto" charset="0"/>
                <a:cs typeface="Arial" panose="020B0604020202020204" pitchFamily="34" charset="0"/>
              </a:rPr>
              <a:t>adjustment of volume, management of Bluetooth pairing, and muting/unmuting of the microphone.</a:t>
            </a:r>
            <a:endParaRPr lang="en-US" sz="1400" dirty="0">
              <a:ln w="3175">
                <a:noFill/>
                <a:prstDash val="dash"/>
              </a:ln>
              <a:solidFill>
                <a:schemeClr val="dk1">
                  <a:lumMod val="75000"/>
                  <a:lumOff val="25000"/>
                </a:schemeClr>
              </a:solidFill>
              <a:latin typeface="Roboto" charset="0"/>
              <a:ea typeface="Roboto" charset="0"/>
              <a:cs typeface="Arial" panose="020B0604020202020204" pitchFamily="34" charset="0"/>
            </a:endParaRPr>
          </a:p>
          <a:p>
            <a:pPr>
              <a:buClrTx/>
              <a:buSzTx/>
              <a:buFontTx/>
            </a:pPr>
            <a:endParaRPr lang="en-US" altLang="zh-CN" b="1" dirty="0">
              <a:ln w="3175">
                <a:noFill/>
                <a:prstDash val="dash"/>
              </a:ln>
              <a:solidFill>
                <a:schemeClr val="dk1">
                  <a:lumMod val="75000"/>
                  <a:lumOff val="25000"/>
                </a:schemeClr>
              </a:solidFill>
              <a:latin typeface="Roboto" charset="0"/>
              <a:ea typeface="Roboto" charset="0"/>
              <a:cs typeface="Arial" panose="020B0604020202020204" pitchFamily="34" charset="0"/>
            </a:endParaRPr>
          </a:p>
          <a:p>
            <a:pPr algn="l">
              <a:buClrTx/>
              <a:buSzTx/>
              <a:buFont typeface="Wingdings" panose="05000000000000000000" charset="0"/>
            </a:pPr>
            <a:r>
              <a:rPr lang="en-US" sz="1600" b="1" dirty="0">
                <a:solidFill>
                  <a:schemeClr val="tx1">
                    <a:lumMod val="75000"/>
                    <a:lumOff val="25000"/>
                  </a:schemeClr>
                </a:solidFill>
                <a:latin typeface="Roboto" charset="0"/>
                <a:ea typeface="Roboto" charset="0"/>
                <a:cs typeface="Arial" panose="020B0604020202020204" pitchFamily="34" charset="0"/>
              </a:rPr>
              <a:t>Mini-USB &amp; USB-C Ports：</a:t>
            </a:r>
            <a:endParaRPr lang="en-US" sz="1600" b="1" dirty="0">
              <a:solidFill>
                <a:schemeClr val="tx1">
                  <a:lumMod val="75000"/>
                  <a:lumOff val="25000"/>
                </a:schemeClr>
              </a:solidFill>
              <a:latin typeface="Roboto" charset="0"/>
              <a:ea typeface="Roboto" charset="0"/>
              <a:cs typeface="Arial" panose="020B0604020202020204" pitchFamily="34" charset="0"/>
            </a:endParaRPr>
          </a:p>
          <a:p>
            <a:pPr algn="l">
              <a:lnSpc>
                <a:spcPct val="100000"/>
              </a:lnSpc>
              <a:buClrTx/>
              <a:buSzTx/>
              <a:buFont typeface="Wingdings" panose="05000000000000000000" charset="0"/>
            </a:pPr>
            <a:r>
              <a:rPr lang="en-US" sz="1400" dirty="0">
                <a:solidFill>
                  <a:schemeClr val="tx1">
                    <a:lumMod val="75000"/>
                    <a:lumOff val="25000"/>
                  </a:schemeClr>
                </a:solidFill>
                <a:latin typeface="Roboto" charset="0"/>
                <a:ea typeface="Roboto" charset="0"/>
                <a:cs typeface="Arial" panose="020B0604020202020204" pitchFamily="34" charset="0"/>
              </a:rPr>
              <a:t>Mini‑USB port enables effortless device cascading, while USB‑C delivers plug‑and‑play connection to your laptop or other devices.</a:t>
            </a:r>
            <a:endParaRPr lang="en-US" sz="1400" dirty="0">
              <a:solidFill>
                <a:schemeClr val="tx1">
                  <a:lumMod val="75000"/>
                  <a:lumOff val="25000"/>
                </a:schemeClr>
              </a:solidFill>
              <a:latin typeface="Roboto" charset="0"/>
              <a:ea typeface="Roboto" charset="0"/>
              <a:cs typeface="Arial" panose="020B0604020202020204" pitchFamily="34" charset="0"/>
            </a:endParaRPr>
          </a:p>
        </p:txBody>
      </p:sp>
      <p:pic>
        <p:nvPicPr>
          <p:cNvPr id="18" name="图片 17"/>
          <p:cNvPicPr>
            <a:picLocks noChangeAspect="1"/>
          </p:cNvPicPr>
          <p:nvPr/>
        </p:nvPicPr>
        <p:blipFill>
          <a:blip r:embed="rId4"/>
          <a:stretch>
            <a:fillRect/>
          </a:stretch>
        </p:blipFill>
        <p:spPr>
          <a:xfrm>
            <a:off x="1629782" y="1154049"/>
            <a:ext cx="3164500" cy="2384293"/>
          </a:xfrm>
          <a:prstGeom prst="rect">
            <a:avLst/>
          </a:prstGeom>
        </p:spPr>
      </p:pic>
      <p:pic>
        <p:nvPicPr>
          <p:cNvPr id="4" name="图片 3"/>
          <p:cNvPicPr>
            <a:picLocks noChangeAspect="1"/>
          </p:cNvPicPr>
          <p:nvPr/>
        </p:nvPicPr>
        <p:blipFill>
          <a:blip r:embed="rId5"/>
          <a:stretch>
            <a:fillRect/>
          </a:stretch>
        </p:blipFill>
        <p:spPr>
          <a:xfrm>
            <a:off x="1228913" y="4253270"/>
            <a:ext cx="3905458" cy="2215475"/>
          </a:xfrm>
          <a:prstGeom prst="rect">
            <a:avLst/>
          </a:prstGeom>
        </p:spPr>
      </p:pic>
    </p:spTree>
    <p:custDataLst>
      <p:tags r:id="rId6"/>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7145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Specifications &amp; Packing List</a:t>
            </a:r>
            <a:endParaRPr lang="en-US" sz="2800" b="1" dirty="0">
              <a:solidFill>
                <a:schemeClr val="lt1"/>
              </a:solidFill>
              <a:uFillTx/>
              <a:latin typeface="Montserrat" pitchFamily="2" charset="0"/>
              <a:ea typeface="微软雅黑" panose="020B0503020204020204" pitchFamily="34" charset="-122"/>
              <a:sym typeface="Roboto"/>
            </a:endParaRPr>
          </a:p>
        </p:txBody>
      </p:sp>
      <p:sp>
        <p:nvSpPr>
          <p:cNvPr id="4" name="文本框 3"/>
          <p:cNvSpPr txBox="1"/>
          <p:nvPr/>
        </p:nvSpPr>
        <p:spPr>
          <a:xfrm>
            <a:off x="7242219" y="1901190"/>
            <a:ext cx="4597400" cy="2105660"/>
          </a:xfrm>
          <a:prstGeom prst="rect">
            <a:avLst/>
          </a:prstGeom>
          <a:noFill/>
        </p:spPr>
        <p:txBody>
          <a:bodyPr wrap="square" rtlCol="0">
            <a:noAutofit/>
          </a:bodyPr>
          <a:lstStyle/>
          <a:p>
            <a:pPr algn="l">
              <a:buClrTx/>
              <a:buSzTx/>
              <a:buFont typeface="Wingdings" panose="05000000000000000000" charset="0"/>
            </a:pPr>
            <a:r>
              <a:rPr lang="en-US" b="1" dirty="0">
                <a:solidFill>
                  <a:schemeClr val="tx1">
                    <a:lumMod val="75000"/>
                    <a:lumOff val="25000"/>
                  </a:schemeClr>
                </a:solidFill>
                <a:latin typeface="Roboto" charset="0"/>
                <a:ea typeface="Roboto" charset="0"/>
                <a:cs typeface="Arial" panose="020B0604020202020204" pitchFamily="34" charset="0"/>
              </a:rPr>
              <a:t>What’s in the Box?</a:t>
            </a:r>
            <a:endParaRPr lang="en-US" b="1" dirty="0">
              <a:solidFill>
                <a:schemeClr val="tx1">
                  <a:lumMod val="75000"/>
                  <a:lumOff val="25000"/>
                </a:schemeClr>
              </a:solidFill>
              <a:latin typeface="Roboto" charset="0"/>
              <a:ea typeface="Roboto" charset="0"/>
              <a:cs typeface="Arial" panose="020B0604020202020204" pitchFamily="34" charset="0"/>
            </a:endParaRPr>
          </a:p>
          <a:p>
            <a:pPr>
              <a:lnSpc>
                <a:spcPts val="900"/>
              </a:lnSpc>
            </a:pPr>
            <a:endParaRPr lang="zh-CN" altLang="en-US" sz="1600" dirty="0">
              <a:latin typeface="Roboto" charset="0"/>
              <a:cs typeface="Arial" panose="020B0604020202020204" pitchFamily="34" charset="0"/>
            </a:endParaRPr>
          </a:p>
          <a:p>
            <a:pPr marL="285750" indent="-285750">
              <a:buFont typeface="Wingdings" panose="05000000000000000000" charset="0"/>
              <a:buChar char="l"/>
            </a:pPr>
            <a:r>
              <a:rPr lang="en-US" sz="1600" dirty="0">
                <a:solidFill>
                  <a:schemeClr val="tx1">
                    <a:lumMod val="75000"/>
                    <a:lumOff val="25000"/>
                  </a:schemeClr>
                </a:solidFill>
                <a:latin typeface="Roboto" charset="0"/>
                <a:cs typeface="Arial" panose="020B0604020202020204" pitchFamily="34" charset="0"/>
              </a:rPr>
              <a:t>1 x HALO 80 Speakerphone </a:t>
            </a:r>
            <a:endParaRPr lang="en-US" sz="1600" dirty="0">
              <a:solidFill>
                <a:schemeClr val="tx1">
                  <a:lumMod val="75000"/>
                  <a:lumOff val="25000"/>
                </a:schemeClr>
              </a:solidFill>
              <a:latin typeface="Roboto" charset="0"/>
              <a:cs typeface="Arial" panose="020B0604020202020204" pitchFamily="34" charset="0"/>
            </a:endParaRPr>
          </a:p>
          <a:p>
            <a:pPr marL="285750" indent="-285750">
              <a:buFont typeface="Wingdings" panose="05000000000000000000" charset="0"/>
              <a:buChar char="l"/>
            </a:pPr>
            <a:r>
              <a:rPr lang="en-US" sz="1600" dirty="0">
                <a:solidFill>
                  <a:schemeClr val="tx1">
                    <a:lumMod val="75000"/>
                    <a:lumOff val="25000"/>
                  </a:schemeClr>
                </a:solidFill>
                <a:latin typeface="Roboto" charset="0"/>
                <a:cs typeface="Arial" panose="020B0604020202020204" pitchFamily="34" charset="0"/>
              </a:rPr>
              <a:t>1 x USB 2.0 Type-A to Type-C Cable (L=1.5m) </a:t>
            </a:r>
            <a:endParaRPr lang="en-US" sz="1600" dirty="0">
              <a:solidFill>
                <a:schemeClr val="tx1">
                  <a:lumMod val="75000"/>
                  <a:lumOff val="25000"/>
                </a:schemeClr>
              </a:solidFill>
              <a:latin typeface="Roboto" charset="0"/>
              <a:cs typeface="Arial" panose="020B0604020202020204" pitchFamily="34" charset="0"/>
            </a:endParaRPr>
          </a:p>
          <a:p>
            <a:pPr marL="285750" indent="-285750">
              <a:buFont typeface="Wingdings" panose="05000000000000000000" charset="0"/>
              <a:buChar char="l"/>
            </a:pPr>
            <a:r>
              <a:rPr lang="en-US" sz="1600" dirty="0">
                <a:solidFill>
                  <a:schemeClr val="tx1">
                    <a:lumMod val="75000"/>
                    <a:lumOff val="25000"/>
                  </a:schemeClr>
                </a:solidFill>
                <a:latin typeface="Roboto" charset="0"/>
                <a:cs typeface="Arial" panose="020B0604020202020204" pitchFamily="34" charset="0"/>
              </a:rPr>
              <a:t>1 x DC 12V Power Adapter</a:t>
            </a:r>
            <a:endParaRPr lang="en-US" sz="1600" dirty="0">
              <a:solidFill>
                <a:schemeClr val="tx1">
                  <a:lumMod val="75000"/>
                  <a:lumOff val="25000"/>
                </a:schemeClr>
              </a:solidFill>
              <a:latin typeface="Roboto" charset="0"/>
              <a:cs typeface="Arial" panose="020B0604020202020204" pitchFamily="34" charset="0"/>
            </a:endParaRPr>
          </a:p>
          <a:p>
            <a:pPr marL="285750" indent="-285750">
              <a:buFont typeface="Wingdings" panose="05000000000000000000" charset="0"/>
              <a:buChar char="l"/>
            </a:pPr>
            <a:r>
              <a:rPr lang="en-US" sz="1600" dirty="0">
                <a:solidFill>
                  <a:schemeClr val="tx1">
                    <a:lumMod val="75000"/>
                    <a:lumOff val="25000"/>
                  </a:schemeClr>
                </a:solidFill>
                <a:latin typeface="Roboto" charset="0"/>
                <a:cs typeface="Arial" panose="020B0604020202020204" pitchFamily="34" charset="0"/>
              </a:rPr>
              <a:t>1 x USB Mini Cable (L=3m)</a:t>
            </a:r>
            <a:endParaRPr lang="en-US" sz="1600" dirty="0">
              <a:solidFill>
                <a:schemeClr val="tx1">
                  <a:lumMod val="75000"/>
                  <a:lumOff val="25000"/>
                </a:schemeClr>
              </a:solidFill>
              <a:latin typeface="Roboto" charset="0"/>
              <a:cs typeface="Arial" panose="020B0604020202020204" pitchFamily="34" charset="0"/>
            </a:endParaRPr>
          </a:p>
          <a:p>
            <a:pPr marL="285750" indent="-285750">
              <a:buFont typeface="Wingdings" panose="05000000000000000000" charset="0"/>
              <a:buChar char="l"/>
            </a:pPr>
            <a:r>
              <a:rPr lang="en-US" sz="1600" dirty="0">
                <a:solidFill>
                  <a:schemeClr val="tx1">
                    <a:lumMod val="75000"/>
                    <a:lumOff val="25000"/>
                  </a:schemeClr>
                </a:solidFill>
                <a:latin typeface="Roboto" charset="0"/>
                <a:cs typeface="Arial" panose="020B0604020202020204" pitchFamily="34" charset="0"/>
              </a:rPr>
              <a:t>1 x Quick Start Guide</a:t>
            </a:r>
            <a:endParaRPr lang="en-US" sz="1600" dirty="0">
              <a:solidFill>
                <a:schemeClr val="tx1">
                  <a:lumMod val="75000"/>
                  <a:lumOff val="25000"/>
                </a:schemeClr>
              </a:solidFill>
              <a:latin typeface="Roboto" charset="0"/>
              <a:cs typeface="Arial" panose="020B0604020202020204" pitchFamily="34" charset="0"/>
            </a:endParaRPr>
          </a:p>
        </p:txBody>
      </p:sp>
      <p:pic>
        <p:nvPicPr>
          <p:cNvPr id="6" name="Google Shape;82;p1"/>
          <p:cNvPicPr preferRelativeResize="0"/>
          <p:nvPr/>
        </p:nvPicPr>
        <p:blipFill>
          <a:blip r:embed="rId3"/>
          <a:stretch>
            <a:fillRect/>
          </a:stretch>
        </p:blipFill>
        <p:spPr>
          <a:xfrm>
            <a:off x="9652104" y="6056488"/>
            <a:ext cx="2241019" cy="440200"/>
          </a:xfrm>
          <a:prstGeom prst="rect">
            <a:avLst/>
          </a:prstGeom>
          <a:noFill/>
          <a:ln>
            <a:noFill/>
          </a:ln>
        </p:spPr>
      </p:pic>
      <p:sp>
        <p:nvSpPr>
          <p:cNvPr id="9"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graphicFrame>
        <p:nvGraphicFramePr>
          <p:cNvPr id="11" name="表格 10"/>
          <p:cNvGraphicFramePr>
            <a:graphicFrameLocks noGrp="1"/>
          </p:cNvGraphicFramePr>
          <p:nvPr/>
        </p:nvGraphicFramePr>
        <p:xfrm>
          <a:off x="298877" y="1205301"/>
          <a:ext cx="6724223" cy="5161280"/>
        </p:xfrm>
        <a:graphic>
          <a:graphicData uri="http://schemas.openxmlformats.org/drawingml/2006/table">
            <a:tbl>
              <a:tblPr firstRow="1" bandRow="1">
                <a:tableStyleId>{93296810-A885-4BE3-A3E7-6D5BEEA58F35}</a:tableStyleId>
              </a:tblPr>
              <a:tblGrid>
                <a:gridCol w="949323"/>
                <a:gridCol w="1566373"/>
                <a:gridCol w="4208527"/>
              </a:tblGrid>
              <a:tr h="370840">
                <a:tc gridSpan="3">
                  <a:txBody>
                    <a:bodyPr/>
                    <a:lstStyle/>
                    <a:p>
                      <a:pPr>
                        <a:tabLst>
                          <a:tab pos="6184900" algn="l"/>
                        </a:tabLst>
                      </a:pPr>
                      <a:r>
                        <a:rPr lang="en-US" sz="1600" dirty="0">
                          <a:latin typeface="Roboto" charset="0"/>
                          <a:ea typeface="Roboto" charset="0"/>
                        </a:rPr>
                        <a:t>Main Specifications</a:t>
                      </a:r>
                      <a:endParaRPr lang="en-US" sz="1600" dirty="0">
                        <a:latin typeface="Roboto" charset="0"/>
                        <a:ea typeface="Roboto" charset="0"/>
                      </a:endParaRPr>
                    </a:p>
                  </a:txBody>
                  <a:tcPr>
                    <a:solidFill>
                      <a:schemeClr val="accent3"/>
                    </a:solidFill>
                  </a:tcPr>
                </a:tc>
                <a:tc hMerge="1">
                  <a:tcPr>
                    <a:solidFill>
                      <a:schemeClr val="accent3"/>
                    </a:solidFill>
                  </a:tcPr>
                </a:tc>
                <a:tc hMerge="1">
                  <a:tcPr/>
                </a:tc>
              </a:tr>
              <a:tr h="370840">
                <a:tc rowSpan="2">
                  <a:txBody>
                    <a:bodyPr/>
                    <a:lstStyle/>
                    <a:p>
                      <a:r>
                        <a:rPr lang="en-US" sz="1400" b="1" dirty="0">
                          <a:latin typeface="Roboto" charset="0"/>
                          <a:ea typeface="Roboto" charset="0"/>
                        </a:rPr>
                        <a:t>Ports</a:t>
                      </a:r>
                      <a:endParaRPr lang="en-US" sz="1400" b="1" dirty="0">
                        <a:latin typeface="Roboto" charset="0"/>
                        <a:ea typeface="Roboto" charset="0"/>
                      </a:endParaRPr>
                    </a:p>
                  </a:txBody>
                  <a:tcPr anchor="ctr"/>
                </a:tc>
                <a:tc>
                  <a:txBody>
                    <a:bodyPr/>
                    <a:lstStyle/>
                    <a:p>
                      <a:r>
                        <a:rPr lang="en-US" sz="1400" b="1" dirty="0">
                          <a:latin typeface="Roboto" charset="0"/>
                          <a:ea typeface="Roboto" charset="0"/>
                        </a:rPr>
                        <a:t>USB input</a:t>
                      </a:r>
                      <a:endParaRPr lang="en-US" sz="1400" b="1" dirty="0">
                        <a:latin typeface="Roboto" charset="0"/>
                        <a:ea typeface="Roboto" charset="0"/>
                      </a:endParaRPr>
                    </a:p>
                  </a:txBody>
                  <a:tcPr anchor="ctr"/>
                </a:tc>
                <a:tc>
                  <a:txBody>
                    <a:bodyPr/>
                    <a:lstStyle/>
                    <a:p>
                      <a:r>
                        <a:rPr lang="en-US" sz="1400" b="0" dirty="0">
                          <a:latin typeface="Roboto" charset="0"/>
                          <a:ea typeface="Roboto" charset="0"/>
                        </a:rPr>
                        <a:t>1 x USB Type-C port. </a:t>
                      </a:r>
                      <a:br>
                        <a:rPr lang="en-US" sz="1400" b="0" dirty="0">
                          <a:latin typeface="Roboto" charset="0"/>
                          <a:ea typeface="Roboto" charset="0"/>
                        </a:rPr>
                      </a:br>
                      <a:r>
                        <a:rPr lang="en-US" sz="1400" b="0" dirty="0">
                          <a:latin typeface="Roboto" charset="0"/>
                          <a:ea typeface="Roboto" charset="0"/>
                        </a:rPr>
                        <a:t>The following cables are recommended to be used to connect with source device:</a:t>
                      </a:r>
                      <a:endParaRPr lang="en-US" sz="1400" b="0" dirty="0">
                        <a:latin typeface="Roboto" charset="0"/>
                        <a:ea typeface="Roboto" charset="0"/>
                      </a:endParaRPr>
                    </a:p>
                    <a:p>
                      <a:pPr marL="177800" indent="-177800">
                        <a:buFont typeface="Arial" panose="020B0604020202020204" pitchFamily="34" charset="0"/>
                        <a:buChar char="•"/>
                      </a:pPr>
                      <a:r>
                        <a:rPr lang="en-US" sz="1400" b="0" dirty="0">
                          <a:latin typeface="Roboto" charset="0"/>
                          <a:ea typeface="Roboto" charset="0"/>
                        </a:rPr>
                        <a:t>USB 2.0 Type-A to USB Type-C cable</a:t>
                      </a:r>
                      <a:endParaRPr lang="en-US" sz="1400" b="0" dirty="0">
                        <a:latin typeface="Roboto" charset="0"/>
                        <a:ea typeface="Roboto" charset="0"/>
                      </a:endParaRPr>
                    </a:p>
                    <a:p>
                      <a:pPr marL="177800" indent="-177800">
                        <a:buFont typeface="Arial" panose="020B0604020202020204" pitchFamily="34" charset="0"/>
                        <a:buChar char="•"/>
                      </a:pPr>
                      <a:r>
                        <a:rPr lang="en-US" sz="1400" b="0" dirty="0">
                          <a:latin typeface="Roboto" charset="0"/>
                          <a:ea typeface="Roboto" charset="0"/>
                        </a:rPr>
                        <a:t>USB Type-C cable (USB 2.0 or above) </a:t>
                      </a:r>
                      <a:endParaRPr lang="en-US" sz="1400" b="0" dirty="0">
                        <a:latin typeface="Roboto" charset="0"/>
                        <a:ea typeface="Roboto" charset="0"/>
                      </a:endParaRPr>
                    </a:p>
                  </a:txBody>
                  <a:tcPr anchor="ctr"/>
                </a:tc>
              </a:tr>
              <a:tr h="370840">
                <a:tc vMerge="1">
                  <a:tcPr anchor="ctr"/>
                </a:tc>
                <a:tc>
                  <a:txBody>
                    <a:bodyPr/>
                    <a:lstStyle/>
                    <a:p>
                      <a:r>
                        <a:rPr lang="en-US" sz="1400" b="1" dirty="0">
                          <a:latin typeface="Roboto" charset="0"/>
                          <a:ea typeface="Roboto" charset="0"/>
                        </a:rPr>
                        <a:t>Daisy-chain port</a:t>
                      </a:r>
                      <a:endParaRPr lang="en-US" sz="1400" b="1" dirty="0">
                        <a:latin typeface="Roboto" charset="0"/>
                        <a:ea typeface="Roboto" charset="0"/>
                      </a:endParaRPr>
                    </a:p>
                  </a:txBody>
                  <a:tcPr anchor="ctr"/>
                </a:tc>
                <a:tc>
                  <a:txBody>
                    <a:bodyPr/>
                    <a:lstStyle/>
                    <a:p>
                      <a:r>
                        <a:rPr lang="en-US" sz="1400" b="0" dirty="0">
                          <a:latin typeface="Roboto" charset="0"/>
                          <a:ea typeface="Roboto" charset="0"/>
                        </a:rPr>
                        <a:t>2 x USB Mini</a:t>
                      </a:r>
                      <a:endParaRPr lang="en-US" sz="1400" b="0" dirty="0">
                        <a:latin typeface="Roboto" charset="0"/>
                        <a:ea typeface="Roboto" charset="0"/>
                      </a:endParaRPr>
                    </a:p>
                  </a:txBody>
                  <a:tcPr anchor="ctr"/>
                </a:tc>
              </a:tr>
              <a:tr h="370840">
                <a:tc rowSpan="2">
                  <a:txBody>
                    <a:bodyPr/>
                    <a:lstStyle/>
                    <a:p>
                      <a:r>
                        <a:rPr lang="en-US" sz="1400" b="1" dirty="0">
                          <a:latin typeface="Roboto" charset="0"/>
                          <a:ea typeface="Roboto" charset="0"/>
                        </a:rPr>
                        <a:t>Mics</a:t>
                      </a:r>
                      <a:endParaRPr lang="en-US" sz="1400" b="1" dirty="0">
                        <a:latin typeface="Roboto" charset="0"/>
                        <a:ea typeface="Roboto" charset="0"/>
                      </a:endParaRPr>
                    </a:p>
                  </a:txBody>
                  <a:tcPr anchor="ctr"/>
                </a:tc>
                <a:tc>
                  <a:txBody>
                    <a:bodyPr/>
                    <a:lstStyle/>
                    <a:p>
                      <a:r>
                        <a:rPr lang="en-US" sz="1400" b="1" dirty="0">
                          <a:latin typeface="Roboto" charset="0"/>
                          <a:ea typeface="Roboto" charset="0"/>
                        </a:rPr>
                        <a:t>Mics</a:t>
                      </a:r>
                      <a:endParaRPr lang="en-US" sz="1400" b="1" dirty="0">
                        <a:latin typeface="Roboto" charset="0"/>
                        <a:ea typeface="Roboto" charset="0"/>
                      </a:endParaRPr>
                    </a:p>
                  </a:txBody>
                  <a:tcPr anchor="ctr"/>
                </a:tc>
                <a:tc>
                  <a:txBody>
                    <a:bodyPr/>
                    <a:lstStyle/>
                    <a:p>
                      <a:r>
                        <a:rPr lang="en-US" sz="1400" dirty="0">
                          <a:latin typeface="Roboto" charset="0"/>
                          <a:ea typeface="Roboto" charset="0"/>
                        </a:rPr>
                        <a:t>Omnidirectional digital mic arrays consisting of 4 mics</a:t>
                      </a:r>
                      <a:endParaRPr lang="en-US" sz="1400" dirty="0">
                        <a:latin typeface="Roboto" charset="0"/>
                        <a:ea typeface="Roboto" charset="0"/>
                      </a:endParaRPr>
                    </a:p>
                  </a:txBody>
                  <a:tcPr anchor="ctr"/>
                </a:tc>
              </a:tr>
              <a:tr h="370840">
                <a:tc vMerge="1">
                  <a:tcPr anchor="ctr"/>
                </a:tc>
                <a:tc>
                  <a:txBody>
                    <a:bodyPr/>
                    <a:lstStyle/>
                    <a:p>
                      <a:r>
                        <a:rPr lang="en-US" sz="1400" b="1" dirty="0">
                          <a:latin typeface="Roboto" charset="0"/>
                          <a:ea typeface="Roboto" charset="0"/>
                        </a:rPr>
                        <a:t>Pick-up range</a:t>
                      </a:r>
                      <a:endParaRPr lang="en-US" sz="1400" b="1" dirty="0">
                        <a:latin typeface="Roboto" charset="0"/>
                        <a:ea typeface="Roboto" charset="0"/>
                      </a:endParaRPr>
                    </a:p>
                  </a:txBody>
                  <a:tcPr anchor="ctr"/>
                </a:tc>
                <a:tc>
                  <a:txBody>
                    <a:bodyPr/>
                    <a:lstStyle/>
                    <a:p>
                      <a:r>
                        <a:rPr lang="en-US" sz="1400" b="0" dirty="0">
                          <a:latin typeface="Roboto" charset="0"/>
                          <a:ea typeface="Roboto" charset="0"/>
                        </a:rPr>
                        <a:t>Up to 5m</a:t>
                      </a:r>
                      <a:endParaRPr lang="en-US" sz="1400" b="0" dirty="0">
                        <a:latin typeface="Roboto" charset="0"/>
                        <a:ea typeface="Roboto" charset="0"/>
                      </a:endParaRPr>
                    </a:p>
                  </a:txBody>
                  <a:tcPr anchor="ctr"/>
                </a:tc>
              </a:tr>
              <a:tr h="370840">
                <a:tc>
                  <a:txBody>
                    <a:bodyPr/>
                    <a:lstStyle/>
                    <a:p>
                      <a:r>
                        <a:rPr lang="en-US" sz="1400" b="1" dirty="0">
                          <a:latin typeface="Roboto" charset="0"/>
                          <a:ea typeface="Roboto" charset="0"/>
                        </a:rPr>
                        <a:t>Speaker</a:t>
                      </a:r>
                      <a:endParaRPr lang="en-US" sz="1400" b="1" dirty="0">
                        <a:latin typeface="Roboto" charset="0"/>
                        <a:ea typeface="Roboto" charset="0"/>
                      </a:endParaRPr>
                    </a:p>
                  </a:txBody>
                  <a:tcPr anchor="ctr"/>
                </a:tc>
                <a:tc>
                  <a:txBody>
                    <a:bodyPr/>
                    <a:lstStyle/>
                    <a:p>
                      <a:r>
                        <a:rPr lang="en-US" sz="1400" b="1" dirty="0">
                          <a:latin typeface="Roboto" charset="0"/>
                          <a:ea typeface="Roboto" charset="0"/>
                        </a:rPr>
                        <a:t>Speaker output power</a:t>
                      </a:r>
                      <a:endParaRPr lang="en-US" sz="1400" b="1" dirty="0">
                        <a:latin typeface="Roboto" charset="0"/>
                        <a:ea typeface="Roboto" charset="0"/>
                      </a:endParaRPr>
                    </a:p>
                  </a:txBody>
                  <a:tcPr anchor="ctr"/>
                </a:tc>
                <a:tc>
                  <a:txBody>
                    <a:bodyPr/>
                    <a:lstStyle/>
                    <a:p>
                      <a:r>
                        <a:rPr lang="en-US" sz="1400" dirty="0">
                          <a:latin typeface="Roboto" charset="0"/>
                          <a:ea typeface="Roboto" charset="0"/>
                        </a:rPr>
                        <a:t>3W</a:t>
                      </a:r>
                      <a:endParaRPr lang="en-US" sz="1400" dirty="0">
                        <a:latin typeface="Roboto" charset="0"/>
                        <a:ea typeface="Roboto" charset="0"/>
                      </a:endParaRPr>
                    </a:p>
                  </a:txBody>
                  <a:tcPr anchor="ctr"/>
                </a:tc>
              </a:tr>
              <a:tr h="370840">
                <a:tc rowSpan="5">
                  <a:txBody>
                    <a:bodyPr/>
                    <a:lstStyle/>
                    <a:p>
                      <a:r>
                        <a:rPr lang="en-US" sz="1400" b="1" dirty="0">
                          <a:latin typeface="Roboto" charset="0"/>
                          <a:ea typeface="Roboto" charset="0"/>
                        </a:rPr>
                        <a:t>Others</a:t>
                      </a:r>
                      <a:endParaRPr lang="en-US" sz="1400" b="1" dirty="0">
                        <a:latin typeface="Roboto" charset="0"/>
                        <a:ea typeface="Roboto" charset="0"/>
                      </a:endParaRPr>
                    </a:p>
                  </a:txBody>
                  <a:tcPr anchor="ctr"/>
                </a:tc>
                <a:tc>
                  <a:txBody>
                    <a:bodyPr/>
                    <a:lstStyle/>
                    <a:p>
                      <a:r>
                        <a:rPr lang="en-US" sz="1400" b="1" dirty="0">
                          <a:latin typeface="Roboto" charset="0"/>
                          <a:ea typeface="Roboto" charset="0"/>
                        </a:rPr>
                        <a:t>AEC,AGC,ANS</a:t>
                      </a:r>
                      <a:endParaRPr lang="en-US" sz="1400" b="1" dirty="0">
                        <a:latin typeface="Roboto" charset="0"/>
                        <a:ea typeface="Roboto" charset="0"/>
                      </a:endParaRPr>
                    </a:p>
                  </a:txBody>
                  <a:tcPr anchor="ctr"/>
                </a:tc>
                <a:tc>
                  <a:txBody>
                    <a:bodyPr/>
                    <a:lstStyle/>
                    <a:p>
                      <a:r>
                        <a:rPr lang="en-US" sz="1400" dirty="0">
                          <a:latin typeface="Roboto" charset="0"/>
                          <a:ea typeface="Roboto" charset="0"/>
                        </a:rPr>
                        <a:t>Yes</a:t>
                      </a:r>
                      <a:endParaRPr lang="en-US" sz="1400" dirty="0">
                        <a:latin typeface="Roboto" charset="0"/>
                        <a:ea typeface="Roboto" charset="0"/>
                      </a:endParaRPr>
                    </a:p>
                  </a:txBody>
                  <a:tcPr anchor="ctr"/>
                </a:tc>
              </a:tr>
              <a:tr h="370840">
                <a:tc vMerge="1">
                  <a:tcPr anchor="ctr"/>
                </a:tc>
                <a:tc>
                  <a:txBody>
                    <a:bodyPr/>
                    <a:lstStyle/>
                    <a:p>
                      <a:r>
                        <a:rPr lang="en-US" sz="1400" b="1" dirty="0">
                          <a:latin typeface="Roboto" charset="0"/>
                          <a:ea typeface="Roboto" charset="0"/>
                        </a:rPr>
                        <a:t>Bluetooth</a:t>
                      </a:r>
                      <a:endParaRPr lang="en-US" sz="1400" b="1" dirty="0">
                        <a:latin typeface="Roboto" charset="0"/>
                        <a:ea typeface="Roboto" charset="0"/>
                      </a:endParaRPr>
                    </a:p>
                  </a:txBody>
                  <a:tcPr anchor="ctr"/>
                </a:tc>
                <a:tc>
                  <a:txBody>
                    <a:bodyPr/>
                    <a:lstStyle/>
                    <a:p>
                      <a:r>
                        <a:rPr lang="en-US" sz="1400" dirty="0">
                          <a:latin typeface="Roboto" charset="0"/>
                          <a:ea typeface="Roboto" charset="0"/>
                        </a:rPr>
                        <a:t>Bluetooth 5.0</a:t>
                      </a:r>
                      <a:endParaRPr lang="en-US" sz="1400" dirty="0">
                        <a:latin typeface="Roboto" charset="0"/>
                        <a:ea typeface="Roboto" charset="0"/>
                      </a:endParaRPr>
                    </a:p>
                  </a:txBody>
                  <a:tcPr anchor="ctr"/>
                </a:tc>
              </a:tr>
              <a:tr h="370840">
                <a:tc vMerge="1">
                  <a:tcPr anchor="ctr"/>
                </a:tc>
                <a:tc>
                  <a:txBody>
                    <a:bodyPr/>
                    <a:lstStyle/>
                    <a:p>
                      <a:r>
                        <a:rPr lang="en-US" sz="1400" b="1" dirty="0">
                          <a:latin typeface="Roboto" charset="0"/>
                          <a:ea typeface="Roboto" charset="0"/>
                        </a:rPr>
                        <a:t>USB protocol</a:t>
                      </a:r>
                      <a:endParaRPr lang="en-US" sz="1400" b="1" dirty="0">
                        <a:latin typeface="Roboto" charset="0"/>
                        <a:ea typeface="Roboto" charset="0"/>
                      </a:endParaRPr>
                    </a:p>
                  </a:txBody>
                  <a:tcPr anchor="ctr"/>
                </a:tc>
                <a:tc>
                  <a:txBody>
                    <a:bodyPr/>
                    <a:lstStyle/>
                    <a:p>
                      <a:r>
                        <a:rPr lang="en-US" sz="1400" dirty="0">
                          <a:latin typeface="Roboto" charset="0"/>
                          <a:ea typeface="Roboto" charset="0"/>
                        </a:rPr>
                        <a:t>UAC</a:t>
                      </a:r>
                      <a:endParaRPr lang="en-US" sz="1400" dirty="0">
                        <a:latin typeface="Roboto" charset="0"/>
                        <a:ea typeface="Roboto" charset="0"/>
                      </a:endParaRPr>
                    </a:p>
                  </a:txBody>
                  <a:tcPr anchor="ctr"/>
                </a:tc>
              </a:tr>
              <a:tr h="370840">
                <a:tc vMerge="1">
                  <a:tcPr anchor="ctr"/>
                </a:tc>
                <a:tc>
                  <a:txBody>
                    <a:bodyPr/>
                    <a:lstStyle/>
                    <a:p>
                      <a:r>
                        <a:rPr lang="en-US" sz="1400" b="1" dirty="0">
                          <a:latin typeface="Roboto" charset="0"/>
                          <a:ea typeface="Roboto" charset="0"/>
                        </a:rPr>
                        <a:t>Power Supply</a:t>
                      </a:r>
                      <a:endParaRPr lang="en-US" sz="1400" b="1" dirty="0">
                        <a:latin typeface="Roboto" charset="0"/>
                        <a:ea typeface="Roboto" charset="0"/>
                      </a:endParaRPr>
                    </a:p>
                  </a:txBody>
                  <a:tcPr anchor="ctr"/>
                </a:tc>
                <a:tc>
                  <a:txBody>
                    <a:bodyPr/>
                    <a:lstStyle/>
                    <a:p>
                      <a:r>
                        <a:rPr lang="en-US" sz="1400" dirty="0">
                          <a:latin typeface="Roboto" charset="0"/>
                          <a:ea typeface="Roboto" charset="0"/>
                        </a:rPr>
                        <a:t>12V</a:t>
                      </a:r>
                      <a:endParaRPr lang="en-US" sz="1400" dirty="0">
                        <a:latin typeface="Roboto" charset="0"/>
                        <a:ea typeface="Roboto" charset="0"/>
                      </a:endParaRPr>
                    </a:p>
                  </a:txBody>
                  <a:tcPr anchor="ctr"/>
                </a:tc>
              </a:tr>
              <a:tr h="370840">
                <a:tc vMerge="1">
                  <a:tcPr anchor="ctr"/>
                </a:tc>
                <a:tc>
                  <a:txBody>
                    <a:bodyPr/>
                    <a:lstStyle/>
                    <a:p>
                      <a:r>
                        <a:rPr lang="en-US" sz="1400" b="1" dirty="0">
                          <a:latin typeface="Roboto" charset="0"/>
                          <a:ea typeface="Roboto" charset="0"/>
                        </a:rPr>
                        <a:t>Compatible OS</a:t>
                      </a:r>
                      <a:endParaRPr lang="en-US" sz="1400" b="1" dirty="0">
                        <a:latin typeface="Roboto" charset="0"/>
                        <a:ea typeface="Roboto" charset="0"/>
                      </a:endParaRPr>
                    </a:p>
                  </a:txBody>
                  <a:tcPr anchor="ctr"/>
                </a:tc>
                <a:tc>
                  <a:txBody>
                    <a:bodyPr/>
                    <a:lstStyle/>
                    <a:p>
                      <a:r>
                        <a:rPr lang="en-US" sz="1400" dirty="0">
                          <a:latin typeface="Roboto" charset="0"/>
                          <a:ea typeface="Roboto" charset="0"/>
                        </a:rPr>
                        <a:t>Windows 10/11, Mac OS 10.10 or above</a:t>
                      </a:r>
                      <a:endParaRPr lang="en-US" sz="1400" dirty="0">
                        <a:latin typeface="Roboto" charset="0"/>
                        <a:ea typeface="Roboto" charset="0"/>
                      </a:endParaRPr>
                    </a:p>
                  </a:txBody>
                  <a:tcPr anchor="ctr"/>
                </a:tc>
              </a:tr>
            </a:tbl>
          </a:graphicData>
        </a:graphic>
      </p:graphicFrame>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5621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Typical Connection &amp; Applications</a:t>
            </a:r>
            <a:endParaRPr lang="en-US" sz="2800" b="1" dirty="0">
              <a:solidFill>
                <a:schemeClr val="lt1"/>
              </a:solidFill>
              <a:uFillTx/>
              <a:latin typeface="Montserrat" pitchFamily="2" charset="0"/>
              <a:ea typeface="微软雅黑" panose="020B0503020204020204" pitchFamily="34" charset="-122"/>
              <a:sym typeface="Roboto"/>
            </a:endParaRPr>
          </a:p>
        </p:txBody>
      </p:sp>
      <p:sp>
        <p:nvSpPr>
          <p:cNvPr id="14" name="Title 6"/>
          <p:cNvSpPr txBox="1"/>
          <p:nvPr>
            <p:custDataLst>
              <p:tags r:id="rId3"/>
            </p:custDataLst>
          </p:nvPr>
        </p:nvSpPr>
        <p:spPr>
          <a:xfrm>
            <a:off x="457155" y="921640"/>
            <a:ext cx="11209328" cy="75882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285750" fontAlgn="ctr">
              <a:lnSpc>
                <a:spcPts val="1800"/>
              </a:lnSpc>
              <a:spcBef>
                <a:spcPts val="0"/>
              </a:spcBef>
              <a:spcAft>
                <a:spcPts val="800"/>
              </a:spcAft>
              <a:buSzPct val="100000"/>
            </a:pPr>
            <a:r>
              <a:rPr lang="en-US" altLang="zh-CN" sz="2000" b="1" spc="0" dirty="0">
                <a:ln w="3175">
                  <a:noFill/>
                  <a:prstDash val="dash"/>
                </a:ln>
                <a:solidFill>
                  <a:schemeClr val="dk1">
                    <a:lumMod val="75000"/>
                    <a:lumOff val="25000"/>
                  </a:schemeClr>
                </a:solidFill>
                <a:latin typeface="Roboto" charset="0"/>
                <a:ea typeface="微软雅黑" panose="020B0503020204020204" pitchFamily="34" charset="-122"/>
                <a:cs typeface="Arial" panose="020B0604020202020204" pitchFamily="34" charset="0"/>
                <a:sym typeface="+mn-ea"/>
              </a:rPr>
              <a:t>The HALO 80 supports connection to a source device via USB or Bluetooth and offers two application modes: Standalone mode and Daisy-Chain mode. Please refer to the typical connection diagram below.</a:t>
            </a:r>
            <a:endParaRPr lang="en-US" altLang="zh-CN" sz="2000" b="1" spc="0" dirty="0">
              <a:ln w="3175">
                <a:noFill/>
                <a:prstDash val="dash"/>
              </a:ln>
              <a:solidFill>
                <a:schemeClr val="dk1">
                  <a:lumMod val="75000"/>
                  <a:lumOff val="25000"/>
                </a:schemeClr>
              </a:solidFill>
              <a:latin typeface="Roboto" charset="0"/>
              <a:ea typeface="微软雅黑" panose="020B0503020204020204" pitchFamily="34" charset="-122"/>
              <a:cs typeface="Arial" panose="020B0604020202020204" pitchFamily="34" charset="0"/>
              <a:sym typeface="+mn-ea"/>
            </a:endParaRPr>
          </a:p>
        </p:txBody>
      </p:sp>
      <p:pic>
        <p:nvPicPr>
          <p:cNvPr id="6" name="图片 5"/>
          <p:cNvPicPr>
            <a:picLocks noChangeAspect="1"/>
          </p:cNvPicPr>
          <p:nvPr/>
        </p:nvPicPr>
        <p:blipFill>
          <a:blip r:embed="rId4"/>
          <a:stretch>
            <a:fillRect/>
          </a:stretch>
        </p:blipFill>
        <p:spPr>
          <a:xfrm>
            <a:off x="1610925" y="1726427"/>
            <a:ext cx="2858333" cy="1795244"/>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文本框 8"/>
          <p:cNvSpPr txBox="1"/>
          <p:nvPr/>
        </p:nvSpPr>
        <p:spPr>
          <a:xfrm>
            <a:off x="2315677" y="3521671"/>
            <a:ext cx="1448831" cy="334707"/>
          </a:xfrm>
          <a:prstGeom prst="rect">
            <a:avLst/>
          </a:prstGeom>
          <a:noFill/>
        </p:spPr>
        <p:txBody>
          <a:bodyPr wrap="square">
            <a:spAutoFit/>
          </a:bodyPr>
          <a:lstStyle/>
          <a:p>
            <a:pPr lvl="0" indent="-285750" fontAlgn="ctr">
              <a:lnSpc>
                <a:spcPts val="1800"/>
              </a:lnSpc>
              <a:spcBef>
                <a:spcPts val="0"/>
              </a:spcBef>
              <a:spcAft>
                <a:spcPts val="800"/>
              </a:spcAft>
              <a:buSzPct val="100000"/>
            </a:pPr>
            <a:r>
              <a:rPr lang="en-US" altLang="zh-CN" sz="1200" spc="0" dirty="0">
                <a:ln w="3175">
                  <a:noFill/>
                  <a:prstDash val="dash"/>
                </a:ln>
                <a:solidFill>
                  <a:schemeClr val="dk1">
                    <a:lumMod val="75000"/>
                    <a:lumOff val="25000"/>
                  </a:schemeClr>
                </a:solidFill>
                <a:latin typeface="Roboto" charset="0"/>
                <a:ea typeface="微软雅黑" panose="020B0503020204020204" pitchFamily="34" charset="-122"/>
                <a:cs typeface="Arial" panose="020B0604020202020204" pitchFamily="34" charset="0"/>
                <a:sym typeface="+mn-ea"/>
              </a:rPr>
              <a:t>Standalone Mode</a:t>
            </a:r>
            <a:endParaRPr lang="zh-CN" altLang="en-US" sz="1200" spc="0" dirty="0">
              <a:ln w="3175">
                <a:noFill/>
                <a:prstDash val="dash"/>
              </a:ln>
              <a:solidFill>
                <a:schemeClr val="dk1">
                  <a:lumMod val="75000"/>
                  <a:lumOff val="25000"/>
                </a:schemeClr>
              </a:solidFill>
              <a:latin typeface="Roboto" charset="0"/>
              <a:ea typeface="微软雅黑" panose="020B0503020204020204" pitchFamily="34" charset="-122"/>
              <a:cs typeface="Arial" panose="020B0604020202020204" pitchFamily="34" charset="0"/>
              <a:sym typeface="+mn-ea"/>
            </a:endParaRPr>
          </a:p>
        </p:txBody>
      </p:sp>
      <p:sp>
        <p:nvSpPr>
          <p:cNvPr id="10" name="文本框 9"/>
          <p:cNvSpPr txBox="1"/>
          <p:nvPr/>
        </p:nvSpPr>
        <p:spPr>
          <a:xfrm>
            <a:off x="2184968" y="6452293"/>
            <a:ext cx="1528377" cy="334707"/>
          </a:xfrm>
          <a:prstGeom prst="rect">
            <a:avLst/>
          </a:prstGeom>
          <a:noFill/>
        </p:spPr>
        <p:txBody>
          <a:bodyPr wrap="square">
            <a:spAutoFit/>
          </a:bodyPr>
          <a:lstStyle/>
          <a:p>
            <a:pPr lvl="0" indent="-285750" fontAlgn="ctr">
              <a:lnSpc>
                <a:spcPts val="1800"/>
              </a:lnSpc>
              <a:spcBef>
                <a:spcPts val="0"/>
              </a:spcBef>
              <a:spcAft>
                <a:spcPts val="800"/>
              </a:spcAft>
              <a:buSzPct val="100000"/>
            </a:pPr>
            <a:r>
              <a:rPr lang="en-US" altLang="zh-CN" sz="1200" spc="0" dirty="0">
                <a:ln w="3175">
                  <a:noFill/>
                  <a:prstDash val="dash"/>
                </a:ln>
                <a:solidFill>
                  <a:schemeClr val="dk1">
                    <a:lumMod val="75000"/>
                    <a:lumOff val="25000"/>
                  </a:schemeClr>
                </a:solidFill>
                <a:latin typeface="Roboto" charset="0"/>
                <a:ea typeface="微软雅黑" panose="020B0503020204020204" pitchFamily="34" charset="-122"/>
                <a:cs typeface="Arial" panose="020B0604020202020204" pitchFamily="34" charset="0"/>
                <a:sym typeface="+mn-ea"/>
              </a:rPr>
              <a:t>*Daisy-Chain Mode  </a:t>
            </a:r>
            <a:endParaRPr lang="zh-CN" altLang="en-US" sz="1200" spc="0" dirty="0">
              <a:ln w="3175">
                <a:noFill/>
                <a:prstDash val="dash"/>
              </a:ln>
              <a:solidFill>
                <a:schemeClr val="dk1">
                  <a:lumMod val="75000"/>
                  <a:lumOff val="25000"/>
                </a:schemeClr>
              </a:solidFill>
              <a:latin typeface="Roboto" charset="0"/>
              <a:ea typeface="微软雅黑" panose="020B0503020204020204" pitchFamily="34" charset="-122"/>
              <a:cs typeface="Arial" panose="020B0604020202020204" pitchFamily="34" charset="0"/>
              <a:sym typeface="+mn-ea"/>
            </a:endParaRPr>
          </a:p>
        </p:txBody>
      </p:sp>
      <p:pic>
        <p:nvPicPr>
          <p:cNvPr id="11" name="图片 10"/>
          <p:cNvPicPr>
            <a:picLocks noChangeAspect="1"/>
          </p:cNvPicPr>
          <p:nvPr/>
        </p:nvPicPr>
        <p:blipFill>
          <a:blip r:embed="rId5"/>
          <a:stretch>
            <a:fillRect/>
          </a:stretch>
        </p:blipFill>
        <p:spPr>
          <a:xfrm>
            <a:off x="886887" y="3975762"/>
            <a:ext cx="4306413" cy="246265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文本框 11"/>
          <p:cNvSpPr txBox="1"/>
          <p:nvPr/>
        </p:nvSpPr>
        <p:spPr>
          <a:xfrm>
            <a:off x="6325065" y="5845027"/>
            <a:ext cx="5263685" cy="600164"/>
          </a:xfrm>
          <a:prstGeom prst="rect">
            <a:avLst/>
          </a:prstGeom>
          <a:noFill/>
        </p:spPr>
        <p:txBody>
          <a:bodyPr wrap="square" rtlCol="0">
            <a:spAutoFit/>
          </a:bodyPr>
          <a:lstStyle/>
          <a:p>
            <a:pPr algn="just"/>
            <a:r>
              <a:rPr lang="en-US" sz="1100" dirty="0">
                <a:ln w="3175">
                  <a:noFill/>
                  <a:prstDash val="dash"/>
                </a:ln>
                <a:solidFill>
                  <a:schemeClr val="dk1">
                    <a:lumMod val="75000"/>
                    <a:lumOff val="25000"/>
                  </a:schemeClr>
                </a:solidFill>
                <a:latin typeface="Roboto" charset="0"/>
                <a:ea typeface="微软雅黑" panose="020B0503020204020204" pitchFamily="34" charset="-122"/>
                <a:cs typeface="Arial" panose="020B0604020202020204" pitchFamily="34" charset="0"/>
              </a:rPr>
              <a:t>*When Daisy-Chain mode, every three HALO 80 units require a single power adapter connection to the first unit and only the type-c port on the first HALO 80 of the whole wiring connection is working. </a:t>
            </a:r>
            <a:endParaRPr lang="en-US" sz="1100" dirty="0">
              <a:ln w="3175">
                <a:noFill/>
                <a:prstDash val="dash"/>
              </a:ln>
              <a:solidFill>
                <a:schemeClr val="dk1">
                  <a:lumMod val="75000"/>
                  <a:lumOff val="25000"/>
                </a:schemeClr>
              </a:solidFill>
              <a:latin typeface="Roboto" charset="0"/>
              <a:ea typeface="微软雅黑" panose="020B0503020204020204" pitchFamily="34" charset="-122"/>
              <a:cs typeface="Arial" panose="020B0604020202020204" pitchFamily="34" charset="0"/>
            </a:endParaRPr>
          </a:p>
        </p:txBody>
      </p:sp>
      <p:graphicFrame>
        <p:nvGraphicFramePr>
          <p:cNvPr id="35" name="表格 34"/>
          <p:cNvGraphicFramePr>
            <a:graphicFrameLocks noGrp="1"/>
          </p:cNvGraphicFramePr>
          <p:nvPr/>
        </p:nvGraphicFramePr>
        <p:xfrm>
          <a:off x="6394315" y="1871798"/>
          <a:ext cx="5194435" cy="3781896"/>
        </p:xfrm>
        <a:graphic>
          <a:graphicData uri="http://schemas.openxmlformats.org/drawingml/2006/table">
            <a:tbl>
              <a:tblPr firstRow="1" bandRow="1">
                <a:tableStyleId>{93296810-A885-4BE3-A3E7-6D5BEEA58F35}</a:tableStyleId>
              </a:tblPr>
              <a:tblGrid>
                <a:gridCol w="1038887"/>
                <a:gridCol w="1488548"/>
                <a:gridCol w="914400"/>
                <a:gridCol w="920750"/>
                <a:gridCol w="831850"/>
              </a:tblGrid>
              <a:tr h="456076">
                <a:tc>
                  <a:txBody>
                    <a:bodyPr/>
                    <a:lstStyle/>
                    <a:p>
                      <a:pPr algn="ctr"/>
                      <a:r>
                        <a:rPr lang="en-US" sz="1200" dirty="0">
                          <a:latin typeface="Roboto "/>
                        </a:rPr>
                        <a:t>Cascading Units</a:t>
                      </a:r>
                      <a:endParaRPr lang="en-US" sz="1200" dirty="0">
                        <a:latin typeface="Roboto "/>
                      </a:endParaRPr>
                    </a:p>
                  </a:txBody>
                  <a:tcPr anchor="ctr">
                    <a:solidFill>
                      <a:schemeClr val="accent3"/>
                    </a:solidFill>
                  </a:tcPr>
                </a:tc>
                <a:tc>
                  <a:txBody>
                    <a:bodyPr/>
                    <a:lstStyle/>
                    <a:p>
                      <a:pPr algn="ctr"/>
                      <a:r>
                        <a:rPr lang="en-US" sz="1200" dirty="0">
                          <a:latin typeface="Roboto "/>
                        </a:rPr>
                        <a:t>DC Port</a:t>
                      </a:r>
                      <a:endParaRPr lang="en-US" sz="1200" dirty="0">
                        <a:latin typeface="Roboto "/>
                      </a:endParaRPr>
                    </a:p>
                  </a:txBody>
                  <a:tcPr anchor="ctr">
                    <a:solidFill>
                      <a:schemeClr val="accent3"/>
                    </a:solidFill>
                  </a:tcPr>
                </a:tc>
                <a:tc>
                  <a:txBody>
                    <a:bodyPr/>
                    <a:lstStyle/>
                    <a:p>
                      <a:pPr algn="ctr"/>
                      <a:r>
                        <a:rPr lang="en-US" sz="1200" dirty="0">
                          <a:latin typeface="Roboto "/>
                        </a:rPr>
                        <a:t>PREVIOUS Port</a:t>
                      </a:r>
                      <a:endParaRPr lang="en-US" sz="1200" dirty="0">
                        <a:latin typeface="Roboto "/>
                      </a:endParaRPr>
                    </a:p>
                  </a:txBody>
                  <a:tcPr anchor="ctr">
                    <a:solidFill>
                      <a:schemeClr val="accent3"/>
                    </a:solidFill>
                  </a:tcPr>
                </a:tc>
                <a:tc>
                  <a:txBody>
                    <a:bodyPr/>
                    <a:lstStyle/>
                    <a:p>
                      <a:pPr algn="ctr"/>
                      <a:r>
                        <a:rPr lang="en-US" sz="1200" dirty="0">
                          <a:latin typeface="Roboto "/>
                        </a:rPr>
                        <a:t>NEXT Port</a:t>
                      </a:r>
                      <a:endParaRPr lang="en-US" sz="1200" dirty="0">
                        <a:latin typeface="Roboto "/>
                      </a:endParaRPr>
                    </a:p>
                  </a:txBody>
                  <a:tcPr anchor="ctr">
                    <a:solidFill>
                      <a:schemeClr val="accent3"/>
                    </a:solidFill>
                  </a:tcPr>
                </a:tc>
                <a:tc>
                  <a:txBody>
                    <a:bodyPr/>
                    <a:lstStyle/>
                    <a:p>
                      <a:pPr algn="ctr"/>
                      <a:r>
                        <a:rPr lang="en-US" altLang="zh-CN" sz="1200" dirty="0">
                          <a:latin typeface="Roboto "/>
                        </a:rPr>
                        <a:t>USB-C</a:t>
                      </a:r>
                      <a:endParaRPr lang="en-US" sz="1200" dirty="0">
                        <a:latin typeface="Roboto "/>
                      </a:endParaRPr>
                    </a:p>
                  </a:txBody>
                  <a:tcPr anchor="ctr">
                    <a:solidFill>
                      <a:schemeClr val="accent3"/>
                    </a:solidFill>
                  </a:tcPr>
                </a:tc>
              </a:tr>
              <a:tr h="433273">
                <a:tc>
                  <a:txBody>
                    <a:bodyPr/>
                    <a:lstStyle/>
                    <a:p>
                      <a:pPr algn="ctr"/>
                      <a:r>
                        <a:rPr lang="en-US" sz="1050" dirty="0">
                          <a:latin typeface="Roboto "/>
                        </a:rPr>
                        <a:t>1</a:t>
                      </a:r>
                      <a:r>
                        <a:rPr lang="en-US" sz="1050" baseline="30000" dirty="0">
                          <a:latin typeface="Roboto "/>
                        </a:rPr>
                        <a:t>st</a:t>
                      </a:r>
                      <a:r>
                        <a:rPr lang="en-US" sz="1050" dirty="0">
                          <a:latin typeface="Roboto "/>
                        </a:rPr>
                        <a:t> HALO 80</a:t>
                      </a:r>
                      <a:endParaRPr lang="en-US" sz="1050" dirty="0">
                        <a:latin typeface="Roboto "/>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dirty="0">
                          <a:latin typeface="Roboto "/>
                        </a:rPr>
                        <a:t>✓</a:t>
                      </a:r>
                      <a:endParaRPr lang="en-US" altLang="zh-CN" sz="1200" b="1" dirty="0">
                        <a:latin typeface="Roboto "/>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sz="1050" b="1" dirty="0">
                          <a:latin typeface="Roboto "/>
                        </a:rPr>
                        <a:t>(With power adapter)</a:t>
                      </a:r>
                      <a:endParaRPr lang="en-US" sz="1050" b="1" dirty="0">
                        <a:latin typeface="Roboto "/>
                      </a:endParaRPr>
                    </a:p>
                  </a:txBody>
                  <a:tcPr anchor="ctr"/>
                </a:tc>
                <a:tc>
                  <a:txBody>
                    <a:bodyPr/>
                    <a:lstStyle/>
                    <a:p>
                      <a:pPr algn="ctr"/>
                      <a:endParaRPr lang="en-US" sz="1200" dirty="0">
                        <a:latin typeface="Roboto "/>
                      </a:endParaRPr>
                    </a:p>
                  </a:txBody>
                  <a:tcPr anchor="ctr"/>
                </a:tc>
                <a:tc>
                  <a:txBody>
                    <a:bodyPr/>
                    <a:lstStyle/>
                    <a:p>
                      <a:pPr algn="ctr"/>
                      <a:r>
                        <a:rPr lang="zh-CN" altLang="en-US" sz="1200" dirty="0">
                          <a:latin typeface="Roboto "/>
                        </a:rPr>
                        <a:t>✓</a:t>
                      </a:r>
                      <a:endParaRPr lang="en-US" sz="1200" dirty="0">
                        <a:latin typeface="Roboto "/>
                      </a:endParaRPr>
                    </a:p>
                  </a:txBody>
                  <a:tcPr anchor="ctr"/>
                </a:tc>
                <a:tc>
                  <a:txBody>
                    <a:bodyPr/>
                    <a:lstStyle/>
                    <a:p>
                      <a:pPr algn="ctr"/>
                      <a:r>
                        <a:rPr lang="zh-CN" altLang="en-US" sz="1200" b="1" dirty="0">
                          <a:latin typeface="Roboto "/>
                        </a:rPr>
                        <a:t>✓</a:t>
                      </a:r>
                      <a:endParaRPr lang="en-US" sz="1200" b="1" dirty="0">
                        <a:latin typeface="Roboto "/>
                      </a:endParaRPr>
                    </a:p>
                  </a:txBody>
                  <a:tcPr anchor="ctr"/>
                </a:tc>
              </a:tr>
              <a:tr h="336946">
                <a:tc>
                  <a:txBody>
                    <a:bodyPr/>
                    <a:lstStyle/>
                    <a:p>
                      <a:pPr algn="ctr"/>
                      <a:r>
                        <a:rPr lang="en-US" sz="1050" dirty="0">
                          <a:latin typeface="Roboto "/>
                        </a:rPr>
                        <a:t>2</a:t>
                      </a:r>
                      <a:r>
                        <a:rPr lang="en-US" sz="1050" baseline="30000" dirty="0">
                          <a:latin typeface="Roboto "/>
                        </a:rPr>
                        <a:t>nd</a:t>
                      </a:r>
                      <a:r>
                        <a:rPr lang="en-US" sz="1050" dirty="0">
                          <a:latin typeface="Roboto "/>
                        </a:rPr>
                        <a:t> HALO 80</a:t>
                      </a:r>
                      <a:endParaRPr lang="en-US" sz="1050" dirty="0">
                        <a:latin typeface="Roboto "/>
                      </a:endParaRPr>
                    </a:p>
                  </a:txBody>
                  <a:tcPr anchor="ctr"/>
                </a:tc>
                <a:tc>
                  <a:txBody>
                    <a:bodyPr/>
                    <a:lstStyle/>
                    <a:p>
                      <a:pPr algn="ctr"/>
                      <a:endParaRPr lang="en-US" sz="1200" dirty="0">
                        <a:latin typeface="Roboto "/>
                      </a:endParaRPr>
                    </a:p>
                  </a:txBody>
                  <a:tcPr anchor="ctr"/>
                </a:tc>
                <a:tc>
                  <a:txBody>
                    <a:bodyPr/>
                    <a:lstStyle/>
                    <a:p>
                      <a:pPr algn="ctr"/>
                      <a:r>
                        <a:rPr lang="zh-CN" altLang="en-US" sz="1200" dirty="0">
                          <a:latin typeface="Roboto "/>
                        </a:rPr>
                        <a:t>✓</a:t>
                      </a:r>
                      <a:endParaRPr lang="en-US" sz="1200" dirty="0">
                        <a:latin typeface="Roboto "/>
                      </a:endParaRPr>
                    </a:p>
                  </a:txBody>
                  <a:tcPr anchor="ctr"/>
                </a:tc>
                <a:tc>
                  <a:txBody>
                    <a:bodyPr/>
                    <a:lstStyle/>
                    <a:p>
                      <a:pPr algn="ctr"/>
                      <a:r>
                        <a:rPr lang="zh-CN" altLang="en-US" sz="1200" dirty="0">
                          <a:latin typeface="Roboto "/>
                        </a:rPr>
                        <a:t>✓</a:t>
                      </a:r>
                      <a:endParaRPr lang="en-US" sz="1200" dirty="0">
                        <a:latin typeface="Roboto "/>
                      </a:endParaRPr>
                    </a:p>
                  </a:txBody>
                  <a:tcPr anchor="ctr"/>
                </a:tc>
                <a:tc>
                  <a:txBody>
                    <a:bodyPr/>
                    <a:lstStyle/>
                    <a:p>
                      <a:pPr algn="ctr"/>
                      <a:endParaRPr lang="en-US" sz="1200">
                        <a:latin typeface="Roboto "/>
                      </a:endParaRPr>
                    </a:p>
                  </a:txBody>
                  <a:tcPr anchor="ctr"/>
                </a:tc>
              </a:tr>
              <a:tr h="336946">
                <a:tc>
                  <a:txBody>
                    <a:bodyPr/>
                    <a:lstStyle/>
                    <a:p>
                      <a:pPr algn="ctr"/>
                      <a:r>
                        <a:rPr lang="en-US" sz="1050" dirty="0">
                          <a:latin typeface="Roboto "/>
                        </a:rPr>
                        <a:t>3</a:t>
                      </a:r>
                      <a:r>
                        <a:rPr lang="en-US" sz="1050" baseline="30000" dirty="0">
                          <a:latin typeface="Roboto "/>
                        </a:rPr>
                        <a:t>rd</a:t>
                      </a:r>
                      <a:r>
                        <a:rPr lang="en-US" sz="1050" dirty="0">
                          <a:latin typeface="Roboto "/>
                        </a:rPr>
                        <a:t> HALO 80</a:t>
                      </a:r>
                      <a:endParaRPr lang="en-US" sz="1050" dirty="0">
                        <a:latin typeface="Roboto "/>
                      </a:endParaRPr>
                    </a:p>
                  </a:txBody>
                  <a:tcPr anchor="ctr"/>
                </a:tc>
                <a:tc>
                  <a:txBody>
                    <a:bodyPr/>
                    <a:lstStyle/>
                    <a:p>
                      <a:pPr algn="ctr"/>
                      <a:endParaRPr lang="en-US" sz="1200" dirty="0">
                        <a:latin typeface="Roboto "/>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Roboto "/>
                        </a:rPr>
                        <a:t>✓</a:t>
                      </a:r>
                      <a:endParaRPr lang="en-US" sz="1200" dirty="0">
                        <a:latin typeface="Roboto "/>
                      </a:endParaRPr>
                    </a:p>
                  </a:txBody>
                  <a:tcPr anchor="ctr"/>
                </a:tc>
                <a:tc>
                  <a:txBody>
                    <a:bodyPr/>
                    <a:lstStyle/>
                    <a:p>
                      <a:pPr algn="ctr"/>
                      <a:r>
                        <a:rPr lang="zh-CN" altLang="en-US" sz="1200" dirty="0">
                          <a:latin typeface="Roboto "/>
                        </a:rPr>
                        <a:t>✓</a:t>
                      </a:r>
                      <a:endParaRPr lang="en-US" sz="1200" dirty="0">
                        <a:latin typeface="Roboto "/>
                      </a:endParaRPr>
                    </a:p>
                  </a:txBody>
                  <a:tcPr anchor="ctr"/>
                </a:tc>
                <a:tc>
                  <a:txBody>
                    <a:bodyPr/>
                    <a:lstStyle/>
                    <a:p>
                      <a:pPr algn="ctr"/>
                      <a:endParaRPr lang="en-US" sz="1200" dirty="0">
                        <a:latin typeface="Roboto "/>
                      </a:endParaRPr>
                    </a:p>
                  </a:txBody>
                  <a:tcPr anchor="ctr"/>
                </a:tc>
              </a:tr>
              <a:tr h="428239">
                <a:tc>
                  <a:txBody>
                    <a:bodyPr/>
                    <a:lstStyle/>
                    <a:p>
                      <a:pPr algn="ctr"/>
                      <a:r>
                        <a:rPr lang="en-US" sz="1050" dirty="0">
                          <a:latin typeface="Roboto "/>
                        </a:rPr>
                        <a:t>4</a:t>
                      </a:r>
                      <a:r>
                        <a:rPr lang="en-US" sz="1050" baseline="30000" dirty="0">
                          <a:latin typeface="Roboto "/>
                        </a:rPr>
                        <a:t>th</a:t>
                      </a:r>
                      <a:r>
                        <a:rPr lang="en-US" sz="1050" dirty="0">
                          <a:latin typeface="Roboto "/>
                        </a:rPr>
                        <a:t> HALO 80</a:t>
                      </a:r>
                      <a:endParaRPr lang="en-US" sz="1050" dirty="0">
                        <a:latin typeface="Roboto "/>
                      </a:endParaRPr>
                    </a:p>
                  </a:txBody>
                  <a:tcPr anchor="ctr"/>
                </a:tc>
                <a:tc>
                  <a:txBody>
                    <a:bodyPr/>
                    <a:lstStyle/>
                    <a:p>
                      <a:pPr algn="ctr"/>
                      <a:r>
                        <a:rPr lang="zh-CN" altLang="en-US" sz="1200" b="1" dirty="0">
                          <a:latin typeface="Roboto "/>
                        </a:rPr>
                        <a:t>✓</a:t>
                      </a:r>
                      <a:endParaRPr lang="en-US" altLang="zh-CN" sz="1200" b="1" dirty="0">
                        <a:latin typeface="Roboto "/>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sz="1050" b="1" dirty="0">
                          <a:latin typeface="Roboto "/>
                        </a:rPr>
                        <a:t>(With power adapter)</a:t>
                      </a:r>
                      <a:endParaRPr lang="en-US" sz="1050" b="1" dirty="0">
                        <a:latin typeface="Roboto "/>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Roboto "/>
                        </a:rPr>
                        <a:t>✓</a:t>
                      </a:r>
                      <a:endParaRPr lang="en-US" sz="1200" dirty="0">
                        <a:latin typeface="Roboto "/>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Roboto "/>
                        </a:rPr>
                        <a:t>✓</a:t>
                      </a:r>
                      <a:endParaRPr lang="en-US" sz="1200" dirty="0">
                        <a:latin typeface="Roboto "/>
                      </a:endParaRPr>
                    </a:p>
                  </a:txBody>
                  <a:tcPr anchor="ctr"/>
                </a:tc>
                <a:tc>
                  <a:txBody>
                    <a:bodyPr/>
                    <a:lstStyle/>
                    <a:p>
                      <a:pPr algn="ctr"/>
                      <a:endParaRPr lang="en-US" sz="1200" dirty="0">
                        <a:latin typeface="Roboto "/>
                      </a:endParaRPr>
                    </a:p>
                  </a:txBody>
                  <a:tcPr anchor="ctr"/>
                </a:tc>
              </a:tr>
              <a:tr h="336946">
                <a:tc>
                  <a:txBody>
                    <a:bodyPr/>
                    <a:lstStyle/>
                    <a:p>
                      <a:pPr algn="ctr"/>
                      <a:r>
                        <a:rPr lang="en-US" sz="1050" dirty="0">
                          <a:latin typeface="Roboto "/>
                        </a:rPr>
                        <a:t>5</a:t>
                      </a:r>
                      <a:r>
                        <a:rPr lang="en-US" sz="1050" baseline="30000" dirty="0">
                          <a:latin typeface="Roboto "/>
                        </a:rPr>
                        <a:t>th</a:t>
                      </a:r>
                      <a:r>
                        <a:rPr lang="en-US" sz="1050" dirty="0">
                          <a:latin typeface="Roboto "/>
                        </a:rPr>
                        <a:t> HALO 80</a:t>
                      </a:r>
                      <a:endParaRPr lang="en-US" sz="1050" dirty="0">
                        <a:latin typeface="Roboto "/>
                      </a:endParaRPr>
                    </a:p>
                  </a:txBody>
                  <a:tcPr anchor="ctr"/>
                </a:tc>
                <a:tc>
                  <a:txBody>
                    <a:bodyPr/>
                    <a:lstStyle/>
                    <a:p>
                      <a:pPr algn="ctr"/>
                      <a:endParaRPr lang="en-US" sz="1200" dirty="0">
                        <a:latin typeface="Roboto "/>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Roboto "/>
                        </a:rPr>
                        <a:t>✓</a:t>
                      </a:r>
                      <a:endParaRPr lang="en-US" sz="1200" dirty="0">
                        <a:latin typeface="Roboto "/>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Roboto "/>
                        </a:rPr>
                        <a:t>✓</a:t>
                      </a:r>
                      <a:endParaRPr lang="en-US" sz="1200" dirty="0">
                        <a:latin typeface="Roboto "/>
                      </a:endParaRPr>
                    </a:p>
                  </a:txBody>
                  <a:tcPr anchor="ctr"/>
                </a:tc>
                <a:tc>
                  <a:txBody>
                    <a:bodyPr/>
                    <a:lstStyle/>
                    <a:p>
                      <a:pPr algn="ctr"/>
                      <a:endParaRPr lang="en-US" sz="1200">
                        <a:latin typeface="Roboto "/>
                      </a:endParaRPr>
                    </a:p>
                  </a:txBody>
                  <a:tcPr anchor="ctr"/>
                </a:tc>
              </a:tr>
              <a:tr h="336946">
                <a:tc>
                  <a:txBody>
                    <a:bodyPr/>
                    <a:lstStyle/>
                    <a:p>
                      <a:pPr algn="ctr"/>
                      <a:r>
                        <a:rPr lang="en-US" sz="1050" dirty="0">
                          <a:latin typeface="Roboto "/>
                        </a:rPr>
                        <a:t>6</a:t>
                      </a:r>
                      <a:r>
                        <a:rPr lang="en-US" sz="1050" baseline="30000" dirty="0">
                          <a:latin typeface="Roboto "/>
                        </a:rPr>
                        <a:t>th</a:t>
                      </a:r>
                      <a:r>
                        <a:rPr lang="en-US" sz="1050" dirty="0">
                          <a:latin typeface="Roboto "/>
                        </a:rPr>
                        <a:t> HALO 80</a:t>
                      </a:r>
                      <a:endParaRPr lang="en-US" sz="1050" dirty="0">
                        <a:latin typeface="Roboto "/>
                      </a:endParaRPr>
                    </a:p>
                  </a:txBody>
                  <a:tcPr anchor="ctr"/>
                </a:tc>
                <a:tc>
                  <a:txBody>
                    <a:bodyPr/>
                    <a:lstStyle/>
                    <a:p>
                      <a:pPr algn="ctr"/>
                      <a:endParaRPr lang="en-US" sz="1200" dirty="0">
                        <a:latin typeface="Roboto "/>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Roboto "/>
                        </a:rPr>
                        <a:t>✓</a:t>
                      </a:r>
                      <a:endParaRPr lang="en-US" sz="1200" dirty="0">
                        <a:latin typeface="Roboto "/>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Roboto "/>
                        </a:rPr>
                        <a:t>✓</a:t>
                      </a:r>
                      <a:endParaRPr lang="en-US" sz="1200" dirty="0">
                        <a:latin typeface="Roboto "/>
                      </a:endParaRPr>
                    </a:p>
                  </a:txBody>
                  <a:tcPr anchor="ctr"/>
                </a:tc>
                <a:tc>
                  <a:txBody>
                    <a:bodyPr/>
                    <a:lstStyle/>
                    <a:p>
                      <a:pPr algn="ctr"/>
                      <a:endParaRPr lang="en-US" sz="1200" dirty="0">
                        <a:latin typeface="Roboto "/>
                      </a:endParaRPr>
                    </a:p>
                  </a:txBody>
                  <a:tcPr anchor="ctr"/>
                </a:tc>
              </a:tr>
              <a:tr h="433273">
                <a:tc>
                  <a:txBody>
                    <a:bodyPr/>
                    <a:lstStyle/>
                    <a:p>
                      <a:pPr algn="ctr"/>
                      <a:r>
                        <a:rPr lang="en-US" sz="1050" dirty="0">
                          <a:latin typeface="Roboto "/>
                        </a:rPr>
                        <a:t>7</a:t>
                      </a:r>
                      <a:r>
                        <a:rPr lang="en-US" sz="1050" baseline="30000" dirty="0">
                          <a:latin typeface="Roboto "/>
                        </a:rPr>
                        <a:t>th</a:t>
                      </a:r>
                      <a:r>
                        <a:rPr lang="en-US" sz="1050" dirty="0">
                          <a:latin typeface="Roboto "/>
                        </a:rPr>
                        <a:t> HALO 80</a:t>
                      </a:r>
                      <a:endParaRPr lang="en-US" sz="1050" dirty="0">
                        <a:latin typeface="Roboto "/>
                      </a:endParaRPr>
                    </a:p>
                  </a:txBody>
                  <a:tcPr anchor="ctr"/>
                </a:tc>
                <a:tc>
                  <a:txBody>
                    <a:bodyPr/>
                    <a:lstStyle/>
                    <a:p>
                      <a:pPr algn="ctr"/>
                      <a:r>
                        <a:rPr lang="zh-CN" altLang="en-US" sz="1200" b="1" dirty="0">
                          <a:latin typeface="Roboto "/>
                        </a:rPr>
                        <a:t>✓</a:t>
                      </a:r>
                      <a:endParaRPr lang="en-US" altLang="zh-CN" sz="1200" b="1" dirty="0">
                        <a:latin typeface="Roboto "/>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sz="1050" b="1" dirty="0">
                          <a:latin typeface="Roboto "/>
                        </a:rPr>
                        <a:t>(With power adapter)</a:t>
                      </a:r>
                      <a:endParaRPr lang="en-US" sz="1050" b="1" dirty="0">
                        <a:latin typeface="Roboto "/>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Roboto "/>
                        </a:rPr>
                        <a:t>✓</a:t>
                      </a:r>
                      <a:endParaRPr lang="en-US" sz="1200" dirty="0">
                        <a:latin typeface="Roboto "/>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Roboto "/>
                        </a:rPr>
                        <a:t>✓</a:t>
                      </a:r>
                      <a:endParaRPr lang="en-US" sz="1200" dirty="0">
                        <a:latin typeface="Roboto "/>
                      </a:endParaRPr>
                    </a:p>
                  </a:txBody>
                  <a:tcPr anchor="ctr"/>
                </a:tc>
                <a:tc>
                  <a:txBody>
                    <a:bodyPr/>
                    <a:lstStyle/>
                    <a:p>
                      <a:pPr algn="ctr"/>
                      <a:endParaRPr lang="en-US" sz="1200" dirty="0">
                        <a:latin typeface="Roboto "/>
                      </a:endParaRPr>
                    </a:p>
                  </a:txBody>
                  <a:tcPr anchor="ctr"/>
                </a:tc>
              </a:tr>
              <a:tr h="336946">
                <a:tc>
                  <a:txBody>
                    <a:bodyPr/>
                    <a:lstStyle/>
                    <a:p>
                      <a:pPr algn="ctr"/>
                      <a:r>
                        <a:rPr lang="en-US" sz="1050" dirty="0">
                          <a:latin typeface="Roboto "/>
                        </a:rPr>
                        <a:t>8</a:t>
                      </a:r>
                      <a:r>
                        <a:rPr lang="en-US" sz="1050" baseline="30000" dirty="0">
                          <a:latin typeface="Roboto "/>
                        </a:rPr>
                        <a:t>th</a:t>
                      </a:r>
                      <a:r>
                        <a:rPr lang="en-US" sz="1050" dirty="0">
                          <a:latin typeface="Roboto "/>
                        </a:rPr>
                        <a:t> HALO 80</a:t>
                      </a:r>
                      <a:endParaRPr lang="en-US" sz="1050" dirty="0">
                        <a:latin typeface="Roboto "/>
                      </a:endParaRPr>
                    </a:p>
                  </a:txBody>
                  <a:tcPr anchor="ctr"/>
                </a:tc>
                <a:tc>
                  <a:txBody>
                    <a:bodyPr/>
                    <a:lstStyle/>
                    <a:p>
                      <a:pPr algn="ctr"/>
                      <a:endParaRPr lang="en-US" sz="1200" dirty="0">
                        <a:latin typeface="Roboto "/>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Roboto "/>
                        </a:rPr>
                        <a:t>✓</a:t>
                      </a:r>
                      <a:endParaRPr lang="en-US" sz="1200" dirty="0">
                        <a:latin typeface="Roboto "/>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Roboto "/>
                        </a:rPr>
                        <a:t>✓</a:t>
                      </a:r>
                      <a:endParaRPr lang="en-US" sz="1200" dirty="0">
                        <a:latin typeface="Roboto "/>
                      </a:endParaRPr>
                    </a:p>
                  </a:txBody>
                  <a:tcPr anchor="ctr"/>
                </a:tc>
                <a:tc>
                  <a:txBody>
                    <a:bodyPr/>
                    <a:lstStyle/>
                    <a:p>
                      <a:pPr algn="ctr"/>
                      <a:endParaRPr lang="en-US" sz="1200" dirty="0">
                        <a:latin typeface="Roboto "/>
                      </a:endParaRPr>
                    </a:p>
                  </a:txBody>
                  <a:tcPr anchor="ctr"/>
                </a:tc>
              </a:tr>
              <a:tr h="336946">
                <a:tc>
                  <a:txBody>
                    <a:bodyPr/>
                    <a:lstStyle/>
                    <a:p>
                      <a:pPr algn="ctr"/>
                      <a:r>
                        <a:rPr lang="en-US" sz="1050" dirty="0">
                          <a:latin typeface="Roboto "/>
                        </a:rPr>
                        <a:t>9</a:t>
                      </a:r>
                      <a:r>
                        <a:rPr lang="en-US" sz="1050" baseline="30000" dirty="0">
                          <a:latin typeface="Roboto "/>
                        </a:rPr>
                        <a:t>th</a:t>
                      </a:r>
                      <a:r>
                        <a:rPr lang="en-US" sz="1050" dirty="0">
                          <a:latin typeface="Roboto "/>
                        </a:rPr>
                        <a:t> HALO 80</a:t>
                      </a:r>
                      <a:endParaRPr lang="en-US" sz="1050" dirty="0">
                        <a:latin typeface="Roboto "/>
                      </a:endParaRPr>
                    </a:p>
                  </a:txBody>
                  <a:tcPr anchor="ctr"/>
                </a:tc>
                <a:tc>
                  <a:txBody>
                    <a:bodyPr/>
                    <a:lstStyle/>
                    <a:p>
                      <a:pPr algn="ctr"/>
                      <a:endParaRPr lang="en-US" sz="1200" dirty="0">
                        <a:latin typeface="Roboto "/>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Roboto "/>
                        </a:rPr>
                        <a:t>✓</a:t>
                      </a:r>
                      <a:endParaRPr lang="en-US" sz="1200" dirty="0">
                        <a:latin typeface="Roboto "/>
                      </a:endParaRPr>
                    </a:p>
                  </a:txBody>
                  <a:tcPr anchor="ctr"/>
                </a:tc>
                <a:tc>
                  <a:txBody>
                    <a:bodyPr/>
                    <a:lstStyle/>
                    <a:p>
                      <a:pPr algn="ctr"/>
                      <a:endParaRPr lang="en-US" sz="1200" dirty="0">
                        <a:latin typeface="Roboto "/>
                      </a:endParaRPr>
                    </a:p>
                  </a:txBody>
                  <a:tcPr anchor="ctr"/>
                </a:tc>
                <a:tc>
                  <a:txBody>
                    <a:bodyPr/>
                    <a:lstStyle/>
                    <a:p>
                      <a:pPr algn="ctr"/>
                      <a:endParaRPr lang="en-US" sz="1200" dirty="0">
                        <a:latin typeface="Roboto "/>
                      </a:endParaRPr>
                    </a:p>
                  </a:txBody>
                  <a:tcPr anchor="ctr"/>
                </a:tc>
              </a:tr>
            </a:tbl>
          </a:graphicData>
        </a:graphic>
      </p:graphicFrame>
      <p:sp>
        <p:nvSpPr>
          <p:cNvPr id="38" name="文本框 37"/>
          <p:cNvSpPr txBox="1"/>
          <p:nvPr/>
        </p:nvSpPr>
        <p:spPr>
          <a:xfrm>
            <a:off x="8016240" y="1603375"/>
            <a:ext cx="2478405" cy="275590"/>
          </a:xfrm>
          <a:prstGeom prst="rect">
            <a:avLst/>
          </a:prstGeom>
          <a:noFill/>
        </p:spPr>
        <p:txBody>
          <a:bodyPr wrap="square">
            <a:spAutoFit/>
          </a:bodyPr>
          <a:lstStyle/>
          <a:p>
            <a:r>
              <a:rPr lang="en-US" sz="1200" dirty="0">
                <a:latin typeface="Roboto "/>
                <a:ea typeface="Calibri" panose="020F0502020204030204" pitchFamily="34" charset="0"/>
              </a:rPr>
              <a:t>C</a:t>
            </a:r>
            <a:r>
              <a:rPr lang="en-US" sz="1200" dirty="0">
                <a:effectLst/>
                <a:latin typeface="Roboto "/>
                <a:ea typeface="Calibri" panose="020F0502020204030204" pitchFamily="34" charset="0"/>
              </a:rPr>
              <a:t>ascading</a:t>
            </a:r>
            <a:r>
              <a:rPr lang="en-US" sz="1200" spc="-35" dirty="0">
                <a:effectLst/>
                <a:latin typeface="Roboto "/>
                <a:ea typeface="Calibri" panose="020F0502020204030204" pitchFamily="34" charset="0"/>
              </a:rPr>
              <a:t> </a:t>
            </a:r>
            <a:r>
              <a:rPr lang="en-US" sz="1200" spc="-35" dirty="0">
                <a:latin typeface="Roboto "/>
                <a:ea typeface="Calibri" panose="020F0502020204030204" pitchFamily="34" charset="0"/>
              </a:rPr>
              <a:t>C</a:t>
            </a:r>
            <a:r>
              <a:rPr lang="en-US" sz="1200" dirty="0">
                <a:effectLst/>
                <a:latin typeface="Roboto "/>
                <a:ea typeface="Calibri" panose="020F0502020204030204" pitchFamily="34" charset="0"/>
              </a:rPr>
              <a:t>onnection </a:t>
            </a:r>
            <a:r>
              <a:rPr lang="en-US" sz="1200" dirty="0">
                <a:latin typeface="Roboto "/>
                <a:ea typeface="Calibri" panose="020F0502020204030204" pitchFamily="34" charset="0"/>
              </a:rPr>
              <a:t>T</a:t>
            </a:r>
            <a:r>
              <a:rPr lang="en-US" sz="1200" dirty="0">
                <a:effectLst/>
                <a:latin typeface="Roboto "/>
                <a:ea typeface="Calibri" panose="020F0502020204030204" pitchFamily="34" charset="0"/>
              </a:rPr>
              <a:t>able</a:t>
            </a:r>
            <a:endParaRPr lang="en-US" sz="1200" dirty="0">
              <a:effectLst/>
              <a:latin typeface="Roboto "/>
              <a:ea typeface="Calibri" panose="020F0502020204030204" pitchFamily="34" charset="0"/>
            </a:endParaRPr>
          </a:p>
        </p:txBody>
      </p:sp>
    </p:spTree>
    <p:custDataLst>
      <p:tags r:id="rId6"/>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
          <p:cNvSpPr txBox="1"/>
          <p:nvPr>
            <p:custDataLst>
              <p:tags r:id="rId1"/>
            </p:custDataLst>
          </p:nvPr>
        </p:nvSpPr>
        <p:spPr>
          <a:xfrm>
            <a:off x="284218" y="1659034"/>
            <a:ext cx="4536063" cy="4097241"/>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00000"/>
              </a:lnSpc>
              <a:spcBef>
                <a:spcPts val="0"/>
              </a:spcBef>
              <a:spcAft>
                <a:spcPts val="800"/>
              </a:spcAft>
              <a:buSzPct val="100000"/>
              <a:buFont typeface="Wingdings" panose="05000000000000000000" charset="0"/>
              <a:buNone/>
            </a:pPr>
            <a:r>
              <a:rPr sz="1800" b="1" u="sng"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Application Scenario 1</a:t>
            </a: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b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Medium</a:t>
            </a:r>
            <a:r>
              <a:rPr lang="zh-CN" alt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Meeting Room</a:t>
            </a:r>
            <a:endParaRPr lang="en-US"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pPr>
            <a:r>
              <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This solution empowers participants to effortlessly join</a:t>
            </a:r>
            <a:r>
              <a:rPr lang="zh-CN" alt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a:t>
            </a:r>
            <a:r>
              <a:rPr lang="en-US" altLang="zh-CN"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the</a:t>
            </a:r>
            <a:r>
              <a:rPr lang="zh-CN" alt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a:t>
            </a:r>
            <a:r>
              <a:rPr lang="en-US" altLang="zh-CN"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meeting</a:t>
            </a:r>
            <a:r>
              <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a:t>
            </a:r>
            <a:r>
              <a:rPr lang="en-US" altLang="zh-CN" sz="1400" spc="0" dirty="0">
                <a:ln w="3175">
                  <a:noFill/>
                  <a:prstDash val="dash"/>
                </a:ln>
                <a:solidFill>
                  <a:schemeClr val="dk1">
                    <a:lumMod val="75000"/>
                    <a:lumOff val="25000"/>
                  </a:schemeClr>
                </a:solidFill>
                <a:latin typeface="Roboto" charset="0"/>
                <a:ea typeface="Roboto" charset="0"/>
                <a:cs typeface="Arial" panose="020B0604020202020204" pitchFamily="34" charset="0"/>
              </a:rPr>
              <a:t>Its user-friendly design ensures smooth communication, enhancing collaboration and productivity for all participants.</a:t>
            </a:r>
            <a:endPar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lvl="0" indent="-285750" algn="l" fontAlgn="ctr">
              <a:lnSpc>
                <a:spcPts val="1500"/>
              </a:lnSpc>
              <a:spcBef>
                <a:spcPts val="0"/>
              </a:spcBef>
              <a:spcAft>
                <a:spcPts val="800"/>
              </a:spcAft>
              <a:buClrTx/>
              <a:buSzTx/>
              <a:buFontTx/>
            </a:pPr>
            <a:endParaRPr lang="en-US"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lvl="0" indent="-285750" algn="l" fontAlgn="ctr">
              <a:lnSpc>
                <a:spcPts val="1500"/>
              </a:lnSpc>
              <a:spcBef>
                <a:spcPts val="0"/>
              </a:spcBef>
              <a:spcAft>
                <a:spcPts val="800"/>
              </a:spcAft>
              <a:buClrTx/>
              <a:buSzTx/>
              <a:buFontTx/>
            </a:pPr>
            <a:r>
              <a:rPr lang="en-US" sz="18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Key Benefits Include:</a:t>
            </a:r>
            <a:endParaRPr lang="en-US" sz="18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marL="266700" indent="-266700" fontAlgn="ctr">
              <a:lnSpc>
                <a:spcPts val="1500"/>
              </a:lnSpc>
              <a:spcBef>
                <a:spcPts val="0"/>
              </a:spcBef>
              <a:spcAft>
                <a:spcPts val="800"/>
              </a:spcAft>
              <a:buSzPct val="100000"/>
              <a:buFont typeface="Wingdings" panose="05000000000000000000" charset="0"/>
              <a:buChar char="l"/>
            </a:pPr>
            <a:r>
              <a:rPr lang="en-US" sz="14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Dual-Screen Connection: </a:t>
            </a:r>
            <a:r>
              <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Supports dual-screen setup for clear and comprehensive presentations</a:t>
            </a:r>
            <a:endPar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marL="266700" indent="-266700" fontAlgn="ctr">
              <a:lnSpc>
                <a:spcPts val="1500"/>
              </a:lnSpc>
              <a:spcBef>
                <a:spcPts val="0"/>
              </a:spcBef>
              <a:spcAft>
                <a:spcPts val="800"/>
              </a:spcAft>
              <a:buSzPct val="100000"/>
              <a:buFont typeface="Wingdings" panose="05000000000000000000" charset="0"/>
              <a:buChar char="l"/>
            </a:pPr>
            <a:r>
              <a:rPr lang="en-US" sz="14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Full-</a:t>
            </a:r>
            <a:r>
              <a:rPr lang="en-US" altLang="zh-CN" sz="14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Featured</a:t>
            </a:r>
            <a:r>
              <a:rPr lang="zh-CN" altLang="en-US" sz="1400" b="1" spc="0" dirty="0">
                <a:ln w="3175">
                  <a:noFill/>
                  <a:prstDash val="dash"/>
                </a:ln>
                <a:solidFill>
                  <a:schemeClr val="dk1">
                    <a:lumMod val="75000"/>
                    <a:lumOff val="25000"/>
                  </a:schemeClr>
                </a:solidFill>
                <a:latin typeface="Roboto" charset="0"/>
                <a:cs typeface="Arial" panose="020B0604020202020204" pitchFamily="34" charset="0"/>
                <a:sym typeface="+mn-ea"/>
              </a:rPr>
              <a:t> </a:t>
            </a:r>
            <a:r>
              <a:rPr lang="en-US" altLang="zh-CN" sz="14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USB-C Integration:</a:t>
            </a:r>
            <a:r>
              <a:rPr lang="en-US" altLang="zh-CN"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a:t>
            </a:r>
            <a:r>
              <a:rPr lang="en-US" altLang="zh-CN" sz="1400" spc="0" dirty="0">
                <a:ln w="3175">
                  <a:noFill/>
                  <a:prstDash val="dash"/>
                </a:ln>
                <a:solidFill>
                  <a:schemeClr val="dk1">
                    <a:lumMod val="75000"/>
                    <a:lumOff val="25000"/>
                  </a:schemeClr>
                </a:solidFill>
                <a:latin typeface="Roboto" charset="0"/>
                <a:ea typeface="Roboto" charset="0"/>
                <a:cs typeface="Arial" panose="020B0604020202020204" pitchFamily="34" charset="0"/>
              </a:rPr>
              <a:t>Provides all-in-one transmission via USB-C, combining video, audio, Ethernet, USB data, and power through a single cable for simplified setup.</a:t>
            </a:r>
            <a:endParaRPr lang="en-US" altLang="zh-CN" sz="1400"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a:p>
            <a:pPr marL="266700" indent="-266700" fontAlgn="ctr">
              <a:lnSpc>
                <a:spcPts val="1500"/>
              </a:lnSpc>
              <a:spcBef>
                <a:spcPts val="0"/>
              </a:spcBef>
              <a:spcAft>
                <a:spcPts val="800"/>
              </a:spcAft>
              <a:buSzPct val="100000"/>
              <a:buFont typeface="Wingdings" panose="05000000000000000000" charset="0"/>
              <a:buChar char="l"/>
            </a:pPr>
            <a:r>
              <a:rPr lang="en-US" sz="14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MST Capability: </a:t>
            </a:r>
            <a:r>
              <a:rPr lang="en-US" altLang="zh-CN" sz="1400" spc="0" dirty="0">
                <a:ln w="3175">
                  <a:noFill/>
                  <a:prstDash val="dash"/>
                </a:ln>
                <a:solidFill>
                  <a:schemeClr val="dk1">
                    <a:lumMod val="75000"/>
                    <a:lumOff val="25000"/>
                  </a:schemeClr>
                </a:solidFill>
                <a:latin typeface="Roboto" charset="0"/>
                <a:ea typeface="Roboto" charset="0"/>
                <a:cs typeface="Arial" panose="020B0604020202020204" pitchFamily="34" charset="0"/>
              </a:rPr>
              <a:t>Enables extended content sharing and productivity with MST support</a:t>
            </a:r>
            <a:endParaRPr lang="en-US" altLang="zh-CN" sz="1400"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p:txBody>
      </p:sp>
      <p:sp>
        <p:nvSpPr>
          <p:cNvPr id="22"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19" name="文本框 6"/>
          <p:cNvSpPr txBox="1"/>
          <p:nvPr>
            <p:custDataLst>
              <p:tags r:id="rId3"/>
            </p:custDataLst>
          </p:nvPr>
        </p:nvSpPr>
        <p:spPr>
          <a:xfrm>
            <a:off x="457155" y="156211"/>
            <a:ext cx="11277689" cy="609600"/>
          </a:xfrm>
          <a:prstGeom prst="rect">
            <a:avLst/>
          </a:prstGeom>
          <a:noFill/>
        </p:spPr>
        <p:txBody>
          <a:bodyPr wrap="square" lIns="63500" tIns="25400" rIns="63500" bIns="25400" rtlCol="0" anchor="ctr" anchorCtr="0"/>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Typical Connection &amp; Applications</a:t>
            </a:r>
            <a:endParaRPr lang="en-US" sz="2800" b="1" dirty="0">
              <a:solidFill>
                <a:schemeClr val="lt1"/>
              </a:solidFill>
              <a:uFillTx/>
              <a:latin typeface="Montserrat" pitchFamily="2" charset="0"/>
              <a:ea typeface="微软雅黑" panose="020B0503020204020204" pitchFamily="34" charset="-122"/>
              <a:sym typeface="Roboto"/>
            </a:endParaRPr>
          </a:p>
        </p:txBody>
      </p:sp>
      <p:pic>
        <p:nvPicPr>
          <p:cNvPr id="4" name="图片 3"/>
          <p:cNvPicPr>
            <a:picLocks noChangeAspect="1"/>
          </p:cNvPicPr>
          <p:nvPr/>
        </p:nvPicPr>
        <p:blipFill>
          <a:blip r:embed="rId4"/>
          <a:stretch>
            <a:fillRect/>
          </a:stretch>
        </p:blipFill>
        <p:spPr>
          <a:xfrm>
            <a:off x="5791488" y="1386530"/>
            <a:ext cx="5810132" cy="5007935"/>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ustDataLst>
      <p:tags r:id="rId5"/>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
          <p:cNvSpPr txBox="1"/>
          <p:nvPr>
            <p:custDataLst>
              <p:tags r:id="rId1"/>
            </p:custDataLst>
          </p:nvPr>
        </p:nvSpPr>
        <p:spPr>
          <a:xfrm>
            <a:off x="292100" y="1066800"/>
            <a:ext cx="4311859" cy="549275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00000"/>
              </a:lnSpc>
              <a:spcBef>
                <a:spcPts val="0"/>
              </a:spcBef>
              <a:spcAft>
                <a:spcPts val="800"/>
              </a:spcAft>
              <a:buSzPct val="100000"/>
              <a:buFont typeface="Wingdings" panose="05000000000000000000" charset="0"/>
              <a:buNone/>
            </a:pPr>
            <a:r>
              <a:rPr sz="1800" b="1" u="sng"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Application Scenario 2</a:t>
            </a: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b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lang="en-US" altLang="zh-CN"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Medium Meeting Room</a:t>
            </a:r>
            <a:endParaRPr lang="en-US"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pPr>
            <a:r>
              <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This solution simplifies installation with its plug-and-play design, significantly enhancing meeting efficiency for both in-person and remote conferencing, ensuring every meeting is productive and smooth.</a:t>
            </a:r>
            <a:br>
              <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br>
            <a:endPar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lvl="0" indent="-285750" fontAlgn="ctr">
              <a:lnSpc>
                <a:spcPct val="100000"/>
              </a:lnSpc>
              <a:spcBef>
                <a:spcPts val="0"/>
              </a:spcBef>
              <a:spcAft>
                <a:spcPts val="800"/>
              </a:spcAft>
              <a:buSzPct val="100000"/>
            </a:pPr>
            <a:r>
              <a:rPr lang="en-US" sz="18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Key Benefits Include:</a:t>
            </a:r>
            <a:endParaRPr lang="en-US" sz="18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r>
              <a:rPr lang="en-US" sz="14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Multiple Casting Methods:</a:t>
            </a:r>
            <a:r>
              <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Simplifies presentations</a:t>
            </a:r>
            <a:br>
              <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br>
            <a:r>
              <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with various casting options.</a:t>
            </a:r>
            <a:endPar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marL="266700" lvl="0" indent="-266700" fontAlgn="ctr">
              <a:lnSpc>
                <a:spcPts val="1500"/>
              </a:lnSpc>
              <a:spcBef>
                <a:spcPts val="0"/>
              </a:spcBef>
              <a:spcAft>
                <a:spcPts val="800"/>
              </a:spcAft>
              <a:buSzPct val="100000"/>
              <a:buFont typeface="Wingdings" panose="05000000000000000000" charset="0"/>
              <a:buChar char="l"/>
            </a:pPr>
            <a:r>
              <a:rPr lang="en-US" sz="14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Scalable Cascading Setup: </a:t>
            </a:r>
            <a:r>
              <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rPr>
              <a:t>Scales the number of HALO 80 units to fit different meeting room sizes</a:t>
            </a:r>
            <a:r>
              <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a:t>
            </a:r>
            <a:endPar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r>
              <a:rPr lang="en-US" sz="14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Smart Panel: </a:t>
            </a:r>
            <a:r>
              <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One-click control for all functions.</a:t>
            </a:r>
            <a:endPar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r>
              <a:rPr lang="en-US" sz="14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Dual-Screen Connection: </a:t>
            </a:r>
            <a:r>
              <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Ensures clear and </a:t>
            </a:r>
            <a:br>
              <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br>
            <a:r>
              <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comprehensive display.</a:t>
            </a:r>
            <a:endPar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r>
              <a:rPr lang="en-US" sz="14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Fast Seamless Switching</a:t>
            </a:r>
            <a:r>
              <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Quick and smooth </a:t>
            </a:r>
            <a:br>
              <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br>
            <a:r>
              <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transitions between inputs.</a:t>
            </a:r>
            <a:endPar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p:txBody>
      </p:sp>
      <p:sp>
        <p:nvSpPr>
          <p:cNvPr id="22"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19" name="文本框 6"/>
          <p:cNvSpPr txBox="1"/>
          <p:nvPr>
            <p:custDataLst>
              <p:tags r:id="rId3"/>
            </p:custDataLst>
          </p:nvPr>
        </p:nvSpPr>
        <p:spPr>
          <a:xfrm>
            <a:off x="457155" y="15621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Typical Connection &amp; Applications</a:t>
            </a:r>
            <a:endParaRPr lang="en-US" sz="2800" b="1" dirty="0">
              <a:solidFill>
                <a:schemeClr val="lt1"/>
              </a:solidFill>
              <a:uFillTx/>
              <a:latin typeface="Montserrat" pitchFamily="2" charset="0"/>
              <a:ea typeface="微软雅黑" panose="020B0503020204020204" pitchFamily="34" charset="-122"/>
              <a:sym typeface="Roboto"/>
            </a:endParaRPr>
          </a:p>
        </p:txBody>
      </p:sp>
      <p:pic>
        <p:nvPicPr>
          <p:cNvPr id="4" name="图片 3"/>
          <p:cNvPicPr>
            <a:picLocks noChangeAspect="1"/>
          </p:cNvPicPr>
          <p:nvPr/>
        </p:nvPicPr>
        <p:blipFill>
          <a:blip r:embed="rId4"/>
          <a:stretch>
            <a:fillRect/>
          </a:stretch>
        </p:blipFill>
        <p:spPr>
          <a:xfrm>
            <a:off x="4812664" y="1518609"/>
            <a:ext cx="7107665" cy="4758366"/>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ustDataLst>
      <p:tags r:id="rId5"/>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格 9"/>
          <p:cNvGraphicFramePr/>
          <p:nvPr>
            <p:custDataLst>
              <p:tags r:id="rId1"/>
            </p:custDataLst>
          </p:nvPr>
        </p:nvGraphicFramePr>
        <p:xfrm>
          <a:off x="457156" y="948692"/>
          <a:ext cx="10622135" cy="5684179"/>
        </p:xfrm>
        <a:graphic>
          <a:graphicData uri="http://schemas.openxmlformats.org/drawingml/2006/table">
            <a:tbl>
              <a:tblPr firstRow="1" bandRow="1">
                <a:tableStyleId>{93296810-A885-4BE3-A3E7-6D5BEEA58F35}</a:tableStyleId>
              </a:tblPr>
              <a:tblGrid>
                <a:gridCol w="1087660"/>
                <a:gridCol w="1469512"/>
                <a:gridCol w="1617345"/>
                <a:gridCol w="1566991"/>
                <a:gridCol w="1743339"/>
                <a:gridCol w="1568644"/>
                <a:gridCol w="1568644"/>
              </a:tblGrid>
              <a:tr h="347183">
                <a:tc>
                  <a:txBody>
                    <a:bodyPr/>
                    <a:lstStyle/>
                    <a:p>
                      <a:pPr algn="ctr">
                        <a:buNone/>
                      </a:pPr>
                      <a:endParaRPr lang="en-US" altLang="zh-CN" sz="1400" dirty="0">
                        <a:latin typeface="Roboto" charset="0"/>
                        <a:ea typeface="Roboto" charset="0"/>
                        <a:cs typeface="Arial" panose="020B0604020202020204" pitchFamily="34" charset="0"/>
                      </a:endParaRPr>
                    </a:p>
                  </a:txBody>
                  <a:tcPr>
                    <a:solidFill>
                      <a:schemeClr val="accent3"/>
                    </a:solidFill>
                  </a:tcPr>
                </a:tc>
                <a:tc>
                  <a:txBody>
                    <a:bodyPr/>
                    <a:lstStyle/>
                    <a:p>
                      <a:pPr algn="ctr">
                        <a:buNone/>
                      </a:pPr>
                      <a:endParaRPr lang="en-US" altLang="zh-CN" sz="1400" dirty="0">
                        <a:latin typeface="Roboto" charset="0"/>
                        <a:ea typeface="Roboto" charset="0"/>
                        <a:cs typeface="Arial" panose="020B0604020202020204" pitchFamily="34" charset="0"/>
                      </a:endParaRPr>
                    </a:p>
                  </a:txBody>
                  <a:tcPr>
                    <a:solidFill>
                      <a:schemeClr val="accent3"/>
                    </a:solidFill>
                  </a:tcPr>
                </a:tc>
                <a:tc>
                  <a:txBody>
                    <a:bodyPr/>
                    <a:lstStyle/>
                    <a:p>
                      <a:pPr algn="ctr">
                        <a:buNone/>
                      </a:pPr>
                      <a:r>
                        <a:rPr lang="en-US" altLang="zh-CN" sz="1400" b="1" dirty="0">
                          <a:solidFill>
                            <a:schemeClr val="bg1"/>
                          </a:solidFill>
                          <a:latin typeface="Roboto" charset="0"/>
                          <a:ea typeface="Roboto" charset="0"/>
                        </a:rPr>
                        <a:t>WyreStorm</a:t>
                      </a:r>
                      <a:br>
                        <a:rPr lang="en-US" altLang="zh-CN" sz="1400" b="1" dirty="0">
                          <a:solidFill>
                            <a:schemeClr val="bg1"/>
                          </a:solidFill>
                          <a:latin typeface="Roboto" charset="0"/>
                          <a:ea typeface="Roboto" charset="0"/>
                        </a:rPr>
                      </a:br>
                      <a:r>
                        <a:rPr lang="en-US" altLang="zh-CN" sz="1400" b="1" dirty="0">
                          <a:solidFill>
                            <a:schemeClr val="bg1"/>
                          </a:solidFill>
                          <a:latin typeface="Roboto" charset="0"/>
                          <a:ea typeface="Roboto" charset="0"/>
                        </a:rPr>
                        <a:t>HALO 80</a:t>
                      </a:r>
                      <a:endParaRPr lang="en-US" altLang="zh-CN" sz="1400" b="1" dirty="0">
                        <a:solidFill>
                          <a:schemeClr val="bg1"/>
                        </a:solidFill>
                        <a:latin typeface="Roboto" charset="0"/>
                        <a:ea typeface="Roboto" charset="0"/>
                      </a:endParaRPr>
                    </a:p>
                  </a:txBody>
                  <a:tcPr>
                    <a:solidFill>
                      <a:schemeClr val="accent3"/>
                    </a:solidFill>
                  </a:tcPr>
                </a:tc>
                <a:tc>
                  <a:txBody>
                    <a:bodyPr/>
                    <a:lstStyle/>
                    <a:p>
                      <a:pPr algn="ctr">
                        <a:buNone/>
                      </a:pPr>
                      <a:r>
                        <a:rPr lang="en-US" altLang="zh-CN" sz="1400" b="1" kern="1200" dirty="0">
                          <a:solidFill>
                            <a:schemeClr val="bg1"/>
                          </a:solidFill>
                          <a:latin typeface="Roboto" charset="0"/>
                          <a:ea typeface="Roboto" charset="0"/>
                        </a:rPr>
                        <a:t>Jabra</a:t>
                      </a:r>
                      <a:endParaRPr lang="en-US" altLang="zh-CN" sz="1400" b="1" kern="1200" dirty="0">
                        <a:solidFill>
                          <a:schemeClr val="bg1"/>
                        </a:solidFill>
                        <a:latin typeface="Roboto" charset="0"/>
                        <a:ea typeface="Roboto" charset="0"/>
                      </a:endParaRPr>
                    </a:p>
                    <a:p>
                      <a:pPr algn="ctr">
                        <a:buNone/>
                      </a:pPr>
                      <a:r>
                        <a:rPr lang="en-US" altLang="zh-CN" sz="1400" b="1" kern="1200" dirty="0">
                          <a:solidFill>
                            <a:schemeClr val="bg1"/>
                          </a:solidFill>
                          <a:latin typeface="Roboto" charset="0"/>
                          <a:ea typeface="Roboto" charset="0"/>
                        </a:rPr>
                        <a:t>Speak 510</a:t>
                      </a:r>
                      <a:endParaRPr lang="en-US" altLang="zh-CN" sz="1400" b="1" kern="1200" dirty="0">
                        <a:solidFill>
                          <a:schemeClr val="bg1"/>
                        </a:solidFill>
                        <a:latin typeface="Roboto" charset="0"/>
                        <a:ea typeface="Roboto" charset="0"/>
                      </a:endParaRPr>
                    </a:p>
                  </a:txBody>
                  <a:tcPr>
                    <a:solidFill>
                      <a:schemeClr val="accent3"/>
                    </a:solidFill>
                  </a:tcPr>
                </a:tc>
                <a:tc>
                  <a:txBody>
                    <a:bodyPr/>
                    <a:lstStyle/>
                    <a:p>
                      <a:pPr algn="ctr">
                        <a:buNone/>
                      </a:pPr>
                      <a:r>
                        <a:rPr lang="en-US" altLang="zh-CN" sz="1400" b="1" kern="1200" dirty="0">
                          <a:solidFill>
                            <a:schemeClr val="bg1"/>
                          </a:solidFill>
                          <a:latin typeface="Roboto" charset="0"/>
                          <a:ea typeface="Roboto" charset="0"/>
                        </a:rPr>
                        <a:t>Jabra</a:t>
                      </a:r>
                      <a:endParaRPr lang="en-US" altLang="zh-CN" sz="1400" b="1" kern="1200" dirty="0">
                        <a:solidFill>
                          <a:schemeClr val="bg1"/>
                        </a:solidFill>
                        <a:latin typeface="Roboto" charset="0"/>
                        <a:ea typeface="Roboto" charset="0"/>
                      </a:endParaRPr>
                    </a:p>
                    <a:p>
                      <a:pPr algn="ctr">
                        <a:buNone/>
                      </a:pPr>
                      <a:r>
                        <a:rPr lang="en-US" altLang="zh-CN" sz="1400" b="1" kern="1200" dirty="0">
                          <a:solidFill>
                            <a:schemeClr val="bg1"/>
                          </a:solidFill>
                          <a:latin typeface="Roboto" charset="0"/>
                          <a:ea typeface="Roboto" charset="0"/>
                        </a:rPr>
                        <a:t>SPEAK2 55</a:t>
                      </a:r>
                      <a:endParaRPr lang="en-US" altLang="zh-CN" sz="1400" b="1" kern="1200" dirty="0">
                        <a:solidFill>
                          <a:schemeClr val="bg1"/>
                        </a:solidFill>
                        <a:latin typeface="Roboto" charset="0"/>
                        <a:ea typeface="Roboto" charset="0"/>
                      </a:endParaRPr>
                    </a:p>
                  </a:txBody>
                  <a:tcPr>
                    <a:solidFill>
                      <a:schemeClr val="accent3"/>
                    </a:solidFill>
                  </a:tcPr>
                </a:tc>
                <a:tc>
                  <a:txBody>
                    <a:bodyPr/>
                    <a:lstStyle/>
                    <a:p>
                      <a:pPr algn="ctr">
                        <a:buNone/>
                      </a:pPr>
                      <a:r>
                        <a:rPr lang="en-US" altLang="zh-CN" sz="1400" b="1" kern="1200" dirty="0">
                          <a:solidFill>
                            <a:schemeClr val="bg1"/>
                          </a:solidFill>
                          <a:latin typeface="Roboto" charset="0"/>
                          <a:ea typeface="Roboto" charset="0"/>
                        </a:rPr>
                        <a:t>EMEET</a:t>
                      </a:r>
                      <a:endParaRPr lang="en-US" altLang="zh-CN" sz="1400" b="1" kern="1200" dirty="0">
                        <a:solidFill>
                          <a:schemeClr val="bg1"/>
                        </a:solidFill>
                        <a:latin typeface="Roboto" charset="0"/>
                        <a:ea typeface="Roboto" charset="0"/>
                      </a:endParaRPr>
                    </a:p>
                    <a:p>
                      <a:pPr algn="ctr">
                        <a:buNone/>
                      </a:pPr>
                      <a:r>
                        <a:rPr lang="en-US" altLang="zh-CN" sz="1400" b="1" kern="1200" dirty="0">
                          <a:solidFill>
                            <a:schemeClr val="bg1"/>
                          </a:solidFill>
                          <a:latin typeface="Roboto" charset="0"/>
                          <a:ea typeface="Roboto" charset="0"/>
                        </a:rPr>
                        <a:t>M3</a:t>
                      </a:r>
                      <a:endParaRPr lang="en-US" altLang="zh-CN" sz="1400" b="1" kern="1200" dirty="0">
                        <a:solidFill>
                          <a:schemeClr val="bg1"/>
                        </a:solidFill>
                        <a:latin typeface="Roboto" charset="0"/>
                        <a:ea typeface="Roboto" charset="0"/>
                      </a:endParaRPr>
                    </a:p>
                  </a:txBody>
                  <a:tcPr>
                    <a:solidFill>
                      <a:schemeClr val="accent3"/>
                    </a:solidFill>
                  </a:tcPr>
                </a:tc>
                <a:tc>
                  <a:txBody>
                    <a:bodyPr/>
                    <a:lstStyle/>
                    <a:p>
                      <a:pPr algn="ctr">
                        <a:buNone/>
                      </a:pPr>
                      <a:r>
                        <a:rPr lang="en-US" altLang="zh-CN" sz="1400" b="1" kern="1200" dirty="0">
                          <a:solidFill>
                            <a:schemeClr val="bg1"/>
                          </a:solidFill>
                          <a:latin typeface="Roboto" charset="0"/>
                          <a:ea typeface="Roboto" charset="0"/>
                        </a:rPr>
                        <a:t>Nearity</a:t>
                      </a:r>
                      <a:endParaRPr lang="en-US" altLang="zh-CN" sz="1400" b="1" kern="1200" dirty="0">
                        <a:solidFill>
                          <a:schemeClr val="bg1"/>
                        </a:solidFill>
                        <a:latin typeface="Roboto" charset="0"/>
                        <a:ea typeface="Roboto" charset="0"/>
                      </a:endParaRPr>
                    </a:p>
                    <a:p>
                      <a:pPr algn="ctr">
                        <a:buNone/>
                      </a:pPr>
                      <a:r>
                        <a:rPr lang="en-US" altLang="zh-CN" sz="1400" b="1" kern="1200" dirty="0">
                          <a:solidFill>
                            <a:schemeClr val="bg1"/>
                          </a:solidFill>
                          <a:latin typeface="Roboto" charset="0"/>
                          <a:ea typeface="Roboto" charset="0"/>
                        </a:rPr>
                        <a:t>A20S</a:t>
                      </a:r>
                      <a:endParaRPr lang="en-US" altLang="zh-CN" sz="1400" b="1" kern="1200" dirty="0">
                        <a:solidFill>
                          <a:schemeClr val="bg1"/>
                        </a:solidFill>
                        <a:latin typeface="Roboto" charset="0"/>
                        <a:ea typeface="Roboto" charset="0"/>
                      </a:endParaRPr>
                    </a:p>
                  </a:txBody>
                  <a:tcPr>
                    <a:solidFill>
                      <a:schemeClr val="accent3"/>
                    </a:solidFill>
                  </a:tcPr>
                </a:tc>
              </a:tr>
              <a:tr h="388785">
                <a:tc rowSpan="8">
                  <a:txBody>
                    <a:bodyPr/>
                    <a:lstStyle/>
                    <a:p>
                      <a:pPr lvl="1" algn="ctr">
                        <a:buNone/>
                      </a:pPr>
                      <a:r>
                        <a:rPr lang="en-US" altLang="zh-CN" sz="1200" b="0" dirty="0">
                          <a:solidFill>
                            <a:schemeClr val="tx1"/>
                          </a:solidFill>
                          <a:latin typeface="Roboto" charset="0"/>
                          <a:ea typeface="Roboto" charset="0"/>
                        </a:rPr>
                        <a:t>Audio</a:t>
                      </a:r>
                      <a:endParaRPr lang="en-US" altLang="zh-CN" sz="1200" b="0" dirty="0">
                        <a:solidFill>
                          <a:schemeClr val="tx1"/>
                        </a:solidFill>
                        <a:latin typeface="Roboto" charset="0"/>
                        <a:ea typeface="Roboto" charset="0"/>
                        <a:cs typeface="Arial" panose="020B0604020202020204" pitchFamily="34" charset="0"/>
                      </a:endParaRPr>
                    </a:p>
                  </a:txBody>
                  <a:tcPr anchor="ctr"/>
                </a:tc>
                <a:tc>
                  <a:txBody>
                    <a:bodyPr/>
                    <a:lstStyle/>
                    <a:p>
                      <a:pPr algn="ctr">
                        <a:buNone/>
                      </a:pPr>
                      <a:r>
                        <a:rPr lang="en-US" altLang="zh-CN" sz="1200" b="0" kern="1200" dirty="0">
                          <a:solidFill>
                            <a:schemeClr val="dk1"/>
                          </a:solidFill>
                          <a:latin typeface="Roboto" charset="0"/>
                          <a:ea typeface="Roboto" charset="0"/>
                          <a:cs typeface="+mn-cs"/>
                        </a:rPr>
                        <a:t>Speaker output </a:t>
                      </a:r>
                      <a:endParaRPr lang="en-US" altLang="zh-CN" sz="1200" b="0" kern="1200" dirty="0">
                        <a:solidFill>
                          <a:schemeClr val="dk1"/>
                        </a:solidFill>
                        <a:latin typeface="Roboto" charset="0"/>
                        <a:ea typeface="Roboto" charset="0"/>
                        <a:cs typeface="+mn-cs"/>
                      </a:endParaRPr>
                    </a:p>
                  </a:txBody>
                  <a:tcPr anchor="ctr"/>
                </a:tc>
                <a:tc>
                  <a:txBody>
                    <a:bodyPr/>
                    <a:lstStyle/>
                    <a:p>
                      <a:pPr marL="0" algn="ctr" defTabSz="914400" rtl="0" eaLnBrk="1" latinLnBrk="0" hangingPunct="1">
                        <a:lnSpc>
                          <a:spcPct val="100000"/>
                        </a:lnSpc>
                        <a:spcBef>
                          <a:spcPts val="0"/>
                        </a:spcBef>
                        <a:spcAft>
                          <a:spcPts val="0"/>
                        </a:spcAft>
                        <a:buNone/>
                      </a:pPr>
                      <a:r>
                        <a:rPr lang="en-US" altLang="zh-CN" sz="1200" b="1" kern="1200" dirty="0">
                          <a:solidFill>
                            <a:schemeClr val="accent3"/>
                          </a:solidFill>
                          <a:latin typeface="Roboto" charset="0"/>
                          <a:ea typeface="Roboto" charset="0"/>
                          <a:cs typeface="+mn-cs"/>
                        </a:rPr>
                        <a:t>Maximum 27W</a:t>
                      </a:r>
                      <a:endParaRPr lang="en-US" altLang="zh-CN" sz="1200" b="1" kern="1200" dirty="0">
                        <a:solidFill>
                          <a:schemeClr val="accent3"/>
                        </a:solidFill>
                        <a:latin typeface="Roboto" charset="0"/>
                        <a:ea typeface="Roboto" charset="0"/>
                        <a:cs typeface="+mn-cs"/>
                      </a:endParaRPr>
                    </a:p>
                    <a:p>
                      <a:pPr marL="0" algn="ctr" defTabSz="914400" rtl="0" eaLnBrk="1" latinLnBrk="0" hangingPunct="1">
                        <a:lnSpc>
                          <a:spcPct val="100000"/>
                        </a:lnSpc>
                        <a:spcBef>
                          <a:spcPts val="0"/>
                        </a:spcBef>
                        <a:spcAft>
                          <a:spcPts val="0"/>
                        </a:spcAft>
                        <a:buNone/>
                      </a:pPr>
                      <a:r>
                        <a:rPr lang="en-US" altLang="zh-CN" sz="1200" b="1" kern="1200" dirty="0">
                          <a:solidFill>
                            <a:schemeClr val="accent3"/>
                          </a:solidFill>
                          <a:latin typeface="Roboto" charset="0"/>
                          <a:ea typeface="Roboto" charset="0"/>
                          <a:cs typeface="+mn-cs"/>
                        </a:rPr>
                        <a:t>(Daisy chain)</a:t>
                      </a:r>
                      <a:endParaRPr lang="en-US" altLang="zh-CN" sz="1200" b="1" kern="1200" dirty="0">
                        <a:solidFill>
                          <a:schemeClr val="accent3"/>
                        </a:solidFill>
                        <a:latin typeface="Roboto" charset="0"/>
                        <a:ea typeface="Roboto" charset="0"/>
                        <a:cs typeface="+mn-cs"/>
                      </a:endParaRPr>
                    </a:p>
                  </a:txBody>
                  <a:tcPr anchor="ctr"/>
                </a:tc>
                <a:tc>
                  <a:txBody>
                    <a:bodyPr/>
                    <a:lstStyle/>
                    <a:p>
                      <a:pPr algn="ctr">
                        <a:buNone/>
                      </a:pPr>
                      <a:r>
                        <a:rPr lang="en-US" altLang="zh-CN" sz="1200" kern="1200" dirty="0">
                          <a:solidFill>
                            <a:schemeClr val="dk1"/>
                          </a:solidFill>
                          <a:latin typeface="Roboto" charset="0"/>
                          <a:ea typeface="Roboto" charset="0"/>
                          <a:cs typeface="+mn-cs"/>
                        </a:rPr>
                        <a:t>Peak at 10W</a:t>
                      </a:r>
                      <a:endParaRPr lang="en-US" altLang="zh-CN" sz="1200" kern="1200" dirty="0">
                        <a:solidFill>
                          <a:schemeClr val="dk1"/>
                        </a:solidFill>
                        <a:latin typeface="Roboto" charset="0"/>
                        <a:ea typeface="Roboto" charset="0"/>
                        <a:cs typeface="+mn-cs"/>
                      </a:endParaRPr>
                    </a:p>
                  </a:txBody>
                  <a:tcPr anchor="ctr"/>
                </a:tc>
                <a:tc>
                  <a:txBody>
                    <a:bodyPr/>
                    <a:lstStyle/>
                    <a:p>
                      <a:pPr marL="0" marR="0" lvl="0" indent="0" algn="ctr" defTabSz="914400" rtl="0" eaLnBrk="1" fontAlgn="auto" latinLnBrk="0" hangingPunct="1">
                        <a:lnSpc>
                          <a:spcPts val="1875"/>
                        </a:lnSpc>
                        <a:spcBef>
                          <a:spcPts val="0"/>
                        </a:spcBef>
                        <a:spcAft>
                          <a:spcPts val="0"/>
                        </a:spcAft>
                        <a:buClrTx/>
                        <a:buSzTx/>
                        <a:buFontTx/>
                        <a:buNone/>
                        <a:defRPr/>
                      </a:pPr>
                      <a:r>
                        <a:rPr lang="en-US" altLang="zh-CN" sz="1200" kern="1200" dirty="0">
                          <a:solidFill>
                            <a:schemeClr val="dk1"/>
                          </a:solidFill>
                          <a:latin typeface="Roboto" charset="0"/>
                          <a:ea typeface="Roboto" charset="0"/>
                          <a:cs typeface="+mn-cs"/>
                        </a:rPr>
                        <a:t>NA</a:t>
                      </a:r>
                      <a:endParaRPr lang="en-US" altLang="zh-CN" sz="1200" kern="1200" dirty="0">
                        <a:solidFill>
                          <a:schemeClr val="dk1"/>
                        </a:solidFill>
                        <a:latin typeface="Roboto" charset="0"/>
                        <a:ea typeface="Roboto" charset="0"/>
                        <a:cs typeface="+mn-cs"/>
                      </a:endParaRPr>
                    </a:p>
                  </a:txBody>
                  <a:tcPr marL="0" marR="0" marT="0" marB="0" anchor="ctr"/>
                </a:tc>
                <a:tc>
                  <a:txBody>
                    <a:bodyPr/>
                    <a:lstStyle/>
                    <a:p>
                      <a:pPr algn="ctr">
                        <a:buNone/>
                      </a:pPr>
                      <a:r>
                        <a:rPr lang="en-US" altLang="zh-CN" sz="1200" kern="1200" dirty="0">
                          <a:solidFill>
                            <a:schemeClr val="dk1"/>
                          </a:solidFill>
                          <a:latin typeface="Roboto" charset="0"/>
                          <a:ea typeface="Roboto" charset="0"/>
                          <a:cs typeface="+mn-cs"/>
                        </a:rPr>
                        <a:t>5W</a:t>
                      </a:r>
                      <a:endParaRPr lang="en-US" altLang="zh-CN" sz="1200" kern="1200" dirty="0">
                        <a:solidFill>
                          <a:schemeClr val="dk1"/>
                        </a:solidFill>
                        <a:latin typeface="Roboto" charset="0"/>
                        <a:ea typeface="Roboto" charset="0"/>
                        <a:cs typeface="+mn-cs"/>
                      </a:endParaRPr>
                    </a:p>
                  </a:txBody>
                  <a:tcPr anchor="ctr"/>
                </a:tc>
                <a:tc>
                  <a:txBody>
                    <a:bodyPr/>
                    <a:lstStyle/>
                    <a:p>
                      <a:pPr algn="ctr">
                        <a:buNone/>
                      </a:pPr>
                      <a:r>
                        <a:rPr lang="en-US" altLang="zh-CN" sz="1200" kern="1200" dirty="0">
                          <a:solidFill>
                            <a:schemeClr val="dk1"/>
                          </a:solidFill>
                          <a:latin typeface="Roboto" charset="0"/>
                          <a:ea typeface="Roboto" charset="0"/>
                          <a:cs typeface="+mn-cs"/>
                        </a:rPr>
                        <a:t>5W</a:t>
                      </a:r>
                      <a:endParaRPr lang="en-US" altLang="zh-CN" sz="1200" kern="1200" dirty="0">
                        <a:solidFill>
                          <a:schemeClr val="dk1"/>
                        </a:solidFill>
                        <a:latin typeface="Roboto" charset="0"/>
                        <a:ea typeface="Roboto" charset="0"/>
                        <a:cs typeface="+mn-cs"/>
                      </a:endParaRPr>
                    </a:p>
                  </a:txBody>
                  <a:tcPr anchor="ctr"/>
                </a:tc>
              </a:tr>
              <a:tr h="388785">
                <a:tc vMerge="1">
                  <a:tcPr anchor="ctr">
                    <a:solidFill>
                      <a:srgbClr val="D6E5D5"/>
                    </a:solidFill>
                  </a:tcPr>
                </a:tc>
                <a:tc>
                  <a:txBody>
                    <a:bodyPr/>
                    <a:lstStyle/>
                    <a:p>
                      <a:pPr algn="ctr">
                        <a:buNone/>
                      </a:pPr>
                      <a:r>
                        <a:rPr lang="en-US" altLang="zh-CN" sz="1200" b="0" kern="1200" dirty="0">
                          <a:solidFill>
                            <a:schemeClr val="dk1"/>
                          </a:solidFill>
                          <a:latin typeface="Roboto" charset="0"/>
                          <a:ea typeface="Roboto" charset="0"/>
                          <a:cs typeface="+mn-cs"/>
                        </a:rPr>
                        <a:t>Ideal for room sizes</a:t>
                      </a:r>
                      <a:endParaRPr lang="en-US" altLang="zh-CN" sz="1200" b="0" kern="1200" dirty="0">
                        <a:solidFill>
                          <a:schemeClr val="dk1"/>
                        </a:solidFill>
                        <a:latin typeface="Roboto" charset="0"/>
                        <a:ea typeface="Roboto" charset="0"/>
                        <a:cs typeface="+mn-cs"/>
                      </a:endParaRPr>
                    </a:p>
                  </a:txBody>
                  <a:tcPr anchor="ctr"/>
                </a:tc>
                <a:tc>
                  <a:txBody>
                    <a:bodyPr/>
                    <a:lstStyle/>
                    <a:p>
                      <a:pPr marL="0" algn="ctr" defTabSz="914400" rtl="0" eaLnBrk="1" latinLnBrk="0" hangingPunct="1">
                        <a:buNone/>
                      </a:pPr>
                      <a:r>
                        <a:rPr lang="en-US" altLang="zh-CN" sz="1200" b="1" kern="1200" dirty="0">
                          <a:solidFill>
                            <a:schemeClr val="accent3"/>
                          </a:solidFill>
                          <a:latin typeface="Roboto" charset="0"/>
                          <a:ea typeface="Roboto" charset="0"/>
                          <a:cs typeface="+mn-cs"/>
                        </a:rPr>
                        <a:t>Huddle to large room</a:t>
                      </a:r>
                      <a:endParaRPr lang="en-US" altLang="zh-CN" sz="1200" b="1" kern="1200" dirty="0">
                        <a:solidFill>
                          <a:schemeClr val="accent3"/>
                        </a:solidFill>
                        <a:latin typeface="Roboto" charset="0"/>
                        <a:ea typeface="Roboto" charset="0"/>
                        <a:cs typeface="+mn-cs"/>
                      </a:endParaRPr>
                    </a:p>
                  </a:txBody>
                  <a:tcPr anchor="ctr"/>
                </a:tc>
                <a:tc>
                  <a:txBody>
                    <a:bodyPr/>
                    <a:lstStyle/>
                    <a:p>
                      <a:pPr algn="ctr">
                        <a:buNone/>
                      </a:pPr>
                      <a:r>
                        <a:rPr lang="en-US" altLang="zh-CN" sz="1200" kern="1200" dirty="0">
                          <a:solidFill>
                            <a:schemeClr val="dk1"/>
                          </a:solidFill>
                          <a:latin typeface="Roboto" charset="0"/>
                          <a:ea typeface="Roboto" charset="0"/>
                          <a:cs typeface="+mn-cs"/>
                        </a:rPr>
                        <a:t>Huddle room</a:t>
                      </a:r>
                      <a:endParaRPr lang="en-US" altLang="zh-CN" sz="1200" kern="1200" dirty="0">
                        <a:solidFill>
                          <a:schemeClr val="dk1"/>
                        </a:solidFill>
                        <a:latin typeface="Roboto" charset="0"/>
                        <a:ea typeface="Roboto" charset="0"/>
                        <a:cs typeface="+mn-cs"/>
                      </a:endParaRPr>
                    </a:p>
                  </a:txBody>
                  <a:tcPr anchor="ctr"/>
                </a:tc>
                <a:tc>
                  <a:txBody>
                    <a:bodyPr/>
                    <a:lstStyle/>
                    <a:p>
                      <a:pPr marL="0" marR="0" lvl="0" indent="0" algn="ctr" defTabSz="914400" rtl="0" eaLnBrk="1" fontAlgn="auto" latinLnBrk="0" hangingPunct="1">
                        <a:lnSpc>
                          <a:spcPts val="1875"/>
                        </a:lnSpc>
                        <a:spcBef>
                          <a:spcPts val="0"/>
                        </a:spcBef>
                        <a:spcAft>
                          <a:spcPts val="0"/>
                        </a:spcAft>
                        <a:buClrTx/>
                        <a:buSzTx/>
                        <a:buFontTx/>
                        <a:buNone/>
                        <a:defRPr/>
                      </a:pPr>
                      <a:r>
                        <a:rPr lang="en-US" altLang="zh-CN" sz="1200" kern="1200" dirty="0">
                          <a:solidFill>
                            <a:schemeClr val="dk1"/>
                          </a:solidFill>
                          <a:latin typeface="Roboto" charset="0"/>
                          <a:ea typeface="Roboto" charset="0"/>
                          <a:cs typeface="+mn-cs"/>
                        </a:rPr>
                        <a:t>Small room</a:t>
                      </a:r>
                      <a:endParaRPr lang="en-US" altLang="zh-CN" sz="1200" kern="1200" dirty="0">
                        <a:solidFill>
                          <a:schemeClr val="dk1"/>
                        </a:solidFill>
                        <a:latin typeface="Roboto" charset="0"/>
                        <a:ea typeface="Roboto" charset="0"/>
                        <a:cs typeface="+mn-cs"/>
                      </a:endParaRPr>
                    </a:p>
                  </a:txBody>
                  <a:tcPr marL="0" marR="0" marT="0" marB="0" anchor="ctr"/>
                </a:tc>
                <a:tc>
                  <a:txBody>
                    <a:bodyPr/>
                    <a:lstStyle/>
                    <a:p>
                      <a:pPr algn="ctr">
                        <a:buNone/>
                      </a:pPr>
                      <a:r>
                        <a:rPr lang="en-US" altLang="zh-CN" sz="1200" kern="1200" dirty="0">
                          <a:solidFill>
                            <a:schemeClr val="dk1"/>
                          </a:solidFill>
                          <a:latin typeface="Roboto" charset="0"/>
                          <a:ea typeface="Roboto" charset="0"/>
                          <a:cs typeface="+mn-cs"/>
                        </a:rPr>
                        <a:t>Small to medium room</a:t>
                      </a:r>
                      <a:endParaRPr lang="en-US" altLang="zh-CN" sz="1200" kern="1200" dirty="0">
                        <a:solidFill>
                          <a:schemeClr val="dk1"/>
                        </a:solidFill>
                        <a:latin typeface="Roboto" charset="0"/>
                        <a:ea typeface="Roboto" charset="0"/>
                        <a:cs typeface="+mn-cs"/>
                      </a:endParaRPr>
                    </a:p>
                  </a:txBody>
                  <a:tcPr anchor="ctr"/>
                </a:tc>
                <a:tc>
                  <a:txBody>
                    <a:bodyPr/>
                    <a:lstStyle/>
                    <a:p>
                      <a:pPr algn="ctr">
                        <a:buNone/>
                      </a:pPr>
                      <a:r>
                        <a:rPr lang="en-US" altLang="zh-CN" sz="1200" kern="1200" dirty="0">
                          <a:solidFill>
                            <a:schemeClr val="dk1"/>
                          </a:solidFill>
                          <a:latin typeface="Roboto" charset="0"/>
                          <a:ea typeface="Roboto" charset="0"/>
                          <a:cs typeface="+mn-cs"/>
                        </a:rPr>
                        <a:t>Huddle to large room</a:t>
                      </a:r>
                      <a:endParaRPr lang="en-US" altLang="zh-CN" sz="1200" kern="1200" dirty="0">
                        <a:solidFill>
                          <a:schemeClr val="dk1"/>
                        </a:solidFill>
                        <a:latin typeface="Roboto" charset="0"/>
                        <a:ea typeface="Roboto" charset="0"/>
                        <a:cs typeface="+mn-cs"/>
                      </a:endParaRPr>
                    </a:p>
                  </a:txBody>
                  <a:tcPr anchor="ctr"/>
                </a:tc>
              </a:tr>
              <a:tr h="388785">
                <a:tc vMerge="1">
                  <a:tcPr anchor="ctr">
                    <a:solidFill>
                      <a:srgbClr val="D6E5D5"/>
                    </a:solidFill>
                  </a:tcPr>
                </a:tc>
                <a:tc>
                  <a:txBody>
                    <a:bodyPr/>
                    <a:lstStyle/>
                    <a:p>
                      <a:pPr algn="ctr">
                        <a:buNone/>
                      </a:pPr>
                      <a:r>
                        <a:rPr lang="en-US" altLang="zh-CN" sz="1200" b="0" kern="1200" dirty="0">
                          <a:solidFill>
                            <a:schemeClr val="dk1"/>
                          </a:solidFill>
                          <a:latin typeface="Roboto" charset="0"/>
                          <a:ea typeface="Roboto" charset="0"/>
                          <a:cs typeface="+mn-cs"/>
                        </a:rPr>
                        <a:t>Number of microphones</a:t>
                      </a:r>
                      <a:endParaRPr lang="en-US" altLang="zh-CN" sz="1200" b="0" kern="1200" dirty="0">
                        <a:solidFill>
                          <a:schemeClr val="dk1"/>
                        </a:solidFill>
                        <a:latin typeface="Roboto" charset="0"/>
                        <a:ea typeface="Roboto" charset="0"/>
                        <a:cs typeface="+mn-cs"/>
                      </a:endParaRPr>
                    </a:p>
                  </a:txBody>
                  <a:tcPr anchor="ctr"/>
                </a:tc>
                <a:tc>
                  <a:txBody>
                    <a:bodyPr/>
                    <a:lstStyle/>
                    <a:p>
                      <a:pPr marL="0" algn="ctr" defTabSz="914400" rtl="0" eaLnBrk="1" latinLnBrk="0" hangingPunct="1">
                        <a:buNone/>
                      </a:pPr>
                      <a:r>
                        <a:rPr lang="en-US" altLang="zh-CN" sz="1200" kern="1200" dirty="0">
                          <a:solidFill>
                            <a:schemeClr val="dk1"/>
                          </a:solidFill>
                          <a:latin typeface="Roboto" charset="0"/>
                          <a:ea typeface="Roboto" charset="0"/>
                          <a:cs typeface="+mn-cs"/>
                        </a:rPr>
                        <a:t>4</a:t>
                      </a:r>
                      <a:endParaRPr lang="en-US" altLang="zh-CN" sz="1200" kern="1200" dirty="0">
                        <a:solidFill>
                          <a:schemeClr val="dk1"/>
                        </a:solidFill>
                        <a:latin typeface="Roboto" charset="0"/>
                        <a:ea typeface="Roboto" charset="0"/>
                        <a:cs typeface="+mn-cs"/>
                      </a:endParaRPr>
                    </a:p>
                  </a:txBody>
                  <a:tcPr anchor="ctr"/>
                </a:tc>
                <a:tc>
                  <a:txBody>
                    <a:bodyPr/>
                    <a:lstStyle/>
                    <a:p>
                      <a:pPr algn="ctr">
                        <a:buNone/>
                      </a:pPr>
                      <a:r>
                        <a:rPr lang="en-US" altLang="zh-CN" sz="1200" kern="1200" dirty="0">
                          <a:solidFill>
                            <a:schemeClr val="dk1"/>
                          </a:solidFill>
                          <a:latin typeface="Roboto" charset="0"/>
                          <a:ea typeface="Roboto" charset="0"/>
                          <a:cs typeface="+mn-cs"/>
                        </a:rPr>
                        <a:t>1</a:t>
                      </a:r>
                      <a:endParaRPr lang="en-US" altLang="zh-CN" sz="1200" kern="1200" dirty="0">
                        <a:solidFill>
                          <a:schemeClr val="dk1"/>
                        </a:solidFill>
                        <a:latin typeface="Roboto" charset="0"/>
                        <a:ea typeface="Roboto" charset="0"/>
                        <a:cs typeface="+mn-cs"/>
                      </a:endParaRPr>
                    </a:p>
                  </a:txBody>
                  <a:tcPr anchor="ctr"/>
                </a:tc>
                <a:tc>
                  <a:txBody>
                    <a:bodyPr/>
                    <a:lstStyle/>
                    <a:p>
                      <a:pPr marL="0" marR="0" lvl="0" indent="0" algn="ctr" defTabSz="914400" rtl="0" eaLnBrk="1" fontAlgn="auto" latinLnBrk="0" hangingPunct="1">
                        <a:lnSpc>
                          <a:spcPts val="1875"/>
                        </a:lnSpc>
                        <a:spcBef>
                          <a:spcPts val="0"/>
                        </a:spcBef>
                        <a:spcAft>
                          <a:spcPts val="0"/>
                        </a:spcAft>
                        <a:buClrTx/>
                        <a:buSzTx/>
                        <a:buFontTx/>
                        <a:buNone/>
                        <a:defRPr/>
                      </a:pPr>
                      <a:r>
                        <a:rPr lang="en-US" altLang="zh-CN" sz="1200" kern="1200" dirty="0">
                          <a:solidFill>
                            <a:schemeClr val="dk1"/>
                          </a:solidFill>
                          <a:latin typeface="Roboto" charset="0"/>
                          <a:ea typeface="Roboto" charset="0"/>
                          <a:cs typeface="+mn-cs"/>
                        </a:rPr>
                        <a:t>4</a:t>
                      </a:r>
                      <a:endParaRPr lang="en-US" altLang="zh-CN" sz="1200" kern="1200" dirty="0">
                        <a:solidFill>
                          <a:schemeClr val="dk1"/>
                        </a:solidFill>
                        <a:latin typeface="Roboto" charset="0"/>
                        <a:ea typeface="Roboto" charset="0"/>
                        <a:cs typeface="+mn-cs"/>
                      </a:endParaRPr>
                    </a:p>
                  </a:txBody>
                  <a:tcPr marL="0" marR="0" marT="0" marB="0" anchor="ctr"/>
                </a:tc>
                <a:tc>
                  <a:txBody>
                    <a:bodyPr/>
                    <a:lstStyle/>
                    <a:p>
                      <a:pPr algn="ctr">
                        <a:buNone/>
                      </a:pPr>
                      <a:r>
                        <a:rPr lang="en-US" altLang="zh-CN" sz="1200" kern="1200" dirty="0">
                          <a:solidFill>
                            <a:schemeClr val="dk1"/>
                          </a:solidFill>
                          <a:latin typeface="Roboto" charset="0"/>
                          <a:ea typeface="Roboto" charset="0"/>
                          <a:cs typeface="+mn-cs"/>
                        </a:rPr>
                        <a:t>4</a:t>
                      </a:r>
                      <a:endParaRPr lang="en-US" altLang="zh-CN" sz="1200" kern="1200" dirty="0">
                        <a:solidFill>
                          <a:schemeClr val="dk1"/>
                        </a:solidFill>
                        <a:latin typeface="Roboto" charset="0"/>
                        <a:ea typeface="Roboto" charset="0"/>
                        <a:cs typeface="+mn-cs"/>
                      </a:endParaRPr>
                    </a:p>
                  </a:txBody>
                  <a:tcPr anchor="ctr"/>
                </a:tc>
                <a:tc>
                  <a:txBody>
                    <a:bodyPr/>
                    <a:lstStyle/>
                    <a:p>
                      <a:pPr algn="ctr">
                        <a:buNone/>
                      </a:pPr>
                      <a:r>
                        <a:rPr lang="en-US" altLang="zh-CN" sz="1200" kern="1200" dirty="0">
                          <a:solidFill>
                            <a:schemeClr val="dk1"/>
                          </a:solidFill>
                          <a:latin typeface="Roboto" charset="0"/>
                          <a:ea typeface="Roboto" charset="0"/>
                          <a:cs typeface="+mn-cs"/>
                        </a:rPr>
                        <a:t>8</a:t>
                      </a:r>
                      <a:endParaRPr lang="en-US" altLang="zh-CN" sz="1200" kern="1200" dirty="0">
                        <a:solidFill>
                          <a:schemeClr val="dk1"/>
                        </a:solidFill>
                        <a:latin typeface="Roboto" charset="0"/>
                        <a:ea typeface="Roboto" charset="0"/>
                        <a:cs typeface="+mn-cs"/>
                      </a:endParaRPr>
                    </a:p>
                  </a:txBody>
                  <a:tcPr anchor="ctr"/>
                </a:tc>
              </a:tr>
              <a:tr h="240545">
                <a:tc vMerge="1">
                  <a:tcPr anchor="ctr">
                    <a:solidFill>
                      <a:srgbClr val="E3F2E2"/>
                    </a:solidFill>
                  </a:tcPr>
                </a:tc>
                <a:tc>
                  <a:txBody>
                    <a:bodyPr/>
                    <a:lstStyle/>
                    <a:p>
                      <a:pPr algn="ctr">
                        <a:buNone/>
                      </a:pPr>
                      <a:r>
                        <a:rPr lang="en-US" altLang="zh-CN" sz="1200" b="0" kern="1200" dirty="0">
                          <a:solidFill>
                            <a:schemeClr val="dk1"/>
                          </a:solidFill>
                          <a:latin typeface="Roboto" charset="0"/>
                          <a:ea typeface="Roboto" charset="0"/>
                          <a:cs typeface="+mn-cs"/>
                        </a:rPr>
                        <a:t>Microphone pick up range</a:t>
                      </a:r>
                      <a:endParaRPr lang="en-US" altLang="zh-CN" sz="1200" b="0" kern="1200" dirty="0">
                        <a:solidFill>
                          <a:schemeClr val="dk1"/>
                        </a:solidFill>
                        <a:latin typeface="Roboto" charset="0"/>
                        <a:ea typeface="Roboto" charset="0"/>
                        <a:cs typeface="+mn-cs"/>
                      </a:endParaRPr>
                    </a:p>
                  </a:txBody>
                  <a:tcPr anchor="ctr"/>
                </a:tc>
                <a:tc>
                  <a:txBody>
                    <a:bodyPr/>
                    <a:lstStyle/>
                    <a:p>
                      <a:pPr marL="0" algn="ctr" defTabSz="914400" rtl="0" eaLnBrk="1" latinLnBrk="0" hangingPunct="1">
                        <a:lnSpc>
                          <a:spcPct val="100000"/>
                        </a:lnSpc>
                        <a:spcBef>
                          <a:spcPts val="300"/>
                        </a:spcBef>
                        <a:spcAft>
                          <a:spcPts val="300"/>
                        </a:spcAft>
                        <a:buNone/>
                      </a:pPr>
                      <a:r>
                        <a:rPr lang="en-US" sz="1200" b="1" kern="1200" dirty="0">
                          <a:solidFill>
                            <a:schemeClr val="accent3"/>
                          </a:solidFill>
                          <a:latin typeface="Roboto" charset="0"/>
                          <a:ea typeface="Roboto" charset="0"/>
                          <a:cs typeface="+mn-cs"/>
                        </a:rPr>
                        <a:t>5m per unit, scalable via cascading</a:t>
                      </a:r>
                      <a:endParaRPr lang="en-US" sz="1200" b="1" kern="1200" dirty="0">
                        <a:solidFill>
                          <a:schemeClr val="accent3"/>
                        </a:solidFill>
                        <a:latin typeface="Roboto" charset="0"/>
                        <a:ea typeface="Roboto" charset="0"/>
                        <a:cs typeface="+mn-cs"/>
                      </a:endParaRPr>
                    </a:p>
                  </a:txBody>
                  <a:tcPr anchor="ctr"/>
                </a:tc>
                <a:tc>
                  <a:txBody>
                    <a:bodyPr/>
                    <a:lstStyle/>
                    <a:p>
                      <a:pPr algn="ctr">
                        <a:buNone/>
                      </a:pPr>
                      <a:r>
                        <a:rPr lang="en-US" altLang="zh-CN" sz="1200" kern="1200" dirty="0">
                          <a:solidFill>
                            <a:schemeClr val="dk1"/>
                          </a:solidFill>
                          <a:latin typeface="Roboto" charset="0"/>
                          <a:ea typeface="Roboto" charset="0"/>
                          <a:cs typeface="+mn-cs"/>
                        </a:rPr>
                        <a:t>Up to 1.5m</a:t>
                      </a:r>
                      <a:endParaRPr lang="en-US" altLang="zh-CN" sz="1200" kern="1200" dirty="0">
                        <a:solidFill>
                          <a:schemeClr val="dk1"/>
                        </a:solidFill>
                        <a:latin typeface="Roboto" charset="0"/>
                        <a:ea typeface="Roboto" charset="0"/>
                        <a:cs typeface="+mn-cs"/>
                      </a:endParaRPr>
                    </a:p>
                  </a:txBody>
                  <a:tcPr anchor="ctr"/>
                </a:tc>
                <a:tc>
                  <a:txBody>
                    <a:bodyPr/>
                    <a:lstStyle/>
                    <a:p>
                      <a:pPr algn="ctr">
                        <a:buNone/>
                      </a:pPr>
                      <a:r>
                        <a:rPr lang="en-US" altLang="zh-CN" sz="1200" kern="1200" dirty="0">
                          <a:solidFill>
                            <a:schemeClr val="dk1"/>
                          </a:solidFill>
                          <a:latin typeface="Roboto" charset="0"/>
                          <a:ea typeface="Roboto" charset="0"/>
                          <a:cs typeface="+mn-cs"/>
                        </a:rPr>
                        <a:t>Up to 2.3m</a:t>
                      </a:r>
                      <a:endParaRPr lang="en-US" altLang="zh-CN" sz="1200" kern="1200" dirty="0">
                        <a:solidFill>
                          <a:schemeClr val="dk1"/>
                        </a:solidFill>
                        <a:latin typeface="Roboto" charset="0"/>
                        <a:ea typeface="Roboto" charset="0"/>
                        <a:cs typeface="+mn-cs"/>
                      </a:endParaRPr>
                    </a:p>
                  </a:txBody>
                  <a:tcPr anchor="ctr"/>
                </a:tc>
                <a:tc>
                  <a:txBody>
                    <a:bodyPr/>
                    <a:lstStyle/>
                    <a:p>
                      <a:pPr algn="ctr">
                        <a:buNone/>
                      </a:pPr>
                      <a:r>
                        <a:rPr lang="en-US" altLang="zh-CN" sz="1200" kern="1200" dirty="0">
                          <a:solidFill>
                            <a:schemeClr val="dk1"/>
                          </a:solidFill>
                          <a:latin typeface="Roboto" charset="0"/>
                          <a:ea typeface="Roboto" charset="0"/>
                          <a:cs typeface="+mn-cs"/>
                        </a:rPr>
                        <a:t>Up to 5m</a:t>
                      </a:r>
                      <a:endParaRPr lang="en-US" altLang="zh-CN" sz="1200" kern="1200" dirty="0">
                        <a:solidFill>
                          <a:schemeClr val="dk1"/>
                        </a:solidFill>
                        <a:latin typeface="Roboto" charset="0"/>
                        <a:ea typeface="Roboto" charset="0"/>
                        <a:cs typeface="+mn-cs"/>
                      </a:endParaRPr>
                    </a:p>
                  </a:txBody>
                  <a:tcPr anchor="ctr"/>
                </a:tc>
                <a:tc>
                  <a:txBody>
                    <a:bodyPr/>
                    <a:lstStyle/>
                    <a:p>
                      <a:pPr algn="ctr">
                        <a:buNone/>
                      </a:pPr>
                      <a:r>
                        <a:rPr lang="en-US" altLang="zh-CN" sz="1200" kern="1200" dirty="0">
                          <a:solidFill>
                            <a:schemeClr val="dk1"/>
                          </a:solidFill>
                          <a:latin typeface="Roboto" charset="0"/>
                          <a:ea typeface="Roboto" charset="0"/>
                          <a:cs typeface="+mn-cs"/>
                        </a:rPr>
                        <a:t>Up to 5m</a:t>
                      </a:r>
                      <a:endParaRPr lang="en-US" altLang="zh-CN" sz="1200" kern="1200" dirty="0">
                        <a:solidFill>
                          <a:schemeClr val="dk1"/>
                        </a:solidFill>
                        <a:latin typeface="Roboto" charset="0"/>
                        <a:ea typeface="Roboto" charset="0"/>
                        <a:cs typeface="+mn-cs"/>
                      </a:endParaRPr>
                    </a:p>
                  </a:txBody>
                  <a:tcPr anchor="ctr"/>
                </a:tc>
              </a:tr>
              <a:tr h="265276">
                <a:tc vMerge="1">
                  <a:tcPr anchor="ctr">
                    <a:solidFill>
                      <a:srgbClr val="D6E5D5"/>
                    </a:solidFill>
                  </a:tcPr>
                </a:tc>
                <a:tc>
                  <a:txBody>
                    <a:bodyPr/>
                    <a:lstStyle/>
                    <a:p>
                      <a:pPr algn="ctr">
                        <a:buNone/>
                      </a:pPr>
                      <a:r>
                        <a:rPr lang="en-US" altLang="zh-CN" sz="1200" b="0" kern="1200" dirty="0">
                          <a:solidFill>
                            <a:schemeClr val="dk1"/>
                          </a:solidFill>
                          <a:latin typeface="Roboto" charset="0"/>
                          <a:ea typeface="Roboto" charset="0"/>
                          <a:cs typeface="+mn-cs"/>
                        </a:rPr>
                        <a:t>AEC (</a:t>
                      </a:r>
                      <a:r>
                        <a:rPr lang="en-US" sz="1200" b="0" kern="1200" dirty="0">
                          <a:solidFill>
                            <a:schemeClr val="dk1"/>
                          </a:solidFill>
                          <a:latin typeface="Roboto" charset="0"/>
                          <a:ea typeface="Roboto" charset="0"/>
                          <a:cs typeface="+mn-cs"/>
                        </a:rPr>
                        <a:t>Acoustic Echo Cancellation</a:t>
                      </a:r>
                      <a:r>
                        <a:rPr lang="en-US" altLang="zh-CN" sz="1200" b="0" kern="1200" dirty="0">
                          <a:solidFill>
                            <a:schemeClr val="dk1"/>
                          </a:solidFill>
                          <a:latin typeface="Roboto" charset="0"/>
                          <a:ea typeface="Roboto" charset="0"/>
                          <a:cs typeface="+mn-cs"/>
                        </a:rPr>
                        <a:t>)</a:t>
                      </a:r>
                      <a:endParaRPr lang="en-US" altLang="zh-CN" sz="1200" b="0" kern="1200" dirty="0">
                        <a:solidFill>
                          <a:schemeClr val="dk1"/>
                        </a:solidFill>
                        <a:latin typeface="Roboto" charset="0"/>
                        <a:ea typeface="Roboto" charset="0"/>
                        <a:cs typeface="+mn-cs"/>
                      </a:endParaRPr>
                    </a:p>
                  </a:txBody>
                  <a:tcPr anchor="ctr"/>
                </a:tc>
                <a:tc>
                  <a:txBody>
                    <a:bodyPr/>
                    <a:lstStyle/>
                    <a:p>
                      <a:pPr marL="0" algn="ctr" defTabSz="914400" rtl="0" eaLnBrk="1" latinLnBrk="0" hangingPunct="1">
                        <a:buNone/>
                      </a:pPr>
                      <a:r>
                        <a:rPr lang="en-US" altLang="zh-CN" sz="1200" kern="1200" dirty="0">
                          <a:solidFill>
                            <a:schemeClr val="dk1"/>
                          </a:solidFill>
                          <a:latin typeface="Roboto" charset="0"/>
                          <a:ea typeface="Roboto" charset="0"/>
                          <a:cs typeface="+mn-cs"/>
                        </a:rPr>
                        <a:t>Yes</a:t>
                      </a:r>
                      <a:endParaRPr lang="en-US" altLang="zh-CN" sz="1200" kern="1200" dirty="0">
                        <a:solidFill>
                          <a:schemeClr val="dk1"/>
                        </a:solidFill>
                        <a:latin typeface="Roboto" charset="0"/>
                        <a:ea typeface="Roboto" charset="0"/>
                        <a:cs typeface="+mn-cs"/>
                      </a:endParaRPr>
                    </a:p>
                  </a:txBody>
                  <a:tcPr anchor="ctr"/>
                </a:tc>
                <a:tc>
                  <a:txBody>
                    <a:bodyPr/>
                    <a:lstStyle/>
                    <a:p>
                      <a:pPr algn="ctr">
                        <a:buNone/>
                      </a:pPr>
                      <a:r>
                        <a:rPr lang="en-US" altLang="zh-CN" sz="1200" kern="1200" dirty="0">
                          <a:solidFill>
                            <a:schemeClr val="dk1"/>
                          </a:solidFill>
                          <a:latin typeface="Roboto" charset="0"/>
                          <a:ea typeface="Roboto" charset="0"/>
                          <a:cs typeface="+mn-cs"/>
                        </a:rPr>
                        <a:t>Yes</a:t>
                      </a:r>
                      <a:endParaRPr lang="en-US" altLang="zh-CN" sz="1200" kern="1200" dirty="0">
                        <a:solidFill>
                          <a:schemeClr val="dk1"/>
                        </a:solidFill>
                        <a:latin typeface="Roboto" charset="0"/>
                        <a:ea typeface="Roboto" charset="0"/>
                        <a:cs typeface="+mn-cs"/>
                      </a:endParaRPr>
                    </a:p>
                  </a:txBody>
                  <a:tcPr anchor="ctr"/>
                </a:tc>
                <a:tc>
                  <a:txBody>
                    <a:bodyPr/>
                    <a:lstStyle/>
                    <a:p>
                      <a:pPr algn="ctr">
                        <a:buNone/>
                      </a:pPr>
                      <a:r>
                        <a:rPr lang="en-US" altLang="zh-CN" sz="1200" kern="1200" dirty="0">
                          <a:solidFill>
                            <a:schemeClr val="dk1"/>
                          </a:solidFill>
                          <a:latin typeface="Roboto" charset="0"/>
                          <a:ea typeface="Roboto" charset="0"/>
                          <a:cs typeface="+mn-cs"/>
                        </a:rPr>
                        <a:t>Yes</a:t>
                      </a:r>
                      <a:endParaRPr lang="en-US" altLang="zh-CN" sz="1200" kern="1200" dirty="0">
                        <a:solidFill>
                          <a:schemeClr val="dk1"/>
                        </a:solidFill>
                        <a:latin typeface="Roboto" charset="0"/>
                        <a:ea typeface="Roboto" charset="0"/>
                        <a:cs typeface="+mn-cs"/>
                      </a:endParaRPr>
                    </a:p>
                  </a:txBody>
                  <a:tcPr anchor="ctr"/>
                </a:tc>
                <a:tc>
                  <a:txBody>
                    <a:bodyPr/>
                    <a:lstStyle/>
                    <a:p>
                      <a:pPr algn="ctr">
                        <a:buNone/>
                      </a:pPr>
                      <a:r>
                        <a:rPr lang="en-US" altLang="zh-CN" sz="1200" kern="1200" dirty="0">
                          <a:solidFill>
                            <a:schemeClr val="dk1"/>
                          </a:solidFill>
                          <a:latin typeface="Roboto" charset="0"/>
                          <a:ea typeface="Roboto" charset="0"/>
                          <a:cs typeface="+mn-cs"/>
                        </a:rPr>
                        <a:t>NA</a:t>
                      </a:r>
                      <a:endParaRPr lang="en-US" altLang="zh-CN" sz="1200" kern="1200" dirty="0">
                        <a:solidFill>
                          <a:schemeClr val="dk1"/>
                        </a:solidFill>
                        <a:latin typeface="Roboto" charset="0"/>
                        <a:ea typeface="Roboto" charset="0"/>
                        <a:cs typeface="+mn-cs"/>
                      </a:endParaRPr>
                    </a:p>
                  </a:txBody>
                  <a:tcPr anchor="ctr"/>
                </a:tc>
                <a:tc>
                  <a:txBody>
                    <a:bodyPr/>
                    <a:lstStyle/>
                    <a:p>
                      <a:pPr algn="ctr">
                        <a:buNone/>
                      </a:pPr>
                      <a:r>
                        <a:rPr lang="en-US" altLang="zh-CN" sz="1200" kern="1200" dirty="0">
                          <a:solidFill>
                            <a:schemeClr val="dk1"/>
                          </a:solidFill>
                          <a:latin typeface="Roboto" charset="0"/>
                          <a:ea typeface="Roboto" charset="0"/>
                          <a:cs typeface="+mn-cs"/>
                        </a:rPr>
                        <a:t>Yes</a:t>
                      </a:r>
                      <a:endParaRPr lang="en-US" altLang="zh-CN" sz="1200" kern="1200" dirty="0">
                        <a:solidFill>
                          <a:schemeClr val="dk1"/>
                        </a:solidFill>
                        <a:latin typeface="Roboto" charset="0"/>
                        <a:ea typeface="Roboto" charset="0"/>
                        <a:cs typeface="+mn-cs"/>
                      </a:endParaRPr>
                    </a:p>
                  </a:txBody>
                  <a:tcPr anchor="ctr"/>
                </a:tc>
              </a:tr>
              <a:tr h="240545">
                <a:tc vMerge="1">
                  <a:tcPr anchor="ctr">
                    <a:solidFill>
                      <a:srgbClr val="E3F2E2"/>
                    </a:solidFill>
                  </a:tcPr>
                </a:tc>
                <a:tc>
                  <a:txBody>
                    <a:bodyPr/>
                    <a:lstStyle/>
                    <a:p>
                      <a:pPr algn="ctr">
                        <a:buNone/>
                      </a:pPr>
                      <a:r>
                        <a:rPr lang="en-US" altLang="zh-CN" sz="1200" b="0" kern="1200" dirty="0">
                          <a:solidFill>
                            <a:schemeClr val="dk1"/>
                          </a:solidFill>
                          <a:latin typeface="Roboto" charset="0"/>
                          <a:ea typeface="Roboto" charset="0"/>
                          <a:cs typeface="+mn-cs"/>
                        </a:rPr>
                        <a:t>AGC (Auto Gain Control)</a:t>
                      </a:r>
                      <a:endParaRPr lang="en-US" altLang="zh-CN" sz="1200" b="0" kern="1200" dirty="0">
                        <a:solidFill>
                          <a:schemeClr val="dk1"/>
                        </a:solidFill>
                        <a:latin typeface="Roboto" charset="0"/>
                        <a:ea typeface="Roboto" charset="0"/>
                        <a:cs typeface="+mn-cs"/>
                      </a:endParaRPr>
                    </a:p>
                  </a:txBody>
                  <a:tcPr anchor="ctr"/>
                </a:tc>
                <a:tc>
                  <a:txBody>
                    <a:bodyPr/>
                    <a:lstStyle/>
                    <a:p>
                      <a:pPr marL="0" algn="ctr" defTabSz="914400" rtl="0" eaLnBrk="1" latinLnBrk="0" hangingPunct="1">
                        <a:lnSpc>
                          <a:spcPct val="100000"/>
                        </a:lnSpc>
                        <a:spcBef>
                          <a:spcPts val="300"/>
                        </a:spcBef>
                        <a:spcAft>
                          <a:spcPts val="300"/>
                        </a:spcAft>
                        <a:buClrTx/>
                        <a:buSzTx/>
                        <a:buFontTx/>
                        <a:buNone/>
                      </a:pPr>
                      <a:r>
                        <a:rPr lang="en-US" altLang="zh-CN" sz="1200" kern="1200" dirty="0">
                          <a:solidFill>
                            <a:schemeClr val="dk1"/>
                          </a:solidFill>
                          <a:latin typeface="Roboto" charset="0"/>
                          <a:ea typeface="Roboto" charset="0"/>
                          <a:cs typeface="+mn-cs"/>
                        </a:rPr>
                        <a:t>Yes</a:t>
                      </a:r>
                      <a:endParaRPr lang="en-US" altLang="zh-CN" sz="1200" kern="1200" dirty="0">
                        <a:solidFill>
                          <a:schemeClr val="dk1"/>
                        </a:solidFill>
                        <a:latin typeface="Roboto" charset="0"/>
                        <a:ea typeface="Roboto" charset="0"/>
                        <a:cs typeface="+mn-cs"/>
                      </a:endParaRPr>
                    </a:p>
                  </a:txBody>
                  <a:tcPr anchor="ctr"/>
                </a:tc>
                <a:tc>
                  <a:txBody>
                    <a:bodyPr/>
                    <a:lstStyle/>
                    <a:p>
                      <a:pPr algn="ctr">
                        <a:buNone/>
                      </a:pPr>
                      <a:r>
                        <a:rPr lang="en-US" altLang="zh-CN" sz="1200" kern="1200" dirty="0">
                          <a:solidFill>
                            <a:schemeClr val="dk1"/>
                          </a:solidFill>
                          <a:latin typeface="Roboto" charset="0"/>
                          <a:ea typeface="Roboto" charset="0"/>
                          <a:cs typeface="+mn-cs"/>
                        </a:rPr>
                        <a:t>NA</a:t>
                      </a:r>
                      <a:endParaRPr lang="en-US" altLang="zh-CN" sz="1200" kern="1200" dirty="0">
                        <a:solidFill>
                          <a:schemeClr val="dk1"/>
                        </a:solidFill>
                        <a:latin typeface="Roboto" charset="0"/>
                        <a:ea typeface="Roboto" charset="0"/>
                        <a:cs typeface="+mn-cs"/>
                      </a:endParaRPr>
                    </a:p>
                  </a:txBody>
                  <a:tcPr anchor="ctr"/>
                </a:tc>
                <a:tc>
                  <a:txBody>
                    <a:bodyPr/>
                    <a:lstStyle/>
                    <a:p>
                      <a:pPr algn="ctr">
                        <a:buNone/>
                      </a:pPr>
                      <a:r>
                        <a:rPr lang="en-US" altLang="zh-CN" sz="1200" kern="1200" dirty="0">
                          <a:solidFill>
                            <a:schemeClr val="dk1"/>
                          </a:solidFill>
                          <a:latin typeface="Roboto" charset="0"/>
                          <a:ea typeface="Roboto" charset="0"/>
                          <a:cs typeface="+mn-cs"/>
                        </a:rPr>
                        <a:t>Yes</a:t>
                      </a:r>
                      <a:endParaRPr lang="en-US" altLang="zh-CN" sz="1200" kern="1200" dirty="0">
                        <a:solidFill>
                          <a:schemeClr val="dk1"/>
                        </a:solidFill>
                        <a:latin typeface="Roboto" charset="0"/>
                        <a:ea typeface="Roboto" charset="0"/>
                        <a:cs typeface="+mn-cs"/>
                      </a:endParaRPr>
                    </a:p>
                  </a:txBody>
                  <a:tcPr anchor="ctr"/>
                </a:tc>
                <a:tc>
                  <a:txBody>
                    <a:bodyPr/>
                    <a:lstStyle/>
                    <a:p>
                      <a:pPr algn="ctr">
                        <a:buNone/>
                      </a:pPr>
                      <a:r>
                        <a:rPr lang="en-US" altLang="zh-CN" sz="1200" kern="1200" dirty="0">
                          <a:solidFill>
                            <a:schemeClr val="dk1"/>
                          </a:solidFill>
                          <a:latin typeface="Roboto" charset="0"/>
                          <a:ea typeface="Roboto" charset="0"/>
                          <a:cs typeface="+mn-cs"/>
                        </a:rPr>
                        <a:t>Yes</a:t>
                      </a:r>
                      <a:endParaRPr lang="en-US" altLang="zh-CN" sz="1200" kern="1200" dirty="0">
                        <a:solidFill>
                          <a:schemeClr val="dk1"/>
                        </a:solidFill>
                        <a:latin typeface="Roboto" charset="0"/>
                        <a:ea typeface="Roboto" charset="0"/>
                        <a:cs typeface="+mn-cs"/>
                      </a:endParaRPr>
                    </a:p>
                  </a:txBody>
                  <a:tcPr anchor="ctr"/>
                </a:tc>
                <a:tc>
                  <a:txBody>
                    <a:bodyPr/>
                    <a:lstStyle/>
                    <a:p>
                      <a:pPr algn="ctr">
                        <a:buNone/>
                      </a:pPr>
                      <a:r>
                        <a:rPr lang="en-US" altLang="zh-CN" sz="1200" kern="1200" dirty="0">
                          <a:solidFill>
                            <a:schemeClr val="dk1"/>
                          </a:solidFill>
                          <a:latin typeface="Roboto" charset="0"/>
                          <a:ea typeface="Roboto" charset="0"/>
                          <a:cs typeface="+mn-cs"/>
                        </a:rPr>
                        <a:t>Yes</a:t>
                      </a:r>
                      <a:endParaRPr lang="en-US" altLang="zh-CN" sz="1200" kern="1200" dirty="0">
                        <a:solidFill>
                          <a:schemeClr val="dk1"/>
                        </a:solidFill>
                        <a:latin typeface="Roboto" charset="0"/>
                        <a:ea typeface="Roboto" charset="0"/>
                        <a:cs typeface="+mn-cs"/>
                      </a:endParaRPr>
                    </a:p>
                  </a:txBody>
                  <a:tcPr anchor="ctr"/>
                </a:tc>
              </a:tr>
              <a:tr h="390886">
                <a:tc vMerge="1">
                  <a:tcPr anchor="ctr">
                    <a:solidFill>
                      <a:srgbClr val="D6E5D5"/>
                    </a:solidFill>
                  </a:tcPr>
                </a:tc>
                <a:tc>
                  <a:txBody>
                    <a:bodyPr/>
                    <a:lstStyle/>
                    <a:p>
                      <a:pPr marL="0" algn="ctr" defTabSz="914400" rtl="0" eaLnBrk="1" latinLnBrk="0" hangingPunct="1">
                        <a:buNone/>
                      </a:pPr>
                      <a:r>
                        <a:rPr lang="en-US" sz="1200" b="0" kern="1200" dirty="0">
                          <a:solidFill>
                            <a:schemeClr val="dk1"/>
                          </a:solidFill>
                          <a:latin typeface="Roboto" charset="0"/>
                          <a:ea typeface="Roboto" charset="0"/>
                          <a:cs typeface="+mn-cs"/>
                        </a:rPr>
                        <a:t>Noise suppression</a:t>
                      </a:r>
                      <a:endParaRPr lang="en-US" altLang="zh-CN" sz="1200" b="0" kern="1200" dirty="0">
                        <a:solidFill>
                          <a:schemeClr val="dk1"/>
                        </a:solidFill>
                        <a:latin typeface="Roboto" charset="0"/>
                        <a:ea typeface="Roboto" charset="0"/>
                        <a:cs typeface="+mn-cs"/>
                      </a:endParaRPr>
                    </a:p>
                  </a:txBody>
                  <a:tcPr anchor="ctr"/>
                </a:tc>
                <a:tc>
                  <a:txBody>
                    <a:bodyPr/>
                    <a:lstStyle/>
                    <a:p>
                      <a:pPr marL="0" algn="ctr" defTabSz="914400" rtl="0" eaLnBrk="1" latinLnBrk="0" hangingPunct="1">
                        <a:buClrTx/>
                        <a:buSzTx/>
                        <a:buFontTx/>
                        <a:buNone/>
                      </a:pPr>
                      <a:r>
                        <a:rPr lang="en-US" altLang="zh-CN" sz="1200" kern="1200" dirty="0">
                          <a:solidFill>
                            <a:schemeClr val="dk1"/>
                          </a:solidFill>
                          <a:latin typeface="Roboto" charset="0"/>
                          <a:ea typeface="Roboto" charset="0"/>
                          <a:cs typeface="+mn-cs"/>
                        </a:rPr>
                        <a:t>Yes</a:t>
                      </a:r>
                      <a:endParaRPr lang="en-US" altLang="zh-CN" sz="1200" kern="1200" dirty="0">
                        <a:solidFill>
                          <a:schemeClr val="dk1"/>
                        </a:solidFill>
                        <a:latin typeface="Roboto" charset="0"/>
                        <a:ea typeface="Roboto" charset="0"/>
                        <a:cs typeface="+mn-cs"/>
                      </a:endParaRPr>
                    </a:p>
                  </a:txBody>
                  <a:tcPr anchor="ctr"/>
                </a:tc>
                <a:tc>
                  <a:txBody>
                    <a:bodyPr/>
                    <a:lstStyle/>
                    <a:p>
                      <a:pPr marL="0" algn="ctr" defTabSz="914400" rtl="0" eaLnBrk="1" latinLnBrk="0" hangingPunct="1">
                        <a:buNone/>
                      </a:pPr>
                      <a:r>
                        <a:rPr lang="en-US" altLang="zh-CN" sz="1200" kern="1200" dirty="0">
                          <a:solidFill>
                            <a:schemeClr val="dk1"/>
                          </a:solidFill>
                          <a:latin typeface="Roboto" charset="0"/>
                          <a:ea typeface="Roboto" charset="0"/>
                          <a:cs typeface="+mn-cs"/>
                        </a:rPr>
                        <a:t>NA</a:t>
                      </a:r>
                      <a:endParaRPr lang="en-US" altLang="zh-CN" sz="1200" kern="1200" dirty="0">
                        <a:solidFill>
                          <a:schemeClr val="dk1"/>
                        </a:solidFill>
                        <a:latin typeface="Roboto" charset="0"/>
                        <a:ea typeface="Roboto" charset="0"/>
                        <a:cs typeface="+mn-cs"/>
                      </a:endParaRPr>
                    </a:p>
                  </a:txBody>
                  <a:tcPr anchor="ctr"/>
                </a:tc>
                <a:tc>
                  <a:txBody>
                    <a:bodyPr/>
                    <a:lstStyle/>
                    <a:p>
                      <a:pPr marL="0" algn="ctr" defTabSz="914400" rtl="0" eaLnBrk="1" latinLnBrk="0" hangingPunct="1">
                        <a:buNone/>
                      </a:pPr>
                      <a:r>
                        <a:rPr lang="en-US" altLang="zh-CN" sz="1200" kern="1200" dirty="0">
                          <a:solidFill>
                            <a:schemeClr val="dk1"/>
                          </a:solidFill>
                          <a:latin typeface="Roboto" charset="0"/>
                          <a:ea typeface="Roboto" charset="0"/>
                          <a:cs typeface="+mn-cs"/>
                        </a:rPr>
                        <a:t>Yes</a:t>
                      </a:r>
                      <a:endParaRPr lang="en-US" altLang="zh-CN" sz="1200" kern="1200" dirty="0">
                        <a:solidFill>
                          <a:schemeClr val="dk1"/>
                        </a:solidFill>
                        <a:latin typeface="Roboto" charset="0"/>
                        <a:ea typeface="Roboto"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dk1"/>
                          </a:solidFill>
                          <a:latin typeface="Roboto" charset="0"/>
                          <a:ea typeface="Roboto" charset="0"/>
                          <a:cs typeface="+mn-cs"/>
                        </a:rPr>
                        <a:t>Yes</a:t>
                      </a:r>
                      <a:endParaRPr lang="en-US" altLang="zh-CN" sz="1200" kern="1200" dirty="0">
                        <a:solidFill>
                          <a:schemeClr val="dk1"/>
                        </a:solidFill>
                        <a:latin typeface="Roboto" charset="0"/>
                        <a:ea typeface="Roboto"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dk1"/>
                          </a:solidFill>
                          <a:latin typeface="Roboto" charset="0"/>
                          <a:ea typeface="Roboto" charset="0"/>
                          <a:cs typeface="+mn-cs"/>
                        </a:rPr>
                        <a:t>Yes</a:t>
                      </a:r>
                      <a:endParaRPr lang="en-US" altLang="zh-CN" sz="1200" kern="1200" dirty="0">
                        <a:solidFill>
                          <a:schemeClr val="dk1"/>
                        </a:solidFill>
                        <a:latin typeface="Roboto" charset="0"/>
                        <a:ea typeface="Roboto" charset="0"/>
                        <a:cs typeface="+mn-cs"/>
                      </a:endParaRPr>
                    </a:p>
                  </a:txBody>
                  <a:tcPr anchor="ctr"/>
                </a:tc>
              </a:tr>
              <a:tr h="390886">
                <a:tc vMerge="1">
                  <a:tcPr anchor="ctr"/>
                </a:tc>
                <a:tc>
                  <a:txBody>
                    <a:bodyPr/>
                    <a:lstStyle/>
                    <a:p>
                      <a:pPr marL="0" algn="ctr" defTabSz="914400" rtl="0" eaLnBrk="1" latinLnBrk="0" hangingPunct="1">
                        <a:buNone/>
                      </a:pPr>
                      <a:r>
                        <a:rPr lang="en-US" altLang="zh-CN" sz="1200" b="0" kern="1200" dirty="0">
                          <a:solidFill>
                            <a:schemeClr val="dk1"/>
                          </a:solidFill>
                          <a:latin typeface="Roboto" charset="0"/>
                          <a:ea typeface="Roboto" charset="0"/>
                          <a:cs typeface="+mn-cs"/>
                        </a:rPr>
                        <a:t>Full-duplex audio</a:t>
                      </a:r>
                      <a:endParaRPr lang="en-US" altLang="zh-CN" sz="1200" b="0" kern="1200" dirty="0">
                        <a:solidFill>
                          <a:schemeClr val="dk1"/>
                        </a:solidFill>
                        <a:latin typeface="Roboto" charset="0"/>
                        <a:ea typeface="Roboto" charset="0"/>
                        <a:cs typeface="+mn-cs"/>
                      </a:endParaRPr>
                    </a:p>
                  </a:txBody>
                  <a:tcPr anchor="ctr"/>
                </a:tc>
                <a:tc>
                  <a:txBody>
                    <a:bodyPr/>
                    <a:lstStyle/>
                    <a:p>
                      <a:pPr marL="0" algn="ctr" defTabSz="914400" rtl="0" eaLnBrk="1" latinLnBrk="0" hangingPunct="1">
                        <a:buClrTx/>
                        <a:buSzTx/>
                        <a:buFontTx/>
                        <a:buNone/>
                      </a:pPr>
                      <a:r>
                        <a:rPr lang="en-US" sz="1200" kern="1200" dirty="0">
                          <a:solidFill>
                            <a:schemeClr val="dk1"/>
                          </a:solidFill>
                          <a:latin typeface="Roboto" charset="0"/>
                          <a:ea typeface="Roboto" charset="0"/>
                          <a:cs typeface="+mn-cs"/>
                        </a:rPr>
                        <a:t>Yes</a:t>
                      </a:r>
                      <a:endParaRPr lang="en-US" sz="1200" kern="1200" dirty="0">
                        <a:solidFill>
                          <a:schemeClr val="dk1"/>
                        </a:solidFill>
                        <a:latin typeface="Roboto" charset="0"/>
                        <a:ea typeface="Roboto" charset="0"/>
                        <a:cs typeface="+mn-cs"/>
                      </a:endParaRPr>
                    </a:p>
                  </a:txBody>
                  <a:tcPr anchor="ctr"/>
                </a:tc>
                <a:tc>
                  <a:txBody>
                    <a:bodyPr/>
                    <a:lstStyle/>
                    <a:p>
                      <a:pPr marL="0" algn="ctr" defTabSz="914400" rtl="0" eaLnBrk="1" latinLnBrk="0" hangingPunct="1">
                        <a:buNone/>
                      </a:pPr>
                      <a:r>
                        <a:rPr lang="en-US" altLang="zh-CN" sz="1200" kern="1200" dirty="0">
                          <a:solidFill>
                            <a:schemeClr val="dk1"/>
                          </a:solidFill>
                          <a:latin typeface="Roboto" charset="0"/>
                          <a:ea typeface="Roboto" charset="0"/>
                          <a:cs typeface="+mn-cs"/>
                        </a:rPr>
                        <a:t>No</a:t>
                      </a:r>
                      <a:endParaRPr lang="en-US" altLang="zh-CN" sz="1200" kern="1200" dirty="0">
                        <a:solidFill>
                          <a:schemeClr val="dk1"/>
                        </a:solidFill>
                        <a:latin typeface="Roboto" charset="0"/>
                        <a:ea typeface="Roboto" charset="0"/>
                        <a:cs typeface="+mn-cs"/>
                      </a:endParaRPr>
                    </a:p>
                  </a:txBody>
                  <a:tcPr anchor="ctr"/>
                </a:tc>
                <a:tc>
                  <a:txBody>
                    <a:bodyPr/>
                    <a:lstStyle/>
                    <a:p>
                      <a:pPr marL="0" algn="ctr" defTabSz="914400" rtl="0" eaLnBrk="1" latinLnBrk="0" hangingPunct="1">
                        <a:buNone/>
                      </a:pPr>
                      <a:r>
                        <a:rPr lang="en-US" altLang="zh-CN" sz="1200" kern="1200" dirty="0">
                          <a:solidFill>
                            <a:schemeClr val="dk1"/>
                          </a:solidFill>
                          <a:latin typeface="Roboto" charset="0"/>
                          <a:ea typeface="Roboto" charset="0"/>
                          <a:cs typeface="+mn-cs"/>
                        </a:rPr>
                        <a:t>Yes</a:t>
                      </a:r>
                      <a:endParaRPr lang="en-US" altLang="zh-CN" sz="1200" kern="1200" dirty="0">
                        <a:solidFill>
                          <a:schemeClr val="dk1"/>
                        </a:solidFill>
                        <a:latin typeface="Roboto" charset="0"/>
                        <a:ea typeface="Roboto"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dk1"/>
                          </a:solidFill>
                          <a:latin typeface="Roboto" charset="0"/>
                          <a:ea typeface="Roboto" charset="0"/>
                          <a:cs typeface="+mn-cs"/>
                        </a:rPr>
                        <a:t>Yes</a:t>
                      </a:r>
                      <a:endParaRPr lang="en-US" altLang="zh-CN" sz="1200" kern="1200" dirty="0">
                        <a:solidFill>
                          <a:schemeClr val="dk1"/>
                        </a:solidFill>
                        <a:latin typeface="Roboto" charset="0"/>
                        <a:ea typeface="Roboto"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dk1"/>
                          </a:solidFill>
                          <a:latin typeface="Roboto" charset="0"/>
                          <a:ea typeface="Roboto" charset="0"/>
                          <a:cs typeface="+mn-cs"/>
                        </a:rPr>
                        <a:t>Yes</a:t>
                      </a:r>
                      <a:endParaRPr lang="en-US" altLang="zh-CN" sz="1200" kern="1200" dirty="0">
                        <a:solidFill>
                          <a:schemeClr val="dk1"/>
                        </a:solidFill>
                        <a:latin typeface="Roboto" charset="0"/>
                        <a:ea typeface="Roboto" charset="0"/>
                        <a:cs typeface="+mn-cs"/>
                      </a:endParaRPr>
                    </a:p>
                  </a:txBody>
                  <a:tcPr anchor="ctr"/>
                </a:tc>
              </a:tr>
              <a:tr h="240545">
                <a:tc rowSpan="3">
                  <a:txBody>
                    <a:bodyPr/>
                    <a:lstStyle/>
                    <a:p>
                      <a:pPr algn="ctr">
                        <a:buNone/>
                      </a:pPr>
                      <a:r>
                        <a:rPr lang="en-US" altLang="zh-CN" sz="1200" b="0" dirty="0">
                          <a:solidFill>
                            <a:schemeClr val="tx1"/>
                          </a:solidFill>
                          <a:latin typeface="Roboto" charset="0"/>
                          <a:ea typeface="Roboto" charset="0"/>
                        </a:rPr>
                        <a:t>Connectivity</a:t>
                      </a:r>
                      <a:endParaRPr lang="en-US" altLang="zh-CN" sz="1200" b="0" dirty="0">
                        <a:solidFill>
                          <a:schemeClr val="tx1"/>
                        </a:solidFill>
                        <a:latin typeface="Roboto" charset="0"/>
                        <a:ea typeface="Roboto" charset="0"/>
                        <a:cs typeface="Arial" panose="020B0604020202020204" pitchFamily="34" charset="0"/>
                      </a:endParaRPr>
                    </a:p>
                  </a:txBody>
                  <a:tcPr anchor="ctr"/>
                </a:tc>
                <a:tc>
                  <a:txBody>
                    <a:bodyPr/>
                    <a:lstStyle/>
                    <a:p>
                      <a:pPr marL="0" algn="ctr" defTabSz="914400" rtl="0" eaLnBrk="1" latinLnBrk="0" hangingPunct="1">
                        <a:buNone/>
                      </a:pPr>
                      <a:r>
                        <a:rPr lang="en-US" altLang="zh-CN" sz="1200" b="0" kern="1200" dirty="0">
                          <a:solidFill>
                            <a:schemeClr val="dk1"/>
                          </a:solidFill>
                          <a:latin typeface="Roboto" charset="0"/>
                          <a:ea typeface="Roboto" charset="0"/>
                          <a:cs typeface="+mn-cs"/>
                        </a:rPr>
                        <a:t>Connectivity</a:t>
                      </a:r>
                      <a:endParaRPr lang="en-US" altLang="zh-CN" sz="1200" b="0" kern="1200" dirty="0">
                        <a:solidFill>
                          <a:schemeClr val="dk1"/>
                        </a:solidFill>
                        <a:latin typeface="Roboto" charset="0"/>
                        <a:ea typeface="Roboto" charset="0"/>
                        <a:cs typeface="+mn-cs"/>
                      </a:endParaRPr>
                    </a:p>
                  </a:txBody>
                  <a:tcPr anchor="ctr"/>
                </a:tc>
                <a:tc>
                  <a:txBody>
                    <a:bodyPr/>
                    <a:lstStyle/>
                    <a:p>
                      <a:pPr marL="0" algn="ctr" defTabSz="914400" rtl="0" eaLnBrk="1" latinLnBrk="0" hangingPunct="1">
                        <a:buClrTx/>
                        <a:buSzTx/>
                        <a:buFontTx/>
                        <a:buNone/>
                      </a:pPr>
                      <a:r>
                        <a:rPr lang="en-US" altLang="zh-CN" sz="1200" kern="1200" dirty="0">
                          <a:solidFill>
                            <a:schemeClr val="dk1"/>
                          </a:solidFill>
                          <a:latin typeface="Roboto" charset="0"/>
                          <a:ea typeface="Roboto" charset="0"/>
                          <a:cs typeface="+mn-cs"/>
                        </a:rPr>
                        <a:t>USB,</a:t>
                      </a:r>
                      <a:r>
                        <a:rPr lang="zh-CN" altLang="en-US" sz="1200" kern="1200" dirty="0">
                          <a:solidFill>
                            <a:schemeClr val="dk1"/>
                          </a:solidFill>
                          <a:latin typeface="Roboto" charset="0"/>
                          <a:ea typeface="+mn-ea"/>
                          <a:cs typeface="+mn-cs"/>
                        </a:rPr>
                        <a:t> </a:t>
                      </a:r>
                      <a:r>
                        <a:rPr lang="en-US" altLang="zh-CN" sz="1200" kern="1200" dirty="0">
                          <a:solidFill>
                            <a:schemeClr val="dk1"/>
                          </a:solidFill>
                          <a:latin typeface="Roboto" charset="0"/>
                          <a:ea typeface="Roboto" charset="0"/>
                          <a:cs typeface="+mn-cs"/>
                        </a:rPr>
                        <a:t>Bluetooth</a:t>
                      </a:r>
                      <a:endParaRPr lang="en-US" altLang="zh-CN" sz="1200" kern="1200" dirty="0">
                        <a:solidFill>
                          <a:schemeClr val="dk1"/>
                        </a:solidFill>
                        <a:latin typeface="Roboto" charset="0"/>
                        <a:ea typeface="Roboto" charset="0"/>
                        <a:cs typeface="+mn-cs"/>
                      </a:endParaRPr>
                    </a:p>
                  </a:txBody>
                  <a:tcPr anchor="ctr"/>
                </a:tc>
                <a:tc>
                  <a:txBody>
                    <a:bodyPr/>
                    <a:lstStyle/>
                    <a:p>
                      <a:pPr marL="0" algn="ctr" defTabSz="914400" rtl="0" eaLnBrk="1" latinLnBrk="0" hangingPunct="1">
                        <a:buNone/>
                      </a:pPr>
                      <a:r>
                        <a:rPr lang="en-US" altLang="zh-CN" sz="1200" kern="1200" dirty="0">
                          <a:solidFill>
                            <a:schemeClr val="dk1"/>
                          </a:solidFill>
                          <a:latin typeface="Roboto" charset="0"/>
                          <a:ea typeface="Roboto" charset="0"/>
                          <a:cs typeface="+mn-cs"/>
                        </a:rPr>
                        <a:t>USB, Bluetooth</a:t>
                      </a:r>
                      <a:endParaRPr lang="en-US" altLang="zh-CN" sz="1200" kern="1200" dirty="0">
                        <a:solidFill>
                          <a:schemeClr val="dk1"/>
                        </a:solidFill>
                        <a:latin typeface="Roboto" charset="0"/>
                        <a:ea typeface="Roboto" charset="0"/>
                        <a:cs typeface="+mn-cs"/>
                      </a:endParaRPr>
                    </a:p>
                  </a:txBody>
                  <a:tcPr anchor="ctr"/>
                </a:tc>
                <a:tc>
                  <a:txBody>
                    <a:bodyPr/>
                    <a:lstStyle/>
                    <a:p>
                      <a:pPr marL="0" algn="ctr" defTabSz="914400" rtl="0" eaLnBrk="1" latinLnBrk="0" hangingPunct="1">
                        <a:buNone/>
                      </a:pPr>
                      <a:r>
                        <a:rPr lang="en-US" sz="1200" kern="1200" dirty="0">
                          <a:solidFill>
                            <a:schemeClr val="dk1"/>
                          </a:solidFill>
                          <a:latin typeface="Roboto" charset="0"/>
                          <a:ea typeface="Roboto" charset="0"/>
                          <a:cs typeface="+mn-cs"/>
                        </a:rPr>
                        <a:t>USB C or USB A, Bluetooth (For smartphone/tablet only)</a:t>
                      </a:r>
                      <a:endParaRPr lang="en-US" altLang="zh-CN" sz="1200" kern="1200" dirty="0">
                        <a:solidFill>
                          <a:schemeClr val="dk1"/>
                        </a:solidFill>
                        <a:latin typeface="Roboto" charset="0"/>
                        <a:ea typeface="Roboto" charset="0"/>
                        <a:cs typeface="+mn-cs"/>
                      </a:endParaRPr>
                    </a:p>
                  </a:txBody>
                  <a:tcPr anchor="ctr"/>
                </a:tc>
                <a:tc>
                  <a:txBody>
                    <a:bodyPr/>
                    <a:lstStyle/>
                    <a:p>
                      <a:pPr marL="0" algn="ctr" defTabSz="914400" rtl="0" eaLnBrk="1" latinLnBrk="0" hangingPunct="1">
                        <a:buNone/>
                      </a:pPr>
                      <a:r>
                        <a:rPr lang="en-US" altLang="zh-CN" sz="1200" kern="1200" dirty="0">
                          <a:solidFill>
                            <a:schemeClr val="dk1"/>
                          </a:solidFill>
                          <a:latin typeface="Roboto" charset="0"/>
                          <a:ea typeface="Roboto" charset="0"/>
                          <a:cs typeface="+mn-cs"/>
                        </a:rPr>
                        <a:t>USB, Bluetooth</a:t>
                      </a:r>
                      <a:endParaRPr lang="en-US" altLang="zh-CN" sz="1200" kern="1200" dirty="0">
                        <a:solidFill>
                          <a:schemeClr val="dk1"/>
                        </a:solidFill>
                        <a:latin typeface="Roboto" charset="0"/>
                        <a:ea typeface="Roboto" charset="0"/>
                        <a:cs typeface="+mn-cs"/>
                      </a:endParaRPr>
                    </a:p>
                  </a:txBody>
                  <a:tcPr anchor="ctr"/>
                </a:tc>
                <a:tc>
                  <a:txBody>
                    <a:bodyPr/>
                    <a:lstStyle/>
                    <a:p>
                      <a:pPr marL="0" algn="ctr" defTabSz="914400" rtl="0" eaLnBrk="1" latinLnBrk="0" hangingPunct="1">
                        <a:buNone/>
                      </a:pPr>
                      <a:r>
                        <a:rPr lang="en-US" altLang="zh-CN" sz="1200" kern="1200" dirty="0">
                          <a:solidFill>
                            <a:schemeClr val="dk1"/>
                          </a:solidFill>
                          <a:latin typeface="Roboto" charset="0"/>
                          <a:ea typeface="Roboto" charset="0"/>
                          <a:cs typeface="+mn-cs"/>
                        </a:rPr>
                        <a:t>USB</a:t>
                      </a:r>
                      <a:endParaRPr lang="en-US" altLang="zh-CN" sz="1200" kern="1200" dirty="0">
                        <a:solidFill>
                          <a:schemeClr val="dk1"/>
                        </a:solidFill>
                        <a:latin typeface="Roboto" charset="0"/>
                        <a:ea typeface="Roboto" charset="0"/>
                        <a:cs typeface="+mn-cs"/>
                      </a:endParaRPr>
                    </a:p>
                  </a:txBody>
                  <a:tcPr anchor="ctr"/>
                </a:tc>
              </a:tr>
              <a:tr h="360887">
                <a:tc vMerge="1">
                  <a:tcPr anchor="ctr">
                    <a:solidFill>
                      <a:srgbClr val="D6E5D5"/>
                    </a:solidFill>
                  </a:tcPr>
                </a:tc>
                <a:tc>
                  <a:txBody>
                    <a:bodyPr/>
                    <a:lstStyle/>
                    <a:p>
                      <a:pPr algn="ctr">
                        <a:buNone/>
                      </a:pPr>
                      <a:r>
                        <a:rPr lang="en-US" altLang="zh-CN" sz="1200" b="0" kern="1200" dirty="0">
                          <a:solidFill>
                            <a:schemeClr val="dk1"/>
                          </a:solidFill>
                          <a:latin typeface="Roboto" charset="0"/>
                          <a:ea typeface="Roboto" charset="0"/>
                          <a:cs typeface="+mn-cs"/>
                        </a:rPr>
                        <a:t>Bluetooth support</a:t>
                      </a:r>
                      <a:endParaRPr lang="en-US" altLang="zh-CN" sz="1200" b="0" kern="1200" dirty="0">
                        <a:solidFill>
                          <a:schemeClr val="dk1"/>
                        </a:solidFill>
                        <a:latin typeface="Roboto" charset="0"/>
                        <a:ea typeface="Roboto" charset="0"/>
                        <a:cs typeface="+mn-cs"/>
                      </a:endParaRPr>
                    </a:p>
                  </a:txBody>
                  <a:tcPr anchor="ctr"/>
                </a:tc>
                <a:tc>
                  <a:txBody>
                    <a:bodyPr/>
                    <a:lstStyle/>
                    <a:p>
                      <a:pPr marL="0" algn="ctr" defTabSz="914400" rtl="0" eaLnBrk="1" latinLnBrk="0" hangingPunct="1">
                        <a:buNone/>
                      </a:pPr>
                      <a:r>
                        <a:rPr lang="en-US" altLang="zh-CN" sz="1200" kern="1200" dirty="0">
                          <a:solidFill>
                            <a:schemeClr val="dk1"/>
                          </a:solidFill>
                          <a:latin typeface="Roboto" charset="0"/>
                          <a:ea typeface="Roboto" charset="0"/>
                          <a:cs typeface="+mn-cs"/>
                        </a:rPr>
                        <a:t>Bluetooth 5.0</a:t>
                      </a:r>
                      <a:endParaRPr lang="en-US" altLang="zh-CN" sz="1200" kern="1200" dirty="0">
                        <a:solidFill>
                          <a:schemeClr val="dk1"/>
                        </a:solidFill>
                        <a:latin typeface="Roboto" charset="0"/>
                        <a:ea typeface="Roboto"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dk1"/>
                          </a:solidFill>
                          <a:latin typeface="Roboto" charset="0"/>
                          <a:ea typeface="Roboto" charset="0"/>
                          <a:cs typeface="+mn-cs"/>
                        </a:rPr>
                        <a:t>Bluetooth 3.0</a:t>
                      </a:r>
                      <a:endParaRPr lang="en-US" altLang="zh-CN" sz="1200" kern="1200" dirty="0">
                        <a:solidFill>
                          <a:schemeClr val="dk1"/>
                        </a:solidFill>
                        <a:latin typeface="Roboto" charset="0"/>
                        <a:ea typeface="Roboto"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dk1"/>
                          </a:solidFill>
                          <a:latin typeface="Roboto" charset="0"/>
                          <a:ea typeface="Roboto" charset="0"/>
                          <a:cs typeface="+mn-cs"/>
                        </a:rPr>
                        <a:t>Bluetooth 5.1</a:t>
                      </a:r>
                      <a:endParaRPr lang="en-US" altLang="zh-CN" sz="1200" kern="1200" dirty="0">
                        <a:solidFill>
                          <a:schemeClr val="dk1"/>
                        </a:solidFill>
                        <a:latin typeface="Roboto" charset="0"/>
                        <a:ea typeface="Roboto"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dk1"/>
                          </a:solidFill>
                          <a:latin typeface="Roboto" charset="0"/>
                          <a:ea typeface="Roboto" charset="0"/>
                          <a:cs typeface="+mn-cs"/>
                        </a:rPr>
                        <a:t>Bluetooth 5.0</a:t>
                      </a:r>
                      <a:endParaRPr lang="en-US" altLang="zh-CN" sz="1200" kern="1200" dirty="0">
                        <a:solidFill>
                          <a:schemeClr val="dk1"/>
                        </a:solidFill>
                        <a:latin typeface="Roboto" charset="0"/>
                        <a:ea typeface="Roboto"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dk1"/>
                          </a:solidFill>
                          <a:latin typeface="Roboto" charset="0"/>
                          <a:ea typeface="Roboto" charset="0"/>
                          <a:cs typeface="+mn-cs"/>
                        </a:rPr>
                        <a:t>No</a:t>
                      </a:r>
                      <a:endParaRPr lang="en-US" altLang="zh-CN" sz="1200" kern="1200" dirty="0">
                        <a:solidFill>
                          <a:schemeClr val="dk1"/>
                        </a:solidFill>
                        <a:latin typeface="Roboto" charset="0"/>
                        <a:ea typeface="Roboto" charset="0"/>
                        <a:cs typeface="+mn-cs"/>
                      </a:endParaRPr>
                    </a:p>
                  </a:txBody>
                  <a:tcPr anchor="ctr"/>
                </a:tc>
              </a:tr>
              <a:tr h="360887">
                <a:tc vMerge="1">
                  <a:tcPr anchor="ctr">
                    <a:solidFill>
                      <a:srgbClr val="D6E5D5"/>
                    </a:solidFill>
                  </a:tcPr>
                </a:tc>
                <a:tc>
                  <a:txBody>
                    <a:bodyPr/>
                    <a:lstStyle/>
                    <a:p>
                      <a:pPr algn="ctr">
                        <a:buNone/>
                      </a:pPr>
                      <a:r>
                        <a:rPr lang="en-US" altLang="zh-CN" sz="1200" b="0" kern="1200" dirty="0">
                          <a:solidFill>
                            <a:schemeClr val="dk1"/>
                          </a:solidFill>
                          <a:latin typeface="Roboto" charset="0"/>
                          <a:ea typeface="Roboto" charset="0"/>
                          <a:cs typeface="+mn-cs"/>
                        </a:rPr>
                        <a:t>Daisy chain support</a:t>
                      </a:r>
                      <a:endParaRPr lang="en-US" altLang="zh-CN" sz="1200" b="0" kern="1200" dirty="0">
                        <a:solidFill>
                          <a:schemeClr val="dk1"/>
                        </a:solidFill>
                        <a:latin typeface="Roboto" charset="0"/>
                        <a:ea typeface="Roboto" charset="0"/>
                        <a:cs typeface="+mn-cs"/>
                      </a:endParaRPr>
                    </a:p>
                  </a:txBody>
                  <a:tcPr anchor="ctr"/>
                </a:tc>
                <a:tc>
                  <a:txBody>
                    <a:bodyPr/>
                    <a:lstStyle/>
                    <a:p>
                      <a:pPr marL="0" algn="ctr" defTabSz="914400" rtl="0" eaLnBrk="1" latinLnBrk="0" hangingPunct="1">
                        <a:buNone/>
                      </a:pPr>
                      <a:r>
                        <a:rPr lang="en-US" altLang="zh-CN" sz="1200" b="1" kern="1200" dirty="0">
                          <a:solidFill>
                            <a:schemeClr val="accent3"/>
                          </a:solidFill>
                          <a:latin typeface="Roboto" charset="0"/>
                          <a:ea typeface="Roboto" charset="0"/>
                          <a:cs typeface="+mn-cs"/>
                        </a:rPr>
                        <a:t>Up to 9 units</a:t>
                      </a:r>
                      <a:endParaRPr lang="en-US" altLang="zh-CN" sz="1200" b="1" kern="1200" dirty="0">
                        <a:solidFill>
                          <a:schemeClr val="accent3"/>
                        </a:solidFill>
                        <a:latin typeface="Roboto" charset="0"/>
                        <a:ea typeface="Roboto"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dk1"/>
                          </a:solidFill>
                          <a:latin typeface="Roboto" charset="0"/>
                          <a:ea typeface="Roboto" charset="0"/>
                          <a:cs typeface="+mn-cs"/>
                        </a:rPr>
                        <a:t>No</a:t>
                      </a:r>
                      <a:endParaRPr lang="en-US" altLang="zh-CN" sz="1200" kern="1200" dirty="0">
                        <a:solidFill>
                          <a:schemeClr val="dk1"/>
                        </a:solidFill>
                        <a:latin typeface="Roboto" charset="0"/>
                        <a:ea typeface="Roboto"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dk1"/>
                          </a:solidFill>
                          <a:latin typeface="Roboto" charset="0"/>
                          <a:ea typeface="Roboto" charset="0"/>
                          <a:cs typeface="+mn-cs"/>
                        </a:rPr>
                        <a:t>No</a:t>
                      </a:r>
                      <a:endParaRPr lang="en-US" altLang="zh-CN" sz="1200" kern="1200" dirty="0">
                        <a:solidFill>
                          <a:schemeClr val="dk1"/>
                        </a:solidFill>
                        <a:latin typeface="Roboto" charset="0"/>
                        <a:ea typeface="Roboto"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dk1"/>
                          </a:solidFill>
                          <a:latin typeface="Roboto" charset="0"/>
                          <a:ea typeface="Roboto" charset="0"/>
                          <a:cs typeface="+mn-cs"/>
                        </a:rPr>
                        <a:t>Up to 2 units</a:t>
                      </a:r>
                      <a:endParaRPr lang="en-US" altLang="zh-CN" sz="1200" kern="1200" dirty="0">
                        <a:solidFill>
                          <a:schemeClr val="dk1"/>
                        </a:solidFill>
                        <a:latin typeface="Roboto" charset="0"/>
                        <a:ea typeface="Roboto"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dk1"/>
                          </a:solidFill>
                          <a:latin typeface="Roboto" charset="0"/>
                          <a:ea typeface="Roboto" charset="0"/>
                          <a:cs typeface="+mn-cs"/>
                        </a:rPr>
                        <a:t>Up to 6 units</a:t>
                      </a:r>
                      <a:endParaRPr lang="en-US" altLang="zh-CN" sz="1200" kern="1200" dirty="0">
                        <a:solidFill>
                          <a:schemeClr val="dk1"/>
                        </a:solidFill>
                        <a:latin typeface="Roboto" charset="0"/>
                        <a:ea typeface="Roboto" charset="0"/>
                        <a:cs typeface="+mn-cs"/>
                      </a:endParaRPr>
                    </a:p>
                  </a:txBody>
                  <a:tcPr anchor="ctr"/>
                </a:tc>
              </a:tr>
            </a:tbl>
          </a:graphicData>
        </a:graphic>
      </p:graphicFrame>
      <p:sp>
        <p:nvSpPr>
          <p:cNvPr id="7" name="矩形 7"/>
          <p:cNvSpPr/>
          <p:nvPr>
            <p:custDataLst>
              <p:tags r:id="rId2"/>
            </p:custDataLst>
          </p:nvPr>
        </p:nvSpPr>
        <p:spPr>
          <a:xfrm>
            <a:off x="0" y="0"/>
            <a:ext cx="12192000" cy="912114"/>
          </a:xfrm>
          <a:prstGeom prst="rect">
            <a:avLst/>
          </a:prstGeom>
          <a:solidFill>
            <a:srgbClr val="0B7935"/>
          </a:solidFill>
          <a:ln w="12700" cap="flat" cmpd="sng" algn="ctr">
            <a:solidFill>
              <a:schemeClr val="accent6"/>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8" name="文本框 6"/>
          <p:cNvSpPr txBox="1"/>
          <p:nvPr>
            <p:custDataLst>
              <p:tags r:id="rId3"/>
            </p:custDataLst>
          </p:nvPr>
        </p:nvSpPr>
        <p:spPr>
          <a:xfrm>
            <a:off x="457155" y="169546"/>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Comparison with Other Competitors</a:t>
            </a:r>
            <a:endParaRPr lang="en-US" sz="2800" b="1" dirty="0">
              <a:solidFill>
                <a:schemeClr val="lt1"/>
              </a:solidFill>
              <a:uFillTx/>
              <a:latin typeface="Montserrat" pitchFamily="2" charset="0"/>
              <a:ea typeface="微软雅黑" panose="020B0503020204020204" pitchFamily="34" charset="-122"/>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6002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Quick Installation Guide</a:t>
            </a:r>
            <a:endParaRPr lang="en-US" sz="2800" b="1" dirty="0">
              <a:solidFill>
                <a:schemeClr val="lt1"/>
              </a:solidFill>
              <a:uFillTx/>
              <a:latin typeface="Montserrat" pitchFamily="2" charset="0"/>
              <a:ea typeface="微软雅黑" panose="020B0503020204020204" pitchFamily="34" charset="-122"/>
              <a:sym typeface="Roboto"/>
            </a:endParaRPr>
          </a:p>
        </p:txBody>
      </p:sp>
      <p:sp>
        <p:nvSpPr>
          <p:cNvPr id="14" name="Title 6"/>
          <p:cNvSpPr txBox="1"/>
          <p:nvPr>
            <p:custDataLst>
              <p:tags r:id="rId3"/>
            </p:custDataLst>
          </p:nvPr>
        </p:nvSpPr>
        <p:spPr>
          <a:xfrm>
            <a:off x="457155" y="2502759"/>
            <a:ext cx="10788650" cy="237534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00000"/>
              </a:lnSpc>
              <a:spcBef>
                <a:spcPts val="0"/>
              </a:spcBef>
              <a:spcAft>
                <a:spcPts val="800"/>
              </a:spcAft>
              <a:buSzPct val="100000"/>
              <a:buFont typeface="Wingdings" panose="05000000000000000000" charset="0"/>
              <a:buChar char="l"/>
            </a:pP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Connect Interfaces: </a:t>
            </a:r>
            <a:r>
              <a:rPr lang="en-US" altLang="zh-CN" sz="1800" spc="0" dirty="0">
                <a:ln w="3175">
                  <a:noFill/>
                  <a:prstDash val="dash"/>
                </a:ln>
                <a:solidFill>
                  <a:schemeClr val="dk1">
                    <a:lumMod val="75000"/>
                    <a:lumOff val="25000"/>
                  </a:schemeClr>
                </a:solidFill>
                <a:latin typeface="Roboto" charset="0"/>
                <a:ea typeface="Roboto" charset="0"/>
                <a:cs typeface="Arial" panose="020B0604020202020204" pitchFamily="34" charset="0"/>
              </a:rPr>
              <a:t>Follow the standard connection guidelines and adjust connections according to your setup for optimal performance.</a:t>
            </a:r>
            <a:endParaRPr lang="en-US" altLang="zh-CN" sz="1800"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a:p>
            <a:pPr marL="0" lvl="0" indent="-285750" algn="l" fontAlgn="ctr">
              <a:lnSpc>
                <a:spcPct val="100000"/>
              </a:lnSpc>
              <a:spcBef>
                <a:spcPts val="0"/>
              </a:spcBef>
              <a:spcAft>
                <a:spcPts val="800"/>
              </a:spcAft>
              <a:buSzPct val="100000"/>
              <a:buFont typeface="Wingdings" panose="05000000000000000000" charset="0"/>
              <a:buChar char="l"/>
            </a:pPr>
            <a:r>
              <a:rPr lang="en-US" sz="1800" b="1" spc="0" dirty="0">
                <a:ln w="3175">
                  <a:noFill/>
                  <a:prstDash val="dash"/>
                </a:ln>
                <a:solidFill>
                  <a:schemeClr val="dk1">
                    <a:lumMod val="75000"/>
                    <a:lumOff val="25000"/>
                  </a:schemeClr>
                </a:solidFill>
                <a:latin typeface="Roboto" charset="0"/>
                <a:ea typeface="Roboto" charset="0"/>
                <a:cs typeface="Arial" panose="020B0604020202020204" pitchFamily="34" charset="0"/>
              </a:rPr>
              <a:t>Set up Your Cascading: </a:t>
            </a:r>
            <a:r>
              <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Connect the first unit to your PC via the USB-C port, then connect it to the NEXT and PREVIOUS units using a Mini USB cable. (One power adapter can support up to three HALO 80 units, and should be connected to the first unit.)</a:t>
            </a:r>
            <a:endPar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lvl="0" indent="-285750" fontAlgn="ctr">
              <a:lnSpc>
                <a:spcPct val="100000"/>
              </a:lnSpc>
              <a:spcBef>
                <a:spcPts val="0"/>
              </a:spcBef>
              <a:spcAft>
                <a:spcPts val="800"/>
              </a:spcAft>
              <a:buSzPct val="100000"/>
              <a:buFont typeface="Wingdings" panose="05000000000000000000" charset="0"/>
              <a:buChar char="l"/>
            </a:pPr>
            <a:r>
              <a:rPr lang="en-US" sz="1800" b="1" spc="0" dirty="0">
                <a:ln w="3175">
                  <a:noFill/>
                  <a:prstDash val="dash"/>
                </a:ln>
                <a:solidFill>
                  <a:schemeClr val="dk1">
                    <a:lumMod val="75000"/>
                    <a:lumOff val="25000"/>
                  </a:schemeClr>
                </a:solidFill>
                <a:latin typeface="Roboto" charset="0"/>
                <a:ea typeface="Roboto" charset="0"/>
                <a:cs typeface="Arial" panose="020B0604020202020204" pitchFamily="34" charset="0"/>
              </a:rPr>
              <a:t>Start the Device:</a:t>
            </a:r>
            <a:r>
              <a:rPr lang="en-US" altLang="zh-CN"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 Use the intuitive touch control button to operate the speakerphone function.</a:t>
            </a:r>
            <a:endParaRPr lang="en-US" altLang="zh-CN"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p:txBody>
      </p:sp>
      <p:pic>
        <p:nvPicPr>
          <p:cNvPr id="4" name="Google Shape;82;p1"/>
          <p:cNvPicPr preferRelativeResize="0"/>
          <p:nvPr/>
        </p:nvPicPr>
        <p:blipFill>
          <a:blip r:embed="rId4"/>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20" name="Title 6"/>
          <p:cNvSpPr txBox="1"/>
          <p:nvPr>
            <p:custDataLst>
              <p:tags r:id="rId5"/>
            </p:custDataLst>
          </p:nvPr>
        </p:nvSpPr>
        <p:spPr>
          <a:xfrm>
            <a:off x="457200" y="1137920"/>
            <a:ext cx="11070590" cy="85280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00000"/>
              </a:lnSpc>
              <a:spcBef>
                <a:spcPts val="0"/>
              </a:spcBef>
              <a:spcAft>
                <a:spcPts val="800"/>
              </a:spcAft>
              <a:buSzPct val="100000"/>
              <a:buFont typeface="Wingdings" panose="05000000000000000000" charset="0"/>
            </a:pPr>
            <a:r>
              <a:rPr lang="en-US" sz="2000" b="1" spc="0" dirty="0">
                <a:ln w="3175">
                  <a:noFill/>
                  <a:prstDash val="dash"/>
                </a:ln>
                <a:solidFill>
                  <a:schemeClr val="dk1">
                    <a:lumMod val="75000"/>
                    <a:lumOff val="25000"/>
                  </a:schemeClr>
                </a:solidFill>
                <a:latin typeface="Roboto" charset="0"/>
                <a:ea typeface="Roboto" charset="0"/>
                <a:cs typeface="Arial" panose="020B0604020202020204" pitchFamily="34" charset="0"/>
              </a:rPr>
              <a:t>Effortlessly set up your </a:t>
            </a:r>
            <a:r>
              <a:rPr lang="en-US" altLang="zh-CN" sz="2000" b="1" spc="0" dirty="0">
                <a:ln w="3175">
                  <a:noFill/>
                  <a:prstDash val="dash"/>
                </a:ln>
                <a:solidFill>
                  <a:schemeClr val="dk1">
                    <a:lumMod val="75000"/>
                    <a:lumOff val="25000"/>
                  </a:schemeClr>
                </a:solidFill>
                <a:latin typeface="Roboto" charset="0"/>
                <a:ea typeface="Roboto" charset="0"/>
                <a:cs typeface="Arial" panose="020B0604020202020204" pitchFamily="34" charset="0"/>
              </a:rPr>
              <a:t>HALO 80</a:t>
            </a:r>
            <a:r>
              <a:rPr lang="en-US" sz="2000" b="1" spc="0" dirty="0">
                <a:ln w="3175">
                  <a:noFill/>
                  <a:prstDash val="dash"/>
                </a:ln>
                <a:solidFill>
                  <a:schemeClr val="dk1">
                    <a:lumMod val="75000"/>
                    <a:lumOff val="25000"/>
                  </a:schemeClr>
                </a:solidFill>
                <a:latin typeface="Roboto" charset="0"/>
                <a:ea typeface="Roboto" charset="0"/>
                <a:cs typeface="Arial" panose="020B0604020202020204" pitchFamily="34" charset="0"/>
              </a:rPr>
              <a:t> with simple steps, ensuring seamless configuration and an exceptional audio experience.</a:t>
            </a:r>
            <a:endParaRPr lang="en-US" sz="2000" b="1"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p:txBody>
      </p:sp>
    </p:spTree>
    <p:custDataLst>
      <p:tags r:id="rId6"/>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984293" y="1149489"/>
            <a:ext cx="4159582" cy="707885"/>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p:cNvSpPr txBox="1"/>
          <p:nvPr/>
        </p:nvSpPr>
        <p:spPr>
          <a:xfrm>
            <a:off x="-80645" y="1153801"/>
            <a:ext cx="12287885" cy="707886"/>
          </a:xfrm>
          <a:prstGeom prst="rect">
            <a:avLst/>
          </a:prstGeom>
          <a:noFill/>
        </p:spPr>
        <p:txBody>
          <a:bodyPr wrap="square" rtlCol="0">
            <a:spAutoFit/>
          </a:bodyPr>
          <a:lstStyle/>
          <a:p>
            <a:pPr algn="ctr"/>
            <a:r>
              <a:rPr lang="en-US" altLang="zh-CN" sz="4000" b="1" dirty="0">
                <a:latin typeface="Montserrat" pitchFamily="2" charset="0"/>
                <a:cs typeface="Arial" panose="020B0604020202020204" pitchFamily="34" charset="0"/>
              </a:rPr>
              <a:t>Q</a:t>
            </a:r>
            <a:r>
              <a:rPr lang="en-US" altLang="zh-CN" sz="2400" b="1" dirty="0">
                <a:latin typeface="Montserrat" pitchFamily="2" charset="0"/>
                <a:cs typeface="Arial" panose="020B0604020202020204" pitchFamily="34" charset="0"/>
              </a:rPr>
              <a:t> </a:t>
            </a:r>
            <a:r>
              <a:rPr lang="en-US" altLang="zh-CN" sz="4000" b="1" dirty="0">
                <a:latin typeface="Montserrat" pitchFamily="2" charset="0"/>
                <a:cs typeface="Arial" panose="020B0604020202020204" pitchFamily="34" charset="0"/>
              </a:rPr>
              <a:t>&amp;</a:t>
            </a:r>
            <a:r>
              <a:rPr lang="en-US" altLang="zh-CN" sz="2400" b="1" dirty="0">
                <a:latin typeface="Montserrat" pitchFamily="2" charset="0"/>
                <a:cs typeface="Arial" panose="020B0604020202020204" pitchFamily="34" charset="0"/>
              </a:rPr>
              <a:t> </a:t>
            </a:r>
            <a:r>
              <a:rPr lang="en-US" altLang="zh-CN" sz="4000" b="1" dirty="0">
                <a:latin typeface="Montserrat" pitchFamily="2" charset="0"/>
                <a:cs typeface="Arial" panose="020B0604020202020204" pitchFamily="34" charset="0"/>
              </a:rPr>
              <a:t>A Session</a:t>
            </a:r>
            <a:endParaRPr lang="en-US" altLang="zh-CN" dirty="0">
              <a:solidFill>
                <a:schemeClr val="tx1">
                  <a:lumMod val="75000"/>
                  <a:lumOff val="25000"/>
                </a:schemeClr>
              </a:solidFill>
              <a:latin typeface="Roboto" charset="0"/>
              <a:ea typeface="Roboto" charset="0"/>
              <a:cs typeface="Arial" panose="020B0604020202020204" pitchFamily="34" charset="0"/>
            </a:endParaRPr>
          </a:p>
        </p:txBody>
      </p:sp>
      <p:pic>
        <p:nvPicPr>
          <p:cNvPr id="7" name="图片 6"/>
          <p:cNvPicPr/>
          <p:nvPr/>
        </p:nvPicPr>
        <p:blipFill>
          <a:blip r:embed="rId1"/>
          <a:stretch>
            <a:fillRect/>
          </a:stretch>
        </p:blipFill>
        <p:spPr>
          <a:xfrm>
            <a:off x="2796857" y="2808363"/>
            <a:ext cx="6502400" cy="3588240"/>
          </a:xfrm>
          <a:prstGeom prst="rect">
            <a:avLst/>
          </a:prstGeom>
          <a:effectLst>
            <a:outerShdw blurRad="50800" dist="38100" dir="5400000" algn="t" rotWithShape="0">
              <a:prstClr val="black">
                <a:alpha val="40000"/>
              </a:prstClr>
            </a:outerShdw>
          </a:effectLst>
        </p:spPr>
      </p:pic>
      <p:pic>
        <p:nvPicPr>
          <p:cNvPr id="5" name="Google Shape;82;p1"/>
          <p:cNvPicPr preferRelativeResize="0"/>
          <p:nvPr/>
        </p:nvPicPr>
        <p:blipFill>
          <a:blip r:embed="rId2"/>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9" name="矩形 7"/>
          <p:cNvSpPr/>
          <p:nvPr>
            <p:custDataLst>
              <p:tags r:id="rId3"/>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10" name="文本框 6"/>
          <p:cNvSpPr txBox="1"/>
          <p:nvPr>
            <p:custDataLst>
              <p:tags r:id="rId4"/>
            </p:custDataLst>
          </p:nvPr>
        </p:nvSpPr>
        <p:spPr>
          <a:xfrm>
            <a:off x="457155" y="16002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Final Thoughts</a:t>
            </a:r>
            <a:endParaRPr lang="en-US" sz="2800" b="1" dirty="0">
              <a:solidFill>
                <a:schemeClr val="lt1"/>
              </a:solidFill>
              <a:uFillTx/>
              <a:latin typeface="Montserrat" pitchFamily="2" charset="0"/>
              <a:ea typeface="微软雅黑" panose="020B0503020204020204" pitchFamily="34" charset="-122"/>
              <a:sym typeface="Roboto"/>
            </a:endParaRPr>
          </a:p>
        </p:txBody>
      </p:sp>
      <p:sp>
        <p:nvSpPr>
          <p:cNvPr id="4" name="文本框 1"/>
          <p:cNvSpPr txBox="1"/>
          <p:nvPr/>
        </p:nvSpPr>
        <p:spPr>
          <a:xfrm>
            <a:off x="-47944" y="2003528"/>
            <a:ext cx="12287885" cy="368300"/>
          </a:xfrm>
          <a:prstGeom prst="rect">
            <a:avLst/>
          </a:prstGeom>
          <a:noFill/>
        </p:spPr>
        <p:txBody>
          <a:bodyPr wrap="square" rtlCol="0">
            <a:spAutoFit/>
          </a:bodyPr>
          <a:lstStyle/>
          <a:p>
            <a:pPr algn="ctr"/>
            <a:r>
              <a:rPr lang="en-US" altLang="zh-CN" dirty="0">
                <a:solidFill>
                  <a:schemeClr val="tx1">
                    <a:lumMod val="75000"/>
                    <a:lumOff val="25000"/>
                  </a:schemeClr>
                </a:solidFill>
                <a:latin typeface="Roboto" charset="0"/>
                <a:ea typeface="Roboto" charset="0"/>
                <a:cs typeface="Arial" panose="020B0604020202020204" pitchFamily="34" charset="0"/>
              </a:rPr>
              <a:t>Got questions? Don't hesitate to ask away.</a:t>
            </a:r>
            <a:endParaRPr lang="en-US" altLang="zh-CN" dirty="0">
              <a:solidFill>
                <a:schemeClr val="tx1">
                  <a:lumMod val="75000"/>
                  <a:lumOff val="25000"/>
                </a:schemeClr>
              </a:solidFill>
              <a:latin typeface="Roboto" charset="0"/>
              <a:ea typeface="Roboto" charset="0"/>
              <a:cs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3.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02_1*a*1"/>
  <p:tag name="KSO_WM_TEMPLATE_CATEGORY" val="diagram"/>
  <p:tag name="KSO_WM_TEMPLATE_INDEX" val="20215802"/>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35545cd6b5ce4dae9dccf4eab288bc6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0992860551d4d4eb792c36bc28c26be"/>
  <p:tag name="KSO_WM_UNIT_TEXT_FILL_FORE_SCHEMECOLOR_INDEX_BRIGHTNESS" val="0"/>
  <p:tag name="KSO_WM_UNIT_TEXT_FILL_FORE_SCHEMECOLOR_INDEX" val="13"/>
  <p:tag name="KSO_WM_UNIT_TEXT_FILL_TYPE" val="1"/>
  <p:tag name="KSO_WM_TEMPLATE_ASSEMBLE_XID" val="60656ea94054ed1e2fb7fd45"/>
  <p:tag name="KSO_WM_TEMPLATE_ASSEMBLE_GROUPID" val="60656ea94054ed1e2fb7fd45"/>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6.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02_1*a*1"/>
  <p:tag name="KSO_WM_TEMPLATE_CATEGORY" val="diagram"/>
  <p:tag name="KSO_WM_TEMPLATE_INDEX" val="20215802"/>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35545cd6b5ce4dae9dccf4eab288bc6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0992860551d4d4eb792c36bc28c26be"/>
  <p:tag name="KSO_WM_UNIT_TEXT_FILL_FORE_SCHEMECOLOR_INDEX_BRIGHTNESS" val="0"/>
  <p:tag name="KSO_WM_UNIT_TEXT_FILL_FORE_SCHEMECOLOR_INDEX" val="13"/>
  <p:tag name="KSO_WM_UNIT_TEXT_FILL_TYPE" val="1"/>
  <p:tag name="KSO_WM_TEMPLATE_ASSEMBLE_XID" val="60656ea94054ed1e2fb7fd45"/>
  <p:tag name="KSO_WM_TEMPLATE_ASSEMBLE_GROUPID" val="60656ea94054ed1e2fb7fd45"/>
</p:tagLst>
</file>

<file path=ppt/tags/tag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02_1*f*1"/>
  <p:tag name="KSO_WM_TEMPLATE_CATEGORY" val="diagram"/>
  <p:tag name="KSO_WM_TEMPLATE_INDEX" val="20215802"/>
  <p:tag name="KSO_WM_UNIT_LAYERLEVEL" val="1"/>
  <p:tag name="KSO_WM_TAG_VERSION" val="1.0"/>
  <p:tag name="KSO_WM_BEAUTIFY_FLAG" val="#wm#"/>
  <p:tag name="KSO_WM_UNIT_DEFAULT_FONT" val="14;20;2"/>
  <p:tag name="KSO_WM_UNIT_BLOCK" val="0"/>
  <p:tag name="KSO_WM_UNIT_VALUE" val="144"/>
  <p:tag name="KSO_WM_UNIT_SHOW_EDIT_AREA_INDICATION" val="1"/>
  <p:tag name="KSO_WM_CHIP_GROUPID" val="5e6b05596848fb12bee65ac8"/>
  <p:tag name="KSO_WM_CHIP_XID" val="5e6b05596848fb12bee65aca"/>
  <p:tag name="KSO_WM_UNIT_DEC_AREA_ID" val="d879e39fee614b88a76bb899d600b76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0fcd4429fddf4fd9b6b9cae2bcdab05b"/>
  <p:tag name="KSO_WM_UNIT_SUPPORT_UNIT_TYPE" val="[&quot;d&quot;]"/>
  <p:tag name="KSO_WM_UNIT_TEXT_FILL_FORE_SCHEMECOLOR_INDEX_BRIGHTNESS" val="0.25"/>
  <p:tag name="KSO_WM_UNIT_TEXT_FILL_FORE_SCHEMECOLOR_INDEX" val="13"/>
  <p:tag name="KSO_WM_UNIT_TEXT_FILL_TYPE" val="1"/>
  <p:tag name="KSO_WM_TEMPLATE_ASSEMBLE_XID" val="60656ea94054ed1e2fb7fd45"/>
  <p:tag name="KSO_WM_TEMPLATE_ASSEMBLE_GROUPID" val="60656ea94054ed1e2fb7fd45"/>
</p:tagLst>
</file>

<file path=ppt/tags/tag8.xml><?xml version="1.0" encoding="utf-8"?>
<p:tagLst xmlns:p="http://schemas.openxmlformats.org/presentationml/2006/main">
  <p:tag name="KSO_WM_SLIDE_ID" val="diagram20215802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SLIDE_SIZE" val="960*384"/>
  <p:tag name="KSO_WM_SLIDE_POSITION" val="0*0"/>
  <p:tag name="KSO_WM_TAG_VERSION" val="1.0"/>
  <p:tag name="KSO_WM_BEAUTIFY_FLAG" val="#wm#"/>
  <p:tag name="KSO_WM_TEMPLATE_CATEGORY" val="diagram"/>
  <p:tag name="KSO_WM_TEMPLATE_INDEX" val="20215802"/>
  <p:tag name="KSO_WM_SLIDE_LAYOUT" val="a_f"/>
  <p:tag name="KSO_WM_SLIDE_LAYOUT_CNT" val="1_1"/>
  <p:tag name="KSO_WM_SLIDE_LAYOUT_INFO" val="{&quot;id&quot;:&quot;2021-04-01T15:11:24&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1-04-01T15:11:24&quot;,&quot;margin&quot;:{&quot;bottom&quot;:0.4230000674724579,&quot;left&quot;:1.2699999809265137,&quot;right&quot;:1.2699999809265137,&quot;top&quot;:0.4230000674724579},&quot;type&quot;:0},{&quot;id&quot;:&quot;2021-04-01T15:11:24&quot;,&quot;margin&quot;:{&quot;bottom&quot;:1.694000005722046,&quot;left&quot;:1.6929999589920044,&quot;right&quot;:1.6929999589920044,&quot;top&quot;:1.6929999589920044},&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78e478fb0c58a940c"/>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lm&quot;,&quot;text_direction&quot;:&quot;horizontal&quot;,&quot;support_features&quot;:[&quot;collage&quot;],&quot;support_big_font&quot;:false,&quot;picture_toward&quot;:0,&quot;picture_dockside&quot;:[],&quot;fill_id&quot;:&quot;aae3729e0a0d44488f1a088171be5691&quot;,&quot;fill_align&quot;:&quot;cm&quot;,&quot;chip_types&quot;:[&quot;text&quot;,&quot;picture&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0656ea94054ed1e2fb7fd45"/>
  <p:tag name="KSO_WM_TEMPLATE_ASSEMBLE_GROUPID" val="60656ea94054ed1e2fb7fd45"/>
  <p:tag name="RESOURCE_RECORD_KEY" val="{&quot;13&quot;:[4364952],&quot;65&quot;:[20215802]}"/>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2"/>
  <p:tag name="KSO_WM_TEMPLATE_CATEGORY" val="diagram"/>
  <p:tag name="KSO_WM_TEMPLATE_INDEX" val="20215817"/>
  <p:tag name="KSO_WM_UNIT_LAYERLEVEL" val="1"/>
  <p:tag name="KSO_WM_TAG_VERSION" val="1.0"/>
  <p:tag name="KSO_WM_BEAUTIFY_FLAG" val="#wm#"/>
  <p:tag name="KSO_WM_UNIT_TYPE" val="i"/>
  <p:tag name="KSO_WM_UNIT_INDEX" val="2"/>
  <p:tag name="KSO_WM_UNIT_BLOCK" val="0"/>
  <p:tag name="KSO_WM_UNIT_SM_LIMIT_TYPE" val="0"/>
  <p:tag name="KSO_WM_UNIT_DEC_AREA_ID" val="c851648b610c4eed84725474f83dd781"/>
  <p:tag name="KSO_WM_UNIT_DECORATE_INFO" val="{&quot;DecorateInfoH&quot;:{&quot;IsAbs&quot;:true},&quot;DecorateInfoW&quot;:{&quot;IsAbs&quot;:true},&quot;DecorateInfoX&quot;:{&quot;IsAbs&quot;:true,&quot;Pos&quot;:2},&quot;DecorateInfoY&quot;:{&quot;IsAbs&quot;:true,&quot;Pos&quot;:2},&quot;ReferentInfo&quot;:{&quot;Id&quot;:&quot;fa1e37419f9b42fb86bdf596086272a2&quot;,&quot;X&quot;:{&quot;Pos&quot;:2},&quot;Y&quot;:{&quot;Pos&quot;:0}},&quot;whChangeMode&quot;:0}"/>
  <p:tag name="KSO_WM_CHIP_GROUPID" val="5f5ee1ca4d6848d78f644aeb"/>
  <p:tag name="KSO_WM_CHIP_XID" val="5f5f3b6d8e478fb0c58a941e"/>
  <p:tag name="KSO_WM_UNIT_LINE_FORE_SCHEMECOLOR_INDEX_BRIGHTNESS" val="0"/>
  <p:tag name="KSO_WM_UNIT_LINE_FORE_SCHEMECOLOR_INDEX" val="15"/>
  <p:tag name="KSO_WM_UNIT_LINE_FILL_TYPE" val="2"/>
  <p:tag name="KSO_WM_TEMPLATE_ASSEMBLE_XID" val="63895f930c9383becde52e83"/>
  <p:tag name="KSO_WM_TEMPLATE_ASSEMBLE_GROUPID" val="63895f930c9383becde52e83"/>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3"/>
  <p:tag name="KSO_WM_TEMPLATE_CATEGORY" val="diagram"/>
  <p:tag name="KSO_WM_TEMPLATE_INDEX" val="20215817"/>
  <p:tag name="KSO_WM_UNIT_LAYERLEVEL" val="1"/>
  <p:tag name="KSO_WM_TAG_VERSION" val="1.0"/>
  <p:tag name="KSO_WM_BEAUTIFY_FLAG" val="#wm#"/>
  <p:tag name="KSO_WM_UNIT_TYPE" val="i"/>
  <p:tag name="KSO_WM_UNIT_INDEX" val="3"/>
  <p:tag name="KSO_WM_UNIT_BLOCK" val="0"/>
  <p:tag name="KSO_WM_UNIT_SM_LIMIT_TYPE" val="0"/>
  <p:tag name="KSO_WM_UNIT_DEC_AREA_ID" val="3104b9f4692049e9b18edec063ed2171"/>
  <p:tag name="KSO_WM_UNIT_DECORATE_INFO" val="{&quot;DecorateInfoH&quot;:{&quot;IsAbs&quot;:true},&quot;DecorateInfoW&quot;:{&quot;IsAbs&quot;:true},&quot;DecorateInfoX&quot;:{&quot;IsAbs&quot;:true,&quot;Pos&quot;:0},&quot;DecorateInfoY&quot;:{&quot;IsAbs&quot;:true,&quot;Pos&quot;:0},&quot;ReferentInfo&quot;:{&quot;Id&quot;:&quot;fa1e37419f9b42fb86bdf596086272a2&quot;,&quot;X&quot;:{&quot;Pos&quot;:0},&quot;Y&quot;:{&quot;Pos&quot;:2}},&quot;whChangeMode&quot;:0}"/>
  <p:tag name="KSO_WM_CHIP_GROUPID" val="5f5ee1ca4d6848d78f644aeb"/>
  <p:tag name="KSO_WM_CHIP_XID" val="5f5f3b6d8e478fb0c58a941e"/>
  <p:tag name="KSO_WM_UNIT_LINE_FORE_SCHEMECOLOR_INDEX_BRIGHTNESS" val="0"/>
  <p:tag name="KSO_WM_UNIT_LINE_FORE_SCHEMECOLOR_INDEX" val="15"/>
  <p:tag name="KSO_WM_UNIT_LINE_FILL_TYPE" val="2"/>
  <p:tag name="KSO_WM_TEMPLATE_ASSEMBLE_XID" val="63895f930c9383becde52e83"/>
  <p:tag name="KSO_WM_TEMPLATE_ASSEMBLE_GROUPID" val="63895f930c9383becde52e83"/>
</p:tagLst>
</file>

<file path=ppt/tags/tag12.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1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4.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16.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17.xml><?xml version="1.0" encoding="utf-8"?>
<p:tagLst xmlns:p="http://schemas.openxmlformats.org/presentationml/2006/main">
  <p:tag name="KSO_WM_DIAGRAM_VIRTUALLY_FRAME" val="{&quot;height&quot;:275.25732283464566,&quot;left&quot;:98.6,&quot;top&quot;:79.59267716535433,&quot;width&quot;:795.4903937007873}"/>
</p:tagLst>
</file>

<file path=ppt/tags/tag18.xml><?xml version="1.0" encoding="utf-8"?>
<p:tagLst xmlns:p="http://schemas.openxmlformats.org/presentationml/2006/main">
  <p:tag name="KSO_WM_DIAGRAM_VIRTUALLY_FRAME" val="{&quot;height&quot;:275.25732283464566,&quot;left&quot;:98.6,&quot;top&quot;:79.59267716535433,&quot;width&quot;:795.4903937007873}"/>
</p:tagLst>
</file>

<file path=ppt/tags/tag19.xml><?xml version="1.0" encoding="utf-8"?>
<p:tagLst xmlns:p="http://schemas.openxmlformats.org/presentationml/2006/main">
  <p:tag name="KSO_WM_DIAGRAM_VIRTUALLY_FRAME" val="{&quot;height&quot;:275.25732283464566,&quot;left&quot;:98.6,&quot;top&quot;:79.59267716535433,&quot;width&quot;:795.4903937007873}"/>
</p:tagLst>
</file>

<file path=ppt/tags/tag20.xml><?xml version="1.0" encoding="utf-8"?>
<p:tagLst xmlns:p="http://schemas.openxmlformats.org/presentationml/2006/main">
  <p:tag name="KSO_WM_DIAGRAM_VIRTUALLY_FRAME" val="{&quot;height&quot;:275.25732283464566,&quot;left&quot;:98.6,&quot;top&quot;:79.59267716535433,&quot;width&quot;:795.4903937007873}"/>
</p:tagLst>
</file>

<file path=ppt/tags/tag21.xml><?xml version="1.0" encoding="utf-8"?>
<p:tagLst xmlns:p="http://schemas.openxmlformats.org/presentationml/2006/main">
  <p:tag name="KSO_WM_DIAGRAM_VIRTUALLY_FRAME" val="{&quot;height&quot;:275.25732283464566,&quot;left&quot;:98.6,&quot;top&quot;:79.59267716535433,&quot;width&quot;:795.4903937007873}"/>
</p:tagLst>
</file>

<file path=ppt/tags/tag22.xml><?xml version="1.0" encoding="utf-8"?>
<p:tagLst xmlns:p="http://schemas.openxmlformats.org/presentationml/2006/main">
  <p:tag name="KSO_WM_DIAGRAM_VIRTUALLY_FRAME" val="{&quot;height&quot;:275.25732283464566,&quot;left&quot;:98.6,&quot;top&quot;:79.59267716535433,&quot;width&quot;:795.4903937007873}"/>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24.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25.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27.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28.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30.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31.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33.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34.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36.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3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38.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3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41.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42.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4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45.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46.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47.xml><?xml version="1.0" encoding="utf-8"?>
<p:tagLst xmlns:p="http://schemas.openxmlformats.org/presentationml/2006/main">
  <p:tag name="KSO_WM_UNIT_TABLE_BEAUTIFY" val="smartTable{c8ae107e-8799-4518-9ae1-fd575ef07c9d}"/>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49.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51.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5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5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54.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56.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01A8FBB3908BD4681554D596DADDBBC" ma:contentTypeVersion="19" ma:contentTypeDescription="Create a new document." ma:contentTypeScope="" ma:versionID="089862c3d7236b297f5be572ccb4bd9e">
  <xsd:schema xmlns:xsd="http://www.w3.org/2001/XMLSchema" xmlns:xs="http://www.w3.org/2001/XMLSchema" xmlns:p="http://schemas.microsoft.com/office/2006/metadata/properties" xmlns:ns2="d634ccb5-745a-4b19-b3da-83dafbb0f953" xmlns:ns3="fa7e1be7-6c27-4381-949e-b43a2eb5089a" targetNamespace="http://schemas.microsoft.com/office/2006/metadata/properties" ma:root="true" ma:fieldsID="38436fc1e1e78720b95f7a357a3e0114" ns2:_="" ns3:_="">
    <xsd:import namespace="d634ccb5-745a-4b19-b3da-83dafbb0f953"/>
    <xsd:import namespace="fa7e1be7-6c27-4381-949e-b43a2eb5089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34ccb5-745a-4b19-b3da-83dafbb0f9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a840791-955a-45d0-8f77-cb775012b4d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a7e1be7-6c27-4381-949e-b43a2eb5089a"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e5708c9-3083-478d-b2b5-d29c6e746420}" ma:internalName="TaxCatchAll" ma:showField="CatchAllData" ma:web="fa7e1be7-6c27-4381-949e-b43a2eb5089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634ccb5-745a-4b19-b3da-83dafbb0f953">
      <Terms xmlns="http://schemas.microsoft.com/office/infopath/2007/PartnerControls"/>
    </lcf76f155ced4ddcb4097134ff3c332f>
    <TaxCatchAll xmlns="fa7e1be7-6c27-4381-949e-b43a2eb5089a" xsi:nil="true"/>
  </documentManagement>
</p:properties>
</file>

<file path=customXml/itemProps1.xml><?xml version="1.0" encoding="utf-8"?>
<ds:datastoreItem xmlns:ds="http://schemas.openxmlformats.org/officeDocument/2006/customXml" ds:itemID="{E3B6DE1B-FCDC-47DF-9D8A-5A4AC21BD591}"/>
</file>

<file path=customXml/itemProps2.xml><?xml version="1.0" encoding="utf-8"?>
<ds:datastoreItem xmlns:ds="http://schemas.openxmlformats.org/officeDocument/2006/customXml" ds:itemID="{BCD2E7B3-B464-4819-A01A-0FD655F81E26}"/>
</file>

<file path=customXml/itemProps3.xml><?xml version="1.0" encoding="utf-8"?>
<ds:datastoreItem xmlns:ds="http://schemas.openxmlformats.org/officeDocument/2006/customXml" ds:itemID="{2F85B503-2B16-4E95-86F1-0307FCEB21AE}"/>
</file>

<file path=docProps/app.xml><?xml version="1.0" encoding="utf-8"?>
<Properties xmlns="http://schemas.openxmlformats.org/officeDocument/2006/extended-properties" xmlns:vt="http://schemas.openxmlformats.org/officeDocument/2006/docPropsVTypes">
  <TotalTime>0</TotalTime>
  <Words>8655</Words>
  <Application>WPS 演示</Application>
  <PresentationFormat>宽屏</PresentationFormat>
  <Paragraphs>491</Paragraphs>
  <Slides>14</Slides>
  <Notes>14</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14</vt:i4>
      </vt:variant>
    </vt:vector>
  </HeadingPairs>
  <TitlesOfParts>
    <vt:vector size="38" baseType="lpstr">
      <vt:lpstr>Arial</vt:lpstr>
      <vt:lpstr>宋体</vt:lpstr>
      <vt:lpstr>Wingdings</vt:lpstr>
      <vt:lpstr>微软雅黑</vt:lpstr>
      <vt:lpstr>Montserrat</vt:lpstr>
      <vt:lpstr>Segoe Print</vt:lpstr>
      <vt:lpstr>Roboto</vt:lpstr>
      <vt:lpstr>Roboto</vt:lpstr>
      <vt:lpstr>Montserrat</vt:lpstr>
      <vt:lpstr>Arial</vt:lpstr>
      <vt:lpstr>Montserrat</vt:lpstr>
      <vt:lpstr>Segoe UI</vt:lpstr>
      <vt:lpstr>Calibri</vt:lpstr>
      <vt:lpstr>Times New Roman</vt:lpstr>
      <vt:lpstr>Wingdings</vt:lpstr>
      <vt:lpstr>Roboto </vt:lpstr>
      <vt:lpstr>Calibri</vt:lpstr>
      <vt:lpstr>Arial Unicode MS</vt:lpstr>
      <vt:lpstr>等线 Light</vt:lpstr>
      <vt:lpstr>Aptos Display</vt:lpstr>
      <vt:lpstr>Segoe UI Variable Display</vt:lpstr>
      <vt:lpstr>等线</vt:lpstr>
      <vt:lpstr>Aptos</vt:lpstr>
      <vt:lpstr>Office 主题​​</vt:lpstr>
      <vt:lpstr>HALO 80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Damon Xie</dc:creator>
  <cp:lastModifiedBy>一心如初。</cp:lastModifiedBy>
  <cp:revision>32</cp:revision>
  <dcterms:created xsi:type="dcterms:W3CDTF">2025-07-30T06:56:00Z</dcterms:created>
  <dcterms:modified xsi:type="dcterms:W3CDTF">2025-10-27T08:31:05Z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C99BCFBADE534941B7DFB472B7B760C7_13</vt:lpwstr>
  </property>
  <property fmtid="{D5CDD505-2E9C-101B-9397-08002B2CF9AE}" pid="3" name="KSOProductBuildVer">
    <vt:lpwstr>2052-12.1.0.23125</vt:lpwstr>
  </property>
  <property fmtid="{D5CDD505-2E9C-101B-9397-08002B2CF9AE}" pid="4" name="ContentTypeId">
    <vt:lpwstr>0x010100E01A8FBB3908BD4681554D596DADDBBC</vt:lpwstr>
  </property>
</Properties>
</file>