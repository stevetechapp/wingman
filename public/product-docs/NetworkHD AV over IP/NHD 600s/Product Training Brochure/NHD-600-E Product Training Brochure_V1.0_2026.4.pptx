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21.xml" ContentType="application/vnd.openxmlformats-officedocument.presentationml.tags+xml"/>
  <Override PartName="/ppt/tags/tag20.xml" ContentType="application/vnd.openxmlformats-officedocument.presentationml.tags+xml"/>
  <Override PartName="/ppt/tags/tag19.xml" ContentType="application/vnd.openxmlformats-officedocument.presentationml.tags+xml"/>
  <Override PartName="/ppt/tags/tag22.xml" ContentType="application/vnd.openxmlformats-officedocument.presentationml.tags+xml"/>
  <Override PartName="/ppt/tags/tag18.xml" ContentType="application/vnd.openxmlformats-officedocument.presentationml.tags+xml"/>
  <Override PartName="/ppt/tags/tag17.xml" ContentType="application/vnd.openxmlformats-officedocument.presentationml.tags+xml"/>
  <Override PartName="/ppt/tags/tag16.xml" ContentType="application/vnd.openxmlformats-officedocument.presentationml.tags+xml"/>
  <Override PartName="/ppt/tags/tag15.xml" ContentType="application/vnd.openxmlformats-officedocument.presentationml.tags+xml"/>
  <Override PartName="/ppt/tags/tag14.xml" ContentType="application/vnd.openxmlformats-officedocument.presentationml.tags+xml"/>
  <Override PartName="/ppt/tags/tag13.xml" ContentType="application/vnd.openxmlformats-officedocument.presentationml.tags+xml"/>
  <Override PartName="/ppt/tags/tag26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docProps/custom.xml" ContentType="application/vnd.openxmlformats-officedocument.custom-propertie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10.xml" ContentType="application/vnd.openxmlformats-officedocument.presentationml.tags+xml"/>
  <Override PartName="/ppt/tags/tag30.xml" ContentType="application/vnd.openxmlformats-officedocument.presentationml.tags+xml"/>
  <Override PartName="/docProps/app.xml" ContentType="application/vnd.openxmlformats-officedocument.extended-propertie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docProps/core.xml" ContentType="application/vnd.openxmlformats-package.core-properties+xml"/>
  <Override PartName="/ppt/tags/tag12.xml" ContentType="application/vnd.openxmlformats-officedocument.presentationml.tags+xml"/>
  <Override PartName="/ppt/tags/tag35.xml" ContentType="application/vnd.openxmlformats-officedocument.presentationml.tags+xml"/>
  <Override PartName="/ppt/tags/tag27.xml" ContentType="application/vnd.openxmlformats-officedocument.presentationml.tags+xml"/>
  <Override PartName="/ppt/tags/tag11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25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9.xml" ContentType="application/vnd.openxmlformats-officedocument.presentationml.tags+xml"/>
  <Override PartName="/ppt/tags/tag36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63" r:id="rId3"/>
  </p:sldMasterIdLst>
  <p:notesMasterIdLst>
    <p:notesMasterId r:id="rId14"/>
  </p:notesMasterIdLst>
  <p:sldIdLst>
    <p:sldId id="257" r:id="rId4"/>
    <p:sldId id="1007" r:id="rId5"/>
    <p:sldId id="1008" r:id="rId6"/>
    <p:sldId id="1069" r:id="rId7"/>
    <p:sldId id="1013" r:id="rId8"/>
    <p:sldId id="1070" r:id="rId9"/>
    <p:sldId id="1010" r:id="rId10"/>
    <p:sldId id="1071" r:id="rId11"/>
    <p:sldId id="272" r:id="rId12"/>
    <p:sldId id="984" r:id="rId13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F3E2"/>
    <a:srgbClr val="D6E5D6"/>
    <a:srgbClr val="0B7934"/>
    <a:srgbClr val="D5E4CF"/>
    <a:srgbClr val="EFEDF9"/>
    <a:srgbClr val="FAF9FD"/>
    <a:srgbClr val="F1E9F7"/>
    <a:srgbClr val="E6D7F1"/>
    <a:srgbClr val="DFCDED"/>
    <a:srgbClr val="E3E0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25" autoAdjust="0"/>
    <p:restoredTop sz="94754" autoAdjust="0"/>
  </p:normalViewPr>
  <p:slideViewPr>
    <p:cSldViewPr snapToGrid="0">
      <p:cViewPr varScale="1">
        <p:scale>
          <a:sx n="81" d="100"/>
          <a:sy n="81" d="100"/>
        </p:scale>
        <p:origin x="437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customXml" Target="../customXml/item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gs" Target="tags/tag1.xml"/><Relationship Id="rId23" Type="http://schemas.openxmlformats.org/officeDocument/2006/relationships/customXml" Target="../customXml/item3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890828-D59D-4FB6-B526-44D0AEA8C2BD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A306D-6C12-4E72-AF59-54F4E5C1E32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更新封面，不需要展示产品；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59890-F5CF-C2E6-65DB-AA7BE4808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0518F4-6DEF-6B0E-600E-A81DD29510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83CEDD-F9FC-64AB-993D-952AC023D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5FA3E1-2E8B-7AF3-B828-4C9AE85FD6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036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11B7E-33AF-4B07-8A60-1A70837D531B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11B7E-33AF-4B07-8A60-1A70837D531B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11B7E-33AF-4B07-8A60-1A70837D531B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7.xml"/><Relationship Id="rId7" Type="http://schemas.openxmlformats.org/officeDocument/2006/relationships/image" Target="../media/image2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4.png"/><Relationship Id="rId4" Type="http://schemas.openxmlformats.org/officeDocument/2006/relationships/tags" Target="../tags/tag8.xml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image" Target="../media/image6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5.xml"/><Relationship Id="rId7" Type="http://schemas.openxmlformats.org/officeDocument/2006/relationships/slideLayout" Target="../slideLayouts/slideLayout14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13" Type="http://schemas.openxmlformats.org/officeDocument/2006/relationships/image" Target="../media/image11.png"/><Relationship Id="rId3" Type="http://schemas.openxmlformats.org/officeDocument/2006/relationships/tags" Target="../tags/tag21.xml"/><Relationship Id="rId7" Type="http://schemas.openxmlformats.org/officeDocument/2006/relationships/slideLayout" Target="../slideLayouts/slideLayout15.xml"/><Relationship Id="rId12" Type="http://schemas.openxmlformats.org/officeDocument/2006/relationships/image" Target="../media/image10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image" Target="../media/image9.png"/><Relationship Id="rId5" Type="http://schemas.openxmlformats.org/officeDocument/2006/relationships/tags" Target="../tags/tag23.xml"/><Relationship Id="rId10" Type="http://schemas.openxmlformats.org/officeDocument/2006/relationships/image" Target="../media/image8.png"/><Relationship Id="rId4" Type="http://schemas.openxmlformats.org/officeDocument/2006/relationships/tags" Target="../tags/tag22.xm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27.xml"/><Relationship Id="rId7" Type="http://schemas.openxmlformats.org/officeDocument/2006/relationships/image" Target="../media/image12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7" Type="http://schemas.openxmlformats.org/officeDocument/2006/relationships/image" Target="../media/image14.jpe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3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image" Target="../media/image6.png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and person sitting in a room with a computer&#10;&#10;Description automatically generated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3000" contrast="-49000"/>
                    </a14:imgEffect>
                    <a14:imgEffect>
                      <a14:saturation sat="16000"/>
                    </a14:imgEffect>
                    <a14:imgEffect>
                      <a14:sharpenSoften amount="-2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7153"/>
            <a:ext cx="12192000" cy="6120322"/>
          </a:xfrm>
          <a:prstGeom prst="rect">
            <a:avLst/>
          </a:prstGeom>
        </p:spPr>
      </p:pic>
      <p:sp>
        <p:nvSpPr>
          <p:cNvPr id="9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1203942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0" name="矩形 7"/>
          <p:cNvSpPr/>
          <p:nvPr>
            <p:custDataLst>
              <p:tags r:id="rId2"/>
            </p:custDataLst>
          </p:nvPr>
        </p:nvSpPr>
        <p:spPr>
          <a:xfrm>
            <a:off x="0" y="1086295"/>
            <a:ext cx="12192000" cy="4567763"/>
          </a:xfrm>
          <a:prstGeom prst="rect">
            <a:avLst/>
          </a:prstGeom>
          <a:solidFill>
            <a:srgbClr val="73B98F">
              <a:alpha val="5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" name="文本框 20"/>
          <p:cNvSpPr txBox="1"/>
          <p:nvPr>
            <p:custDataLst>
              <p:tags r:id="rId3"/>
            </p:custDataLst>
          </p:nvPr>
        </p:nvSpPr>
        <p:spPr>
          <a:xfrm>
            <a:off x="399346" y="257682"/>
            <a:ext cx="4077404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8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Product Guide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81065" y="198014"/>
            <a:ext cx="7063286" cy="503028"/>
          </a:xfrm>
        </p:spPr>
        <p:txBody>
          <a:bodyPr>
            <a:noAutofit/>
          </a:bodyPr>
          <a:lstStyle/>
          <a:p>
            <a:pPr algn="r"/>
            <a:r>
              <a:rPr lang="en-US" altLang="zh-CN" sz="2600" b="1" dirty="0">
                <a:solidFill>
                  <a:schemeClr val="bg1"/>
                </a:solidFill>
                <a:latin typeface="Roboto" charset="0"/>
                <a:ea typeface="Roboto"/>
                <a:cs typeface="Roboto" charset="0"/>
                <a:sym typeface="+mn-ea"/>
              </a:rPr>
              <a:t>NHD-600-E-TX/RX</a:t>
            </a:r>
            <a:endParaRPr lang="zh-CN" altLang="en-US" sz="2600" b="1" dirty="0">
              <a:solidFill>
                <a:schemeClr val="bg1"/>
              </a:solidFill>
              <a:latin typeface="Roboto" charset="0"/>
              <a:ea typeface="宋体" panose="02010600030101010101" pitchFamily="2" charset="-122"/>
              <a:cs typeface="Roboto" charset="0"/>
              <a:sym typeface="+mn-ea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5648280" y="538480"/>
            <a:ext cx="6543720" cy="4346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zh-CN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Roboto" charset="0"/>
                <a:ea typeface="Roboto"/>
                <a:cs typeface="Roboto" charset="0"/>
                <a:sym typeface="+mn-ea"/>
              </a:rPr>
              <a:t>4K60</a:t>
            </a:r>
            <a:r>
              <a:rPr lang="zh-CN" altLang="en-US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Roboto" charset="0"/>
                <a:ea typeface="Roboto"/>
                <a:cs typeface="Roboto" charset="0"/>
                <a:sym typeface="+mn-ea"/>
              </a:rPr>
              <a:t> </a:t>
            </a:r>
            <a:r>
              <a:rPr lang="en-US" altLang="zh-CN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Roboto" charset="0"/>
                <a:ea typeface="Roboto"/>
                <a:cs typeface="Roboto" charset="0"/>
                <a:sym typeface="+mn-ea"/>
              </a:rPr>
              <a:t>Zero</a:t>
            </a:r>
            <a:r>
              <a:rPr lang="zh-CN" altLang="en-US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Roboto" charset="0"/>
                <a:ea typeface="Roboto"/>
                <a:cs typeface="Roboto" charset="0"/>
                <a:sym typeface="+mn-ea"/>
              </a:rPr>
              <a:t> </a:t>
            </a:r>
            <a:r>
              <a:rPr lang="en-US" altLang="zh-CN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Roboto" charset="0"/>
                <a:ea typeface="Roboto"/>
                <a:cs typeface="Roboto" charset="0"/>
                <a:sym typeface="+mn-ea"/>
              </a:rPr>
              <a:t>Latency</a:t>
            </a:r>
            <a:r>
              <a:rPr lang="zh-CN" altLang="en-US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Roboto" charset="0"/>
                <a:ea typeface="Roboto"/>
                <a:cs typeface="Roboto" charset="0"/>
                <a:sym typeface="+mn-ea"/>
              </a:rPr>
              <a:t> </a:t>
            </a:r>
            <a:r>
              <a:rPr lang="en-US" altLang="zh-CN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Roboto" charset="0"/>
                <a:ea typeface="Roboto"/>
                <a:cs typeface="Roboto" charset="0"/>
                <a:sym typeface="+mn-ea"/>
              </a:rPr>
              <a:t>Lossless</a:t>
            </a:r>
            <a:r>
              <a:rPr lang="zh-CN" altLang="en-US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Roboto" charset="0"/>
                <a:ea typeface="Roboto"/>
                <a:cs typeface="Roboto" charset="0"/>
                <a:sym typeface="+mn-ea"/>
              </a:rPr>
              <a:t> </a:t>
            </a:r>
            <a:r>
              <a:rPr lang="en-US" altLang="zh-CN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Roboto" charset="0"/>
                <a:ea typeface="Roboto"/>
                <a:cs typeface="Roboto" charset="0"/>
                <a:sym typeface="+mn-ea"/>
              </a:rPr>
              <a:t>Encoder</a:t>
            </a:r>
            <a:r>
              <a:rPr lang="zh-CN" altLang="en-US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Roboto" charset="0"/>
                <a:ea typeface="Roboto"/>
                <a:cs typeface="Roboto" charset="0"/>
                <a:sym typeface="+mn-ea"/>
              </a:rPr>
              <a:t> </a:t>
            </a:r>
            <a:r>
              <a:rPr lang="en-US" altLang="zh-CN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Roboto" charset="0"/>
                <a:ea typeface="Roboto"/>
                <a:cs typeface="Roboto" charset="0"/>
                <a:sym typeface="+mn-ea"/>
              </a:rPr>
              <a:t>and</a:t>
            </a:r>
            <a:r>
              <a:rPr lang="zh-CN" altLang="en-US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Roboto" charset="0"/>
                <a:ea typeface="Roboto"/>
                <a:cs typeface="Roboto" charset="0"/>
                <a:sym typeface="+mn-ea"/>
              </a:rPr>
              <a:t> </a:t>
            </a:r>
            <a:r>
              <a:rPr lang="en-US" altLang="zh-CN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Roboto" charset="0"/>
                <a:ea typeface="Roboto"/>
                <a:cs typeface="Roboto" charset="0"/>
                <a:sym typeface="+mn-ea"/>
              </a:rPr>
              <a:t>Decoder</a:t>
            </a:r>
            <a:endParaRPr lang="zh-CN" altLang="en-US" sz="1800" dirty="0">
              <a:solidFill>
                <a:schemeClr val="accent6">
                  <a:lumMod val="40000"/>
                  <a:lumOff val="60000"/>
                </a:schemeClr>
              </a:solidFill>
              <a:latin typeface="Roboto" charset="0"/>
              <a:ea typeface="宋体" panose="02010600030101010101" pitchFamily="2" charset="-122"/>
              <a:cs typeface="Roboto" charset="0"/>
              <a:sym typeface="+mn-ea"/>
            </a:endParaRPr>
          </a:p>
        </p:txBody>
      </p:sp>
      <p:sp>
        <p:nvSpPr>
          <p:cNvPr id="13" name="矩形 7"/>
          <p:cNvSpPr/>
          <p:nvPr>
            <p:custDataLst>
              <p:tags r:id="rId4"/>
            </p:custDataLst>
          </p:nvPr>
        </p:nvSpPr>
        <p:spPr>
          <a:xfrm>
            <a:off x="0" y="5654059"/>
            <a:ext cx="12192000" cy="120343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6" name="Picture 25" descr="A picture containing text, clock&#10;&#10;Description automatically generated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46" y="5877970"/>
            <a:ext cx="4315581" cy="863114"/>
          </a:xfrm>
          <a:prstGeom prst="rect">
            <a:avLst/>
          </a:prstGeom>
        </p:spPr>
      </p:pic>
      <p:sp>
        <p:nvSpPr>
          <p:cNvPr id="19" name="Title 1"/>
          <p:cNvSpPr txBox="1"/>
          <p:nvPr/>
        </p:nvSpPr>
        <p:spPr>
          <a:xfrm>
            <a:off x="6616271" y="5849316"/>
            <a:ext cx="5691024" cy="8116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i="1" dirty="0">
                <a:latin typeface="Montserrat"/>
                <a:ea typeface="Roboto"/>
                <a:cs typeface="Arial" panose="020B0604020202020204"/>
              </a:rPr>
              <a:t>Award-Winning Audio-Visual</a:t>
            </a:r>
            <a:br>
              <a:rPr lang="en-US" sz="2400" b="1" i="1" dirty="0">
                <a:latin typeface="Montserrat" pitchFamily="2" charset="77"/>
                <a:ea typeface="Roboto"/>
                <a:cs typeface="Arial" panose="020B0604020202020204"/>
              </a:rPr>
            </a:br>
            <a:r>
              <a:rPr lang="en-US" sz="2400" b="1" i="1" dirty="0">
                <a:latin typeface="Montserrat"/>
                <a:ea typeface="Roboto"/>
                <a:cs typeface="Arial" panose="020B0604020202020204"/>
              </a:rPr>
              <a:t>Solutions Manufacturer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C557B08-AD2D-4317-7280-90AE59A3F138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3" t="31910" r="15544" b="31423"/>
          <a:stretch>
            <a:fillRect/>
          </a:stretch>
        </p:blipFill>
        <p:spPr>
          <a:xfrm>
            <a:off x="1939108" y="2734794"/>
            <a:ext cx="4041597" cy="2020814"/>
          </a:xfrm>
          <a:prstGeom prst="rect">
            <a:avLst/>
          </a:prstGeom>
        </p:spPr>
      </p:pic>
      <p:pic>
        <p:nvPicPr>
          <p:cNvPr id="10" name="图片 9" descr="黑色的游戏机&#10;&#10;AI 生成的内容可能不正确。">
            <a:extLst>
              <a:ext uri="{FF2B5EF4-FFF2-40B4-BE49-F238E27FC236}">
                <a16:creationId xmlns:a16="http://schemas.microsoft.com/office/drawing/2014/main" id="{FDEB6F21-D5D8-A0CC-95FC-18882C81654E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82" t="29575" r="15485" b="33613"/>
          <a:stretch>
            <a:fillRect/>
          </a:stretch>
        </p:blipFill>
        <p:spPr>
          <a:xfrm>
            <a:off x="6096000" y="2572828"/>
            <a:ext cx="4025716" cy="20208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Contents</a:t>
            </a:r>
          </a:p>
        </p:txBody>
      </p:sp>
      <p:pic>
        <p:nvPicPr>
          <p:cNvPr id="2" name="Google Shape;82;p1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10605" y="1157534"/>
            <a:ext cx="335948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Product</a:t>
            </a:r>
            <a:r>
              <a:rPr lang="zh-CN" altLang="en-US" sz="28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 </a:t>
            </a:r>
            <a:r>
              <a:rPr lang="en-US" altLang="zh-CN" sz="28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Overview</a:t>
            </a:r>
            <a:endParaRPr lang="en-US" sz="2800" b="1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03806" y="1840408"/>
            <a:ext cx="2573080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453264" y="2531846"/>
            <a:ext cx="3274163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236245" y="4576432"/>
            <a:ext cx="3708195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803806" y="5240122"/>
            <a:ext cx="2573080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807006" y="3198828"/>
            <a:ext cx="4566677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091197" y="3887190"/>
            <a:ext cx="5998293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6"/>
          <p:cNvSpPr txBox="1"/>
          <p:nvPr>
            <p:custDataLst>
              <p:tags r:id="rId4"/>
            </p:custDataLst>
          </p:nvPr>
        </p:nvSpPr>
        <p:spPr>
          <a:xfrm>
            <a:off x="1974513" y="721544"/>
            <a:ext cx="8231658" cy="6039829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Key Features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Why Choose Us?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altLang="zh-CN" sz="2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Interface &amp; Specifications</a:t>
            </a:r>
            <a:endParaRPr lang="en-US" altLang="zh-CN" sz="2800" b="1" strike="noStrike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Typical Connection &amp; Applications 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Competitor Analysis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Q &amp; A Session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8904655" y="1635474"/>
            <a:ext cx="2489200" cy="0"/>
          </a:xfrm>
          <a:prstGeom prst="line">
            <a:avLst/>
          </a:prstGeom>
          <a:ln w="28575" cmpd="sng">
            <a:solidFill>
              <a:schemeClr val="dk2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4"/>
            </p:custDataLst>
          </p:nvPr>
        </p:nvCxnSpPr>
        <p:spPr>
          <a:xfrm>
            <a:off x="5829257" y="5517369"/>
            <a:ext cx="2489200" cy="0"/>
          </a:xfrm>
          <a:prstGeom prst="line">
            <a:avLst/>
          </a:prstGeom>
          <a:ln w="28575" cmpd="sng">
            <a:solidFill>
              <a:schemeClr val="dk2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457155" y="155572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Product Overview</a:t>
            </a:r>
          </a:p>
        </p:txBody>
      </p:sp>
      <p:pic>
        <p:nvPicPr>
          <p:cNvPr id="3" name="Google Shape;82;p1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itle 6"/>
          <p:cNvSpPr txBox="1"/>
          <p:nvPr>
            <p:custDataLst>
              <p:tags r:id="rId6"/>
            </p:custDataLst>
          </p:nvPr>
        </p:nvSpPr>
        <p:spPr>
          <a:xfrm>
            <a:off x="5765164" y="1843262"/>
            <a:ext cx="5862319" cy="350710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fontScale="92500" lnSpcReduction="1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ts val="26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-US" altLang="zh-CN" sz="2900" b="1" spc="0" dirty="0" err="1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NetworkHD</a:t>
            </a:r>
            <a:r>
              <a:rPr lang="zh-CN" altLang="en-US" sz="2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2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600</a:t>
            </a:r>
            <a:r>
              <a:rPr lang="zh-CN" altLang="en-US" sz="2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2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Series</a:t>
            </a:r>
            <a:r>
              <a:rPr lang="zh-CN" altLang="en-US" sz="2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2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Lite</a:t>
            </a:r>
            <a:r>
              <a:rPr lang="zh-CN" altLang="en-US" sz="2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2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4K60</a:t>
            </a:r>
            <a:r>
              <a:rPr lang="zh-CN" altLang="en-US" sz="2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2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Lossless</a:t>
            </a:r>
            <a:r>
              <a:rPr lang="zh-CN" altLang="en-US" sz="2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2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Zero</a:t>
            </a:r>
            <a:r>
              <a:rPr lang="zh-CN" altLang="en-US" sz="2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2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Latency</a:t>
            </a:r>
            <a:r>
              <a:rPr lang="zh-CN" altLang="en-US" sz="2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2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Encoder</a:t>
            </a:r>
            <a:r>
              <a:rPr lang="zh-CN" altLang="en-US" sz="2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2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and</a:t>
            </a:r>
            <a:r>
              <a:rPr lang="zh-CN" altLang="en-US" sz="2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2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Decoder</a:t>
            </a: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The NHD-600-E encoder and decoder deliver cost-optimized, high-performance SDVoE AV over IP transmission and reception. The “E” variations remove some of the I/O found on the standard encoder and decoder, keeping only the core functionality required for most applications. Engineered for installations requiring pixel-perfect 4K60 4:4:4 video with zero-frame latency, this series supports robust 10GbE network operation with PoE+ and a flexible AV control suite.</a:t>
            </a:r>
            <a:r>
              <a:rPr lang="zh-CN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cs typeface="Arial" panose="020B0604020202020204" pitchFamily="34" charset="0"/>
              </a:rPr>
              <a:t> </a:t>
            </a: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As the economic extension of the NHD</a:t>
            </a:r>
            <a:r>
              <a:rPr lang="zh-CN" alt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600 Series, the NHD-600-E enables integrators to deploy reliable AV distribution for point-to-point or scalable matrix applications without unnecessary complexity or cost.</a:t>
            </a:r>
            <a:r>
              <a:rPr lang="zh-CN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cs typeface="Arial" panose="020B0604020202020204" pitchFamily="34" charset="0"/>
              </a:rPr>
              <a:t> </a:t>
            </a:r>
            <a:endParaRPr lang="en-US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pic>
        <p:nvPicPr>
          <p:cNvPr id="6" name="图片 5" descr="电子设备&#10;&#10;AI 生成的内容可能不正确。">
            <a:extLst>
              <a:ext uri="{FF2B5EF4-FFF2-40B4-BE49-F238E27FC236}">
                <a16:creationId xmlns:a16="http://schemas.microsoft.com/office/drawing/2014/main" id="{8EB389F4-6FD0-9923-19D9-4674D3D5B53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" t="25669" r="8335" b="18627"/>
          <a:stretch>
            <a:fillRect/>
          </a:stretch>
        </p:blipFill>
        <p:spPr>
          <a:xfrm>
            <a:off x="725511" y="2275618"/>
            <a:ext cx="4718406" cy="307474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0" name="Google Shape;82;p1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21" name="文本框 6"/>
          <p:cNvSpPr txBox="1"/>
          <p:nvPr>
            <p:custDataLst>
              <p:tags r:id="rId2"/>
            </p:custDataLst>
          </p:nvPr>
        </p:nvSpPr>
        <p:spPr>
          <a:xfrm>
            <a:off x="457155" y="163192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Main Features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231533" y="3435306"/>
            <a:ext cx="4513352" cy="1041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600" b="1" dirty="0">
                <a:solidFill>
                  <a:srgbClr val="0B7935"/>
                </a:solidFill>
                <a:latin typeface="Roboto" charset="0"/>
                <a:ea typeface="Roboto" charset="0"/>
              </a:rPr>
              <a:t>Flexible</a:t>
            </a:r>
            <a:r>
              <a:rPr lang="zh-CN" altLang="en-US" sz="1600" b="1" dirty="0">
                <a:solidFill>
                  <a:srgbClr val="0B7935"/>
                </a:solidFill>
                <a:latin typeface="Roboto" charset="0"/>
                <a:ea typeface="Roboto" charset="0"/>
              </a:rPr>
              <a:t> </a:t>
            </a:r>
            <a:r>
              <a:rPr lang="en-US" altLang="zh-CN" sz="1600" b="1" dirty="0">
                <a:solidFill>
                  <a:srgbClr val="0B7935"/>
                </a:solidFill>
                <a:latin typeface="Roboto" charset="0"/>
                <a:ea typeface="Roboto" charset="0"/>
              </a:rPr>
              <a:t>Connectivity</a:t>
            </a:r>
            <a:br>
              <a:rPr lang="en-US" sz="1400" dirty="0"/>
            </a:b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Both the encoder and decoder feature HDMI 2.0 connectivity,  along with analog audio connections and bidirectional IR and RS-232 passthrough, enabling seamless integration with external devices.</a:t>
            </a:r>
            <a:r>
              <a:rPr lang="zh-CN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Roboto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1233441" y="1727862"/>
            <a:ext cx="4599940" cy="848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600" b="1" dirty="0">
                <a:solidFill>
                  <a:srgbClr val="0B7935"/>
                </a:solidFill>
                <a:latin typeface="Roboto" charset="0"/>
                <a:ea typeface="Roboto" charset="0"/>
              </a:rPr>
              <a:t>Lossless Video Quality</a:t>
            </a:r>
          </a:p>
          <a:p>
            <a:pPr>
              <a:lnSpc>
                <a:spcPts val="15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Deliver pixel-perfect, lossless video with support for up to 4K60 4:4:4 over HDMI 2.0, including HDR formats such as HDR10, HLG, and Dolby Vision.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Roboto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7080300" y="1750849"/>
            <a:ext cx="4599940" cy="1041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600" b="1" dirty="0">
                <a:solidFill>
                  <a:srgbClr val="0B7935"/>
                </a:solidFill>
                <a:latin typeface="Roboto" charset="0"/>
                <a:ea typeface="Roboto" charset="0"/>
              </a:rPr>
              <a:t>Zero-Latency</a:t>
            </a:r>
            <a:r>
              <a:rPr lang="zh-CN" altLang="en-US" sz="1600" b="1" dirty="0">
                <a:solidFill>
                  <a:srgbClr val="0B7935"/>
                </a:solidFill>
                <a:latin typeface="Roboto" charset="0"/>
                <a:ea typeface="Roboto" charset="0"/>
              </a:rPr>
              <a:t> </a:t>
            </a:r>
            <a:r>
              <a:rPr lang="en-US" altLang="zh-CN" sz="1600" b="1" dirty="0">
                <a:solidFill>
                  <a:srgbClr val="0B7935"/>
                </a:solidFill>
                <a:latin typeface="Roboto" charset="0"/>
                <a:ea typeface="Roboto" charset="0"/>
              </a:rPr>
              <a:t>Performance</a:t>
            </a:r>
          </a:p>
          <a:p>
            <a:pPr>
              <a:lnSpc>
                <a:spcPts val="15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Delivers zero-frame latency for real-time video transmission. This ensures perfectly synchronized audio and video, making it ideal for live presentation environments, control rooms, and interactive AV systems where timing accuracy is critical. 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Roboto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6" name="Picture 42" descr="A black and white background with circles and dots&#10;&#10;Description automatically generated">
            <a:extLst>
              <a:ext uri="{FF2B5EF4-FFF2-40B4-BE49-F238E27FC236}">
                <a16:creationId xmlns:a16="http://schemas.microsoft.com/office/drawing/2014/main" id="{F8107AEB-8D61-2ECE-6DE7-3B035E794D3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87" y="1750828"/>
            <a:ext cx="516314" cy="424368"/>
          </a:xfrm>
          <a:prstGeom prst="rect">
            <a:avLst/>
          </a:prstGeom>
        </p:spPr>
      </p:pic>
      <p:pic>
        <p:nvPicPr>
          <p:cNvPr id="7" name="Picture 32" descr="A black background with arrows pointing to a symbol&#10;&#10;Description automatically generated">
            <a:extLst>
              <a:ext uri="{FF2B5EF4-FFF2-40B4-BE49-F238E27FC236}">
                <a16:creationId xmlns:a16="http://schemas.microsoft.com/office/drawing/2014/main" id="{23800B47-2BE3-5F8B-4098-D096735B9F5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16" y="3429000"/>
            <a:ext cx="556469" cy="439318"/>
          </a:xfrm>
          <a:prstGeom prst="rect">
            <a:avLst/>
          </a:prstGeom>
        </p:spPr>
      </p:pic>
      <p:pic>
        <p:nvPicPr>
          <p:cNvPr id="8" name="Picture 28" descr="A close up of a logo&#10;&#10;Description automatically generated">
            <a:extLst>
              <a:ext uri="{FF2B5EF4-FFF2-40B4-BE49-F238E27FC236}">
                <a16:creationId xmlns:a16="http://schemas.microsoft.com/office/drawing/2014/main" id="{55B024A2-D239-99F3-ADC5-57E8369102A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209"/>
          <a:stretch>
            <a:fillRect/>
          </a:stretch>
        </p:blipFill>
        <p:spPr>
          <a:xfrm>
            <a:off x="6447117" y="1868572"/>
            <a:ext cx="580193" cy="232541"/>
          </a:xfrm>
          <a:prstGeom prst="rect">
            <a:avLst/>
          </a:prstGeom>
        </p:spPr>
      </p:pic>
      <p:pic>
        <p:nvPicPr>
          <p:cNvPr id="12" name="图片 11" descr="图标&#10;&#10;AI 生成的内容可能不正确。">
            <a:extLst>
              <a:ext uri="{FF2B5EF4-FFF2-40B4-BE49-F238E27FC236}">
                <a16:creationId xmlns:a16="http://schemas.microsoft.com/office/drawing/2014/main" id="{CA665299-33EB-470D-AC51-697510A2BF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116" y="3429001"/>
            <a:ext cx="580193" cy="43931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95281BD9-6D58-4EE7-BA7A-0F47A09A416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7080300" y="3428567"/>
            <a:ext cx="4599940" cy="848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600" b="1" dirty="0">
                <a:solidFill>
                  <a:srgbClr val="0B7935"/>
                </a:solidFill>
                <a:latin typeface="Roboto" charset="0"/>
                <a:ea typeface="Roboto" charset="0"/>
              </a:rPr>
              <a:t>Cost-Effective Solution</a:t>
            </a:r>
          </a:p>
          <a:p>
            <a:pPr>
              <a:lnSpc>
                <a:spcPts val="15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Remove some of the I/O found on the standard encoder and decoder and retain only the core functions required for most applications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12280" y="1083565"/>
            <a:ext cx="7108885" cy="262758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7145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Interface of the Product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867016" y="1157767"/>
            <a:ext cx="1448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Roboto" charset="0"/>
                <a:cs typeface="Roboto" charset="0"/>
              </a:rPr>
              <a:t>NHD-600-E-TX</a:t>
            </a:r>
          </a:p>
        </p:txBody>
      </p:sp>
      <p:pic>
        <p:nvPicPr>
          <p:cNvPr id="16" name="Google Shape;82;p1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12280" y="3868461"/>
            <a:ext cx="7108885" cy="281808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文本框 9"/>
          <p:cNvSpPr txBox="1"/>
          <p:nvPr/>
        </p:nvSpPr>
        <p:spPr>
          <a:xfrm>
            <a:off x="7867017" y="3927899"/>
            <a:ext cx="1448730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 b="1" dirty="0">
                <a:latin typeface="Roboto" charset="0"/>
                <a:cs typeface="Roboto" charset="0"/>
                <a:sym typeface="+mn-ea"/>
              </a:rPr>
              <a:t>NHD-600-E-RX</a:t>
            </a:r>
          </a:p>
        </p:txBody>
      </p:sp>
      <p:pic>
        <p:nvPicPr>
          <p:cNvPr id="18" name="图片 17" descr="电子设备的屏幕&#10;&#10;AI 生成的内容可能不正确。">
            <a:extLst>
              <a:ext uri="{FF2B5EF4-FFF2-40B4-BE49-F238E27FC236}">
                <a16:creationId xmlns:a16="http://schemas.microsoft.com/office/drawing/2014/main" id="{176563BF-14C6-8775-76FE-193FEDDD41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2932" y="1089150"/>
            <a:ext cx="4538666" cy="2622000"/>
          </a:xfrm>
          <a:prstGeom prst="rect">
            <a:avLst/>
          </a:prstGeom>
        </p:spPr>
      </p:pic>
      <p:pic>
        <p:nvPicPr>
          <p:cNvPr id="21" name="图片 20" descr="手机屏幕的截图&#10;&#10;AI 生成的内容可能不正确。">
            <a:extLst>
              <a:ext uri="{FF2B5EF4-FFF2-40B4-BE49-F238E27FC236}">
                <a16:creationId xmlns:a16="http://schemas.microsoft.com/office/drawing/2014/main" id="{EECC64F0-F9DC-9EC8-E3E7-76DF363856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017" y="3919981"/>
            <a:ext cx="4585409" cy="270211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CA4F0-CC5C-677D-21AD-E587FF2EB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7">
            <a:extLst>
              <a:ext uri="{FF2B5EF4-FFF2-40B4-BE49-F238E27FC236}">
                <a16:creationId xmlns:a16="http://schemas.microsoft.com/office/drawing/2014/main" id="{CF07E346-84F5-6AB2-616B-9BFB456E4A8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A9C1A5-0BB0-2BD4-7059-C6B4D37BC07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7155" y="17145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Specifications &amp; Packing List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7AC5C02-E4E3-1AD5-8677-FF732B6DCD1D}"/>
              </a:ext>
            </a:extLst>
          </p:cNvPr>
          <p:cNvSpPr txBox="1"/>
          <p:nvPr/>
        </p:nvSpPr>
        <p:spPr>
          <a:xfrm>
            <a:off x="7547810" y="1901190"/>
            <a:ext cx="4644189" cy="28994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b="1" dirty="0">
                <a:latin typeface="Roboto" charset="0"/>
                <a:cs typeface="Arial" panose="020B0604020202020204" pitchFamily="34" charset="0"/>
              </a:rPr>
              <a:t>What’s in the Box?</a:t>
            </a:r>
          </a:p>
          <a:p>
            <a:pPr>
              <a:lnSpc>
                <a:spcPts val="900"/>
              </a:lnSpc>
            </a:pPr>
            <a:endParaRPr lang="zh-CN" altLang="en-US" sz="1600" dirty="0">
              <a:latin typeface="Roboto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1x NHD-600-E-TX or NHD-600-E-RX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1x IR Transmitter(For TX) or Receiver(For RX)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2x Pair of Wall Mounting Ears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1x 12V 1A DC PSU with UK/US/EU/AU Pins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1x 3-pin 3.5mm Terminal Block</a:t>
            </a: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cs typeface="Arial" panose="020B0604020202020204" pitchFamily="34" charset="0"/>
            </a:endParaRPr>
          </a:p>
        </p:txBody>
      </p:sp>
      <p:pic>
        <p:nvPicPr>
          <p:cNvPr id="6" name="Google Shape;82;p1">
            <a:extLst>
              <a:ext uri="{FF2B5EF4-FFF2-40B4-BE49-F238E27FC236}">
                <a16:creationId xmlns:a16="http://schemas.microsoft.com/office/drawing/2014/main" id="{9D5357F4-BE2C-BE96-FD95-CC16D08062BA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1">
            <a:extLst>
              <a:ext uri="{FF2B5EF4-FFF2-40B4-BE49-F238E27FC236}">
                <a16:creationId xmlns:a16="http://schemas.microsoft.com/office/drawing/2014/main" id="{E9FFC366-CC91-9037-A55A-E584A676437B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B4A7556-52F1-A847-7C01-5D9BFAEFC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286469"/>
              </p:ext>
            </p:extLst>
          </p:nvPr>
        </p:nvGraphicFramePr>
        <p:xfrm>
          <a:off x="581194" y="1083565"/>
          <a:ext cx="6287092" cy="53801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7584">
                  <a:extLst>
                    <a:ext uri="{9D8B030D-6E8A-4147-A177-3AD203B41FA5}">
                      <a16:colId xmlns:a16="http://schemas.microsoft.com/office/drawing/2014/main" val="1125973591"/>
                    </a:ext>
                  </a:extLst>
                </a:gridCol>
                <a:gridCol w="2077673">
                  <a:extLst>
                    <a:ext uri="{9D8B030D-6E8A-4147-A177-3AD203B41FA5}">
                      <a16:colId xmlns:a16="http://schemas.microsoft.com/office/drawing/2014/main" val="2025007094"/>
                    </a:ext>
                  </a:extLst>
                </a:gridCol>
                <a:gridCol w="2891835">
                  <a:extLst>
                    <a:ext uri="{9D8B030D-6E8A-4147-A177-3AD203B41FA5}">
                      <a16:colId xmlns:a16="http://schemas.microsoft.com/office/drawing/2014/main" val="4001481737"/>
                    </a:ext>
                  </a:extLst>
                </a:gridCol>
              </a:tblGrid>
              <a:tr h="512596">
                <a:tc gridSpan="3"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Specification</a:t>
                      </a:r>
                    </a:p>
                  </a:txBody>
                  <a:tcPr marL="9525" marR="9525" marT="9525" marB="0" anchor="ctr">
                    <a:solidFill>
                      <a:srgbClr val="0B793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rgbClr val="0B793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1400" b="1" kern="1200" dirty="0">
                        <a:solidFill>
                          <a:schemeClr val="lt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B79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712861"/>
                  </a:ext>
                </a:extLst>
              </a:tr>
              <a:tr h="438186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Video</a:t>
                      </a: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Video Interface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1x HDMI 2.0(For TX/RX)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801167"/>
                  </a:ext>
                </a:extLst>
              </a:tr>
              <a:tr h="43818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HDCP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HDCP 2.3 compliant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246071"/>
                  </a:ext>
                </a:extLst>
              </a:tr>
              <a:tr h="438186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Max. Video Resolution</a:t>
                      </a: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*5120x2160@60Hz 4:2:0, 4096x2160@60Hz 4:4:4, 3840x2160@60Hz 4:4:4</a:t>
                      </a:r>
                    </a:p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+mn-ea"/>
                          <a:cs typeface="+mn-cs"/>
                        </a:rPr>
                        <a:t>*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+mn-ea"/>
                          <a:cs typeface="+mn-cs"/>
                        </a:rPr>
                        <a:t>5K resolution only support in genlock mode</a:t>
                      </a:r>
                      <a:endParaRPr lang="en-US" sz="1200" u="none" strike="noStrike" kern="1200" dirty="0">
                        <a:solidFill>
                          <a:schemeClr val="dk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763491"/>
                  </a:ext>
                </a:extLst>
              </a:tr>
              <a:tr h="438186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Scaler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Unsupported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239532"/>
                  </a:ext>
                </a:extLst>
              </a:tr>
              <a:tr h="438186">
                <a:tc gridSpan="2">
                  <a:txBody>
                    <a:bodyPr/>
                    <a:lstStyle/>
                    <a:p>
                      <a:pPr marL="108000"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Audio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1x 3.5mm analog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388244"/>
                  </a:ext>
                </a:extLst>
              </a:tr>
              <a:tr h="43818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Ethernet</a:t>
                      </a: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10G Ethernet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1x RJ45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712072"/>
                  </a:ext>
                </a:extLst>
              </a:tr>
              <a:tr h="438186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1G Ethernet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1x RJ45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005425"/>
                  </a:ext>
                </a:extLst>
              </a:tr>
              <a:tr h="43818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Control</a:t>
                      </a: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InfraRed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1x IR In</a:t>
                      </a:r>
                      <a:b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1x IR Out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68846"/>
                  </a:ext>
                </a:extLst>
              </a:tr>
              <a:tr h="438186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RS232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1x 3-pin Phoenix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283982"/>
                  </a:ext>
                </a:extLst>
              </a:tr>
              <a:tr h="438186">
                <a:tc gridSpan="2">
                  <a:txBody>
                    <a:bodyPr/>
                    <a:lstStyle/>
                    <a:p>
                      <a:pPr marL="108000"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Latency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l-GR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&lt; 120μ</a:t>
                      </a: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77732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009957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5621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Typical Connection &amp; Applications</a:t>
            </a:r>
          </a:p>
        </p:txBody>
      </p:sp>
      <p:sp>
        <p:nvSpPr>
          <p:cNvPr id="14" name="Title 6"/>
          <p:cNvSpPr txBox="1"/>
          <p:nvPr>
            <p:custDataLst>
              <p:tags r:id="rId4"/>
            </p:custDataLst>
          </p:nvPr>
        </p:nvSpPr>
        <p:spPr>
          <a:xfrm>
            <a:off x="457155" y="921640"/>
            <a:ext cx="11290300" cy="75882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-285750" fontAlgn="ctr">
              <a:lnSpc>
                <a:spcPts val="18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35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The</a:t>
            </a:r>
            <a:r>
              <a:rPr lang="zh-CN" altLang="en-US" sz="135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35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NHD-600-E</a:t>
            </a:r>
            <a:r>
              <a:rPr lang="zh-CN" altLang="en-US" sz="135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35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is</a:t>
            </a:r>
            <a:r>
              <a:rPr lang="zh-CN" altLang="en-US" sz="135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35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designed for</a:t>
            </a:r>
            <a:r>
              <a:rPr lang="zh-CN" altLang="en-US" sz="135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35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point-to-point</a:t>
            </a:r>
            <a:r>
              <a:rPr lang="zh-CN" altLang="en-US" sz="135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35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or</a:t>
            </a:r>
            <a:r>
              <a:rPr lang="zh-CN" altLang="en-US" sz="135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35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point-to-many</a:t>
            </a:r>
            <a:r>
              <a:rPr lang="zh-CN" altLang="en-US" sz="135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35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scenarios. It offers a cost-effective solution for zero-latency applications by removing USB, video wall, </a:t>
            </a:r>
            <a:r>
              <a:rPr lang="en-US" altLang="zh-CN" sz="1350" spc="0" dirty="0" err="1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multiview</a:t>
            </a:r>
            <a:r>
              <a:rPr lang="en-US" altLang="zh-CN" sz="135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and output scaling functions. The typical wiring diagram and application example are shown below.  </a:t>
            </a:r>
            <a:endParaRPr lang="zh-CN" altLang="en-US" sz="135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C61E5B-781B-106F-6913-23053DADADE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23586" y="1535752"/>
            <a:ext cx="7525371" cy="532224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solidFill>
              <a:schemeClr val="accent6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6"/>
          <p:cNvSpPr txBox="1"/>
          <p:nvPr>
            <p:custDataLst>
              <p:tags r:id="rId2"/>
            </p:custDataLst>
          </p:nvPr>
        </p:nvSpPr>
        <p:spPr>
          <a:xfrm>
            <a:off x="457155" y="16954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Comparison with </a:t>
            </a:r>
            <a:r>
              <a:rPr lang="en-US" sz="2800" b="1" dirty="0" err="1">
                <a:solidFill>
                  <a:schemeClr val="lt1"/>
                </a:solidFill>
                <a:latin typeface="Montserrat" pitchFamily="2" charset="0"/>
                <a:ea typeface="微软雅黑" panose="020B0503020204020204" pitchFamily="34" charset="-122"/>
                <a:sym typeface="Roboto"/>
              </a:rPr>
              <a:t>NetworkHD</a:t>
            </a:r>
            <a:r>
              <a:rPr lang="en-US" sz="2800" b="1" dirty="0">
                <a:solidFill>
                  <a:schemeClr val="lt1"/>
                </a:solidFill>
                <a:latin typeface="Montserrat" pitchFamily="2" charset="0"/>
                <a:ea typeface="微软雅黑" panose="020B0503020204020204" pitchFamily="34" charset="-122"/>
                <a:sym typeface="Roboto"/>
              </a:rPr>
              <a:t> 600 Series</a:t>
            </a:r>
            <a:endParaRPr lang="en-US" sz="2800" b="1" dirty="0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sym typeface="Roboto"/>
            </a:endParaRPr>
          </a:p>
        </p:txBody>
      </p:sp>
      <p:graphicFrame>
        <p:nvGraphicFramePr>
          <p:cNvPr id="4" name="内容占位符 4">
            <a:extLst>
              <a:ext uri="{FF2B5EF4-FFF2-40B4-BE49-F238E27FC236}">
                <a16:creationId xmlns:a16="http://schemas.microsoft.com/office/drawing/2014/main" id="{77528D39-E363-42DC-7D75-ABC5D91277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2536628"/>
              </p:ext>
            </p:extLst>
          </p:nvPr>
        </p:nvGraphicFramePr>
        <p:xfrm>
          <a:off x="457154" y="1081660"/>
          <a:ext cx="10968870" cy="5239623"/>
        </p:xfrm>
        <a:graphic>
          <a:graphicData uri="http://schemas.openxmlformats.org/drawingml/2006/table">
            <a:tbl>
              <a:tblPr firstRow="1"/>
              <a:tblGrid>
                <a:gridCol w="1007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9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5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3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8935">
                  <a:extLst>
                    <a:ext uri="{9D8B030D-6E8A-4147-A177-3AD203B41FA5}">
                      <a16:colId xmlns:a16="http://schemas.microsoft.com/office/drawing/2014/main" val="523451617"/>
                    </a:ext>
                  </a:extLst>
                </a:gridCol>
                <a:gridCol w="1751391">
                  <a:extLst>
                    <a:ext uri="{9D8B030D-6E8A-4147-A177-3AD203B41FA5}">
                      <a16:colId xmlns:a16="http://schemas.microsoft.com/office/drawing/2014/main" val="54173681"/>
                    </a:ext>
                  </a:extLst>
                </a:gridCol>
              </a:tblGrid>
              <a:tr h="456899">
                <a:tc gridSpan="2"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buNone/>
                      </a:pPr>
                      <a:endParaRPr lang="en-US" altLang="en-US" sz="1400" b="1" i="0" strike="noStrike" spc="0" dirty="0">
                        <a:solidFill>
                          <a:schemeClr val="bg1"/>
                        </a:solidFill>
                        <a:effectLst/>
                        <a:latin typeface="Roboto"/>
                        <a:ea typeface="Roboto"/>
                      </a:endParaRP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B793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Roboto"/>
                          <a:ea typeface="Roboto"/>
                        </a:rPr>
                        <a:t>NHD-600-TRX</a:t>
                      </a:r>
                      <a:endParaRPr lang="en-US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Roboto"/>
                        <a:ea typeface="Roboto"/>
                      </a:endParaRP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B79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Roboto"/>
                          <a:ea typeface="Roboto"/>
                        </a:rPr>
                        <a:t>NHD-600-TRXF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B79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i="0" u="none" strike="noStrike">
                          <a:solidFill>
                            <a:schemeClr val="bg1"/>
                          </a:solidFill>
                          <a:effectLst/>
                          <a:latin typeface="Roboto"/>
                          <a:ea typeface="Roboto"/>
                        </a:rPr>
                        <a:t>NHD-610-TX v2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B793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CN" sz="1400" b="1" i="0" u="none" strike="noStrike">
                          <a:solidFill>
                            <a:schemeClr val="bg1"/>
                          </a:solidFill>
                          <a:effectLst/>
                          <a:latin typeface="Roboto"/>
                          <a:ea typeface="Roboto"/>
                        </a:rPr>
                        <a:t>NHD-600-E-TX</a:t>
                      </a: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2">
                          <a:lumMod val="9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B793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CN" sz="1400" b="1" i="0" u="none" strike="noStrike">
                          <a:solidFill>
                            <a:schemeClr val="bg1"/>
                          </a:solidFill>
                          <a:effectLst/>
                          <a:latin typeface="Roboto"/>
                          <a:ea typeface="Roboto"/>
                        </a:rPr>
                        <a:t>NHD-600-E-RX</a:t>
                      </a: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2">
                          <a:lumMod val="9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B79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914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en-US" sz="1200" b="0" i="0" strike="noStrike">
                          <a:solidFill>
                            <a:schemeClr val="bg1"/>
                          </a:solidFill>
                          <a:effectLst/>
                          <a:latin typeface="Roboto"/>
                          <a:ea typeface="Roboto"/>
                        </a:rPr>
                        <a:t>Device Type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B793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/>
                      </a:pPr>
                      <a:r>
                        <a:rPr lang="en-US" altLang="en-US" sz="1200" b="0" i="0" strike="noStrike">
                          <a:solidFill>
                            <a:schemeClr val="bg1"/>
                          </a:solidFill>
                          <a:effectLst/>
                          <a:latin typeface="Roboto"/>
                          <a:ea typeface="Roboto"/>
                        </a:rPr>
                        <a:t>Transceiver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B793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en-US" sz="1200" b="0" i="0" strike="noStrike" dirty="0">
                          <a:solidFill>
                            <a:schemeClr val="bg1"/>
                          </a:solidFill>
                          <a:effectLst/>
                          <a:latin typeface="Roboto"/>
                          <a:ea typeface="Roboto"/>
                        </a:rPr>
                        <a:t>Transceiver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B79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200" b="0" i="0" strike="noStrike" dirty="0">
                          <a:solidFill>
                            <a:schemeClr val="bg1"/>
                          </a:solidFill>
                          <a:effectLst/>
                          <a:latin typeface="Roboto"/>
                          <a:ea typeface="Roboto"/>
                        </a:rPr>
                        <a:t>Encoder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B793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en-US" sz="1200" b="0" i="0" strike="noStrike" dirty="0">
                          <a:solidFill>
                            <a:schemeClr val="bg1"/>
                          </a:solidFill>
                          <a:effectLst/>
                          <a:latin typeface="Roboto"/>
                          <a:ea typeface="Roboto"/>
                        </a:rPr>
                        <a:t>Encoder</a:t>
                      </a: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2">
                          <a:lumMod val="90000"/>
                        </a:schemeClr>
                      </a:solidFill>
                    </a:lnT>
                    <a:lnB w="12700">
                      <a:solidFill>
                        <a:schemeClr val="bg2">
                          <a:lumMod val="9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B793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en-US" sz="1200" b="0" i="0" strike="noStrike" dirty="0">
                          <a:solidFill>
                            <a:schemeClr val="bg1"/>
                          </a:solidFill>
                          <a:effectLst/>
                          <a:latin typeface="Roboto"/>
                          <a:ea typeface="Roboto"/>
                        </a:rPr>
                        <a:t>Decoder</a:t>
                      </a: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2">
                          <a:lumMod val="90000"/>
                        </a:schemeClr>
                      </a:solidFill>
                    </a:lnT>
                    <a:lnB w="12700">
                      <a:solidFill>
                        <a:schemeClr val="bg2">
                          <a:lumMod val="9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B79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914">
                <a:tc rowSpan="2"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r>
                        <a:rPr lang="en-US" altLang="en-US" sz="1200" b="0" i="0" strike="noStrike" spc="0" dirty="0">
                          <a:solidFill>
                            <a:srgbClr val="000000"/>
                          </a:solidFill>
                          <a:effectLst/>
                          <a:latin typeface="Roboto"/>
                          <a:ea typeface="Roboto"/>
                        </a:rPr>
                        <a:t>Video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en-US" sz="1200" b="0" i="0" strike="noStrike" dirty="0">
                          <a:effectLst/>
                          <a:latin typeface="Roboto"/>
                          <a:ea typeface="Roboto"/>
                        </a:rPr>
                        <a:t>Input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/>
                      <a:r>
                        <a:rPr lang="en-US" altLang="en-US" sz="1200" b="0" i="0" dirty="0">
                          <a:latin typeface="Roboto Light"/>
                          <a:ea typeface="Roboto Light"/>
                        </a:rPr>
                        <a:t>1x HDMI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/>
                      <a:r>
                        <a:rPr lang="en-US" altLang="en-US" sz="1200" b="0" i="0" dirty="0">
                          <a:latin typeface="Roboto Light"/>
                          <a:ea typeface="Roboto Light"/>
                        </a:rPr>
                        <a:t>1x HDMI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/>
                      <a:r>
                        <a:rPr lang="en-US" altLang="en-US" sz="1200" b="0" i="0" kern="120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1x HDMI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>
                        <a:buNone/>
                      </a:pPr>
                      <a:r>
                        <a:rPr lang="en-US" altLang="en-US" sz="1200" b="0" i="0" kern="120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1x HDMI</a:t>
                      </a: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2">
                          <a:lumMod val="90000"/>
                        </a:schemeClr>
                      </a:solidFill>
                    </a:lnT>
                    <a:lnB w="12700">
                      <a:solidFill>
                        <a:schemeClr val="bg2">
                          <a:lumMod val="9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>
                        <a:buNone/>
                      </a:pPr>
                      <a:r>
                        <a:rPr lang="en-US" altLang="en-US" sz="1200" b="0" i="0" kern="120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No</a:t>
                      </a: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2">
                          <a:lumMod val="90000"/>
                        </a:schemeClr>
                      </a:solidFill>
                    </a:lnT>
                    <a:lnB w="12700">
                      <a:solidFill>
                        <a:schemeClr val="bg2">
                          <a:lumMod val="9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91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en-US" sz="1200" b="0" i="0" strike="noStrike" dirty="0">
                          <a:effectLst/>
                          <a:latin typeface="Roboto"/>
                          <a:ea typeface="Roboto"/>
                        </a:rPr>
                        <a:t>Output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/>
                      <a:r>
                        <a:rPr lang="en-US" altLang="en-US" sz="1200" b="0" i="0" dirty="0">
                          <a:latin typeface="Roboto Light"/>
                          <a:ea typeface="Roboto Light"/>
                        </a:rPr>
                        <a:t>1x HDMI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/>
                      <a:r>
                        <a:rPr lang="en-US" altLang="en-US" sz="1200" b="0" i="0" dirty="0">
                          <a:latin typeface="Roboto Light"/>
                          <a:ea typeface="Roboto Light"/>
                        </a:rPr>
                        <a:t>1x HDMI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/>
                      <a:r>
                        <a:rPr lang="en-US" altLang="en-US" sz="1200" b="0" i="0" kern="120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1x HDMI(Loop out)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>
                        <a:buNone/>
                      </a:pPr>
                      <a:r>
                        <a:rPr lang="en-US" altLang="en-US" sz="1200" b="0" i="0" kern="120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No</a:t>
                      </a: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2">
                          <a:lumMod val="90000"/>
                        </a:schemeClr>
                      </a:solidFill>
                    </a:lnT>
                    <a:lnB w="12700">
                      <a:solidFill>
                        <a:schemeClr val="bg2">
                          <a:lumMod val="9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>
                        <a:buNone/>
                      </a:pPr>
                      <a:r>
                        <a:rPr lang="en-US" altLang="en-US" sz="1200" b="0" i="0" kern="120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1x HDMI</a:t>
                      </a: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2">
                          <a:lumMod val="90000"/>
                        </a:schemeClr>
                      </a:solidFill>
                    </a:lnT>
                    <a:lnB w="12700">
                      <a:solidFill>
                        <a:schemeClr val="bg2">
                          <a:lumMod val="9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914">
                <a:tc rowSpan="2"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r>
                        <a:rPr lang="en-US" altLang="en-US" sz="1200" b="0" i="0" strike="noStrike" spc="0">
                          <a:solidFill>
                            <a:srgbClr val="000000"/>
                          </a:solidFill>
                          <a:effectLst/>
                          <a:latin typeface="Roboto"/>
                          <a:ea typeface="Roboto"/>
                        </a:rPr>
                        <a:t>Audio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1200" b="0" i="0" u="none" strike="noStrike" dirty="0">
                          <a:effectLst/>
                          <a:latin typeface="Roboto"/>
                          <a:ea typeface="Roboto"/>
                        </a:rPr>
                        <a:t>Analog Audio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/>
                      <a:r>
                        <a:rPr lang="en-US" altLang="en-US" sz="1200" b="0" i="0" dirty="0">
                          <a:latin typeface="Roboto Light"/>
                          <a:ea typeface="Roboto Light"/>
                        </a:rPr>
                        <a:t>1x IN/OUT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/>
                      <a:r>
                        <a:rPr lang="en-US" altLang="en-US" sz="1200" b="0" i="0" dirty="0">
                          <a:latin typeface="Roboto Light"/>
                          <a:ea typeface="Roboto Light"/>
                        </a:rPr>
                        <a:t>1x IN/OUT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/>
                      <a:r>
                        <a:rPr lang="en-US" altLang="en-US" sz="1200" b="0" i="0" dirty="0">
                          <a:latin typeface="Roboto Light"/>
                          <a:ea typeface="Roboto Light"/>
                        </a:rPr>
                        <a:t>1x IN/OUT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/>
                      <a:r>
                        <a:rPr lang="en-US" altLang="en-US" sz="1200" b="0" i="0" dirty="0">
                          <a:latin typeface="Roboto Light"/>
                          <a:ea typeface="Roboto Light"/>
                        </a:rPr>
                        <a:t>1x IN/OUT</a:t>
                      </a: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2">
                          <a:lumMod val="90000"/>
                        </a:schemeClr>
                      </a:solidFill>
                    </a:lnT>
                    <a:lnB w="12700">
                      <a:solidFill>
                        <a:schemeClr val="bg2">
                          <a:lumMod val="9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>
                        <a:buNone/>
                      </a:pPr>
                      <a:r>
                        <a:rPr lang="en-US" altLang="en-US" sz="1200" b="0" i="0" kern="120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1x OUT</a:t>
                      </a: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2">
                          <a:lumMod val="90000"/>
                        </a:schemeClr>
                      </a:solidFill>
                    </a:lnT>
                    <a:lnB w="12700">
                      <a:solidFill>
                        <a:schemeClr val="bg2">
                          <a:lumMod val="9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91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en-US" sz="1200" b="0" i="0" strike="noStrike" dirty="0">
                          <a:effectLst/>
                          <a:latin typeface="Roboto"/>
                          <a:ea typeface="Roboto"/>
                        </a:rPr>
                        <a:t>Dante Audio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en-US" sz="1200" b="0" i="0" strike="noStrike">
                          <a:solidFill>
                            <a:srgbClr val="000000"/>
                          </a:solidFill>
                          <a:effectLst/>
                          <a:latin typeface="Roboto Light"/>
                          <a:ea typeface="Roboto Light"/>
                        </a:rPr>
                        <a:t>No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en-US" sz="1200" b="0" i="0" strike="noStrike">
                          <a:solidFill>
                            <a:srgbClr val="000000"/>
                          </a:solidFill>
                          <a:effectLst/>
                          <a:latin typeface="Roboto Light"/>
                          <a:ea typeface="Roboto Light"/>
                        </a:rPr>
                        <a:t>No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/>
                      <a:r>
                        <a:rPr lang="en-US" altLang="en-US" sz="1200" b="0" i="0" kern="120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Yes, also AES67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>
                        <a:buNone/>
                      </a:pPr>
                      <a:r>
                        <a:rPr lang="en-US" altLang="en-US" sz="1200" b="0" i="0" kern="120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No</a:t>
                      </a: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2">
                          <a:lumMod val="90000"/>
                        </a:schemeClr>
                      </a:solidFill>
                    </a:lnT>
                    <a:lnB w="12700">
                      <a:solidFill>
                        <a:schemeClr val="bg2">
                          <a:lumMod val="9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>
                        <a:buNone/>
                      </a:pPr>
                      <a:r>
                        <a:rPr lang="en-US" altLang="en-US" sz="1200" b="0" i="0" kern="120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No</a:t>
                      </a: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2">
                          <a:lumMod val="90000"/>
                        </a:schemeClr>
                      </a:solidFill>
                    </a:lnT>
                    <a:lnB w="12700">
                      <a:solidFill>
                        <a:schemeClr val="bg2">
                          <a:lumMod val="9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914">
                <a:tc rowSpan="3"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r>
                        <a:rPr lang="en-US" altLang="en-US" sz="1200" b="0" i="0" strike="noStrike" spc="0">
                          <a:solidFill>
                            <a:srgbClr val="000000"/>
                          </a:solidFill>
                          <a:effectLst/>
                          <a:latin typeface="Roboto"/>
                          <a:ea typeface="Roboto"/>
                        </a:rPr>
                        <a:t>Control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1200" b="0" i="0" u="none" strike="noStrike" dirty="0">
                          <a:effectLst/>
                          <a:latin typeface="Roboto"/>
                          <a:ea typeface="Roboto"/>
                        </a:rPr>
                        <a:t>RS-232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/>
                      <a:r>
                        <a:rPr lang="en-US" altLang="en-US" sz="1200" b="0" i="0">
                          <a:latin typeface="Roboto Light"/>
                          <a:ea typeface="Roboto Light"/>
                        </a:rPr>
                        <a:t>Yes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/>
                      <a:r>
                        <a:rPr lang="en-US" altLang="en-US" sz="1200" b="0" i="0">
                          <a:latin typeface="Roboto Light"/>
                          <a:ea typeface="Roboto Light"/>
                        </a:rPr>
                        <a:t>Yes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/>
                      <a:r>
                        <a:rPr lang="en-US" altLang="en-US" sz="1200" b="0" i="0" kern="120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Yes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>
                        <a:buNone/>
                      </a:pPr>
                      <a:r>
                        <a:rPr lang="en-US" altLang="en-US" sz="1200" b="0" i="0" kern="120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Yes</a:t>
                      </a: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2">
                          <a:lumMod val="90000"/>
                        </a:schemeClr>
                      </a:solidFill>
                    </a:lnT>
                    <a:lnB w="12700">
                      <a:solidFill>
                        <a:schemeClr val="bg2">
                          <a:lumMod val="9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>
                        <a:buNone/>
                      </a:pPr>
                      <a:r>
                        <a:rPr lang="en-US" altLang="en-US" sz="1200" b="0" i="0" kern="120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Yes</a:t>
                      </a: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2">
                          <a:lumMod val="90000"/>
                        </a:schemeClr>
                      </a:solidFill>
                    </a:lnT>
                    <a:lnB w="12700">
                      <a:solidFill>
                        <a:schemeClr val="bg2">
                          <a:lumMod val="9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34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en-US" sz="1200" b="0" i="0" strike="noStrike" dirty="0">
                          <a:effectLst/>
                          <a:latin typeface="Roboto"/>
                          <a:ea typeface="Roboto"/>
                        </a:rPr>
                        <a:t>IR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/>
                      <a:r>
                        <a:rPr lang="en-US" altLang="en-US" sz="1200" b="0" i="0">
                          <a:latin typeface="Roboto Light"/>
                          <a:ea typeface="Roboto Light"/>
                        </a:rPr>
                        <a:t>1x IR IN,</a:t>
                      </a:r>
                    </a:p>
                    <a:p>
                      <a:pPr marL="5080" lvl="0" indent="0" algn="ctr"/>
                      <a:r>
                        <a:rPr lang="en-US" altLang="en-US" sz="1200" b="0" i="0">
                          <a:latin typeface="Roboto Light"/>
                          <a:ea typeface="Roboto Light"/>
                        </a:rPr>
                        <a:t>1x IR OUT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/>
                      <a:r>
                        <a:rPr lang="en-US" altLang="en-US" sz="1200" b="0" i="0" dirty="0">
                          <a:latin typeface="Roboto Light"/>
                          <a:ea typeface="Roboto Light"/>
                        </a:rPr>
                        <a:t>1x IR IN,</a:t>
                      </a:r>
                    </a:p>
                    <a:p>
                      <a:pPr marL="5080" lvl="0" indent="0" algn="ctr"/>
                      <a:r>
                        <a:rPr lang="en-US" altLang="en-US" sz="1200" b="0" i="0" dirty="0">
                          <a:latin typeface="Roboto Light"/>
                          <a:ea typeface="Roboto Light"/>
                        </a:rPr>
                        <a:t>1x IR OUT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/>
                      <a:r>
                        <a:rPr lang="en-US" altLang="en-US" sz="1200" b="0" i="0" kern="120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1x IR IN,</a:t>
                      </a:r>
                    </a:p>
                    <a:p>
                      <a:pPr marL="5080" lvl="0" indent="0" algn="ctr" defTabSz="914400" rtl="0" eaLnBrk="1" latinLnBrk="0" hangingPunct="1"/>
                      <a:r>
                        <a:rPr lang="en-US" altLang="en-US" sz="1200" b="0" i="0" kern="120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1x IR OUT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>
                        <a:buNone/>
                      </a:pPr>
                      <a:r>
                        <a:rPr lang="en-US" sz="1200" b="0" i="0" kern="1200" noProof="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1x IR IN,</a:t>
                      </a:r>
                    </a:p>
                    <a:p>
                      <a:pPr marL="5080" lvl="0" indent="0" algn="ctr" defTabSz="914400" rtl="0" eaLnBrk="1" latinLnBrk="0" hangingPunct="1">
                        <a:buNone/>
                      </a:pPr>
                      <a:r>
                        <a:rPr lang="en-US" sz="1200" b="0" i="0" kern="1200" noProof="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1x IR OUT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Roboto Light"/>
                        <a:ea typeface="Roboto Light"/>
                        <a:cs typeface="+mn-cs"/>
                      </a:endParaRP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2">
                          <a:lumMod val="90000"/>
                        </a:schemeClr>
                      </a:solidFill>
                    </a:lnT>
                    <a:lnB w="12700">
                      <a:solidFill>
                        <a:schemeClr val="bg2">
                          <a:lumMod val="9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>
                        <a:buNone/>
                      </a:pPr>
                      <a:r>
                        <a:rPr lang="en-US" sz="1200" b="0" i="0" kern="1200" noProof="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1x IR IN,</a:t>
                      </a:r>
                    </a:p>
                    <a:p>
                      <a:pPr marL="5080" lvl="0" indent="0" algn="ctr" defTabSz="914400" rtl="0" eaLnBrk="1" latinLnBrk="0" hangingPunct="1">
                        <a:buNone/>
                      </a:pPr>
                      <a:r>
                        <a:rPr lang="en-US" sz="1200" b="0" i="0" kern="1200" noProof="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1x IR OUT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Roboto Light"/>
                        <a:ea typeface="Roboto Light"/>
                        <a:cs typeface="+mn-cs"/>
                      </a:endParaRP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2">
                          <a:lumMod val="90000"/>
                        </a:schemeClr>
                      </a:solidFill>
                    </a:lnT>
                    <a:lnB w="12700">
                      <a:solidFill>
                        <a:schemeClr val="bg2">
                          <a:lumMod val="9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89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en-US" sz="1200" b="0" i="0" strike="noStrike" dirty="0">
                          <a:effectLst/>
                          <a:latin typeface="Roboto"/>
                          <a:ea typeface="Roboto"/>
                        </a:rPr>
                        <a:t>USB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en-US" sz="1200" b="0" i="0" strike="noStrike">
                          <a:solidFill>
                            <a:srgbClr val="000000"/>
                          </a:solidFill>
                          <a:effectLst/>
                          <a:latin typeface="Roboto Light"/>
                          <a:ea typeface="Roboto Light"/>
                        </a:rPr>
                        <a:t>3x USB-A 1.1</a:t>
                      </a:r>
                    </a:p>
                    <a:p>
                      <a:pPr lvl="0" algn="ctr"/>
                      <a:r>
                        <a:rPr lang="en-US" altLang="en-US" sz="1200" b="0" i="0" strike="noStrike">
                          <a:solidFill>
                            <a:srgbClr val="000000"/>
                          </a:solidFill>
                          <a:effectLst/>
                          <a:latin typeface="Roboto Light"/>
                          <a:ea typeface="Roboto Light"/>
                        </a:rPr>
                        <a:t>1x USB-B 1.1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en-US" sz="1200" b="0" i="0" strike="noStrike">
                          <a:solidFill>
                            <a:srgbClr val="000000"/>
                          </a:solidFill>
                          <a:effectLst/>
                          <a:latin typeface="Roboto Light"/>
                          <a:ea typeface="Roboto Light"/>
                        </a:rPr>
                        <a:t>3x USB-A 2.0</a:t>
                      </a:r>
                    </a:p>
                    <a:p>
                      <a:pPr lvl="0" algn="ctr"/>
                      <a:r>
                        <a:rPr lang="en-US" altLang="en-US" sz="1200" b="0" i="0" strike="noStrike">
                          <a:solidFill>
                            <a:srgbClr val="000000"/>
                          </a:solidFill>
                          <a:effectLst/>
                          <a:latin typeface="Roboto Light"/>
                          <a:ea typeface="Roboto Light"/>
                        </a:rPr>
                        <a:t>1x USB-B 2.0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/>
                      <a:r>
                        <a:rPr lang="en-US" altLang="en-US" sz="1200" b="0" i="0" kern="120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3x USB-A 1.1</a:t>
                      </a:r>
                    </a:p>
                    <a:p>
                      <a:pPr marL="5080" lvl="0" indent="0" algn="ctr" defTabSz="914400" rtl="0" eaLnBrk="1" latinLnBrk="0" hangingPunct="1"/>
                      <a:r>
                        <a:rPr lang="en-US" altLang="en-US" sz="1200" b="0" i="0" kern="120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1x USB-B 1.1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>
                        <a:buNone/>
                      </a:pPr>
                      <a:r>
                        <a:rPr lang="en-US" altLang="en-US" sz="1200" b="0" i="0" kern="120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No</a:t>
                      </a: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2">
                          <a:lumMod val="90000"/>
                        </a:schemeClr>
                      </a:solidFill>
                    </a:lnT>
                    <a:lnB w="12700">
                      <a:solidFill>
                        <a:schemeClr val="bg2">
                          <a:lumMod val="9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>
                        <a:buNone/>
                      </a:pPr>
                      <a:r>
                        <a:rPr lang="en-US" altLang="en-US" sz="1200" b="0" i="0" kern="120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No</a:t>
                      </a: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2">
                          <a:lumMod val="90000"/>
                        </a:schemeClr>
                      </a:solidFill>
                    </a:lnT>
                    <a:lnB w="12700">
                      <a:solidFill>
                        <a:schemeClr val="bg2">
                          <a:lumMod val="9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914">
                <a:tc rowSpan="5"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r>
                        <a:rPr lang="en-US" altLang="en-US" sz="1200" b="0" i="0" strike="noStrike" spc="0">
                          <a:solidFill>
                            <a:srgbClr val="000000"/>
                          </a:solidFill>
                          <a:effectLst/>
                          <a:latin typeface="Roboto"/>
                          <a:ea typeface="Roboto"/>
                        </a:rPr>
                        <a:t>Other features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en-US" sz="1200" b="0" i="0" strike="noStrike" dirty="0">
                          <a:effectLst/>
                          <a:latin typeface="Roboto"/>
                          <a:ea typeface="Roboto"/>
                        </a:rPr>
                        <a:t>SPF+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en-US" sz="1200" b="0" i="0" strike="noStrike">
                          <a:solidFill>
                            <a:srgbClr val="000000"/>
                          </a:solidFill>
                          <a:effectLst/>
                          <a:latin typeface="Roboto Light"/>
                          <a:ea typeface="Roboto Light"/>
                        </a:rPr>
                        <a:t>No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/>
                      <a:r>
                        <a:rPr lang="en-US" altLang="en-US" sz="1200" b="0" i="0" dirty="0">
                          <a:latin typeface="Roboto Light"/>
                          <a:ea typeface="Roboto Light"/>
                        </a:rPr>
                        <a:t>Yes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/>
                      <a:r>
                        <a:rPr lang="en-US" altLang="en-US" sz="1200" b="0" i="0" kern="120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No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>
                        <a:buNone/>
                      </a:pPr>
                      <a:r>
                        <a:rPr lang="en-US" altLang="en-US" sz="1200" b="0" i="0" kern="120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No</a:t>
                      </a: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2">
                          <a:lumMod val="90000"/>
                        </a:schemeClr>
                      </a:solidFill>
                    </a:lnT>
                    <a:lnB w="12700">
                      <a:solidFill>
                        <a:schemeClr val="bg2">
                          <a:lumMod val="9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>
                        <a:buNone/>
                      </a:pPr>
                      <a:r>
                        <a:rPr lang="en-US" altLang="en-US" sz="1200" b="0" i="0" kern="120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No</a:t>
                      </a: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2">
                          <a:lumMod val="90000"/>
                        </a:schemeClr>
                      </a:solidFill>
                    </a:lnT>
                    <a:lnB w="12700">
                      <a:solidFill>
                        <a:schemeClr val="bg2">
                          <a:lumMod val="9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162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1200" b="0" i="0" u="none" strike="noStrike" dirty="0">
                          <a:effectLst/>
                          <a:latin typeface="Roboto"/>
                          <a:ea typeface="Roboto"/>
                        </a:rPr>
                        <a:t>RJ45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en-US" sz="1200" b="0" i="0" strike="noStrike" dirty="0">
                          <a:solidFill>
                            <a:srgbClr val="000000"/>
                          </a:solidFill>
                          <a:effectLst/>
                          <a:latin typeface="Roboto Light"/>
                          <a:ea typeface="Roboto Light"/>
                        </a:rPr>
                        <a:t>1x 1G </a:t>
                      </a:r>
                      <a:r>
                        <a:rPr lang="en-US" altLang="zh-CN" sz="1200" b="0" i="0" strike="noStrike" dirty="0">
                          <a:solidFill>
                            <a:srgbClr val="000000"/>
                          </a:solidFill>
                          <a:effectLst/>
                          <a:latin typeface="Roboto Light"/>
                          <a:ea typeface="Roboto Light"/>
                        </a:rPr>
                        <a:t>(For control)</a:t>
                      </a:r>
                    </a:p>
                    <a:p>
                      <a:pPr lvl="0" algn="ctr"/>
                      <a:r>
                        <a:rPr lang="en-US" altLang="en-US" sz="1200" b="0" i="0" strike="noStrike" dirty="0">
                          <a:solidFill>
                            <a:srgbClr val="000000"/>
                          </a:solidFill>
                          <a:effectLst/>
                          <a:latin typeface="Roboto Light"/>
                          <a:ea typeface="Roboto Light"/>
                        </a:rPr>
                        <a:t>1x 10G</a:t>
                      </a:r>
                      <a:r>
                        <a:rPr lang="en-US" altLang="zh-CN" sz="1200" b="0" i="0" strike="noStrike" dirty="0">
                          <a:solidFill>
                            <a:srgbClr val="000000"/>
                          </a:solidFill>
                          <a:effectLst/>
                          <a:latin typeface="Roboto Light"/>
                          <a:ea typeface="Roboto Light"/>
                        </a:rPr>
                        <a:t>(For AV)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en-US" sz="1200" b="0" i="0" strike="noStrike">
                          <a:solidFill>
                            <a:srgbClr val="000000"/>
                          </a:solidFill>
                          <a:effectLst/>
                          <a:latin typeface="Roboto Light"/>
                          <a:ea typeface="Roboto Light"/>
                        </a:rPr>
                        <a:t>1x 1G</a:t>
                      </a:r>
                      <a:r>
                        <a:rPr lang="en-US" altLang="zh-CN" sz="1200">
                          <a:effectLst/>
                          <a:latin typeface="Roboto Light"/>
                          <a:ea typeface="Roboto Light"/>
                          <a:sym typeface="+mn-ea"/>
                        </a:rPr>
                        <a:t>(For control)</a:t>
                      </a:r>
                      <a:endParaRPr lang="en-US" altLang="en-US" sz="1200" b="0" i="0" strike="noStrike">
                        <a:solidFill>
                          <a:srgbClr val="000000"/>
                        </a:solidFill>
                        <a:effectLst/>
                        <a:latin typeface="Roboto Light"/>
                        <a:ea typeface="Roboto Light"/>
                      </a:endParaRP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/>
                      <a:r>
                        <a:rPr lang="en-US" altLang="en-US" sz="1200" b="0" i="0" kern="120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1x 1G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  <a:sym typeface="+mn-ea"/>
                        </a:rPr>
                        <a:t>(For control)</a:t>
                      </a:r>
                      <a:endParaRPr lang="en-US" altLang="en-US" sz="1200" b="0" i="0" kern="1200" dirty="0">
                        <a:solidFill>
                          <a:schemeClr val="tx1"/>
                        </a:solidFill>
                        <a:latin typeface="Roboto Light"/>
                        <a:ea typeface="Roboto Light"/>
                        <a:cs typeface="+mn-cs"/>
                      </a:endParaRPr>
                    </a:p>
                    <a:p>
                      <a:pPr marL="5080" lvl="0" indent="0" algn="ctr" defTabSz="914400" rtl="0" eaLnBrk="1" latinLnBrk="0" hangingPunct="1"/>
                      <a:r>
                        <a:rPr lang="en-US" altLang="en-US" sz="1200" b="0" i="0" kern="120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1x 10G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  <a:sym typeface="+mn-ea"/>
                        </a:rPr>
                        <a:t>(For AV)</a:t>
                      </a:r>
                      <a:endParaRPr lang="en-US" altLang="en-US" sz="1200" b="0" i="0" kern="1200" dirty="0">
                        <a:solidFill>
                          <a:schemeClr val="tx1"/>
                        </a:solidFill>
                        <a:latin typeface="Roboto Light"/>
                        <a:ea typeface="Roboto Light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>
                        <a:buNone/>
                      </a:pPr>
                      <a:r>
                        <a:rPr lang="en-US" sz="1200" b="0" i="0" kern="1200" noProof="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1x 1G (For control)</a:t>
                      </a:r>
                    </a:p>
                    <a:p>
                      <a:pPr marL="5080" lvl="0" indent="0" algn="ctr" defTabSz="914400" rtl="0" eaLnBrk="1" latinLnBrk="0" hangingPunct="1">
                        <a:buNone/>
                      </a:pPr>
                      <a:r>
                        <a:rPr lang="en-US" sz="1200" b="0" i="0" kern="1200" noProof="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1x 10G(For AV)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Roboto Light"/>
                        <a:ea typeface="Roboto Light"/>
                        <a:cs typeface="+mn-cs"/>
                      </a:endParaRP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2">
                          <a:lumMod val="90000"/>
                        </a:schemeClr>
                      </a:solidFill>
                    </a:lnT>
                    <a:lnB w="12700">
                      <a:solidFill>
                        <a:schemeClr val="bg2">
                          <a:lumMod val="9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>
                        <a:buNone/>
                      </a:pPr>
                      <a:r>
                        <a:rPr lang="en-US" sz="1200" b="0" i="0" kern="1200" noProof="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1x 1G (For control)</a:t>
                      </a:r>
                    </a:p>
                    <a:p>
                      <a:pPr marL="5080" lvl="0" indent="0" algn="ctr" defTabSz="914400" rtl="0" eaLnBrk="1" latinLnBrk="0" hangingPunct="1">
                        <a:buNone/>
                      </a:pPr>
                      <a:r>
                        <a:rPr lang="en-US" sz="1200" b="0" i="0" kern="1200" noProof="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1x 10G(For AV)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Roboto Light"/>
                        <a:ea typeface="Roboto Light"/>
                        <a:cs typeface="+mn-cs"/>
                      </a:endParaRP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2">
                          <a:lumMod val="90000"/>
                        </a:schemeClr>
                      </a:solidFill>
                    </a:lnT>
                    <a:lnB w="12700">
                      <a:solidFill>
                        <a:schemeClr val="bg2">
                          <a:lumMod val="9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691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en-US" sz="1200" b="0" i="0" strike="noStrike" dirty="0">
                          <a:effectLst/>
                          <a:latin typeface="Roboto"/>
                          <a:ea typeface="Roboto"/>
                        </a:rPr>
                        <a:t>PoE+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200" b="0" i="0" strike="noStrike">
                          <a:solidFill>
                            <a:srgbClr val="000000"/>
                          </a:solidFill>
                          <a:effectLst/>
                          <a:latin typeface="Roboto Light"/>
                          <a:ea typeface="Roboto Light"/>
                        </a:rPr>
                        <a:t>Yes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en-US" sz="1200" b="0" i="0" strike="noStrike">
                          <a:solidFill>
                            <a:srgbClr val="000000"/>
                          </a:solidFill>
                          <a:effectLst/>
                          <a:latin typeface="Roboto Light"/>
                          <a:ea typeface="Roboto Light"/>
                        </a:rPr>
                        <a:t>No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/>
                      <a:r>
                        <a:rPr lang="en-US" altLang="en-US" sz="1200" b="0" i="0" kern="120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Yes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>
                        <a:buNone/>
                      </a:pPr>
                      <a:r>
                        <a:rPr lang="en-US" altLang="en-US" sz="1200" b="0" i="0" kern="120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Yes</a:t>
                      </a: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2">
                          <a:lumMod val="90000"/>
                        </a:schemeClr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>
                        <a:buNone/>
                      </a:pPr>
                      <a:r>
                        <a:rPr lang="en-US" altLang="en-US" sz="1200" b="0" i="0" kern="120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Yes</a:t>
                      </a: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2">
                          <a:lumMod val="90000"/>
                        </a:schemeClr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691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</a:pPr>
                      <a:r>
                        <a:rPr lang="en-US" altLang="en-US" sz="1200" b="0" i="0" strike="noStrike" spc="0" dirty="0">
                          <a:solidFill>
                            <a:srgbClr val="000000"/>
                          </a:solidFill>
                          <a:effectLst/>
                          <a:latin typeface="Roboto"/>
                          <a:ea typeface="Roboto"/>
                        </a:rPr>
                        <a:t>Video Wall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r>
                        <a:rPr lang="en-US" altLang="en-US" sz="1200" b="0" i="0" strike="noStrike" spc="0">
                          <a:solidFill>
                            <a:srgbClr val="000000"/>
                          </a:solidFill>
                          <a:effectLst/>
                          <a:latin typeface="Roboto Light"/>
                          <a:ea typeface="Roboto Light"/>
                        </a:rPr>
                        <a:t>Yes, up to 8x8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r>
                        <a:rPr lang="en-US" altLang="en-US" sz="1200" b="0" i="0" strike="noStrike" spc="0">
                          <a:solidFill>
                            <a:srgbClr val="000000"/>
                          </a:solidFill>
                          <a:effectLst/>
                          <a:latin typeface="Roboto Light"/>
                          <a:ea typeface="Roboto Light"/>
                        </a:rPr>
                        <a:t>Yes, up to 8x8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en-US" sz="1200" b="0" i="0" kern="120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Yes, up to 8x8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200" b="0" i="0" kern="120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Yes</a:t>
                      </a: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200" b="0" i="0" kern="120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No</a:t>
                      </a: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162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</a:pPr>
                      <a:r>
                        <a:rPr lang="en-US" altLang="en-US" sz="1200" b="0" i="0" strike="noStrike" spc="0" dirty="0">
                          <a:solidFill>
                            <a:srgbClr val="000000"/>
                          </a:solidFill>
                          <a:effectLst/>
                          <a:latin typeface="Roboto"/>
                          <a:ea typeface="Roboto"/>
                        </a:rPr>
                        <a:t>Multiview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r>
                        <a:rPr lang="en-US" altLang="en-US" sz="1200" b="0" i="0" strike="noStrike" spc="0">
                          <a:solidFill>
                            <a:srgbClr val="000000"/>
                          </a:solidFill>
                          <a:effectLst/>
                          <a:latin typeface="Roboto Light"/>
                          <a:ea typeface="Roboto Light"/>
                        </a:rPr>
                        <a:t>Yes, up to 16 windows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r>
                        <a:rPr lang="en-US" altLang="en-US" sz="1200" b="0" i="0" strike="noStrike" spc="0">
                          <a:solidFill>
                            <a:srgbClr val="000000"/>
                          </a:solidFill>
                          <a:effectLst/>
                          <a:latin typeface="Roboto Light"/>
                          <a:ea typeface="Roboto Light"/>
                        </a:rPr>
                        <a:t>Yes, up to 16 windows</a:t>
                      </a:r>
                    </a:p>
                  </a:txBody>
                  <a:tcPr marT="0" marB="0" anchor="ctr">
                    <a:lnL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en-US" sz="1200" b="0" i="0" kern="120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Yes, up to 16 windows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200" b="0" i="0" kern="120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No</a:t>
                      </a: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5080" lvl="0" indent="0" algn="ctr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200" b="0" i="0" kern="1200" dirty="0">
                          <a:solidFill>
                            <a:schemeClr val="tx1"/>
                          </a:solidFill>
                          <a:latin typeface="Roboto Light"/>
                          <a:ea typeface="Roboto Light"/>
                          <a:cs typeface="+mn-cs"/>
                        </a:rPr>
                        <a:t>No</a:t>
                      </a:r>
                    </a:p>
                  </a:txBody>
                  <a:tcPr marT="0" marB="0"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solidFill>
              <a:schemeClr val="accent6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6"/>
          <p:cNvSpPr txBox="1"/>
          <p:nvPr>
            <p:custDataLst>
              <p:tags r:id="rId2"/>
            </p:custDataLst>
          </p:nvPr>
        </p:nvSpPr>
        <p:spPr>
          <a:xfrm>
            <a:off x="457155" y="16954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Comparison with Other Competitors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5752AA2-39DB-2C62-9D57-CF42375BD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57746"/>
              </p:ext>
            </p:extLst>
          </p:nvPr>
        </p:nvGraphicFramePr>
        <p:xfrm>
          <a:off x="1814815" y="1267777"/>
          <a:ext cx="8817264" cy="50144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7584">
                  <a:extLst>
                    <a:ext uri="{9D8B030D-6E8A-4147-A177-3AD203B41FA5}">
                      <a16:colId xmlns:a16="http://schemas.microsoft.com/office/drawing/2014/main" val="3922805825"/>
                    </a:ext>
                  </a:extLst>
                </a:gridCol>
                <a:gridCol w="2077673">
                  <a:extLst>
                    <a:ext uri="{9D8B030D-6E8A-4147-A177-3AD203B41FA5}">
                      <a16:colId xmlns:a16="http://schemas.microsoft.com/office/drawing/2014/main" val="3150550471"/>
                    </a:ext>
                  </a:extLst>
                </a:gridCol>
                <a:gridCol w="2891835">
                  <a:extLst>
                    <a:ext uri="{9D8B030D-6E8A-4147-A177-3AD203B41FA5}">
                      <a16:colId xmlns:a16="http://schemas.microsoft.com/office/drawing/2014/main" val="1766446663"/>
                    </a:ext>
                  </a:extLst>
                </a:gridCol>
                <a:gridCol w="2530172">
                  <a:extLst>
                    <a:ext uri="{9D8B030D-6E8A-4147-A177-3AD203B41FA5}">
                      <a16:colId xmlns:a16="http://schemas.microsoft.com/office/drawing/2014/main" val="3466682364"/>
                    </a:ext>
                  </a:extLst>
                </a:gridCol>
              </a:tblGrid>
              <a:tr h="512596">
                <a:tc gridSpan="2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Specification</a:t>
                      </a:r>
                    </a:p>
                  </a:txBody>
                  <a:tcPr marL="9525" marR="9525" marT="9525" marB="0" anchor="ctr">
                    <a:solidFill>
                      <a:srgbClr val="0B793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rgbClr val="0B793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WyreStorm</a:t>
                      </a: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br>
                        <a:rPr lang="en-US" sz="1400" b="1" kern="1200" dirty="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</a:b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NHD-600-E-TX/RX</a:t>
                      </a:r>
                    </a:p>
                  </a:txBody>
                  <a:tcPr marL="9525" marR="9525" marT="9525" marB="0" anchor="ctr">
                    <a:solidFill>
                      <a:srgbClr val="0B793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Lightware</a:t>
                      </a: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br>
                        <a:rPr lang="en-US" sz="1400" b="1" kern="1200" dirty="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</a:b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HDMI-TPX-TX/RX107</a:t>
                      </a:r>
                    </a:p>
                  </a:txBody>
                  <a:tcPr marL="9525" marR="9525" marT="9525" marB="0" anchor="ctr">
                    <a:solidFill>
                      <a:srgbClr val="0B79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020128"/>
                  </a:ext>
                </a:extLst>
              </a:tr>
              <a:tr h="438186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Video</a:t>
                      </a: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Video Interface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1x HDMI 2.0(For TX/RX)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1x HDMI 2.0</a:t>
                      </a:r>
                      <a:r>
                        <a:rPr lang="en-US" altLang="zh-CN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(For TX/RX)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819851"/>
                  </a:ext>
                </a:extLst>
              </a:tr>
              <a:tr h="43818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HDCP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HDCP 2.3 compliant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HDCP 2.3 compliant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610765"/>
                  </a:ext>
                </a:extLst>
              </a:tr>
              <a:tr h="438186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Max. Video Resolution</a:t>
                      </a: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Up to *5120x2160@60Hz 4:2:0, 4096x2160@60Hz 4:4:4, 3840x2160@60Hz 4:4:4</a:t>
                      </a:r>
                      <a:endParaRPr lang="en-US" sz="1200" u="none" strike="noStrike" kern="1200" dirty="0">
                        <a:solidFill>
                          <a:schemeClr val="dk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Up to 4096x2160@60Hz 4:4:4 or 3840x2160@60Hz 4:4:4</a:t>
                      </a: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967794"/>
                  </a:ext>
                </a:extLst>
              </a:tr>
              <a:tr h="438186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Scaler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Unsupported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Unsupported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971451"/>
                  </a:ext>
                </a:extLst>
              </a:tr>
              <a:tr h="438186">
                <a:tc gridSpan="2">
                  <a:txBody>
                    <a:bodyPr/>
                    <a:lstStyle/>
                    <a:p>
                      <a:pPr marL="108000"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Audio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Audio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1x 3.5mm analog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N/A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250872"/>
                  </a:ext>
                </a:extLst>
              </a:tr>
              <a:tr h="43818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Ethernet</a:t>
                      </a: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10G Ethernet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1x RJ45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1x RJ45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535084"/>
                  </a:ext>
                </a:extLst>
              </a:tr>
              <a:tr h="438186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1G Ethernet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1x RJ45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2x RJ45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981329"/>
                  </a:ext>
                </a:extLst>
              </a:tr>
              <a:tr h="43818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Control</a:t>
                      </a: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InfraRed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1x IR In</a:t>
                      </a:r>
                      <a:b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1x IR Out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1x IR Out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721517"/>
                  </a:ext>
                </a:extLst>
              </a:tr>
              <a:tr h="438186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RS232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1x 3-pin Phoenix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1x 3-pin Phoenix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576700"/>
                  </a:ext>
                </a:extLst>
              </a:tr>
              <a:tr h="438186">
                <a:tc gridSpan="2">
                  <a:txBody>
                    <a:bodyPr/>
                    <a:lstStyle/>
                    <a:p>
                      <a:pPr marL="108000"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Latency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Latency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D6E5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l-GR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&lt; 120μ</a:t>
                      </a: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l-GR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&lt; 120μ</a:t>
                      </a:r>
                      <a:r>
                        <a:rPr lang="en-US" sz="12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E4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89723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84293" y="1149489"/>
            <a:ext cx="4159582" cy="707885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-80645" y="1153801"/>
            <a:ext cx="122878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Montserrat" pitchFamily="2" charset="0"/>
                <a:cs typeface="Arial" panose="020B0604020202020204" pitchFamily="34" charset="0"/>
              </a:rPr>
              <a:t>Q</a:t>
            </a:r>
            <a:r>
              <a:rPr lang="en-US" altLang="zh-CN" sz="2400" b="1" dirty="0">
                <a:latin typeface="Montserrat" pitchFamily="2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Montserrat" pitchFamily="2" charset="0"/>
                <a:cs typeface="Arial" panose="020B0604020202020204" pitchFamily="34" charset="0"/>
              </a:rPr>
              <a:t>&amp;</a:t>
            </a:r>
            <a:r>
              <a:rPr lang="en-US" altLang="zh-CN" sz="2400" b="1" dirty="0">
                <a:latin typeface="Montserrat" pitchFamily="2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Montserrat" pitchFamily="2" charset="0"/>
                <a:cs typeface="Arial" panose="020B0604020202020204" pitchFamily="34" charset="0"/>
              </a:rPr>
              <a:t>A Session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pic>
        <p:nvPicPr>
          <p:cNvPr id="7" name="图片 6"/>
          <p:cNvPicPr/>
          <p:nvPr/>
        </p:nvPicPr>
        <p:blipFill>
          <a:blip r:embed="rId4"/>
          <a:stretch>
            <a:fillRect/>
          </a:stretch>
        </p:blipFill>
        <p:spPr>
          <a:xfrm>
            <a:off x="2796857" y="2808363"/>
            <a:ext cx="6502400" cy="358824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Google Shape;82;p1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9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6"/>
          <p:cNvSpPr txBox="1"/>
          <p:nvPr>
            <p:custDataLst>
              <p:tags r:id="rId2"/>
            </p:custDataLst>
          </p:nvPr>
        </p:nvSpPr>
        <p:spPr>
          <a:xfrm>
            <a:off x="457155" y="16002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Final Thoughts</a:t>
            </a:r>
          </a:p>
        </p:txBody>
      </p:sp>
      <p:sp>
        <p:nvSpPr>
          <p:cNvPr id="4" name="文本框 1"/>
          <p:cNvSpPr txBox="1"/>
          <p:nvPr/>
        </p:nvSpPr>
        <p:spPr>
          <a:xfrm>
            <a:off x="-47944" y="2003528"/>
            <a:ext cx="1228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Got questions?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Don’t hesitate to ask away.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3&quot;:[4364952],&quot;65&quot;:[20215802]}"/>
  <p:tag name="COMMONDATA" val="eyJoZGlkIjoiNTc4NzQzMWI1MGViYjVlYjEzZTIyZjMyNmVmMjIyZT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02_1*f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44"/>
  <p:tag name="KSO_WM_UNIT_SHOW_EDIT_AREA_INDICATION" val="1"/>
  <p:tag name="KSO_WM_CHIP_GROUPID" val="5e6b05596848fb12bee65ac8"/>
  <p:tag name="KSO_WM_CHIP_XID" val="5e6b05596848fb12bee65aca"/>
  <p:tag name="KSO_WM_UNIT_DEC_AREA_ID" val="d879e39fee614b88a76bb899d600b76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fcd4429fddf4fd9b6b9cae2bcdab05b"/>
  <p:tag name="KSO_WM_UNIT_SUPPORT_UNIT_TYPE" val="[&quot;d&quot;]"/>
  <p:tag name="KSO_WM_UNIT_TEXT_FILL_FORE_SCHEMECOLOR_INDEX_BRIGHTNESS" val="0.25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2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TYPE" val="i"/>
  <p:tag name="KSO_WM_UNIT_INDEX" val="2"/>
  <p:tag name="KSO_WM_UNIT_BLOCK" val="0"/>
  <p:tag name="KSO_WM_UNIT_SM_LIMIT_TYPE" val="0"/>
  <p:tag name="KSO_WM_UNIT_DEC_AREA_ID" val="c851648b610c4eed84725474f83dd78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2},&quot;ReferentInfo&quot;:{&quot;Id&quot;:&quot;fa1e37419f9b42fb86bdf596086272a2&quot;,&quot;X&quot;:{&quot;Pos&quot;:2},&quot;Y&quot;:{&quot;Pos&quot;:0}},&quot;whChangeMode&quot;:0}"/>
  <p:tag name="KSO_WM_CHIP_GROUPID" val="5f5ee1ca4d6848d78f644aeb"/>
  <p:tag name="KSO_WM_CHIP_XID" val="5f5f3b6d8e478fb0c58a941e"/>
  <p:tag name="KSO_WM_UNIT_LINE_FORE_SCHEMECOLOR_INDEX_BRIGHTNESS" val="0"/>
  <p:tag name="KSO_WM_UNIT_LINE_FORE_SCHEMECOLOR_INDEX" val="15"/>
  <p:tag name="KSO_WM_UNIT_LINE_FILL_TYPE" val="2"/>
  <p:tag name="KSO_WM_TEMPLATE_ASSEMBLE_XID" val="63895f930c9383becde52e83"/>
  <p:tag name="KSO_WM_TEMPLATE_ASSEMBLE_GROUPID" val="63895f930c9383becde52e8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3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TYPE" val="i"/>
  <p:tag name="KSO_WM_UNIT_INDEX" val="3"/>
  <p:tag name="KSO_WM_UNIT_BLOCK" val="0"/>
  <p:tag name="KSO_WM_UNIT_SM_LIMIT_TYPE" val="0"/>
  <p:tag name="KSO_WM_UNIT_DEC_AREA_ID" val="3104b9f4692049e9b18edec063ed2171"/>
  <p:tag name="KSO_WM_UNIT_DECORATE_INFO" val="{&quot;DecorateInfoH&quot;:{&quot;IsAbs&quot;:true},&quot;DecorateInfoW&quot;:{&quot;IsAbs&quot;:true},&quot;DecorateInfoX&quot;:{&quot;IsAbs&quot;:true,&quot;Pos&quot;:0},&quot;DecorateInfoY&quot;:{&quot;IsAbs&quot;:true,&quot;Pos&quot;:0},&quot;ReferentInfo&quot;:{&quot;Id&quot;:&quot;fa1e37419f9b42fb86bdf596086272a2&quot;,&quot;X&quot;:{&quot;Pos&quot;:0},&quot;Y&quot;:{&quot;Pos&quot;:2}},&quot;whChangeMode&quot;:0}"/>
  <p:tag name="KSO_WM_CHIP_GROUPID" val="5f5ee1ca4d6848d78f644aeb"/>
  <p:tag name="KSO_WM_CHIP_XID" val="5f5f3b6d8e478fb0c58a941e"/>
  <p:tag name="KSO_WM_UNIT_LINE_FORE_SCHEMECOLOR_INDEX_BRIGHTNESS" val="0"/>
  <p:tag name="KSO_WM_UNIT_LINE_FORE_SCHEMECOLOR_INDEX" val="15"/>
  <p:tag name="KSO_WM_UNIT_LINE_FILL_TYPE" val="2"/>
  <p:tag name="KSO_WM_TEMPLATE_ASSEMBLE_XID" val="63895f930c9383becde52e83"/>
  <p:tag name="KSO_WM_TEMPLATE_ASSEMBLE_GROUPID" val="63895f930c9383becde52e8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5.25732283464566,&quot;left&quot;:98.6,&quot;top&quot;:79.59267716535433,&quot;width&quot;:795.4903937007873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5.25732283464566,&quot;left&quot;:98.6,&quot;top&quot;:79.59267716535433,&quot;width&quot;:795.4903937007873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5.25732283464566,&quot;left&quot;:98.6,&quot;top&quot;:79.59267716535433,&quot;width&quot;:795.4903937007873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5.25732283464566,&quot;left&quot;:98.6,&quot;top&quot;:79.59267716535433,&quot;width&quot;:795.4903937007873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402328"/>
      </a:dk2>
      <a:lt2>
        <a:srgbClr val="EFE6E7"/>
      </a:lt2>
      <a:accent1>
        <a:srgbClr val="D60926"/>
      </a:accent1>
      <a:accent2>
        <a:srgbClr val="B33220"/>
      </a:accent2>
      <a:accent3>
        <a:srgbClr val="905B1A"/>
      </a:accent3>
      <a:accent4>
        <a:srgbClr val="6D8414"/>
      </a:accent4>
      <a:accent5>
        <a:srgbClr val="4AAD0E"/>
      </a:accent5>
      <a:accent6>
        <a:srgbClr val="27D608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1A8FBB3908BD4681554D596DADDBBC" ma:contentTypeVersion="19" ma:contentTypeDescription="Create a new document." ma:contentTypeScope="" ma:versionID="089862c3d7236b297f5be572ccb4bd9e">
  <xsd:schema xmlns:xsd="http://www.w3.org/2001/XMLSchema" xmlns:xs="http://www.w3.org/2001/XMLSchema" xmlns:p="http://schemas.microsoft.com/office/2006/metadata/properties" xmlns:ns2="d634ccb5-745a-4b19-b3da-83dafbb0f953" xmlns:ns3="fa7e1be7-6c27-4381-949e-b43a2eb5089a" targetNamespace="http://schemas.microsoft.com/office/2006/metadata/properties" ma:root="true" ma:fieldsID="38436fc1e1e78720b95f7a357a3e0114" ns2:_="" ns3:_="">
    <xsd:import namespace="d634ccb5-745a-4b19-b3da-83dafbb0f953"/>
    <xsd:import namespace="fa7e1be7-6c27-4381-949e-b43a2eb508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34ccb5-745a-4b19-b3da-83dafbb0f9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a840791-955a-45d0-8f77-cb775012b4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7e1be7-6c27-4381-949e-b43a2eb5089a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e5708c9-3083-478d-b2b5-d29c6e746420}" ma:internalName="TaxCatchAll" ma:showField="CatchAllData" ma:web="fa7e1be7-6c27-4381-949e-b43a2eb508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34ccb5-745a-4b19-b3da-83dafbb0f953">
      <Terms xmlns="http://schemas.microsoft.com/office/infopath/2007/PartnerControls"/>
    </lcf76f155ced4ddcb4097134ff3c332f>
    <TaxCatchAll xmlns="fa7e1be7-6c27-4381-949e-b43a2eb5089a" xsi:nil="true"/>
  </documentManagement>
</p:properties>
</file>

<file path=customXml/itemProps1.xml><?xml version="1.0" encoding="utf-8"?>
<ds:datastoreItem xmlns:ds="http://schemas.openxmlformats.org/officeDocument/2006/customXml" ds:itemID="{5717534E-E839-4F4A-BB71-D964BD402FF2}"/>
</file>

<file path=customXml/itemProps2.xml><?xml version="1.0" encoding="utf-8"?>
<ds:datastoreItem xmlns:ds="http://schemas.openxmlformats.org/officeDocument/2006/customXml" ds:itemID="{1DC5737D-256F-4374-8853-CEB8CE1213C9}"/>
</file>

<file path=customXml/itemProps3.xml><?xml version="1.0" encoding="utf-8"?>
<ds:datastoreItem xmlns:ds="http://schemas.openxmlformats.org/officeDocument/2006/customXml" ds:itemID="{258AE90E-6492-4FC7-9F15-5B02F6EF81A2}"/>
</file>

<file path=docProps/app.xml><?xml version="1.0" encoding="utf-8"?>
<Properties xmlns="http://schemas.openxmlformats.org/officeDocument/2006/extended-properties" xmlns:vt="http://schemas.openxmlformats.org/officeDocument/2006/docPropsVTypes">
  <TotalTime>33294</TotalTime>
  <Words>896</Words>
  <Application>Microsoft Office PowerPoint</Application>
  <PresentationFormat>宽屏</PresentationFormat>
  <Paragraphs>216</Paragraphs>
  <Slides>10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等线 Light</vt:lpstr>
      <vt:lpstr>微软雅黑</vt:lpstr>
      <vt:lpstr>Arial</vt:lpstr>
      <vt:lpstr>Calibri</vt:lpstr>
      <vt:lpstr>Montserrat</vt:lpstr>
      <vt:lpstr>Roboto</vt:lpstr>
      <vt:lpstr>Roboto Light</vt:lpstr>
      <vt:lpstr>Wingdings</vt:lpstr>
      <vt:lpstr>Office 主题​​</vt:lpstr>
      <vt:lpstr>1_Office 主题​​</vt:lpstr>
      <vt:lpstr>2_Office 主题​​</vt:lpstr>
      <vt:lpstr>NHD-600-E-TX/RX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NHD-600-E-TX/RX</dc:title>
  <dc:creator>henry@proitav.com</dc:creator>
  <cp:lastModifiedBy>Sissi Pan</cp:lastModifiedBy>
  <cp:revision>190</cp:revision>
  <dcterms:created xsi:type="dcterms:W3CDTF">2024-10-24T01:32:00Z</dcterms:created>
  <dcterms:modified xsi:type="dcterms:W3CDTF">2026-04-24T08:26:36Z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E205779165384D6681FE05BF827F3D4B_12</vt:lpwstr>
  </property>
  <property fmtid="{D5CDD505-2E9C-101B-9397-08002B2CF9AE}" pid="3" name="KSOProductBuildVer">
    <vt:lpwstr>2052-12.1.0.18608</vt:lpwstr>
  </property>
  <property fmtid="{D5CDD505-2E9C-101B-9397-08002B2CF9AE}" pid="4" name="ContentTypeId">
    <vt:lpwstr>0x010100E01A8FBB3908BD4681554D596DADDBBC</vt:lpwstr>
  </property>
</Properties>
</file>