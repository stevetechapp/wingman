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9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378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845204"/>
              </p:ext>
            </p:extLst>
          </p:nvPr>
        </p:nvGraphicFramePr>
        <p:xfrm>
          <a:off x="167640" y="1365154"/>
          <a:ext cx="8778240" cy="435164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2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6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WyreStorm</a:t>
                      </a:r>
                      <a:endParaRPr lang="en-US" sz="600" dirty="0"/>
                    </a:p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NHD-510-TX</a:t>
                      </a:r>
                      <a:endParaRPr lang="en-US" sz="6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AVPro Edge</a:t>
                      </a:r>
                      <a:endParaRPr lang="en-US" sz="600" dirty="0"/>
                    </a:p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AC-MXNET-1G-EV2</a:t>
                      </a:r>
                      <a:endParaRPr lang="en-US" sz="6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Lightware</a:t>
                      </a:r>
                      <a:endParaRPr lang="en-US" sz="600" dirty="0"/>
                    </a:p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GVN-TX-UC</a:t>
                      </a:r>
                      <a:endParaRPr lang="en-US" sz="6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Extron</a:t>
                      </a:r>
                      <a:endParaRPr lang="en-US" sz="600" dirty="0"/>
                    </a:p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NAV E 222</a:t>
                      </a:r>
                      <a:endParaRPr lang="en-US" sz="6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Product Type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AV over IP Encoder (TX); HDMI + USB-C inputs; pairs with NHD-500 RX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AV over IP Encoder (HDMI only); pairs with AC-MXNET-1G-DV2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AV over IP Encoder (TX); HDMI + USB-C auto-switch inputs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AV over IP Switching Encoder; HDMI + USB-C (DisplayPort Alt Mode)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Codec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JPEG 2000 — visually lossless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JPEG 2000 — 200–850 Mbps adaptive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Proprietary codec — visually lossless; not JPEG 2000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PURE3® — wavelet-based lossless (Extron proprietary)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Max Video Resolution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4K60 4:4:4 8-bit; HDR up to 12-bit 4:2:2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4K60 4:4:4 RGB/YCbCr 10/12-bit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4K60 4:4:4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4K60 4:4:4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HDR Support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Dolby Vision, HDR10, HLG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Dolby Vision (≤30Hz), HDR10, HDR10+, HLG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Dolby Vision, HDR10; full HDMI 2.0 HDR support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Full HDMI 2.0 HDR — HDR10, HDR10+, Dolby Vision, HLG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Latency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&lt;1 frame (16ms); 4ms ULLM passthrough mode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~1 frame (16ms); ULLM mode &lt;4ms; Genlock supported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&lt;1 frame — less than one video frame end-to-end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Ultra-low latency — specific figure not published for 1G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Network (1G)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1GbE — standard managed switch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1GbE — Cat6a recommended; MXNet or compatible L3 switches preferred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1GbE — standard managed switch; CAT copper up to 100m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1GbE — standard managed switch; IGMP multicast required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Fiber Connectivity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 — SFP: 300m OM3 fiber (fiber cabling required)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Yes — SFP fiber option (SFP module required)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Yes — SFP cage: MM up to 550m; SM up to 80km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No — NAV E 222 copper only; fiber not specified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PoE Powered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No — external PSU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No — fanless ~7W, external PSU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Yes — TX: PoE 802.3af powered; RX requires PoE+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Yes — PoE+ powered (IEEE 802.3at)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Video Wall Support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Up to 16×16 (256 displays); mosaic &amp; rotation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Up to 64 panels/wall; unlimited walls; Genlock sync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Supported via GVN ecosystem; managed centrally through MMU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Supported via NAV platform; NAVigator endpoint management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USB-C Input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 — auto-switch HDMI/USB-C; up to 7 USB devices; KVM routing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No — HDMI only on EV2; no USB-C input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Yes — USB-C 100W charging; auto-switch HDMI/USB-C; USB 2.0 data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Yes — USB-C DisplayPort Alt Mode; 100W (with UPI 100 inserter)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Audio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HDMI, Toslink; Dante AV-A 2×2 channels (license required)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Dolby Atmos, DTS:X IMAX Enhanced; no native Dante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HDMI 2.0 audio (7.1 LPCM, Atmos, DTS:X); analog I/O; DNT adds Dante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HDMI embedded audio; AES67 audio over IP standard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Control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WebUI / API, RS-232, NHD-CTL-PRO controller, SYGMA cloud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RS-232, IR; MXNet Mentor software; OLED status display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MMU (Matrix Management Unit) web UI; auto-discovery; EDID management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NAVigator System Manager; embedded WebUI; RS-232 via control system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HDCP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2.2 / 2.3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2.2 / 2.3 (HDCP compliant)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HDCP compliant (version not published)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HDCP compliant (version not published)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Open Switch Ecosystem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Yes — any standard 1G managed switch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Partial — compatible L3 multicast switch required; MXNet preferred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Yes — standard 1G managed switch; no proprietary switch needed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Yes — standard managed switch; IGMP multicast required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5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1A1A1A"/>
                          </a:solidFill>
                        </a:rPr>
                        <a:t>Best Stand-Out Point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JPEG2000 + USB-C auto-switch + HDMI loop out + Fiber + Dante AV-A + SYGMA cloud — most versatile 500-series encoder</a:t>
                      </a:r>
                      <a:endParaRPr lang="en-US" sz="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Proprietary ASIC + Genlock; ULLM &lt;4ms; OLED display; but no USB-C input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PoE TX + USB-C 100W + SFP fiber + MMU management; Dante in DNT variant only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A1A1A"/>
                          </a:solidFill>
                        </a:rPr>
                        <a:t>PURE3 lossless + AES67 + USB-C 100W + 1G/10G interoperability + enterprise-scale</a:t>
                      </a:r>
                      <a:endParaRPr lang="en-US" sz="6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67640" y="728297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WyreStorm NHD-510-TX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91440"/>
            <a:ext cx="1219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Comparison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052560" y="1365154"/>
            <a:ext cx="2971800" cy="4351649"/>
          </a:xfrm>
          <a:prstGeom prst="rect">
            <a:avLst/>
          </a:prstGeom>
          <a:solidFill>
            <a:schemeClr val="bg2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9052560" y="1310451"/>
            <a:ext cx="2971800" cy="54864"/>
          </a:xfrm>
          <a:prstGeom prst="rect">
            <a:avLst/>
          </a:prstGeom>
          <a:solidFill>
            <a:srgbClr val="0B7935"/>
          </a:solidFill>
          <a:ln w="12700">
            <a:solidFill>
              <a:srgbClr val="0B7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0" y="1458046"/>
            <a:ext cx="2788920" cy="18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WyreStorm</a:t>
            </a:r>
            <a:r>
              <a:rPr lang="en-US" sz="9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 Positioning </a:t>
            </a:r>
            <a:endParaRPr lang="en-US" sz="9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0" y="1919877"/>
            <a:ext cx="2788920" cy="3304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NHD-510-TX is </a:t>
            </a:r>
            <a:r>
              <a:rPr lang="en-US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WyreStorm’s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most versatile 500-series encoder, adding USB-C + HDMI auto-switching and HDMI loop-out to the proven JPEG 2000 / SYGMA / Fiber / Dante AV-A platform.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strengths: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2000 visually lossless quality 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codec trusted by digital cinema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+ HDMI auto-switching 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true BYOD with one cable for modern meeting rooms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loop-out 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connect a local display without extra cabling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Dante AV-A 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license required; bridges professional audio networks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SYGMA Cloud + open ecosystem 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lock-in, remote management anywhere</a:t>
            </a:r>
          </a:p>
          <a:p>
            <a:pPr marL="171450" indent="-171450" algn="l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68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Aft>
                <a:spcPts val="300"/>
              </a:spcAft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</a:t>
            </a:r>
            <a:r>
              <a:rPr lang="en-US" sz="68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AVPro</a:t>
            </a: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Edge EV2: 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NHD-510-TX adds USB-C input, HDMI loop-out, native Fiber SFP, Dante AV-A, and SYGMA Cloud. EV2 is HDMI-only and pushes toward proprietary </a:t>
            </a:r>
            <a:r>
              <a:rPr lang="en-US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MXNet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switches.</a:t>
            </a:r>
          </a:p>
          <a:p>
            <a:pPr algn="l">
              <a:spcAft>
                <a:spcPts val="300"/>
              </a:spcAft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</a:t>
            </a:r>
            <a:r>
              <a:rPr lang="en-US" sz="68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Lightware</a:t>
            </a: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GVN-TX-UC: 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offer USB-C + SFP fiber. NHD-510-TX leads with JPEG 2000 quality and SYGMA Cloud management, while </a:t>
            </a:r>
            <a:r>
              <a:rPr lang="en-US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Lightware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offers PoE TX power.</a:t>
            </a:r>
          </a:p>
          <a:p>
            <a:pPr algn="l">
              <a:spcAft>
                <a:spcPts val="300"/>
              </a:spcAft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Extron NAV E 222: 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E 222 matches USB-C 100W and enterprise scalability, but uses PURE3 proprietary codec, has no Fiber SFP, and locks into the </a:t>
            </a:r>
            <a:r>
              <a:rPr lang="en-US" sz="6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ecosystem. NHD-510-TX offers JPEG 2000, Fiber, Dante AV-A, and SYGMA Cloud.</a:t>
            </a:r>
          </a:p>
          <a:p>
            <a:pPr algn="l">
              <a:spcAft>
                <a:spcPts val="300"/>
              </a:spcAft>
            </a:pPr>
            <a:r>
              <a:rPr lang="en-US" sz="68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</a:t>
            </a:r>
            <a:r>
              <a:rPr lang="en-US" sz="68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NHD-510-TX as the upgrade path for modern BYOD environments, combining the proven NHD-500 platform with USB-C auto-switching and HDMI loop-out, while competitors either lack USB-C, require Dante upgrades, or rely on proprietary ecosystems.</a:t>
            </a:r>
            <a:endParaRPr lang="en-US" sz="68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9478A8-5967-324E-F6B9-550492067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1885" y="91440"/>
            <a:ext cx="884663" cy="2846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34ccb5-745a-4b19-b3da-83dafbb0f953">
      <Terms xmlns="http://schemas.microsoft.com/office/infopath/2007/PartnerControls"/>
    </lcf76f155ced4ddcb4097134ff3c332f>
    <TaxCatchAll xmlns="fa7e1be7-6c27-4381-949e-b43a2eb5089a" xsi:nil="true"/>
  </documentManagement>
</p:properties>
</file>

<file path=customXml/itemProps1.xml><?xml version="1.0" encoding="utf-8"?>
<ds:datastoreItem xmlns:ds="http://schemas.openxmlformats.org/officeDocument/2006/customXml" ds:itemID="{D9DA869A-FB3F-48E8-8083-EB8E9262BBC7}"/>
</file>

<file path=customXml/itemProps2.xml><?xml version="1.0" encoding="utf-8"?>
<ds:datastoreItem xmlns:ds="http://schemas.openxmlformats.org/officeDocument/2006/customXml" ds:itemID="{F96C7379-B80D-44A2-8F4E-B8B5E068DA3A}"/>
</file>

<file path=customXml/itemProps3.xml><?xml version="1.0" encoding="utf-8"?>
<ds:datastoreItem xmlns:ds="http://schemas.openxmlformats.org/officeDocument/2006/customXml" ds:itemID="{1CFC100F-550E-4B58-9024-A93ACA9B0637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915</Words>
  <Application>Microsoft Office PowerPoint</Application>
  <PresentationFormat>Widescreen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Eva Beens</cp:lastModifiedBy>
  <cp:revision>4</cp:revision>
  <dcterms:created xsi:type="dcterms:W3CDTF">2026-04-30T05:21:29Z</dcterms:created>
  <dcterms:modified xsi:type="dcterms:W3CDTF">2026-05-19T06:21:41Z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0x010100E01A8FBB3908BD4681554D596DADDBBC</vt:lpwstr>
  </property>
</Properties>
</file>