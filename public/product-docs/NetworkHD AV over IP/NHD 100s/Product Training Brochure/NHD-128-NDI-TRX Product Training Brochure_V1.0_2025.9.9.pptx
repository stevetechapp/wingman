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Masters/notesMaster1.xml" ContentType="application/vnd.openxmlformats-officedocument.presentationml.notesMaster+xml"/>
  <Override PartName="/ppt/theme/theme2.xml" ContentType="application/vnd.openxmlformats-officedocument.theme+xml"/>
  <Override PartName="/ppt/handoutMasters/handoutMaster1.xml" ContentType="application/vnd.openxmlformats-officedocument.presentationml.handoutMaster+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2.svg" ContentType="image/svg+xml"/>
  <Override PartName="/ppt/presentation.xml" ContentType="application/vnd.openxmlformats-officedocument.presentationml.presentation.main+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0"/>
  </p:handoutMasterIdLst>
  <p:sldIdLst>
    <p:sldId id="257" r:id="rId3"/>
    <p:sldId id="1007" r:id="rId5"/>
    <p:sldId id="1008" r:id="rId6"/>
    <p:sldId id="260" r:id="rId7"/>
    <p:sldId id="1053" r:id="rId8"/>
    <p:sldId id="1026" r:id="rId9"/>
    <p:sldId id="1013" r:id="rId10"/>
    <p:sldId id="1014" r:id="rId11"/>
    <p:sldId id="1010" r:id="rId12"/>
    <p:sldId id="1055" r:id="rId13"/>
    <p:sldId id="1011" r:id="rId14"/>
    <p:sldId id="272" r:id="rId15"/>
    <p:sldId id="270" r:id="rId16"/>
    <p:sldId id="271" r:id="rId17"/>
    <p:sldId id="1056" r:id="rId18"/>
    <p:sldId id="26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04" userDrawn="1">
          <p15:clr>
            <a:srgbClr val="A4A3A4"/>
          </p15:clr>
        </p15:guide>
        <p15:guide id="2" pos="37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05" autoAdjust="0"/>
    <p:restoredTop sz="86855" autoAdjust="0"/>
  </p:normalViewPr>
  <p:slideViewPr>
    <p:cSldViewPr snapToGrid="0" showGuides="1">
      <p:cViewPr varScale="1">
        <p:scale>
          <a:sx n="139" d="100"/>
          <a:sy n="139" d="100"/>
        </p:scale>
        <p:origin x="198" y="132"/>
      </p:cViewPr>
      <p:guideLst>
        <p:guide orient="horz" pos="2704"/>
        <p:guide pos="374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8" Type="http://schemas.openxmlformats.org/officeDocument/2006/relationships/slide" Target="slides/slide15.xml"/><Relationship Id="rId13" Type="http://schemas.openxmlformats.org/officeDocument/2006/relationships/slide" Target="slides/slide10.xml"/><Relationship Id="rId26" Type="http://schemas.openxmlformats.org/officeDocument/2006/relationships/customXml" Target="../customXml/item3.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4.xml"/><Relationship Id="rId17" Type="http://schemas.openxmlformats.org/officeDocument/2006/relationships/slide" Target="slides/slide14.xml"/><Relationship Id="rId12" Type="http://schemas.openxmlformats.org/officeDocument/2006/relationships/slide" Target="slides/slide9.xml"/><Relationship Id="rId25" Type="http://schemas.openxmlformats.org/officeDocument/2006/relationships/customXml" Target="../customXml/item2.xml"/><Relationship Id="rId20" Type="http://schemas.openxmlformats.org/officeDocument/2006/relationships/handoutMaster" Target="handoutMasters/handoutMaster1.xml"/><Relationship Id="rId2" Type="http://schemas.openxmlformats.org/officeDocument/2006/relationships/theme" Target="theme/theme1.xml"/><Relationship Id="rId16" Type="http://schemas.openxmlformats.org/officeDocument/2006/relationships/slide" Target="slides/slide13.xml"/><Relationship Id="rId6" Type="http://schemas.openxmlformats.org/officeDocument/2006/relationships/slide" Target="slides/slide3.xml"/><Relationship Id="rId11" Type="http://schemas.openxmlformats.org/officeDocument/2006/relationships/slide" Target="slides/slide8.xml"/><Relationship Id="rId1" Type="http://schemas.openxmlformats.org/officeDocument/2006/relationships/slideMaster" Target="slideMasters/slideMaster1.xml"/><Relationship Id="rId24" Type="http://schemas.openxmlformats.org/officeDocument/2006/relationships/customXml" Target="../customXml/item1.xml"/><Relationship Id="rId5" Type="http://schemas.openxmlformats.org/officeDocument/2006/relationships/slide" Target="slides/slide2.xml"/><Relationship Id="rId23" Type="http://schemas.openxmlformats.org/officeDocument/2006/relationships/tableStyles" Target="tableStyles.xml"/><Relationship Id="rId15" Type="http://schemas.openxmlformats.org/officeDocument/2006/relationships/slide" Target="slides/slide12.xml"/><Relationship Id="rId19" Type="http://schemas.openxmlformats.org/officeDocument/2006/relationships/slide" Target="slides/slide16.xml"/><Relationship Id="rId10" Type="http://schemas.openxmlformats.org/officeDocument/2006/relationships/slide" Target="slides/slide7.xml"/><Relationship Id="rId9" Type="http://schemas.openxmlformats.org/officeDocument/2006/relationships/slide" Target="slides/slide6.xml"/><Relationship Id="rId4" Type="http://schemas.openxmlformats.org/officeDocument/2006/relationships/notesMaster" Target="notesMasters/notesMaster1.xml"/><Relationship Id="rId22" Type="http://schemas.openxmlformats.org/officeDocument/2006/relationships/viewProps" Target="viewProps.xml"/><Relationship Id="rId14"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24B3F-1DB2-4605-A9A4-EAFA57F8254A}" type="datetimeFigureOut">
              <a:rPr lang="en-US" smtClean="0"/>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2AE8AE-A6D6-4C00-AAE4-14AC10745482}"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4E2AE8AE-A6D6-4C00-AAE4-14AC10745482}"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Slide Number Placeholder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4E2AE8AE-A6D6-4C00-AAE4-14AC10745482}"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4E2AE8AE-A6D6-4C00-AAE4-14AC10745482}"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4E2AE8AE-A6D6-4C00-AAE4-14AC10745482}"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4E2AE8AE-A6D6-4C00-AAE4-14AC10745482}"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4E2AE8AE-A6D6-4C00-AAE4-14AC10745482}"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Slide Number Placeholder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A306D-6C12-4E72-AF59-54F4E5C1E32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p:cNvSpPr>
            <a:spLocks noGrp="1"/>
          </p:cNvSpPr>
          <p:nvPr>
            <p:ph type="dt" sz="half" idx="10"/>
          </p:nvPr>
        </p:nvSpPr>
        <p:spPr/>
        <p:txBody>
          <a:bodyPr/>
          <a:lstStyle/>
          <a:p>
            <a:fld id="{B0326500-09CE-4A2E-9160-15D76F1FEBEE}" type="datetimeFigureOut">
              <a:rPr lang="en-US" smtClean="0"/>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8883B897-3365-489C-A4D1-3A6DD8612C62}"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日期占位符 3"/>
          <p:cNvSpPr>
            <a:spLocks noGrp="1"/>
          </p:cNvSpPr>
          <p:nvPr>
            <p:ph type="dt" sz="half" idx="10"/>
          </p:nvPr>
        </p:nvSpPr>
        <p:spPr/>
        <p:txBody>
          <a:bodyPr/>
          <a:lstStyle/>
          <a:p>
            <a:fld id="{B0326500-09CE-4A2E-9160-15D76F1FEBEE}" type="datetimeFigureOut">
              <a:rPr lang="en-US" smtClean="0"/>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8883B897-3365-489C-A4D1-3A6DD8612C62}"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B0326500-09CE-4A2E-9160-15D76F1FEBEE}" type="datetimeFigureOut">
              <a:rPr lang="en-US" smtClean="0"/>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8883B897-3365-489C-A4D1-3A6DD8612C62}"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日期占位符 4"/>
          <p:cNvSpPr>
            <a:spLocks noGrp="1"/>
          </p:cNvSpPr>
          <p:nvPr>
            <p:ph type="dt" sz="half" idx="10"/>
          </p:nvPr>
        </p:nvSpPr>
        <p:spPr/>
        <p:txBody>
          <a:bodyPr/>
          <a:lstStyle/>
          <a:p>
            <a:fld id="{B0326500-09CE-4A2E-9160-15D76F1FEBEE}" type="datetimeFigureOut">
              <a:rPr lang="en-US" smtClean="0"/>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8883B897-3365-489C-A4D1-3A6DD8612C62}"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7" name="日期占位符 6"/>
          <p:cNvSpPr>
            <a:spLocks noGrp="1"/>
          </p:cNvSpPr>
          <p:nvPr>
            <p:ph type="dt" sz="half" idx="10"/>
          </p:nvPr>
        </p:nvSpPr>
        <p:spPr/>
        <p:txBody>
          <a:bodyPr/>
          <a:lstStyle/>
          <a:p>
            <a:fld id="{B0326500-09CE-4A2E-9160-15D76F1FEBEE}" type="datetimeFigureOut">
              <a:rPr lang="en-US" smtClean="0"/>
            </a:fld>
            <a:endParaRPr lang="en-US"/>
          </a:p>
        </p:txBody>
      </p:sp>
      <p:sp>
        <p:nvSpPr>
          <p:cNvPr id="8" name="页脚占位符 7"/>
          <p:cNvSpPr>
            <a:spLocks noGrp="1"/>
          </p:cNvSpPr>
          <p:nvPr>
            <p:ph type="ftr" sz="quarter" idx="11"/>
          </p:nvPr>
        </p:nvSpPr>
        <p:spPr/>
        <p:txBody>
          <a:bodyPr/>
          <a:lstStyle/>
          <a:p>
            <a:endParaRPr lang="en-US"/>
          </a:p>
        </p:txBody>
      </p:sp>
      <p:sp>
        <p:nvSpPr>
          <p:cNvPr id="9" name="灯片编号占位符 8"/>
          <p:cNvSpPr>
            <a:spLocks noGrp="1"/>
          </p:cNvSpPr>
          <p:nvPr>
            <p:ph type="sldNum" sz="quarter" idx="12"/>
          </p:nvPr>
        </p:nvSpPr>
        <p:spPr/>
        <p:txBody>
          <a:bodyPr/>
          <a:lstStyle/>
          <a:p>
            <a:fld id="{8883B897-3365-489C-A4D1-3A6DD8612C62}"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日期占位符 2"/>
          <p:cNvSpPr>
            <a:spLocks noGrp="1"/>
          </p:cNvSpPr>
          <p:nvPr>
            <p:ph type="dt" sz="half" idx="10"/>
          </p:nvPr>
        </p:nvSpPr>
        <p:spPr/>
        <p:txBody>
          <a:bodyPr/>
          <a:lstStyle/>
          <a:p>
            <a:fld id="{B0326500-09CE-4A2E-9160-15D76F1FEBEE}" type="datetimeFigureOut">
              <a:rPr lang="en-US" smtClean="0"/>
            </a:fld>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8883B897-3365-489C-A4D1-3A6DD8612C62}"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0326500-09CE-4A2E-9160-15D76F1FEBEE}" type="datetimeFigureOut">
              <a:rPr lang="en-US" smtClean="0"/>
            </a:fld>
            <a:endParaRPr lang="en-US"/>
          </a:p>
        </p:txBody>
      </p:sp>
      <p:sp>
        <p:nvSpPr>
          <p:cNvPr id="3" name="页脚占位符 2"/>
          <p:cNvSpPr>
            <a:spLocks noGrp="1"/>
          </p:cNvSpPr>
          <p:nvPr>
            <p:ph type="ftr" sz="quarter" idx="11"/>
          </p:nvPr>
        </p:nvSpPr>
        <p:spPr/>
        <p:txBody>
          <a:bodyPr/>
          <a:lstStyle/>
          <a:p>
            <a:endParaRPr lang="en-US"/>
          </a:p>
        </p:txBody>
      </p:sp>
      <p:sp>
        <p:nvSpPr>
          <p:cNvPr id="4" name="灯片编号占位符 3"/>
          <p:cNvSpPr>
            <a:spLocks noGrp="1"/>
          </p:cNvSpPr>
          <p:nvPr>
            <p:ph type="sldNum" sz="quarter" idx="12"/>
          </p:nvPr>
        </p:nvSpPr>
        <p:spPr/>
        <p:txBody>
          <a:bodyPr/>
          <a:lstStyle/>
          <a:p>
            <a:fld id="{8883B897-3365-489C-A4D1-3A6DD8612C62}"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0326500-09CE-4A2E-9160-15D76F1FEBEE}" type="datetimeFigureOut">
              <a:rPr lang="en-US" smtClean="0"/>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8883B897-3365-489C-A4D1-3A6DD8612C62}"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0326500-09CE-4A2E-9160-15D76F1FEBEE}" type="datetimeFigureOut">
              <a:rPr lang="en-US" smtClean="0"/>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8883B897-3365-489C-A4D1-3A6DD8612C62}"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日期占位符 3"/>
          <p:cNvSpPr>
            <a:spLocks noGrp="1"/>
          </p:cNvSpPr>
          <p:nvPr>
            <p:ph type="dt" sz="half" idx="10"/>
          </p:nvPr>
        </p:nvSpPr>
        <p:spPr/>
        <p:txBody>
          <a:bodyPr/>
          <a:lstStyle/>
          <a:p>
            <a:fld id="{B0326500-09CE-4A2E-9160-15D76F1FEBEE}" type="datetimeFigureOut">
              <a:rPr lang="en-US" smtClean="0"/>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8883B897-3365-489C-A4D1-3A6DD8612C62}"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日期占位符 3"/>
          <p:cNvSpPr>
            <a:spLocks noGrp="1"/>
          </p:cNvSpPr>
          <p:nvPr>
            <p:ph type="dt" sz="half" idx="10"/>
          </p:nvPr>
        </p:nvSpPr>
        <p:spPr/>
        <p:txBody>
          <a:bodyPr/>
          <a:lstStyle/>
          <a:p>
            <a:fld id="{B0326500-09CE-4A2E-9160-15D76F1FEBEE}" type="datetimeFigureOut">
              <a:rPr lang="en-US" smtClean="0"/>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8883B897-3365-489C-A4D1-3A6DD8612C62}"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326500-09CE-4A2E-9160-15D76F1FEBEE}" type="datetimeFigureOut">
              <a:rPr lang="en-US" smtClean="0"/>
            </a:fld>
            <a:endParaRPr 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883B897-3365-489C-A4D1-3A6DD8612C62}"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microsoft.com/office/2007/relationships/hdphoto" Target="../media/image2.wdp"/><Relationship Id="rId11" Type="http://schemas.openxmlformats.org/officeDocument/2006/relationships/notesSlide" Target="../notesSlides/notesSlide1.xml"/><Relationship Id="rId10"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7.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image" Target="../media/image6.png"/><Relationship Id="rId2" Type="http://schemas.openxmlformats.org/officeDocument/2006/relationships/tags" Target="../tags/tag6.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tags" Target="../tags/tag13.xml"/><Relationship Id="rId5" Type="http://schemas.openxmlformats.org/officeDocument/2006/relationships/image" Target="../media/image6.png"/><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1" Type="http://schemas.openxmlformats.org/officeDocument/2006/relationships/notesSlide" Target="../notesSlides/notesSlide3.xml"/><Relationship Id="rId10" Type="http://schemas.openxmlformats.org/officeDocument/2006/relationships/slideLayout" Target="../slideLayouts/slideLayout2.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tags" Target="../tags/tag17.xml"/><Relationship Id="rId3" Type="http://schemas.openxmlformats.org/officeDocument/2006/relationships/tags" Target="../tags/tag16.xml"/><Relationship Id="rId20" Type="http://schemas.openxmlformats.org/officeDocument/2006/relationships/notesSlide" Target="../notesSlides/notesSlide4.xml"/><Relationship Id="rId2" Type="http://schemas.openxmlformats.org/officeDocument/2006/relationships/image" Target="../media/image6.png"/><Relationship Id="rId19" Type="http://schemas.openxmlformats.org/officeDocument/2006/relationships/slideLayout" Target="../slideLayouts/slideLayout7.xml"/><Relationship Id="rId18" Type="http://schemas.openxmlformats.org/officeDocument/2006/relationships/image" Target="../media/image16.png"/><Relationship Id="rId17" Type="http://schemas.openxmlformats.org/officeDocument/2006/relationships/image" Target="../media/image15.png"/><Relationship Id="rId16" Type="http://schemas.openxmlformats.org/officeDocument/2006/relationships/image" Target="../media/image14.png"/><Relationship Id="rId15" Type="http://schemas.openxmlformats.org/officeDocument/2006/relationships/image" Target="../media/image13.png"/><Relationship Id="rId14" Type="http://schemas.openxmlformats.org/officeDocument/2006/relationships/image" Target="../media/image12.svg"/><Relationship Id="rId13" Type="http://schemas.openxmlformats.org/officeDocument/2006/relationships/image" Target="../media/image11.png"/><Relationship Id="rId12" Type="http://schemas.openxmlformats.org/officeDocument/2006/relationships/tags" Target="../tags/tag23.xml"/><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tags" Target="../tags/tag15.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tags" Target="../tags/tag26.xml"/><Relationship Id="rId3" Type="http://schemas.openxmlformats.org/officeDocument/2006/relationships/image" Target="../media/image6.png"/><Relationship Id="rId2" Type="http://schemas.openxmlformats.org/officeDocument/2006/relationships/tags" Target="../tags/tag25.xml"/><Relationship Id="rId1" Type="http://schemas.openxmlformats.org/officeDocument/2006/relationships/tags" Target="../tags/tag24.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29.xml"/><Relationship Id="rId3" Type="http://schemas.openxmlformats.org/officeDocument/2006/relationships/image" Target="../media/image6.png"/><Relationship Id="rId2" Type="http://schemas.openxmlformats.org/officeDocument/2006/relationships/tags" Target="../tags/tag28.xml"/><Relationship Id="rId1" Type="http://schemas.openxmlformats.org/officeDocument/2006/relationships/tags" Target="../tags/tag27.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2.xml"/><Relationship Id="rId6" Type="http://schemas.openxmlformats.org/officeDocument/2006/relationships/tags" Target="../tags/tag32.xml"/><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6.png"/><Relationship Id="rId2" Type="http://schemas.openxmlformats.org/officeDocument/2006/relationships/tags" Target="../tags/tag31.xml"/><Relationship Id="rId1" Type="http://schemas.openxmlformats.org/officeDocument/2006/relationships/tags" Target="../tags/tag30.xml"/></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xml"/><Relationship Id="rId5" Type="http://schemas.openxmlformats.org/officeDocument/2006/relationships/tags" Target="../tags/tag36.xml"/><Relationship Id="rId4" Type="http://schemas.openxmlformats.org/officeDocument/2006/relationships/image" Target="../media/image6.png"/><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xml"/><Relationship Id="rId5" Type="http://schemas.openxmlformats.org/officeDocument/2006/relationships/tags" Target="../tags/tag40.xml"/><Relationship Id="rId4" Type="http://schemas.openxmlformats.org/officeDocument/2006/relationships/image" Target="../media/image19.png"/><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2.xml"/><Relationship Id="rId5" Type="http://schemas.openxmlformats.org/officeDocument/2006/relationships/tags" Target="../tags/tag44.xml"/><Relationship Id="rId4" Type="http://schemas.openxmlformats.org/officeDocument/2006/relationships/image" Target="../media/image20.png"/><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2.xml"/><Relationship Id="rId5" Type="http://schemas.openxmlformats.org/officeDocument/2006/relationships/tags" Target="../tags/tag48.xml"/><Relationship Id="rId4" Type="http://schemas.openxmlformats.org/officeDocument/2006/relationships/image" Target="../media/image21.png"/><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2.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image" Target="../media/image6.png"/><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2.xml"/><Relationship Id="rId5" Type="http://schemas.openxmlformats.org/officeDocument/2006/relationships/tags" Target="../tags/tag60.xml"/><Relationship Id="rId4" Type="http://schemas.openxmlformats.org/officeDocument/2006/relationships/image" Target="../media/image6.png"/><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2.xml"/><Relationship Id="rId5" Type="http://schemas.openxmlformats.org/officeDocument/2006/relationships/tags" Target="../tags/tag64.xml"/><Relationship Id="rId4" Type="http://schemas.openxmlformats.org/officeDocument/2006/relationships/image" Target="../media/image6.png"/><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image" Target="../media/image6.png"/><Relationship Id="rId1" Type="http://schemas.openxmlformats.org/officeDocument/2006/relationships/image" Target="../media/image2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and person sitting in a room with a computer&#10;&#10;Description automatically generated"/>
          <p:cNvPicPr>
            <a:picLocks noChangeAspect="1"/>
          </p:cNvPicPr>
          <p:nvPr/>
        </p:nvPicPr>
        <p:blipFill>
          <a:blip r:embed="rId1">
            <a:extLst>
              <a:ext uri="{BEBA8EAE-BF5A-486C-A8C5-ECC9F3942E4B}">
                <a14:imgProps xmlns:a14="http://schemas.microsoft.com/office/drawing/2010/main">
                  <a14:imgLayer r:embed="rId2">
                    <a14:imgEffect>
                      <a14:brightnessContrast bright="13000" contrast="-49000"/>
                    </a14:imgEffect>
                    <a14:imgEffect>
                      <a14:saturation sat="16000"/>
                    </a14:imgEffect>
                    <a14:imgEffect>
                      <a14:sharpenSoften amount="-23000"/>
                    </a14:imgEffect>
                  </a14:imgLayer>
                </a14:imgProps>
              </a:ext>
              <a:ext uri="{28A0092B-C50C-407E-A947-70E740481C1C}">
                <a14:useLocalDpi xmlns:a14="http://schemas.microsoft.com/office/drawing/2010/main" val="0"/>
              </a:ext>
            </a:extLst>
          </a:blip>
          <a:stretch>
            <a:fillRect/>
          </a:stretch>
        </p:blipFill>
        <p:spPr>
          <a:xfrm>
            <a:off x="0" y="347153"/>
            <a:ext cx="12192000" cy="6120322"/>
          </a:xfrm>
          <a:prstGeom prst="rect">
            <a:avLst/>
          </a:prstGeom>
        </p:spPr>
      </p:pic>
      <p:sp>
        <p:nvSpPr>
          <p:cNvPr id="9" name="矩形 7"/>
          <p:cNvSpPr/>
          <p:nvPr>
            <p:custDataLst>
              <p:tags r:id="rId3"/>
            </p:custDataLst>
          </p:nvPr>
        </p:nvSpPr>
        <p:spPr>
          <a:xfrm>
            <a:off x="0" y="0"/>
            <a:ext cx="12192000" cy="1203942"/>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accent6"/>
              </a:solidFill>
              <a:latin typeface="微软雅黑" panose="020B0503020204020204" pitchFamily="34" charset="-122"/>
              <a:ea typeface="微软雅黑" panose="020B0503020204020204" pitchFamily="34" charset="-122"/>
              <a:sym typeface="+mn-ea"/>
            </a:endParaRPr>
          </a:p>
        </p:txBody>
      </p:sp>
      <p:sp>
        <p:nvSpPr>
          <p:cNvPr id="30" name="矩形 7"/>
          <p:cNvSpPr/>
          <p:nvPr>
            <p:custDataLst>
              <p:tags r:id="rId4"/>
            </p:custDataLst>
          </p:nvPr>
        </p:nvSpPr>
        <p:spPr>
          <a:xfrm>
            <a:off x="0" y="1086295"/>
            <a:ext cx="12192000" cy="4567763"/>
          </a:xfrm>
          <a:prstGeom prst="rect">
            <a:avLst/>
          </a:prstGeom>
          <a:solidFill>
            <a:srgbClr val="73B98F">
              <a:alpha val="5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0">
              <a:solidFill>
                <a:schemeClr val="accent6"/>
              </a:solidFill>
              <a:latin typeface="微软雅黑" panose="020B0503020204020204" pitchFamily="34" charset="-122"/>
              <a:ea typeface="微软雅黑" panose="020B0503020204020204" pitchFamily="34" charset="-122"/>
              <a:sym typeface="+mn-ea"/>
            </a:endParaRPr>
          </a:p>
        </p:txBody>
      </p:sp>
      <p:sp>
        <p:nvSpPr>
          <p:cNvPr id="22" name="文本框 20"/>
          <p:cNvSpPr txBox="1"/>
          <p:nvPr>
            <p:custDataLst>
              <p:tags r:id="rId5"/>
            </p:custDataLst>
          </p:nvPr>
        </p:nvSpPr>
        <p:spPr>
          <a:xfrm>
            <a:off x="399346" y="257682"/>
            <a:ext cx="4077404" cy="609600"/>
          </a:xfrm>
          <a:prstGeom prst="rect">
            <a:avLst/>
          </a:prstGeom>
          <a:noFill/>
        </p:spPr>
        <p:txBody>
          <a:bodyPr wrap="square" lIns="63500" tIns="25400" rIns="63500" bIns="25400" rtlCol="0" anchor="ctr" anchorCtr="0">
            <a:noAutofit/>
          </a:bodyPr>
          <a:lstStyle/>
          <a:p>
            <a:pPr marL="0" indent="0" algn="l">
              <a:lnSpc>
                <a:spcPct val="100000"/>
              </a:lnSpc>
              <a:spcBef>
                <a:spcPts val="0"/>
              </a:spcBef>
              <a:spcAft>
                <a:spcPts val="0"/>
              </a:spcAft>
              <a:buSzPct val="100000"/>
              <a:buNone/>
            </a:pPr>
            <a:r>
              <a:rPr lang="en-US" altLang="zh-CN" sz="3800" b="1" strike="noStrike" dirty="0">
                <a:solidFill>
                  <a:schemeClr val="lt1"/>
                </a:solidFill>
                <a:uFillTx/>
                <a:latin typeface="Montserrat" pitchFamily="2" charset="0"/>
                <a:ea typeface="微软雅黑" panose="020B0503020204020204" pitchFamily="34" charset="-122"/>
                <a:cs typeface="Roboto" charset="0"/>
                <a:sym typeface="Roboto"/>
              </a:rPr>
              <a:t>Product Guide</a:t>
            </a:r>
            <a:endParaRPr lang="en-US" altLang="zh-CN" sz="3800" b="1" strike="noStrike" dirty="0">
              <a:solidFill>
                <a:schemeClr val="lt1"/>
              </a:solidFill>
              <a:uFillTx/>
              <a:latin typeface="Montserrat" pitchFamily="2" charset="0"/>
              <a:ea typeface="微软雅黑" panose="020B0503020204020204" pitchFamily="34" charset="-122"/>
              <a:cs typeface="Roboto" charset="0"/>
              <a:sym typeface="Roboto"/>
            </a:endParaRPr>
          </a:p>
        </p:txBody>
      </p:sp>
      <p:sp>
        <p:nvSpPr>
          <p:cNvPr id="2" name="Title 1"/>
          <p:cNvSpPr>
            <a:spLocks noGrp="1"/>
          </p:cNvSpPr>
          <p:nvPr>
            <p:ph type="ctrTitle"/>
          </p:nvPr>
        </p:nvSpPr>
        <p:spPr>
          <a:xfrm>
            <a:off x="4881065" y="198014"/>
            <a:ext cx="7063286" cy="503028"/>
          </a:xfrm>
        </p:spPr>
        <p:txBody>
          <a:bodyPr>
            <a:noAutofit/>
          </a:bodyPr>
          <a:lstStyle/>
          <a:p>
            <a:pPr algn="r"/>
            <a:r>
              <a:rPr lang="en-US" altLang="zh-CN" sz="2600" b="1" dirty="0">
                <a:solidFill>
                  <a:schemeClr val="bg1"/>
                </a:solidFill>
                <a:latin typeface="Roboto" charset="0"/>
                <a:ea typeface="Roboto"/>
                <a:cs typeface="Roboto" charset="0"/>
                <a:sym typeface="+mn-ea"/>
              </a:rPr>
              <a:t>NHD-128-NDI-TRX</a:t>
            </a:r>
            <a:endParaRPr lang="zh-CN" altLang="en-US" sz="2600" b="1" dirty="0">
              <a:solidFill>
                <a:schemeClr val="bg1"/>
              </a:solidFill>
              <a:latin typeface="Roboto" charset="0"/>
              <a:ea typeface="宋体" panose="02010600030101010101" pitchFamily="2" charset="-122"/>
              <a:cs typeface="Roboto" charset="0"/>
              <a:sym typeface="+mn-ea"/>
            </a:endParaRPr>
          </a:p>
        </p:txBody>
      </p:sp>
      <p:sp>
        <p:nvSpPr>
          <p:cNvPr id="3" name="Title 1"/>
          <p:cNvSpPr txBox="1"/>
          <p:nvPr/>
        </p:nvSpPr>
        <p:spPr>
          <a:xfrm>
            <a:off x="5980748" y="613534"/>
            <a:ext cx="6211252" cy="43466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altLang="zh-CN" sz="1800" dirty="0">
                <a:solidFill>
                  <a:schemeClr val="accent6">
                    <a:lumMod val="40000"/>
                    <a:lumOff val="60000"/>
                  </a:schemeClr>
                </a:solidFill>
                <a:latin typeface="Roboto" charset="0"/>
                <a:ea typeface="宋体" panose="02010600030101010101" pitchFamily="2" charset="-122"/>
                <a:cs typeface="Roboto" charset="0"/>
                <a:sym typeface="+mn-ea"/>
              </a:rPr>
              <a:t>NDI-NetworkHD Bi-directional Gateway</a:t>
            </a:r>
            <a:endParaRPr lang="zh-CN" altLang="en-US" sz="1800" dirty="0">
              <a:solidFill>
                <a:schemeClr val="accent6">
                  <a:lumMod val="40000"/>
                  <a:lumOff val="60000"/>
                </a:schemeClr>
              </a:solidFill>
              <a:latin typeface="Roboto" charset="0"/>
              <a:ea typeface="宋体" panose="02010600030101010101" pitchFamily="2" charset="-122"/>
              <a:cs typeface="Roboto" charset="0"/>
              <a:sym typeface="+mn-ea"/>
            </a:endParaRPr>
          </a:p>
        </p:txBody>
      </p:sp>
      <p:sp>
        <p:nvSpPr>
          <p:cNvPr id="13" name="矩形 7"/>
          <p:cNvSpPr/>
          <p:nvPr>
            <p:custDataLst>
              <p:tags r:id="rId6"/>
            </p:custDataLst>
          </p:nvPr>
        </p:nvSpPr>
        <p:spPr>
          <a:xfrm>
            <a:off x="0" y="5654059"/>
            <a:ext cx="12192000" cy="1203436"/>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pic>
        <p:nvPicPr>
          <p:cNvPr id="26" name="Picture 25" descr="A picture containing text, clock&#10;&#10;Description automatically generated"/>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9346" y="5877970"/>
            <a:ext cx="4315581" cy="863114"/>
          </a:xfrm>
          <a:prstGeom prst="rect">
            <a:avLst/>
          </a:prstGeom>
        </p:spPr>
      </p:pic>
      <p:sp>
        <p:nvSpPr>
          <p:cNvPr id="19" name="Title 1"/>
          <p:cNvSpPr txBox="1"/>
          <p:nvPr/>
        </p:nvSpPr>
        <p:spPr>
          <a:xfrm>
            <a:off x="6616271" y="5849316"/>
            <a:ext cx="5691024" cy="81161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i="1" dirty="0">
                <a:latin typeface="Montserrat"/>
                <a:ea typeface="Roboto"/>
                <a:cs typeface="Arial" panose="020B0604020202020204"/>
              </a:rPr>
              <a:t>Award-Winning Audio-Visual</a:t>
            </a:r>
            <a:br>
              <a:rPr lang="en-US" sz="2400" b="1" i="1" dirty="0">
                <a:latin typeface="Montserrat" pitchFamily="2" charset="77"/>
                <a:ea typeface="Roboto"/>
                <a:cs typeface="Arial" panose="020B0604020202020204"/>
              </a:rPr>
            </a:br>
            <a:r>
              <a:rPr lang="en-US" sz="2400" b="1" i="1" dirty="0">
                <a:latin typeface="Montserrat"/>
                <a:ea typeface="Roboto"/>
                <a:cs typeface="Arial" panose="020B0604020202020204"/>
              </a:rPr>
              <a:t>Solutions Manufacturer</a:t>
            </a:r>
            <a:endParaRPr lang="en-US" sz="2400" b="1" i="1" dirty="0">
              <a:latin typeface="Montserrat"/>
              <a:ea typeface="Roboto"/>
              <a:cs typeface="Arial" panose="020B0604020202020204"/>
            </a:endParaRPr>
          </a:p>
        </p:txBody>
      </p:sp>
      <p:grpSp>
        <p:nvGrpSpPr>
          <p:cNvPr id="10" name="组合 9"/>
          <p:cNvGrpSpPr/>
          <p:nvPr/>
        </p:nvGrpSpPr>
        <p:grpSpPr>
          <a:xfrm>
            <a:off x="1632554" y="1827479"/>
            <a:ext cx="8696388" cy="3552972"/>
            <a:chOff x="2635983" y="2573866"/>
            <a:chExt cx="6689529" cy="2733055"/>
          </a:xfrm>
        </p:grpSpPr>
        <p:pic>
          <p:nvPicPr>
            <p:cNvPr id="8" name="图片 7" descr="电子设备的屏幕&#10;&#10;AI 生成的内容可能不正确。"/>
            <p:cNvPicPr>
              <a:picLocks noChangeAspect="1"/>
            </p:cNvPicPr>
            <p:nvPr/>
          </p:nvPicPr>
          <p:blipFill>
            <a:blip r:embed="rId8" cstate="print">
              <a:extLst>
                <a:ext uri="{28A0092B-C50C-407E-A947-70E740481C1C}">
                  <a14:useLocalDpi xmlns:a14="http://schemas.microsoft.com/office/drawing/2010/main" val="0"/>
                </a:ext>
              </a:extLst>
            </a:blip>
            <a:srcRect t="37127" r="2456" b="36305"/>
            <a:stretch>
              <a:fillRect/>
            </a:stretch>
          </p:blipFill>
          <p:spPr>
            <a:xfrm>
              <a:off x="2635983" y="3484885"/>
              <a:ext cx="6689529" cy="1822036"/>
            </a:xfrm>
            <a:prstGeom prst="rect">
              <a:avLst/>
            </a:prstGeom>
          </p:spPr>
        </p:pic>
        <p:pic>
          <p:nvPicPr>
            <p:cNvPr id="5" name="图片 4" descr="黑色的游戏机&#10;&#10;AI 生成的内容可能不正确。"/>
            <p:cNvPicPr>
              <a:picLocks noChangeAspect="1"/>
            </p:cNvPicPr>
            <p:nvPr/>
          </p:nvPicPr>
          <p:blipFill>
            <a:blip r:embed="rId9" cstate="print">
              <a:extLst>
                <a:ext uri="{28A0092B-C50C-407E-A947-70E740481C1C}">
                  <a14:useLocalDpi xmlns:a14="http://schemas.microsoft.com/office/drawing/2010/main" val="0"/>
                </a:ext>
              </a:extLst>
            </a:blip>
            <a:srcRect l="10494" t="37531" r="8642" b="35901"/>
            <a:stretch>
              <a:fillRect/>
            </a:stretch>
          </p:blipFill>
          <p:spPr>
            <a:xfrm>
              <a:off x="3379764" y="2573866"/>
              <a:ext cx="5545666" cy="1822037"/>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400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2000"/>
                                        <p:tgtEl>
                                          <p:spTgt spid="26"/>
                                        </p:tgtEl>
                                      </p:cBhvr>
                                    </p:animEffect>
                                    <p:anim calcmode="lin" valueType="num">
                                      <p:cBhvr>
                                        <p:cTn id="15" dur="2000" fill="hold"/>
                                        <p:tgtEl>
                                          <p:spTgt spid="26"/>
                                        </p:tgtEl>
                                        <p:attrNameLst>
                                          <p:attrName>ppt_x</p:attrName>
                                        </p:attrNameLst>
                                      </p:cBhvr>
                                      <p:tavLst>
                                        <p:tav tm="0">
                                          <p:val>
                                            <p:strVal val="#ppt_x"/>
                                          </p:val>
                                        </p:tav>
                                        <p:tav tm="100000">
                                          <p:val>
                                            <p:strVal val="#ppt_x"/>
                                          </p:val>
                                        </p:tav>
                                      </p:tavLst>
                                    </p:anim>
                                    <p:anim calcmode="lin" valueType="num">
                                      <p:cBhvr>
                                        <p:cTn id="16" dur="2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21" name="文本框 20"/>
          <p:cNvSpPr txBox="1"/>
          <p:nvPr>
            <p:custDataLst>
              <p:tags r:id="rId2"/>
            </p:custDataLst>
          </p:nvPr>
        </p:nvSpPr>
        <p:spPr>
          <a:xfrm>
            <a:off x="457155" y="161926"/>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altLang="zh-CN" sz="2800" b="1" strike="noStrike" dirty="0">
                <a:solidFill>
                  <a:schemeClr val="lt1"/>
                </a:solidFill>
                <a:uFillTx/>
                <a:latin typeface="Montserrat" pitchFamily="2" charset="0"/>
                <a:ea typeface="微软雅黑" panose="020B0503020204020204" pitchFamily="34" charset="-122"/>
                <a:cs typeface="Roboto" charset="0"/>
                <a:sym typeface="Roboto"/>
              </a:rPr>
              <a:t>Contents</a:t>
            </a:r>
            <a:endParaRPr lang="en-US" altLang="zh-CN" sz="2800" b="1" strike="noStrike" dirty="0">
              <a:solidFill>
                <a:schemeClr val="lt1"/>
              </a:solidFill>
              <a:uFillTx/>
              <a:latin typeface="Montserrat" pitchFamily="2" charset="0"/>
              <a:ea typeface="微软雅黑" panose="020B0503020204020204" pitchFamily="34" charset="-122"/>
              <a:cs typeface="Roboto" charset="0"/>
              <a:sym typeface="Roboto"/>
            </a:endParaRPr>
          </a:p>
        </p:txBody>
      </p:sp>
      <p:pic>
        <p:nvPicPr>
          <p:cNvPr id="2" name="Google Shape;82;p1"/>
          <p:cNvPicPr preferRelativeResize="0"/>
          <p:nvPr/>
        </p:nvPicPr>
        <p:blipFill>
          <a:blip r:embed="rId3"/>
          <a:stretch>
            <a:fillRect/>
          </a:stretch>
        </p:blipFill>
        <p:spPr>
          <a:xfrm>
            <a:off x="9652104" y="6056488"/>
            <a:ext cx="2241019" cy="440200"/>
          </a:xfrm>
          <a:prstGeom prst="rect">
            <a:avLst/>
          </a:prstGeom>
          <a:noFill/>
          <a:ln>
            <a:noFill/>
          </a:ln>
        </p:spPr>
      </p:pic>
      <p:sp>
        <p:nvSpPr>
          <p:cNvPr id="3"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6" name="Rectangle 5"/>
          <p:cNvSpPr/>
          <p:nvPr/>
        </p:nvSpPr>
        <p:spPr>
          <a:xfrm>
            <a:off x="3031795" y="1200269"/>
            <a:ext cx="5950280"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327193" y="1869423"/>
            <a:ext cx="335948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593768" y="2530186"/>
            <a:ext cx="48263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1974517" y="4580825"/>
            <a:ext cx="80648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4597233" y="5229719"/>
            <a:ext cx="2997532"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2853662" y="3220571"/>
            <a:ext cx="6306544"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164096" y="3926604"/>
            <a:ext cx="3863808" cy="553324"/>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6"/>
          <p:cNvSpPr txBox="1"/>
          <p:nvPr>
            <p:custDataLst>
              <p:tags r:id="rId4"/>
            </p:custDataLst>
          </p:nvPr>
        </p:nvSpPr>
        <p:spPr>
          <a:xfrm>
            <a:off x="1570187" y="1366043"/>
            <a:ext cx="8873491" cy="4209932"/>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Product Overview &amp; Key Features</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Why Choose Us?</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altLang="zh-CN" sz="2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Interface &amp; Specifications</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Typical Connection &amp; Applications </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Competitor Analysis</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Quick Installation Guide &amp; Web UI Introduction</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algn="ctr" fontAlgn="ctr">
              <a:lnSpc>
                <a:spcPts val="4500"/>
              </a:lnSpc>
              <a:spcBef>
                <a:spcPts val="0"/>
              </a:spcBef>
              <a:spcAft>
                <a:spcPts val="800"/>
              </a:spcAft>
              <a:buSzPct val="100000"/>
            </a:pPr>
            <a:r>
              <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Q &amp; A Session</a:t>
            </a:r>
            <a:endParaRPr lang="en-US" altLang="zh-CN" sz="2800" b="1" strike="noStrike"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spTree>
    <p:custDataLst>
      <p:tags r:id="rId5"/>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cxnSp>
        <p:nvCxnSpPr>
          <p:cNvPr id="11" name="直接连接符 10"/>
          <p:cNvCxnSpPr/>
          <p:nvPr>
            <p:custDataLst>
              <p:tags r:id="rId2"/>
            </p:custDataLst>
          </p:nvPr>
        </p:nvCxnSpPr>
        <p:spPr>
          <a:xfrm>
            <a:off x="8904655" y="1635474"/>
            <a:ext cx="2489200" cy="0"/>
          </a:xfrm>
          <a:prstGeom prst="line">
            <a:avLst/>
          </a:prstGeom>
          <a:ln w="28575" cmpd="sng">
            <a:solidFill>
              <a:schemeClr val="dk2"/>
            </a:solidFill>
            <a:prstDash val="sysDot"/>
          </a:ln>
        </p:spPr>
        <p:style>
          <a:lnRef idx="1">
            <a:schemeClr val="dk1"/>
          </a:lnRef>
          <a:fillRef idx="0">
            <a:schemeClr val="dk1"/>
          </a:fillRef>
          <a:effectRef idx="0">
            <a:schemeClr val="dk1"/>
          </a:effectRef>
          <a:fontRef idx="minor">
            <a:schemeClr val="tx1"/>
          </a:fontRef>
        </p:style>
      </p:cxnSp>
      <p:cxnSp>
        <p:nvCxnSpPr>
          <p:cNvPr id="12" name="直接连接符 11"/>
          <p:cNvCxnSpPr/>
          <p:nvPr>
            <p:custDataLst>
              <p:tags r:id="rId3"/>
            </p:custDataLst>
          </p:nvPr>
        </p:nvCxnSpPr>
        <p:spPr>
          <a:xfrm>
            <a:off x="5829257" y="5517369"/>
            <a:ext cx="2489200" cy="0"/>
          </a:xfrm>
          <a:prstGeom prst="line">
            <a:avLst/>
          </a:prstGeom>
          <a:ln w="28575" cmpd="sng">
            <a:solidFill>
              <a:schemeClr val="dk2"/>
            </a:solidFill>
            <a:prstDash val="sysDot"/>
          </a:ln>
        </p:spPr>
        <p:style>
          <a:lnRef idx="1">
            <a:schemeClr val="dk1"/>
          </a:lnRef>
          <a:fillRef idx="0">
            <a:schemeClr val="dk1"/>
          </a:fillRef>
          <a:effectRef idx="0">
            <a:schemeClr val="dk1"/>
          </a:effectRef>
          <a:fontRef idx="minor">
            <a:schemeClr val="tx1"/>
          </a:fontRef>
        </p:style>
      </p:cxnSp>
      <p:sp>
        <p:nvSpPr>
          <p:cNvPr id="7" name="文本框 6"/>
          <p:cNvSpPr txBox="1"/>
          <p:nvPr>
            <p:custDataLst>
              <p:tags r:id="rId4"/>
            </p:custDataLst>
          </p:nvPr>
        </p:nvSpPr>
        <p:spPr>
          <a:xfrm>
            <a:off x="457155" y="155572"/>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Product Overview</a:t>
            </a:r>
            <a:endParaRPr lang="en-US" sz="2800" b="1" dirty="0">
              <a:solidFill>
                <a:schemeClr val="lt1"/>
              </a:solidFill>
              <a:uFillTx/>
              <a:latin typeface="Montserrat" pitchFamily="2" charset="0"/>
              <a:ea typeface="微软雅黑" panose="020B0503020204020204" pitchFamily="34" charset="-122"/>
              <a:sym typeface="Roboto"/>
            </a:endParaRPr>
          </a:p>
        </p:txBody>
      </p:sp>
      <p:pic>
        <p:nvPicPr>
          <p:cNvPr id="3" name="Google Shape;82;p1"/>
          <p:cNvPicPr preferRelativeResize="0"/>
          <p:nvPr/>
        </p:nvPicPr>
        <p:blipFill>
          <a:blip r:embed="rId5"/>
          <a:stretch>
            <a:fillRect/>
          </a:stretch>
        </p:blipFill>
        <p:spPr>
          <a:xfrm>
            <a:off x="9652104" y="6056488"/>
            <a:ext cx="2241019" cy="440200"/>
          </a:xfrm>
          <a:prstGeom prst="rect">
            <a:avLst/>
          </a:prstGeom>
          <a:noFill/>
          <a:ln>
            <a:noFill/>
          </a:ln>
        </p:spPr>
      </p:pic>
      <p:sp>
        <p:nvSpPr>
          <p:cNvPr id="14" name="Title 6"/>
          <p:cNvSpPr txBox="1"/>
          <p:nvPr>
            <p:custDataLst>
              <p:tags r:id="rId6"/>
            </p:custDataLst>
          </p:nvPr>
        </p:nvSpPr>
        <p:spPr>
          <a:xfrm>
            <a:off x="5765165" y="1710269"/>
            <a:ext cx="5685156" cy="3640098"/>
          </a:xfrm>
          <a:prstGeom prst="rect">
            <a:avLst/>
          </a:prstGeom>
          <a:noFill/>
          <a:ln w="3175">
            <a:noFill/>
            <a:prstDash val="dash"/>
          </a:ln>
        </p:spPr>
        <p:txBody>
          <a:bodyPr wrap="square" lIns="63500" tIns="25400" rIns="63500" bIns="25400" anchor="ctr" anchorCtr="0">
            <a:normAutofit fontScale="775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285750" fontAlgn="ctr">
              <a:lnSpc>
                <a:spcPts val="2600"/>
              </a:lnSpc>
              <a:spcBef>
                <a:spcPts val="0"/>
              </a:spcBef>
              <a:spcAft>
                <a:spcPts val="800"/>
              </a:spcAft>
              <a:buSzPct val="100000"/>
            </a:pPr>
            <a:r>
              <a:rPr lang="en-US" altLang="zh-CN" sz="2840" b="1" spc="0" dirty="0">
                <a:ln w="3175">
                  <a:noFill/>
                  <a:prstDash val="dash"/>
                </a:ln>
                <a:solidFill>
                  <a:schemeClr val="bg2">
                    <a:lumMod val="25000"/>
                  </a:schemeClr>
                </a:solidFill>
                <a:uFillTx/>
                <a:latin typeface="Roboto" charset="0"/>
                <a:ea typeface="Roboto" charset="0"/>
                <a:cs typeface="Arial" panose="020B0604020202020204" pitchFamily="34" charset="0"/>
                <a:sym typeface="+mn-ea"/>
              </a:rPr>
              <a:t>NDI</a:t>
            </a:r>
            <a:r>
              <a:rPr lang="en-US" altLang="zh-CN" sz="284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a:t>
            </a:r>
            <a:r>
              <a:rPr lang="en-US" altLang="zh-CN" sz="284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NetworkHD Bi-directional </a:t>
            </a:r>
            <a:r>
              <a:rPr lang="en-US" altLang="zh-CN" sz="284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G</a:t>
            </a:r>
            <a:r>
              <a:rPr lang="en-US" altLang="zh-CN" sz="284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ateway</a:t>
            </a:r>
            <a:endParaRPr sz="284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indent="-285750" fontAlgn="ctr">
              <a:lnSpc>
                <a:spcPct val="120000"/>
              </a:lnSpc>
              <a:spcBef>
                <a:spcPts val="0"/>
              </a:spcBef>
              <a:spcAft>
                <a:spcPts val="800"/>
              </a:spcAft>
              <a:buSzPct val="100000"/>
            </a:pPr>
            <a:r>
              <a:rPr lang="en-US" altLang="zh-CN" sz="1800" spc="0" dirty="0">
                <a:ln w="3175">
                  <a:noFill/>
                  <a:prstDash val="dash"/>
                </a:ln>
                <a:solidFill>
                  <a:schemeClr val="dk1">
                    <a:lumMod val="75000"/>
                    <a:lumOff val="25000"/>
                  </a:schemeClr>
                </a:solidFill>
                <a:latin typeface="Roboto" charset="0"/>
                <a:ea typeface="Roboto" charset="0"/>
                <a:cs typeface="Arial" panose="020B0604020202020204" pitchFamily="34" charset="0"/>
              </a:rPr>
              <a:t>The NHD-128-NDI-TRX is a powerful and versatile gateway designed to enable bidirectional conversion between NDI and NetworkHD streams. When paired with NetworkHD 100 Series products, it provides smooth and efficient integration within IP-based video workflows.</a:t>
            </a:r>
            <a:endParaRPr lang="en-US" altLang="zh-CN" sz="1800"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a:p>
            <a:pPr indent="-285750" fontAlgn="ctr">
              <a:lnSpc>
                <a:spcPct val="120000"/>
              </a:lnSpc>
              <a:spcBef>
                <a:spcPts val="0"/>
              </a:spcBef>
              <a:spcAft>
                <a:spcPts val="800"/>
              </a:spcAft>
              <a:buSzPct val="100000"/>
            </a:pPr>
            <a:r>
              <a:rPr lang="en-US" altLang="zh-CN" sz="1800" spc="0" dirty="0">
                <a:ln w="3175">
                  <a:noFill/>
                  <a:prstDash val="dash"/>
                </a:ln>
                <a:solidFill>
                  <a:schemeClr val="dk1">
                    <a:lumMod val="75000"/>
                    <a:lumOff val="25000"/>
                  </a:schemeClr>
                </a:solidFill>
                <a:latin typeface="Roboto" charset="0"/>
                <a:ea typeface="Roboto" charset="0"/>
                <a:cs typeface="Arial" panose="020B0604020202020204" pitchFamily="34" charset="0"/>
              </a:rPr>
              <a:t>With support for up to 8 channels of NDI-to-NetworkHD conversion and 1 channel of NetworkHD-to-NDI output, the NHD-128-NDI-TRX offers a scalable and flexible solution for managing high-density video sources. It is especially well-suited for multi-camera environments where reliable stream conversion is essential.</a:t>
            </a:r>
            <a:endParaRPr lang="en-US" altLang="zh-CN" sz="1800"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a:p>
            <a:pPr indent="-285750" fontAlgn="ctr">
              <a:lnSpc>
                <a:spcPct val="120000"/>
              </a:lnSpc>
              <a:spcBef>
                <a:spcPts val="0"/>
              </a:spcBef>
              <a:spcAft>
                <a:spcPts val="800"/>
              </a:spcAft>
              <a:buSzPct val="100000"/>
            </a:pPr>
            <a:r>
              <a:rPr lang="en-US" altLang="zh-CN" sz="1800" spc="0" dirty="0">
                <a:ln w="3175">
                  <a:noFill/>
                  <a:prstDash val="dash"/>
                </a:ln>
                <a:solidFill>
                  <a:schemeClr val="dk1">
                    <a:lumMod val="75000"/>
                    <a:lumOff val="25000"/>
                  </a:schemeClr>
                </a:solidFill>
                <a:latin typeface="Roboto" charset="0"/>
                <a:ea typeface="Roboto" charset="0"/>
                <a:cs typeface="Arial" panose="020B0604020202020204" pitchFamily="34" charset="0"/>
              </a:rPr>
              <a:t>Ideal for applications such as digital courtrooms, lecture halls, and other AV-over-IP scenarios, this gateway ensures dependable interoperability between systems while streamlining deployment and reducing infrastructure complexity.</a:t>
            </a:r>
            <a:endParaRPr lang="en-US" altLang="zh-CN" sz="1800"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p:txBody>
      </p:sp>
      <p:sp>
        <p:nvSpPr>
          <p:cNvPr id="2"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grpSp>
        <p:nvGrpSpPr>
          <p:cNvPr id="4" name="组合 3"/>
          <p:cNvGrpSpPr/>
          <p:nvPr/>
        </p:nvGrpSpPr>
        <p:grpSpPr>
          <a:xfrm>
            <a:off x="0" y="2519709"/>
            <a:ext cx="5819890" cy="2341440"/>
            <a:chOff x="2635983" y="2573866"/>
            <a:chExt cx="6689529" cy="2733055"/>
          </a:xfrm>
        </p:grpSpPr>
        <p:pic>
          <p:nvPicPr>
            <p:cNvPr id="5" name="图片 4" descr="电子设备的屏幕&#10;&#10;AI 生成的内容可能不正确。"/>
            <p:cNvPicPr>
              <a:picLocks noChangeAspect="1"/>
            </p:cNvPicPr>
            <p:nvPr/>
          </p:nvPicPr>
          <p:blipFill>
            <a:blip r:embed="rId7" cstate="print">
              <a:extLst>
                <a:ext uri="{28A0092B-C50C-407E-A947-70E740481C1C}">
                  <a14:useLocalDpi xmlns:a14="http://schemas.microsoft.com/office/drawing/2010/main" val="0"/>
                </a:ext>
              </a:extLst>
            </a:blip>
            <a:srcRect t="37127" r="2456" b="36305"/>
            <a:stretch>
              <a:fillRect/>
            </a:stretch>
          </p:blipFill>
          <p:spPr>
            <a:xfrm>
              <a:off x="2635983" y="3484885"/>
              <a:ext cx="6689529" cy="1822036"/>
            </a:xfrm>
            <a:prstGeom prst="rect">
              <a:avLst/>
            </a:prstGeom>
          </p:spPr>
        </p:pic>
        <p:pic>
          <p:nvPicPr>
            <p:cNvPr id="6" name="图片 5" descr="黑色的游戏机&#10;&#10;AI 生成的内容可能不正确。"/>
            <p:cNvPicPr>
              <a:picLocks noChangeAspect="1"/>
            </p:cNvPicPr>
            <p:nvPr/>
          </p:nvPicPr>
          <p:blipFill>
            <a:blip r:embed="rId8" cstate="print">
              <a:extLst>
                <a:ext uri="{28A0092B-C50C-407E-A947-70E740481C1C}">
                  <a14:useLocalDpi xmlns:a14="http://schemas.microsoft.com/office/drawing/2010/main" val="0"/>
                </a:ext>
              </a:extLst>
            </a:blip>
            <a:srcRect l="10494" t="37531" r="8642" b="35901"/>
            <a:stretch>
              <a:fillRect/>
            </a:stretch>
          </p:blipFill>
          <p:spPr>
            <a:xfrm>
              <a:off x="3379764" y="2573866"/>
              <a:ext cx="5545666" cy="1822037"/>
            </a:xfrm>
            <a:prstGeom prst="rect">
              <a:avLst/>
            </a:prstGeom>
          </p:spPr>
        </p:pic>
      </p:grpSp>
    </p:spTree>
    <p:custDataLst>
      <p:tags r:id="rId9"/>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pic>
        <p:nvPicPr>
          <p:cNvPr id="10" name="Google Shape;82;p1"/>
          <p:cNvPicPr preferRelativeResize="0"/>
          <p:nvPr/>
        </p:nvPicPr>
        <p:blipFill>
          <a:blip r:embed="rId2"/>
          <a:stretch>
            <a:fillRect/>
          </a:stretch>
        </p:blipFill>
        <p:spPr>
          <a:xfrm>
            <a:off x="9652104" y="6056488"/>
            <a:ext cx="2241019" cy="440200"/>
          </a:xfrm>
          <a:prstGeom prst="rect">
            <a:avLst/>
          </a:prstGeom>
          <a:noFill/>
          <a:ln>
            <a:noFill/>
          </a:ln>
        </p:spPr>
      </p:pic>
      <p:sp>
        <p:nvSpPr>
          <p:cNvPr id="1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21" name="文本框 6"/>
          <p:cNvSpPr txBox="1"/>
          <p:nvPr>
            <p:custDataLst>
              <p:tags r:id="rId3"/>
            </p:custDataLst>
          </p:nvPr>
        </p:nvSpPr>
        <p:spPr>
          <a:xfrm>
            <a:off x="457155" y="163192"/>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Main Features</a:t>
            </a:r>
            <a:endParaRPr lang="en-US" sz="2800" b="1" dirty="0">
              <a:solidFill>
                <a:schemeClr val="lt1"/>
              </a:solidFill>
              <a:uFillTx/>
              <a:latin typeface="Montserrat" pitchFamily="2" charset="0"/>
              <a:ea typeface="微软雅黑" panose="020B0503020204020204" pitchFamily="34" charset="-122"/>
              <a:sym typeface="Roboto"/>
            </a:endParaRPr>
          </a:p>
        </p:txBody>
      </p:sp>
      <p:sp>
        <p:nvSpPr>
          <p:cNvPr id="2" name="文本框 1"/>
          <p:cNvSpPr txBox="1"/>
          <p:nvPr>
            <p:custDataLst>
              <p:tags r:id="rId4"/>
            </p:custDataLst>
          </p:nvPr>
        </p:nvSpPr>
        <p:spPr>
          <a:xfrm>
            <a:off x="1233441" y="2735471"/>
            <a:ext cx="4650245" cy="1052830"/>
          </a:xfrm>
          <a:prstGeom prst="rect">
            <a:avLst/>
          </a:prstGeom>
          <a:noFill/>
        </p:spPr>
        <p:txBody>
          <a:bodyPr wrap="square" rtlCol="0">
            <a:spAutoFit/>
          </a:bodyPr>
          <a:lstStyle/>
          <a:p>
            <a:pPr indent="0" algn="l" fontAlgn="auto">
              <a:lnSpc>
                <a:spcPts val="1500"/>
              </a:lnSpc>
              <a:spcBef>
                <a:spcPts val="0"/>
              </a:spcBef>
              <a:spcAft>
                <a:spcPts val="0"/>
              </a:spcAft>
              <a:buClrTx/>
              <a:buSzTx/>
              <a:buFont typeface="Wingdings" panose="05000000000000000000" pitchFamily="2" charset="2"/>
              <a:buNone/>
            </a:pPr>
            <a:r>
              <a:rPr lang="en-US" altLang="zh-CN" sz="1400" b="1" dirty="0">
                <a:solidFill>
                  <a:srgbClr val="0B7935"/>
                </a:solidFill>
                <a:latin typeface="Roboto" charset="0"/>
                <a:ea typeface="Roboto" charset="0"/>
                <a:cs typeface="Roboto" charset="0"/>
                <a:sym typeface="+mn-ea"/>
              </a:rPr>
              <a:t>Seamless NetworkHD Stream to NDI Stream Conversion</a:t>
            </a:r>
            <a:endParaRPr lang="en-US" altLang="zh-CN" sz="1400" b="1" dirty="0">
              <a:solidFill>
                <a:srgbClr val="0B7935"/>
              </a:solidFill>
              <a:latin typeface="Roboto" charset="0"/>
              <a:ea typeface="Roboto" charset="0"/>
              <a:cs typeface="Roboto" charset="0"/>
              <a:sym typeface="+mn-ea"/>
            </a:endParaRPr>
          </a:p>
          <a:p>
            <a:pPr algn="l">
              <a:lnSpc>
                <a:spcPts val="1500"/>
              </a:lnSpc>
              <a:spcBef>
                <a:spcPts val="0"/>
              </a:spcBef>
              <a:buClrTx/>
              <a:buSzTx/>
              <a:buFontTx/>
            </a:pPr>
            <a:r>
              <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sym typeface="+mn-ea"/>
              </a:rPr>
              <a:t>Effortlessly convert sources from NetworkHD into NDI streams—ideal for AV-over-IP environments. Enables cost-effective migration to IP workflows without the need to replace legacy devices.</a:t>
            </a:r>
            <a:endPar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sym typeface="+mn-ea"/>
            </a:endParaRPr>
          </a:p>
        </p:txBody>
      </p:sp>
      <p:pic>
        <p:nvPicPr>
          <p:cNvPr id="7" name="Picture 34" descr="A black background with arrows&#10;&#10;Description automatically generated"/>
          <p:cNvPicPr>
            <a:picLocks noChangeAspect="1"/>
          </p:cNvPicPr>
          <p:nvPr/>
        </p:nvPicPr>
        <p:blipFill>
          <a:blip r:embed="rId5">
            <a:extLst>
              <a:ext uri="{28A0092B-C50C-407E-A947-70E740481C1C}">
                <a14:useLocalDpi xmlns:a14="http://schemas.microsoft.com/office/drawing/2010/main" val="0"/>
              </a:ext>
            </a:extLst>
          </a:blip>
          <a:srcRect t="13680" r="19101" b="14287"/>
          <a:stretch>
            <a:fillRect/>
          </a:stretch>
        </p:blipFill>
        <p:spPr>
          <a:xfrm>
            <a:off x="623888" y="1751708"/>
            <a:ext cx="516314" cy="424368"/>
          </a:xfrm>
          <a:prstGeom prst="rect">
            <a:avLst/>
          </a:prstGeom>
        </p:spPr>
      </p:pic>
      <p:pic>
        <p:nvPicPr>
          <p:cNvPr id="13" name="Picture 42" descr="A black and white background with circles and dots&#10;&#10;Description automatically generated"/>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7417" y="2836218"/>
            <a:ext cx="516314" cy="424368"/>
          </a:xfrm>
          <a:prstGeom prst="rect">
            <a:avLst/>
          </a:prstGeom>
        </p:spPr>
      </p:pic>
      <p:sp>
        <p:nvSpPr>
          <p:cNvPr id="15" name="文本框 14"/>
          <p:cNvSpPr txBox="1"/>
          <p:nvPr>
            <p:custDataLst>
              <p:tags r:id="rId7"/>
            </p:custDataLst>
          </p:nvPr>
        </p:nvSpPr>
        <p:spPr>
          <a:xfrm>
            <a:off x="1233442" y="1708844"/>
            <a:ext cx="4599940" cy="860425"/>
          </a:xfrm>
          <a:prstGeom prst="rect">
            <a:avLst/>
          </a:prstGeom>
          <a:noFill/>
        </p:spPr>
        <p:txBody>
          <a:bodyPr wrap="square" rtlCol="0">
            <a:spAutoFit/>
          </a:bodyPr>
          <a:lstStyle/>
          <a:p>
            <a:pPr indent="0" algn="l" fontAlgn="auto">
              <a:lnSpc>
                <a:spcPts val="1500"/>
              </a:lnSpc>
              <a:spcBef>
                <a:spcPts val="0"/>
              </a:spcBef>
              <a:spcAft>
                <a:spcPts val="0"/>
              </a:spcAft>
              <a:buClrTx/>
              <a:buSzTx/>
              <a:buFont typeface="Wingdings" panose="05000000000000000000" pitchFamily="2" charset="2"/>
              <a:buNone/>
            </a:pPr>
            <a:r>
              <a:rPr lang="en-US" altLang="zh-CN" sz="1400" b="1" dirty="0">
                <a:solidFill>
                  <a:srgbClr val="0B7935"/>
                </a:solidFill>
                <a:latin typeface="Roboto" charset="0"/>
                <a:ea typeface="Roboto" charset="0"/>
                <a:cs typeface="Roboto" charset="0"/>
                <a:sym typeface="+mn-ea"/>
              </a:rPr>
              <a:t>Reliable NDI Stream to NetworkHD Stream Conversion</a:t>
            </a:r>
            <a:endParaRPr lang="en-US" altLang="zh-CN" sz="1400" b="1" dirty="0">
              <a:solidFill>
                <a:srgbClr val="0B7935"/>
              </a:solidFill>
              <a:latin typeface="Roboto" charset="0"/>
              <a:ea typeface="Roboto" charset="0"/>
              <a:cs typeface="Roboto" charset="0"/>
              <a:sym typeface="+mn-ea"/>
            </a:endParaRPr>
          </a:p>
          <a:p>
            <a:pPr algn="l" defTabSz="914400">
              <a:lnSpc>
                <a:spcPts val="1500"/>
              </a:lnSpc>
              <a:spcBef>
                <a:spcPts val="0"/>
              </a:spcBef>
              <a:buClrTx/>
              <a:buSzTx/>
              <a:buFontTx/>
            </a:pPr>
            <a:r>
              <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sym typeface="+mn-ea"/>
              </a:rPr>
              <a:t>Convert NDI streams to NetworkHD streams, enabling seamless routing to decoders. Ideal for digital courtrooms, lecture halls, and other multi-camera AV-over-IP systems.</a:t>
            </a:r>
            <a:endPar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sym typeface="+mn-ea"/>
            </a:endParaRPr>
          </a:p>
        </p:txBody>
      </p:sp>
      <p:sp>
        <p:nvSpPr>
          <p:cNvPr id="17" name="文本框 16"/>
          <p:cNvSpPr txBox="1"/>
          <p:nvPr>
            <p:custDataLst>
              <p:tags r:id="rId8"/>
            </p:custDataLst>
          </p:nvPr>
        </p:nvSpPr>
        <p:spPr>
          <a:xfrm>
            <a:off x="1233442" y="3924421"/>
            <a:ext cx="4599940" cy="1052830"/>
          </a:xfrm>
          <a:prstGeom prst="rect">
            <a:avLst/>
          </a:prstGeom>
          <a:noFill/>
        </p:spPr>
        <p:txBody>
          <a:bodyPr wrap="square" rtlCol="0">
            <a:spAutoFit/>
          </a:bodyPr>
          <a:lstStyle/>
          <a:p>
            <a:pPr>
              <a:lnSpc>
                <a:spcPts val="1500"/>
              </a:lnSpc>
            </a:pPr>
            <a:r>
              <a:rPr lang="en-US" sz="1400" b="1" dirty="0">
                <a:solidFill>
                  <a:srgbClr val="0B7935"/>
                </a:solidFill>
                <a:latin typeface="Roboto" charset="0"/>
                <a:ea typeface="Roboto" charset="0"/>
              </a:rPr>
              <a:t>Crystal-Clear 4K@30</a:t>
            </a:r>
            <a:r>
              <a:rPr lang="en-US" altLang="zh-CN" sz="1400" b="1" dirty="0">
                <a:solidFill>
                  <a:srgbClr val="0B7935"/>
                </a:solidFill>
                <a:latin typeface="Roboto" charset="0"/>
                <a:ea typeface="Roboto" charset="0"/>
              </a:rPr>
              <a:t>Hz</a:t>
            </a:r>
            <a:r>
              <a:rPr lang="en-US" sz="1400" b="1" dirty="0">
                <a:solidFill>
                  <a:srgbClr val="0B7935"/>
                </a:solidFill>
                <a:latin typeface="Roboto" charset="0"/>
                <a:ea typeface="Roboto" charset="0"/>
              </a:rPr>
              <a:t> Video Quality</a:t>
            </a:r>
            <a:endParaRPr lang="en-US" altLang="zh-CN" sz="1400" b="1" dirty="0">
              <a:solidFill>
                <a:srgbClr val="0B7935"/>
              </a:solidFill>
              <a:latin typeface="Roboto" charset="0"/>
              <a:ea typeface="Roboto" charset="0"/>
              <a:sym typeface="+mn-ea"/>
            </a:endParaRPr>
          </a:p>
          <a:p>
            <a:pPr algn="l">
              <a:lnSpc>
                <a:spcPts val="1500"/>
              </a:lnSpc>
              <a:spcBef>
                <a:spcPts val="0"/>
              </a:spcBef>
              <a:buClrTx/>
              <a:buSzTx/>
              <a:buFontTx/>
            </a:pPr>
            <a:r>
              <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sym typeface="+mn-ea"/>
              </a:rPr>
              <a:t>Supports 4K@30Hz resolution for both input and output, ensuring ultra-clear visuals for presentations, signage, and live video. Delivers exceptional image detail with stable signal transmission.</a:t>
            </a:r>
            <a:endPar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sym typeface="+mn-ea"/>
            </a:endParaRPr>
          </a:p>
        </p:txBody>
      </p:sp>
      <p:sp>
        <p:nvSpPr>
          <p:cNvPr id="20" name="文本框 19"/>
          <p:cNvSpPr txBox="1"/>
          <p:nvPr>
            <p:custDataLst>
              <p:tags r:id="rId9"/>
            </p:custDataLst>
          </p:nvPr>
        </p:nvSpPr>
        <p:spPr>
          <a:xfrm>
            <a:off x="6792478" y="3904455"/>
            <a:ext cx="4599940" cy="860425"/>
          </a:xfrm>
          <a:prstGeom prst="rect">
            <a:avLst/>
          </a:prstGeom>
          <a:noFill/>
        </p:spPr>
        <p:txBody>
          <a:bodyPr wrap="square" rtlCol="0">
            <a:spAutoFit/>
          </a:bodyPr>
          <a:lstStyle/>
          <a:p>
            <a:pPr>
              <a:lnSpc>
                <a:spcPts val="1500"/>
              </a:lnSpc>
            </a:pPr>
            <a:r>
              <a:rPr lang="en-US" altLang="zh-CN" sz="1400" b="1" dirty="0">
                <a:solidFill>
                  <a:srgbClr val="0B7935"/>
                </a:solidFill>
                <a:latin typeface="Roboto" charset="0"/>
                <a:ea typeface="Roboto" charset="0"/>
              </a:rPr>
              <a:t>Device Information</a:t>
            </a:r>
            <a:r>
              <a:rPr lang="en-US" sz="1400" b="1" dirty="0">
                <a:solidFill>
                  <a:srgbClr val="0B7935"/>
                </a:solidFill>
                <a:latin typeface="Roboto" charset="0"/>
                <a:ea typeface="Roboto" charset="0"/>
              </a:rPr>
              <a:t> Monitoring with </a:t>
            </a:r>
            <a:r>
              <a:rPr lang="en-US" altLang="zh-CN" sz="1400" b="1" dirty="0">
                <a:solidFill>
                  <a:srgbClr val="0B7935"/>
                </a:solidFill>
                <a:latin typeface="Roboto" charset="0"/>
                <a:ea typeface="Roboto" charset="0"/>
              </a:rPr>
              <a:t>LCD</a:t>
            </a:r>
            <a:r>
              <a:rPr lang="en-US" sz="1400" b="1" dirty="0">
                <a:solidFill>
                  <a:srgbClr val="0B7935"/>
                </a:solidFill>
                <a:latin typeface="Roboto" charset="0"/>
                <a:ea typeface="Roboto" charset="0"/>
              </a:rPr>
              <a:t> </a:t>
            </a:r>
            <a:r>
              <a:rPr lang="en-US" altLang="zh-CN" sz="1400" b="1" dirty="0">
                <a:solidFill>
                  <a:srgbClr val="0B7935"/>
                </a:solidFill>
                <a:latin typeface="Roboto" charset="0"/>
                <a:ea typeface="Roboto" charset="0"/>
              </a:rPr>
              <a:t>Screen</a:t>
            </a:r>
            <a:endParaRPr lang="en-US" sz="1400" b="1" dirty="0">
              <a:solidFill>
                <a:srgbClr val="0B7935"/>
              </a:solidFill>
              <a:latin typeface="Roboto" charset="0"/>
              <a:ea typeface="Roboto" charset="0"/>
            </a:endParaRPr>
          </a:p>
          <a:p>
            <a:pPr algn="l">
              <a:lnSpc>
                <a:spcPts val="1500"/>
              </a:lnSpc>
              <a:spcBef>
                <a:spcPts val="0"/>
              </a:spcBef>
              <a:buClrTx/>
              <a:buSzTx/>
              <a:buFontTx/>
            </a:pPr>
            <a:r>
              <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rPr>
              <a:t>The front-panel LCD displays IP address and firmware version, providing quick check for device basic information.</a:t>
            </a:r>
            <a:endPar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endParaRPr>
          </a:p>
          <a:p>
            <a:pPr algn="l">
              <a:lnSpc>
                <a:spcPts val="1500"/>
              </a:lnSpc>
              <a:spcBef>
                <a:spcPts val="0"/>
              </a:spcBef>
              <a:buClrTx/>
              <a:buSzTx/>
              <a:buFontTx/>
            </a:pPr>
            <a:endPar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endParaRPr>
          </a:p>
        </p:txBody>
      </p:sp>
      <p:sp>
        <p:nvSpPr>
          <p:cNvPr id="23" name="文本框 22"/>
          <p:cNvSpPr txBox="1"/>
          <p:nvPr>
            <p:custDataLst>
              <p:tags r:id="rId10"/>
            </p:custDataLst>
          </p:nvPr>
        </p:nvSpPr>
        <p:spPr>
          <a:xfrm>
            <a:off x="6792478" y="1708844"/>
            <a:ext cx="4599940" cy="1052830"/>
          </a:xfrm>
          <a:prstGeom prst="rect">
            <a:avLst/>
          </a:prstGeom>
          <a:noFill/>
        </p:spPr>
        <p:txBody>
          <a:bodyPr wrap="square" rtlCol="0">
            <a:spAutoFit/>
          </a:bodyPr>
          <a:lstStyle/>
          <a:p>
            <a:pPr>
              <a:lnSpc>
                <a:spcPts val="1500"/>
              </a:lnSpc>
            </a:pPr>
            <a:r>
              <a:rPr lang="en-US" sz="1400" b="1" dirty="0">
                <a:solidFill>
                  <a:srgbClr val="0B7935"/>
                </a:solidFill>
                <a:latin typeface="Roboto" charset="0"/>
                <a:ea typeface="Roboto" charset="0"/>
              </a:rPr>
              <a:t>Intuitive Web UI for Easy Control</a:t>
            </a:r>
            <a:endParaRPr lang="en-US" sz="1400" b="1" dirty="0">
              <a:solidFill>
                <a:srgbClr val="0B7935"/>
              </a:solidFill>
              <a:latin typeface="Roboto" charset="0"/>
              <a:ea typeface="Roboto" charset="0"/>
            </a:endParaRPr>
          </a:p>
          <a:p>
            <a:pPr algn="l">
              <a:lnSpc>
                <a:spcPts val="1500"/>
              </a:lnSpc>
              <a:spcBef>
                <a:spcPts val="0"/>
              </a:spcBef>
              <a:buClrTx/>
              <a:buSzTx/>
              <a:buFontTx/>
            </a:pPr>
            <a:r>
              <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rPr>
              <a:t>Equipped with a powerful and user-friendly Web UI for configuration, monitoring, and firmware updates. Simplifies setup for installers and boosts productivity in dynamic environments.</a:t>
            </a:r>
            <a:endPar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endParaRPr>
          </a:p>
        </p:txBody>
      </p:sp>
      <p:sp>
        <p:nvSpPr>
          <p:cNvPr id="24" name="文本框 23"/>
          <p:cNvSpPr txBox="1"/>
          <p:nvPr>
            <p:custDataLst>
              <p:tags r:id="rId11"/>
            </p:custDataLst>
          </p:nvPr>
        </p:nvSpPr>
        <p:spPr>
          <a:xfrm>
            <a:off x="6792478" y="2809022"/>
            <a:ext cx="4599940" cy="1052830"/>
          </a:xfrm>
          <a:prstGeom prst="rect">
            <a:avLst/>
          </a:prstGeom>
          <a:noFill/>
        </p:spPr>
        <p:txBody>
          <a:bodyPr wrap="square" rtlCol="0">
            <a:spAutoFit/>
          </a:bodyPr>
          <a:lstStyle/>
          <a:p>
            <a:pPr>
              <a:lnSpc>
                <a:spcPts val="1500"/>
              </a:lnSpc>
            </a:pPr>
            <a:r>
              <a:rPr lang="en-US" sz="1400" b="1" dirty="0">
                <a:solidFill>
                  <a:srgbClr val="0B7935"/>
                </a:solidFill>
                <a:latin typeface="Roboto" charset="0"/>
                <a:ea typeface="Roboto" charset="0"/>
              </a:rPr>
              <a:t>Comprehensive API and Protocol Support</a:t>
            </a:r>
            <a:endParaRPr lang="en-US" sz="1400" b="1" dirty="0">
              <a:solidFill>
                <a:srgbClr val="0B7935"/>
              </a:solidFill>
              <a:latin typeface="Roboto" charset="0"/>
              <a:ea typeface="Roboto" charset="0"/>
            </a:endParaRPr>
          </a:p>
          <a:p>
            <a:pPr algn="l">
              <a:lnSpc>
                <a:spcPts val="1500"/>
              </a:lnSpc>
              <a:spcBef>
                <a:spcPts val="0"/>
              </a:spcBef>
              <a:buClrTx/>
              <a:buSzTx/>
              <a:buFontTx/>
            </a:pPr>
            <a:r>
              <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rPr>
              <a:t>Offers versatile API interfaces supporting multiple control protocols (Telnet, SSH, etc.), ideal for system integrators building customized control platforms for enterprise or broadcast needs.</a:t>
            </a:r>
            <a:endPar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endParaRPr>
          </a:p>
        </p:txBody>
      </p:sp>
      <p:sp>
        <p:nvSpPr>
          <p:cNvPr id="25" name="文本框 24"/>
          <p:cNvSpPr txBox="1"/>
          <p:nvPr>
            <p:custDataLst>
              <p:tags r:id="rId12"/>
            </p:custDataLst>
          </p:nvPr>
        </p:nvSpPr>
        <p:spPr>
          <a:xfrm>
            <a:off x="1233441" y="4920840"/>
            <a:ext cx="4599940" cy="860425"/>
          </a:xfrm>
          <a:prstGeom prst="rect">
            <a:avLst/>
          </a:prstGeom>
          <a:noFill/>
        </p:spPr>
        <p:txBody>
          <a:bodyPr wrap="square" rtlCol="0">
            <a:spAutoFit/>
          </a:bodyPr>
          <a:lstStyle/>
          <a:p>
            <a:pPr>
              <a:lnSpc>
                <a:spcPts val="1500"/>
              </a:lnSpc>
            </a:pPr>
            <a:r>
              <a:rPr lang="en-US" sz="1400" b="1" dirty="0">
                <a:solidFill>
                  <a:srgbClr val="0B7935"/>
                </a:solidFill>
                <a:latin typeface="Roboto" charset="0"/>
                <a:ea typeface="Roboto" charset="0"/>
              </a:rPr>
              <a:t>Video Preview Supported</a:t>
            </a:r>
            <a:endParaRPr lang="en-US" sz="1400" b="1" dirty="0">
              <a:solidFill>
                <a:srgbClr val="0B7935"/>
              </a:solidFill>
              <a:latin typeface="Roboto" charset="0"/>
              <a:ea typeface="Roboto" charset="0"/>
            </a:endParaRPr>
          </a:p>
          <a:p>
            <a:pPr algn="l">
              <a:lnSpc>
                <a:spcPts val="1500"/>
              </a:lnSpc>
              <a:spcBef>
                <a:spcPts val="0"/>
              </a:spcBef>
              <a:buClrTx/>
              <a:buSzTx/>
              <a:buFontTx/>
            </a:pPr>
            <a:r>
              <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rPr>
              <a:t>Supports preview streaming for real-time video monitoring—perfect for validating sources during setup or managing large deployments.</a:t>
            </a:r>
            <a:endParaRPr lang="en-US" altLang="zh-CN" sz="1400" dirty="0" smtClean="0">
              <a:ln w="3175">
                <a:noFill/>
                <a:prstDash val="dash"/>
              </a:ln>
              <a:solidFill>
                <a:schemeClr val="dk1">
                  <a:lumMod val="75000"/>
                  <a:lumOff val="25000"/>
                </a:schemeClr>
              </a:solidFill>
              <a:effectLst/>
              <a:latin typeface="Roboto" charset="0"/>
              <a:ea typeface="Roboto" charset="0"/>
              <a:cs typeface="Arial" panose="020B0604020202020204" pitchFamily="34" charset="0"/>
            </a:endParaRPr>
          </a:p>
        </p:txBody>
      </p:sp>
      <p:pic>
        <p:nvPicPr>
          <p:cNvPr id="27" name="图形 26"/>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234065" y="1789987"/>
            <a:ext cx="463307" cy="386089"/>
          </a:xfrm>
          <a:prstGeom prst="rect">
            <a:avLst/>
          </a:prstGeom>
        </p:spPr>
      </p:pic>
      <p:pic>
        <p:nvPicPr>
          <p:cNvPr id="36" name="图片 35"/>
          <p:cNvPicPr>
            <a:picLocks noChangeAspect="1"/>
          </p:cNvPicPr>
          <p:nvPr/>
        </p:nvPicPr>
        <p:blipFill>
          <a:blip r:embed="rId15"/>
          <a:stretch>
            <a:fillRect/>
          </a:stretch>
        </p:blipFill>
        <p:spPr>
          <a:xfrm>
            <a:off x="568011" y="3968109"/>
            <a:ext cx="615126" cy="326351"/>
          </a:xfrm>
          <a:prstGeom prst="rect">
            <a:avLst/>
          </a:prstGeom>
        </p:spPr>
      </p:pic>
      <p:pic>
        <p:nvPicPr>
          <p:cNvPr id="29" name="图片 28" descr="图标&#10;&#10;AI 生成的内容可能不正确。"/>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234064" y="2875337"/>
            <a:ext cx="463307" cy="467848"/>
          </a:xfrm>
          <a:prstGeom prst="rect">
            <a:avLst/>
          </a:prstGeom>
        </p:spPr>
      </p:pic>
      <p:pic>
        <p:nvPicPr>
          <p:cNvPr id="30" name="图片 29" descr="屏幕上有字&#10;&#10;AI 生成的内容可能不正确。"/>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15684" y="5001983"/>
            <a:ext cx="490337" cy="343236"/>
          </a:xfrm>
          <a:prstGeom prst="rect">
            <a:avLst/>
          </a:prstGeom>
        </p:spPr>
      </p:pic>
      <p:pic>
        <p:nvPicPr>
          <p:cNvPr id="40" name="图片 39" descr="图标&#10;&#10;AI 生成的内容可能不正确。"/>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6213134" y="4021996"/>
            <a:ext cx="505168" cy="3848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0" y="261620"/>
            <a:ext cx="12120955" cy="609600"/>
          </a:xfrm>
          <a:prstGeom prst="rect">
            <a:avLst/>
          </a:prstGeom>
          <a:noFill/>
        </p:spPr>
        <p:txBody>
          <a:bodyPr wrap="square" lIns="63500" tIns="25400" rIns="63500" bIns="25400" rtlCol="0" anchor="ctr" anchorCtr="0"/>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Why Choose Us:  1. </a:t>
            </a:r>
            <a:r>
              <a:rPr lang="en-US" altLang="zh-CN" sz="2800" b="1" dirty="0">
                <a:solidFill>
                  <a:schemeClr val="lt1"/>
                </a:solidFill>
                <a:latin typeface="Montserrat" pitchFamily="2" charset="0"/>
                <a:ea typeface="微软雅黑" panose="020B0503020204020204" pitchFamily="34" charset="-122"/>
                <a:sym typeface="Roboto"/>
              </a:rPr>
              <a:t>Bring More Possibility to AV over IP System</a:t>
            </a:r>
            <a:endParaRPr lang="en-US" altLang="zh-CN" sz="2800" b="1" dirty="0">
              <a:solidFill>
                <a:schemeClr val="lt1"/>
              </a:solidFill>
              <a:uFillTx/>
              <a:latin typeface="Montserrat" pitchFamily="2" charset="0"/>
              <a:ea typeface="微软雅黑" panose="020B0503020204020204" pitchFamily="34" charset="-122"/>
              <a:sym typeface="Roboto"/>
            </a:endParaRPr>
          </a:p>
        </p:txBody>
      </p:sp>
      <p:pic>
        <p:nvPicPr>
          <p:cNvPr id="4" name="Google Shape;82;p1"/>
          <p:cNvPicPr preferRelativeResize="0"/>
          <p:nvPr/>
        </p:nvPicPr>
        <p:blipFill>
          <a:blip r:embed="rId3"/>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23" name="文本框 4"/>
          <p:cNvSpPr txBox="1"/>
          <p:nvPr/>
        </p:nvSpPr>
        <p:spPr>
          <a:xfrm>
            <a:off x="868656" y="1274686"/>
            <a:ext cx="10300129" cy="717264"/>
          </a:xfrm>
          <a:prstGeom prst="rect">
            <a:avLst/>
          </a:prstGeom>
          <a:noFill/>
        </p:spPr>
        <p:txBody>
          <a:bodyPr wrap="square" rtlCol="0">
            <a:noAutofit/>
          </a:bodyPr>
          <a:lstStyle/>
          <a:p>
            <a:r>
              <a:rPr lang="en-US" sz="2000" b="1" dirty="0">
                <a:solidFill>
                  <a:schemeClr val="tx1">
                    <a:lumMod val="75000"/>
                    <a:lumOff val="25000"/>
                  </a:schemeClr>
                </a:solidFill>
                <a:latin typeface="Roboto" charset="0"/>
                <a:ea typeface="Roboto" charset="0"/>
                <a:cs typeface="Arial" panose="020B0604020202020204" pitchFamily="34" charset="0"/>
              </a:rPr>
              <a:t>Breaks the barrier between NetworkHD and NDI networks, enabling seamless interoperability between two systems through conversion.</a:t>
            </a:r>
            <a:endParaRPr lang="en-US" sz="2000" b="1" dirty="0">
              <a:solidFill>
                <a:schemeClr val="tx1">
                  <a:lumMod val="75000"/>
                  <a:lumOff val="25000"/>
                </a:schemeClr>
              </a:solidFill>
              <a:latin typeface="Roboto" charset="0"/>
              <a:ea typeface="Roboto" charset="0"/>
              <a:cs typeface="Arial" panose="020B0604020202020204" pitchFamily="34" charset="0"/>
            </a:endParaRPr>
          </a:p>
        </p:txBody>
      </p:sp>
      <p:sp>
        <p:nvSpPr>
          <p:cNvPr id="24" name="Rectangle 23"/>
          <p:cNvSpPr/>
          <p:nvPr/>
        </p:nvSpPr>
        <p:spPr>
          <a:xfrm>
            <a:off x="932968" y="2381249"/>
            <a:ext cx="4791557" cy="1439265"/>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764845" y="2181791"/>
            <a:ext cx="3397252"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文本框 4"/>
          <p:cNvSpPr txBox="1"/>
          <p:nvPr/>
        </p:nvSpPr>
        <p:spPr>
          <a:xfrm>
            <a:off x="916279" y="2219890"/>
            <a:ext cx="3150895" cy="323285"/>
          </a:xfrm>
          <a:prstGeom prst="rect">
            <a:avLst/>
          </a:prstGeom>
          <a:noFill/>
        </p:spPr>
        <p:txBody>
          <a:bodyPr wrap="square" rtlCol="0">
            <a:noAutofit/>
          </a:bodyPr>
          <a:lstStyle/>
          <a:p>
            <a:pPr>
              <a:lnSpc>
                <a:spcPts val="2100"/>
              </a:lnSpc>
            </a:pPr>
            <a:r>
              <a:rPr lang="en-US" altLang="zh-CN" sz="1600" b="1" dirty="0">
                <a:solidFill>
                  <a:schemeClr val="tx1">
                    <a:lumMod val="75000"/>
                    <a:lumOff val="25000"/>
                  </a:schemeClr>
                </a:solidFill>
                <a:latin typeface="Roboto" charset="0"/>
                <a:ea typeface="Roboto" charset="0"/>
                <a:cs typeface="Arial" panose="020B0604020202020204" pitchFamily="34" charset="0"/>
              </a:rPr>
              <a:t>Bi-Directional</a:t>
            </a:r>
            <a:r>
              <a:rPr lang="en-US" sz="1600" b="1" dirty="0">
                <a:solidFill>
                  <a:schemeClr val="tx1">
                    <a:lumMod val="75000"/>
                    <a:lumOff val="25000"/>
                  </a:schemeClr>
                </a:solidFill>
                <a:latin typeface="Roboto" charset="0"/>
                <a:ea typeface="Roboto" charset="0"/>
                <a:cs typeface="Arial" panose="020B0604020202020204" pitchFamily="34" charset="0"/>
              </a:rPr>
              <a:t> Conversion</a:t>
            </a:r>
            <a:endParaRPr lang="en-US" sz="1600" b="1" dirty="0">
              <a:solidFill>
                <a:schemeClr val="tx1">
                  <a:lumMod val="75000"/>
                  <a:lumOff val="25000"/>
                </a:schemeClr>
              </a:solidFill>
              <a:latin typeface="Roboto" charset="0"/>
              <a:ea typeface="Roboto" charset="0"/>
              <a:cs typeface="Arial" panose="020B0604020202020204" pitchFamily="34" charset="0"/>
            </a:endParaRPr>
          </a:p>
        </p:txBody>
      </p:sp>
      <p:sp>
        <p:nvSpPr>
          <p:cNvPr id="28" name="Rectangle 27"/>
          <p:cNvSpPr/>
          <p:nvPr/>
        </p:nvSpPr>
        <p:spPr>
          <a:xfrm>
            <a:off x="6377229" y="2395505"/>
            <a:ext cx="4791557" cy="1439265"/>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909879" y="4546903"/>
            <a:ext cx="4791557" cy="1509585"/>
          </a:xfrm>
          <a:prstGeom prst="rect">
            <a:avLst/>
          </a:prstGeom>
          <a:solidFill>
            <a:srgbClr val="D0ECC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文本框 4"/>
          <p:cNvSpPr txBox="1"/>
          <p:nvPr/>
        </p:nvSpPr>
        <p:spPr>
          <a:xfrm>
            <a:off x="1124482" y="2742633"/>
            <a:ext cx="4133318" cy="1007064"/>
          </a:xfrm>
          <a:prstGeom prst="rect">
            <a:avLst/>
          </a:prstGeom>
          <a:noFill/>
        </p:spPr>
        <p:txBody>
          <a:bodyPr wrap="square" rtlCol="0">
            <a:noAutofit/>
          </a:bodyPr>
          <a:lstStyle/>
          <a:p>
            <a:pPr indent="0" fontAlgn="auto">
              <a:buFont typeface="Wingdings" panose="05000000000000000000" charset="0"/>
              <a:buNone/>
            </a:pPr>
            <a:r>
              <a:rPr lang="en-US" altLang="zh-CN" sz="1400" dirty="0">
                <a:solidFill>
                  <a:schemeClr val="tx1">
                    <a:lumMod val="75000"/>
                    <a:lumOff val="25000"/>
                  </a:schemeClr>
                </a:solidFill>
                <a:latin typeface="Roboto" charset="0"/>
                <a:ea typeface="Roboto" charset="0"/>
                <a:cs typeface="Arial" panose="020B0604020202020204" pitchFamily="34" charset="0"/>
              </a:rPr>
              <a:t>Supports both NDI stream to NetworkHD stream and NetworkHD stream to NDI stream conversion at the same time, enabling efficient AV signal management through one device.</a:t>
            </a: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p:txBody>
      </p:sp>
      <p:sp>
        <p:nvSpPr>
          <p:cNvPr id="31" name="Rectangle 30"/>
          <p:cNvSpPr/>
          <p:nvPr/>
        </p:nvSpPr>
        <p:spPr>
          <a:xfrm>
            <a:off x="6200774" y="2181791"/>
            <a:ext cx="3477590"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a:off x="733424" y="4354405"/>
            <a:ext cx="2544141" cy="427428"/>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文本框 4"/>
          <p:cNvSpPr txBox="1"/>
          <p:nvPr/>
        </p:nvSpPr>
        <p:spPr>
          <a:xfrm>
            <a:off x="884860" y="4392504"/>
            <a:ext cx="2392705" cy="323285"/>
          </a:xfrm>
          <a:prstGeom prst="rect">
            <a:avLst/>
          </a:prstGeom>
          <a:noFill/>
        </p:spPr>
        <p:txBody>
          <a:bodyPr wrap="square" rtlCol="0">
            <a:noAutofit/>
          </a:bodyPr>
          <a:lstStyle/>
          <a:p>
            <a:pPr fontAlgn="auto">
              <a:lnSpc>
                <a:spcPts val="2100"/>
              </a:lnSpc>
            </a:pPr>
            <a:r>
              <a:rPr lang="en-US" altLang="zh-CN" sz="1600" b="1" dirty="0">
                <a:solidFill>
                  <a:schemeClr val="tx1">
                    <a:lumMod val="75000"/>
                    <a:lumOff val="25000"/>
                  </a:schemeClr>
                </a:solidFill>
                <a:latin typeface="Roboto" charset="0"/>
                <a:ea typeface="Roboto" charset="0"/>
                <a:cs typeface="Arial" panose="020B0604020202020204" pitchFamily="34" charset="0"/>
              </a:rPr>
              <a:t>Bring Multiview to NDI</a:t>
            </a:r>
            <a:endParaRPr lang="en-US" sz="1600" dirty="0">
              <a:solidFill>
                <a:schemeClr val="tx1">
                  <a:lumMod val="75000"/>
                  <a:lumOff val="25000"/>
                </a:schemeClr>
              </a:solidFill>
              <a:latin typeface="Roboto" charset="0"/>
              <a:ea typeface="Roboto" charset="0"/>
              <a:cs typeface="Arial" panose="020B0604020202020204" pitchFamily="34" charset="0"/>
            </a:endParaRPr>
          </a:p>
        </p:txBody>
      </p:sp>
      <p:sp>
        <p:nvSpPr>
          <p:cNvPr id="39" name="文本框 4"/>
          <p:cNvSpPr txBox="1"/>
          <p:nvPr/>
        </p:nvSpPr>
        <p:spPr>
          <a:xfrm>
            <a:off x="1064487" y="4888930"/>
            <a:ext cx="4193313" cy="1007064"/>
          </a:xfrm>
          <a:prstGeom prst="rect">
            <a:avLst/>
          </a:prstGeom>
          <a:noFill/>
        </p:spPr>
        <p:txBody>
          <a:bodyPr wrap="square" rtlCol="0">
            <a:noAutofit/>
          </a:bodyPr>
          <a:lstStyle/>
          <a:p>
            <a:pPr indent="0" fontAlgn="auto">
              <a:buFont typeface="Wingdings" panose="05000000000000000000" charset="0"/>
              <a:buNone/>
            </a:pPr>
            <a:r>
              <a:rPr lang="en-US" altLang="zh-CN" sz="1400" dirty="0">
                <a:solidFill>
                  <a:schemeClr val="tx1">
                    <a:lumMod val="75000"/>
                    <a:lumOff val="25000"/>
                  </a:schemeClr>
                </a:solidFill>
                <a:latin typeface="Roboto" charset="0"/>
                <a:ea typeface="Roboto" charset="0"/>
                <a:cs typeface="Arial" panose="020B0604020202020204" pitchFamily="34" charset="0"/>
              </a:rPr>
              <a:t>Supports the conversion of multiview output from the NHD-150-RX into an NDI stream, allowing multiple video sources to be seamlessly integrated into any NDI-based system.</a:t>
            </a: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p:txBody>
      </p:sp>
      <p:sp>
        <p:nvSpPr>
          <p:cNvPr id="60" name="文本框 4"/>
          <p:cNvSpPr txBox="1"/>
          <p:nvPr/>
        </p:nvSpPr>
        <p:spPr>
          <a:xfrm>
            <a:off x="6377229" y="2208868"/>
            <a:ext cx="4115765"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High-Quality Performance</a:t>
            </a:r>
            <a:endParaRPr lang="en-US" sz="1600" dirty="0">
              <a:solidFill>
                <a:schemeClr val="tx1">
                  <a:lumMod val="75000"/>
                  <a:lumOff val="25000"/>
                </a:schemeClr>
              </a:solidFill>
              <a:latin typeface="Roboto" charset="0"/>
              <a:ea typeface="Roboto" charset="0"/>
              <a:cs typeface="Arial" panose="020B0604020202020204" pitchFamily="34" charset="0"/>
            </a:endParaRPr>
          </a:p>
        </p:txBody>
      </p:sp>
      <p:sp>
        <p:nvSpPr>
          <p:cNvPr id="61" name="文本框 4"/>
          <p:cNvSpPr txBox="1"/>
          <p:nvPr/>
        </p:nvSpPr>
        <p:spPr>
          <a:xfrm>
            <a:off x="6556856" y="2804354"/>
            <a:ext cx="4377901" cy="1007064"/>
          </a:xfrm>
          <a:prstGeom prst="rect">
            <a:avLst/>
          </a:prstGeom>
          <a:noFill/>
        </p:spPr>
        <p:txBody>
          <a:bodyPr wrap="square" rtlCol="0">
            <a:noAutofit/>
          </a:bodyPr>
          <a:lstStyle/>
          <a:p>
            <a:pPr indent="0" fontAlgn="auto">
              <a:buFont typeface="Wingdings" panose="05000000000000000000" charset="0"/>
              <a:buNone/>
            </a:pPr>
            <a:r>
              <a:rPr lang="en-US" sz="1400" dirty="0">
                <a:solidFill>
                  <a:schemeClr val="tx1">
                    <a:lumMod val="75000"/>
                    <a:lumOff val="25000"/>
                  </a:schemeClr>
                </a:solidFill>
                <a:latin typeface="Roboto" charset="0"/>
                <a:ea typeface="Roboto" charset="0"/>
                <a:cs typeface="Arial" panose="020B0604020202020204" pitchFamily="34" charset="0"/>
              </a:rPr>
              <a:t>Deliver 4K@30Hz video and low latency transmission for professional-grade visuals and real-time interaction across networked environments.</a:t>
            </a:r>
            <a:endParaRPr lang="en-US" sz="1400" dirty="0">
              <a:solidFill>
                <a:schemeClr val="tx1">
                  <a:lumMod val="75000"/>
                  <a:lumOff val="25000"/>
                </a:schemeClr>
              </a:solidFill>
              <a:latin typeface="Roboto" charset="0"/>
              <a:ea typeface="Roboto" charset="0"/>
              <a:cs typeface="Arial" panose="020B0604020202020204" pitchFamily="34" charset="0"/>
            </a:endParaRPr>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7145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Why Choose Us:  2. </a:t>
            </a:r>
            <a:r>
              <a:rPr lang="en-US" altLang="zh-CN" sz="2800" b="1" dirty="0">
                <a:solidFill>
                  <a:schemeClr val="lt1"/>
                </a:solidFill>
                <a:uFillTx/>
                <a:latin typeface="Montserrat" pitchFamily="2" charset="0"/>
                <a:ea typeface="微软雅黑" panose="020B0503020204020204" pitchFamily="34" charset="-122"/>
                <a:sym typeface="Roboto"/>
              </a:rPr>
              <a:t>Easy Deployment and Effortless Control</a:t>
            </a:r>
            <a:endParaRPr lang="en-US" altLang="zh-CN" sz="2800" b="1" dirty="0">
              <a:solidFill>
                <a:schemeClr val="lt1"/>
              </a:solidFill>
              <a:uFillTx/>
              <a:latin typeface="Montserrat" pitchFamily="2" charset="0"/>
              <a:ea typeface="微软雅黑" panose="020B0503020204020204" pitchFamily="34" charset="-122"/>
              <a:sym typeface="Roboto"/>
            </a:endParaRPr>
          </a:p>
        </p:txBody>
      </p:sp>
      <p:sp>
        <p:nvSpPr>
          <p:cNvPr id="5" name="文本框 4"/>
          <p:cNvSpPr txBox="1"/>
          <p:nvPr/>
        </p:nvSpPr>
        <p:spPr>
          <a:xfrm>
            <a:off x="697865" y="1229360"/>
            <a:ext cx="10795635" cy="717550"/>
          </a:xfrm>
          <a:prstGeom prst="rect">
            <a:avLst/>
          </a:prstGeom>
          <a:noFill/>
        </p:spPr>
        <p:txBody>
          <a:bodyPr wrap="square" rtlCol="0">
            <a:noAutofit/>
          </a:bodyPr>
          <a:lstStyle/>
          <a:p>
            <a:r>
              <a:rPr lang="en-US" altLang="zh-CN" sz="2000" b="1" dirty="0">
                <a:solidFill>
                  <a:schemeClr val="tx1">
                    <a:lumMod val="75000"/>
                    <a:lumOff val="25000"/>
                  </a:schemeClr>
                </a:solidFill>
                <a:latin typeface="Roboto" charset="0"/>
                <a:ea typeface="Roboto" charset="0"/>
                <a:cs typeface="Arial" panose="020B0604020202020204" pitchFamily="34" charset="0"/>
              </a:rPr>
              <a:t>Enable seamless workflows with one device that converts between NDI and NetworkHD streams simultaneously — reducing hardware requirements and increasing integration flexibility.</a:t>
            </a:r>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endParaRPr lang="en-US" altLang="zh-CN" sz="2000" b="1"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sz="2000" b="1" dirty="0">
              <a:solidFill>
                <a:schemeClr val="tx1">
                  <a:lumMod val="75000"/>
                  <a:lumOff val="25000"/>
                </a:schemeClr>
              </a:solidFill>
              <a:latin typeface="Roboto" charset="0"/>
              <a:ea typeface="Roboto" charset="0"/>
              <a:cs typeface="Arial" panose="020B0604020202020204" pitchFamily="34" charset="0"/>
            </a:endParaRPr>
          </a:p>
        </p:txBody>
      </p:sp>
      <p:pic>
        <p:nvPicPr>
          <p:cNvPr id="4" name="Google Shape;82;p1"/>
          <p:cNvPicPr preferRelativeResize="0"/>
          <p:nvPr/>
        </p:nvPicPr>
        <p:blipFill>
          <a:blip r:embed="rId3"/>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46" name="Rectangle 45"/>
          <p:cNvSpPr/>
          <p:nvPr/>
        </p:nvSpPr>
        <p:spPr>
          <a:xfrm>
            <a:off x="932968" y="2381249"/>
            <a:ext cx="4791557" cy="1439265"/>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932968" y="4283663"/>
            <a:ext cx="4791557" cy="1509585"/>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764845" y="2181791"/>
            <a:ext cx="2597480"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文本框 4"/>
          <p:cNvSpPr txBox="1"/>
          <p:nvPr/>
        </p:nvSpPr>
        <p:spPr>
          <a:xfrm>
            <a:off x="916279" y="2219890"/>
            <a:ext cx="3945509"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Effortless Connectivity</a:t>
            </a:r>
            <a:endParaRPr lang="en-US" sz="1600" dirty="0">
              <a:solidFill>
                <a:schemeClr val="tx1">
                  <a:lumMod val="75000"/>
                  <a:lumOff val="25000"/>
                </a:schemeClr>
              </a:solidFill>
              <a:latin typeface="Roboto" charset="0"/>
              <a:ea typeface="Roboto" charset="0"/>
              <a:cs typeface="Arial" panose="020B0604020202020204" pitchFamily="34" charset="0"/>
            </a:endParaRPr>
          </a:p>
        </p:txBody>
      </p:sp>
      <p:sp>
        <p:nvSpPr>
          <p:cNvPr id="50" name="Rectangle 49"/>
          <p:cNvSpPr/>
          <p:nvPr/>
        </p:nvSpPr>
        <p:spPr>
          <a:xfrm>
            <a:off x="6377229" y="2395505"/>
            <a:ext cx="4791557" cy="1439265"/>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6377229" y="4297919"/>
            <a:ext cx="4791557" cy="1509585"/>
          </a:xfrm>
          <a:prstGeom prst="rect">
            <a:avLst/>
          </a:prstGeom>
          <a:solidFill>
            <a:srgbClr val="CDE7ED"/>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文本框 4"/>
          <p:cNvSpPr txBox="1"/>
          <p:nvPr/>
        </p:nvSpPr>
        <p:spPr>
          <a:xfrm>
            <a:off x="1124483" y="2729651"/>
            <a:ext cx="4209516" cy="1007064"/>
          </a:xfrm>
          <a:prstGeom prst="rect">
            <a:avLst/>
          </a:prstGeom>
          <a:noFill/>
        </p:spPr>
        <p:txBody>
          <a:bodyPr wrap="square" rtlCol="0">
            <a:noAutofit/>
          </a:bodyPr>
          <a:lstStyle/>
          <a:p>
            <a:pPr indent="0" fontAlgn="auto">
              <a:buFont typeface="Wingdings" panose="05000000000000000000" charset="0"/>
              <a:buNone/>
            </a:pPr>
            <a:r>
              <a:rPr lang="en-US" altLang="zh-CN" sz="1400" dirty="0">
                <a:solidFill>
                  <a:schemeClr val="tx1">
                    <a:lumMod val="75000"/>
                    <a:lumOff val="25000"/>
                  </a:schemeClr>
                </a:solidFill>
                <a:latin typeface="Roboto" charset="0"/>
                <a:ea typeface="Roboto" charset="0"/>
                <a:cs typeface="Arial" panose="020B0604020202020204" pitchFamily="34" charset="0"/>
              </a:rPr>
              <a:t>Streamline installation with just a single network cable that carries power, video, and control in one connection. Reduce clutter and minimize setup time.</a:t>
            </a: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p:txBody>
      </p:sp>
      <p:sp>
        <p:nvSpPr>
          <p:cNvPr id="53" name="Rectangle 52"/>
          <p:cNvSpPr/>
          <p:nvPr/>
        </p:nvSpPr>
        <p:spPr>
          <a:xfrm>
            <a:off x="6200774" y="2181791"/>
            <a:ext cx="2438401"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文本框 4"/>
          <p:cNvSpPr txBox="1"/>
          <p:nvPr/>
        </p:nvSpPr>
        <p:spPr>
          <a:xfrm>
            <a:off x="6352209" y="2219890"/>
            <a:ext cx="3587853"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Seamless Integration</a:t>
            </a:r>
            <a:endParaRPr lang="en-US" sz="1600" dirty="0">
              <a:solidFill>
                <a:schemeClr val="tx1">
                  <a:lumMod val="75000"/>
                  <a:lumOff val="25000"/>
                </a:schemeClr>
              </a:solidFill>
              <a:latin typeface="Roboto" charset="0"/>
              <a:ea typeface="Roboto" charset="0"/>
              <a:cs typeface="Arial" panose="020B0604020202020204" pitchFamily="34" charset="0"/>
            </a:endParaRPr>
          </a:p>
        </p:txBody>
      </p:sp>
      <p:sp>
        <p:nvSpPr>
          <p:cNvPr id="55" name="文本框 4"/>
          <p:cNvSpPr txBox="1"/>
          <p:nvPr/>
        </p:nvSpPr>
        <p:spPr>
          <a:xfrm>
            <a:off x="6531837" y="2729651"/>
            <a:ext cx="4520973" cy="1007064"/>
          </a:xfrm>
          <a:prstGeom prst="rect">
            <a:avLst/>
          </a:prstGeom>
          <a:noFill/>
        </p:spPr>
        <p:txBody>
          <a:bodyPr wrap="square" rtlCol="0">
            <a:noAutofit/>
          </a:bodyPr>
          <a:lstStyle/>
          <a:p>
            <a:pPr indent="0" fontAlgn="auto">
              <a:buFont typeface="Wingdings" panose="05000000000000000000" charset="0"/>
              <a:buNone/>
            </a:pPr>
            <a:r>
              <a:rPr lang="en-US" altLang="zh-CN" sz="1400" dirty="0">
                <a:solidFill>
                  <a:schemeClr val="tx1">
                    <a:lumMod val="75000"/>
                    <a:lumOff val="25000"/>
                  </a:schemeClr>
                </a:solidFill>
                <a:latin typeface="Roboto" charset="0"/>
                <a:ea typeface="Roboto" charset="0"/>
                <a:cs typeface="Arial" panose="020B0604020202020204" pitchFamily="34" charset="0"/>
              </a:rPr>
              <a:t>Seamlessly integrates into existing AV infrastructures with native support for both NDI and NetworkHD, making it an ideal choice for lecture halls, conference rooms, and digital courtrooms.</a:t>
            </a: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a:p>
            <a:pPr indent="0" fontAlgn="auto">
              <a:buFont typeface="Wingdings" panose="05000000000000000000" charset="0"/>
              <a:buNone/>
            </a:pPr>
            <a:endParaRPr lang="en-US" altLang="zh-CN" sz="1400" dirty="0">
              <a:solidFill>
                <a:schemeClr val="tx1">
                  <a:lumMod val="75000"/>
                  <a:lumOff val="25000"/>
                </a:schemeClr>
              </a:solidFill>
              <a:latin typeface="Roboto" charset="0"/>
              <a:ea typeface="Roboto" charset="0"/>
              <a:cs typeface="Arial" panose="020B0604020202020204" pitchFamily="34" charset="0"/>
            </a:endParaRPr>
          </a:p>
        </p:txBody>
      </p:sp>
      <p:sp>
        <p:nvSpPr>
          <p:cNvPr id="56" name="Rectangle 55"/>
          <p:cNvSpPr/>
          <p:nvPr/>
        </p:nvSpPr>
        <p:spPr>
          <a:xfrm>
            <a:off x="764844" y="4105421"/>
            <a:ext cx="3037513"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文本框 4"/>
          <p:cNvSpPr txBox="1"/>
          <p:nvPr/>
        </p:nvSpPr>
        <p:spPr>
          <a:xfrm>
            <a:off x="916280" y="4143520"/>
            <a:ext cx="2886078" cy="323285"/>
          </a:xfrm>
          <a:prstGeom prst="rect">
            <a:avLst/>
          </a:prstGeom>
          <a:noFill/>
        </p:spPr>
        <p:txBody>
          <a:bodyPr wrap="square" rtlCol="0">
            <a:noAutofit/>
          </a:bodyPr>
          <a:lstStyle/>
          <a:p>
            <a:pPr>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Boost Operational Efficiency</a:t>
            </a:r>
            <a:endParaRPr lang="en-US" sz="1600" b="1" dirty="0">
              <a:solidFill>
                <a:schemeClr val="tx1">
                  <a:lumMod val="75000"/>
                  <a:lumOff val="25000"/>
                </a:schemeClr>
              </a:solidFill>
              <a:latin typeface="Roboto" charset="0"/>
              <a:ea typeface="Roboto" charset="0"/>
              <a:cs typeface="Arial" panose="020B0604020202020204" pitchFamily="34" charset="0"/>
            </a:endParaRPr>
          </a:p>
        </p:txBody>
      </p:sp>
      <p:sp>
        <p:nvSpPr>
          <p:cNvPr id="58" name="文本框 4"/>
          <p:cNvSpPr txBox="1"/>
          <p:nvPr/>
        </p:nvSpPr>
        <p:spPr>
          <a:xfrm>
            <a:off x="1124482" y="4739006"/>
            <a:ext cx="3937375" cy="1007064"/>
          </a:xfrm>
          <a:prstGeom prst="rect">
            <a:avLst/>
          </a:prstGeom>
          <a:noFill/>
        </p:spPr>
        <p:txBody>
          <a:bodyPr wrap="square" rtlCol="0">
            <a:noAutofit/>
          </a:bodyPr>
          <a:lstStyle/>
          <a:p>
            <a:r>
              <a:rPr lang="en-US" sz="1400" dirty="0">
                <a:solidFill>
                  <a:schemeClr val="tx1">
                    <a:lumMod val="75000"/>
                    <a:lumOff val="25000"/>
                  </a:schemeClr>
                </a:solidFill>
                <a:latin typeface="Roboto" charset="0"/>
                <a:ea typeface="Roboto" charset="0"/>
                <a:cs typeface="Arial" panose="020B0604020202020204" pitchFamily="34" charset="0"/>
              </a:rPr>
              <a:t>Enable fast setup and centralized control via intuitive Web UI and APIs—freeing up time for content creation, not system maintenance.</a:t>
            </a:r>
            <a:endParaRPr lang="en-US" sz="1400" dirty="0">
              <a:solidFill>
                <a:schemeClr val="tx1">
                  <a:lumMod val="75000"/>
                  <a:lumOff val="25000"/>
                </a:schemeClr>
              </a:solidFill>
              <a:latin typeface="Roboto" charset="0"/>
              <a:ea typeface="Roboto" charset="0"/>
              <a:cs typeface="Arial" panose="020B0604020202020204" pitchFamily="34" charset="0"/>
            </a:endParaRPr>
          </a:p>
        </p:txBody>
      </p:sp>
      <p:sp>
        <p:nvSpPr>
          <p:cNvPr id="59" name="Rectangle 58"/>
          <p:cNvSpPr/>
          <p:nvPr/>
        </p:nvSpPr>
        <p:spPr>
          <a:xfrm>
            <a:off x="6200774" y="4105421"/>
            <a:ext cx="3451330" cy="427428"/>
          </a:xfrm>
          <a:prstGeom prst="rect">
            <a:avLst/>
          </a:prstGeom>
          <a:solidFill>
            <a:srgbClr val="E1F1F3"/>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4"/>
          <p:cNvSpPr txBox="1"/>
          <p:nvPr/>
        </p:nvSpPr>
        <p:spPr>
          <a:xfrm>
            <a:off x="6259655" y="4166526"/>
            <a:ext cx="3477590" cy="323285"/>
          </a:xfrm>
          <a:prstGeom prst="rect">
            <a:avLst/>
          </a:prstGeom>
          <a:noFill/>
        </p:spPr>
        <p:txBody>
          <a:bodyPr wrap="square" rtlCol="0">
            <a:noAutofit/>
          </a:bodyPr>
          <a:lstStyle/>
          <a:p>
            <a:pPr fontAlgn="auto">
              <a:lnSpc>
                <a:spcPts val="2100"/>
              </a:lnSpc>
            </a:pPr>
            <a:r>
              <a:rPr lang="en-US" sz="1600" b="1" dirty="0">
                <a:solidFill>
                  <a:schemeClr val="tx1">
                    <a:lumMod val="75000"/>
                    <a:lumOff val="25000"/>
                  </a:schemeClr>
                </a:solidFill>
                <a:latin typeface="Roboto" charset="0"/>
                <a:ea typeface="Roboto" charset="0"/>
                <a:cs typeface="Arial" panose="020B0604020202020204" pitchFamily="34" charset="0"/>
              </a:rPr>
              <a:t>Real-Time LCD Status Monitoring</a:t>
            </a:r>
            <a:endParaRPr lang="en-US" sz="1600" b="1" dirty="0">
              <a:solidFill>
                <a:schemeClr val="tx1">
                  <a:lumMod val="75000"/>
                  <a:lumOff val="25000"/>
                </a:schemeClr>
              </a:solidFill>
              <a:latin typeface="Roboto" charset="0"/>
              <a:ea typeface="Roboto" charset="0"/>
              <a:cs typeface="Arial" panose="020B0604020202020204" pitchFamily="34" charset="0"/>
            </a:endParaRPr>
          </a:p>
        </p:txBody>
      </p:sp>
      <p:sp>
        <p:nvSpPr>
          <p:cNvPr id="3" name="文本框 4"/>
          <p:cNvSpPr txBox="1"/>
          <p:nvPr/>
        </p:nvSpPr>
        <p:spPr>
          <a:xfrm>
            <a:off x="6439283" y="4742962"/>
            <a:ext cx="4543042" cy="840352"/>
          </a:xfrm>
          <a:prstGeom prst="rect">
            <a:avLst/>
          </a:prstGeom>
          <a:noFill/>
        </p:spPr>
        <p:txBody>
          <a:bodyPr wrap="square" rtlCol="0">
            <a:noAutofit/>
          </a:bodyPr>
          <a:lstStyle/>
          <a:p>
            <a:r>
              <a:rPr lang="en-US" sz="1400" dirty="0">
                <a:solidFill>
                  <a:schemeClr val="tx1">
                    <a:lumMod val="75000"/>
                    <a:lumOff val="25000"/>
                  </a:schemeClr>
                </a:solidFill>
                <a:latin typeface="Roboto" charset="0"/>
                <a:ea typeface="Roboto" charset="0"/>
                <a:cs typeface="Arial" panose="020B0604020202020204" pitchFamily="34" charset="0"/>
              </a:rPr>
              <a:t>Front-panel display shows IP address and firmware version in real time, providing quick check for device information.</a:t>
            </a:r>
            <a:endParaRPr lang="en-US" sz="1400" dirty="0">
              <a:solidFill>
                <a:schemeClr val="tx1">
                  <a:lumMod val="75000"/>
                  <a:lumOff val="25000"/>
                </a:schemeClr>
              </a:solidFill>
              <a:latin typeface="Roboto" charset="0"/>
              <a:ea typeface="Roboto" charset="0"/>
              <a:cs typeface="Arial" panose="020B0604020202020204" pitchFamily="34" charset="0"/>
            </a:endParaRPr>
          </a:p>
        </p:txBody>
      </p:sp>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44464" y="1083565"/>
            <a:ext cx="7108885" cy="2627585"/>
          </a:xfrm>
          <a:prstGeom prst="rect">
            <a:avLst/>
          </a:prstGeom>
          <a:solidFill>
            <a:schemeClr val="bg1"/>
          </a:solidFill>
          <a:ln>
            <a:solidFill>
              <a:schemeClr val="bg2">
                <a:lumMod val="9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7145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Interface of the Product</a:t>
            </a:r>
            <a:endParaRPr lang="en-US" sz="2800" b="1" dirty="0">
              <a:solidFill>
                <a:schemeClr val="lt1"/>
              </a:solidFill>
              <a:uFillTx/>
              <a:latin typeface="Montserrat" pitchFamily="2" charset="0"/>
              <a:ea typeface="微软雅黑" panose="020B0503020204020204" pitchFamily="34" charset="-122"/>
              <a:sym typeface="Roboto"/>
            </a:endParaRPr>
          </a:p>
        </p:txBody>
      </p:sp>
      <p:sp>
        <p:nvSpPr>
          <p:cNvPr id="9" name="文本框 8"/>
          <p:cNvSpPr txBox="1"/>
          <p:nvPr/>
        </p:nvSpPr>
        <p:spPr>
          <a:xfrm>
            <a:off x="6608762" y="1157767"/>
            <a:ext cx="1986280" cy="307777"/>
          </a:xfrm>
          <a:prstGeom prst="rect">
            <a:avLst/>
          </a:prstGeom>
          <a:noFill/>
        </p:spPr>
        <p:txBody>
          <a:bodyPr wrap="square" rtlCol="0">
            <a:spAutoFit/>
          </a:bodyPr>
          <a:lstStyle/>
          <a:p>
            <a:r>
              <a:rPr lang="en-US" altLang="zh-CN" sz="1400" b="1" dirty="0">
                <a:latin typeface="Roboto" charset="0"/>
                <a:cs typeface="Roboto" charset="0"/>
              </a:rPr>
              <a:t>Front Panel</a:t>
            </a:r>
            <a:endParaRPr lang="en-US" altLang="zh-CN" sz="1400" b="1" dirty="0">
              <a:latin typeface="Roboto" charset="0"/>
              <a:cs typeface="Roboto" charset="0"/>
            </a:endParaRPr>
          </a:p>
        </p:txBody>
      </p:sp>
      <p:sp>
        <p:nvSpPr>
          <p:cNvPr id="15" name="文本框 8"/>
          <p:cNvSpPr txBox="1"/>
          <p:nvPr/>
        </p:nvSpPr>
        <p:spPr>
          <a:xfrm>
            <a:off x="8207632" y="1227695"/>
            <a:ext cx="1986280" cy="460375"/>
          </a:xfrm>
          <a:prstGeom prst="rect">
            <a:avLst/>
          </a:prstGeom>
          <a:noFill/>
        </p:spPr>
        <p:txBody>
          <a:bodyPr wrap="square" rtlCol="0">
            <a:spAutoFit/>
          </a:bodyPr>
          <a:lstStyle/>
          <a:p>
            <a:r>
              <a:rPr lang="en-US" altLang="zh-CN" sz="2400" b="1" u="sng" dirty="0">
                <a:latin typeface="Roboto" charset="0"/>
                <a:cs typeface="Roboto" charset="0"/>
              </a:rPr>
              <a:t>Featuring:</a:t>
            </a:r>
            <a:endParaRPr lang="en-US" altLang="zh-CN" sz="2400" b="1" u="sng" dirty="0">
              <a:latin typeface="Roboto" charset="0"/>
              <a:cs typeface="Roboto" charset="0"/>
            </a:endParaRPr>
          </a:p>
        </p:txBody>
      </p:sp>
      <p:pic>
        <p:nvPicPr>
          <p:cNvPr id="16" name="Google Shape;82;p1"/>
          <p:cNvPicPr preferRelativeResize="0"/>
          <p:nvPr/>
        </p:nvPicPr>
        <p:blipFill>
          <a:blip r:embed="rId3"/>
          <a:stretch>
            <a:fillRect/>
          </a:stretch>
        </p:blipFill>
        <p:spPr>
          <a:xfrm>
            <a:off x="9652104" y="6056488"/>
            <a:ext cx="2241019" cy="440200"/>
          </a:xfrm>
          <a:prstGeom prst="rect">
            <a:avLst/>
          </a:prstGeom>
          <a:noFill/>
          <a:ln>
            <a:noFill/>
          </a:ln>
        </p:spPr>
      </p:pic>
      <p:sp>
        <p:nvSpPr>
          <p:cNvPr id="17"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5" name="Rectangle 4"/>
          <p:cNvSpPr/>
          <p:nvPr/>
        </p:nvSpPr>
        <p:spPr>
          <a:xfrm>
            <a:off x="644464" y="3868461"/>
            <a:ext cx="7108885" cy="2818087"/>
          </a:xfrm>
          <a:prstGeom prst="rect">
            <a:avLst/>
          </a:prstGeom>
          <a:solidFill>
            <a:schemeClr val="bg1"/>
          </a:solidFill>
          <a:ln>
            <a:solidFill>
              <a:schemeClr val="bg2">
                <a:lumMod val="9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文本框 9"/>
          <p:cNvSpPr txBox="1"/>
          <p:nvPr/>
        </p:nvSpPr>
        <p:spPr>
          <a:xfrm>
            <a:off x="6666547" y="3927899"/>
            <a:ext cx="1851660" cy="307777"/>
          </a:xfrm>
          <a:prstGeom prst="rect">
            <a:avLst/>
          </a:prstGeom>
          <a:noFill/>
        </p:spPr>
        <p:txBody>
          <a:bodyPr wrap="square" rtlCol="0" anchor="t">
            <a:spAutoFit/>
          </a:bodyPr>
          <a:lstStyle/>
          <a:p>
            <a:r>
              <a:rPr lang="en-US" altLang="zh-CN" sz="1400" b="1" dirty="0">
                <a:latin typeface="Roboto" charset="0"/>
                <a:cs typeface="Roboto" charset="0"/>
                <a:sym typeface="+mn-ea"/>
              </a:rPr>
              <a:t>Rear Panel</a:t>
            </a:r>
            <a:endParaRPr lang="en-US" altLang="zh-CN" sz="1400" b="1" dirty="0">
              <a:latin typeface="Roboto" charset="0"/>
              <a:cs typeface="Roboto" charset="0"/>
              <a:sym typeface="+mn-ea"/>
            </a:endParaRPr>
          </a:p>
        </p:txBody>
      </p:sp>
      <p:sp>
        <p:nvSpPr>
          <p:cNvPr id="11" name="文本框 10"/>
          <p:cNvSpPr txBox="1"/>
          <p:nvPr/>
        </p:nvSpPr>
        <p:spPr>
          <a:xfrm>
            <a:off x="8207631" y="1945215"/>
            <a:ext cx="3685491" cy="2614930"/>
          </a:xfrm>
          <a:prstGeom prst="rect">
            <a:avLst/>
          </a:prstGeom>
          <a:noFill/>
        </p:spPr>
        <p:txBody>
          <a:bodyPr wrap="square" rtlCol="0">
            <a:spAutoFit/>
          </a:bodyPr>
          <a:lstStyle/>
          <a:p>
            <a:r>
              <a:rPr lang="en-US" altLang="zh-CN" sz="1600" b="1" dirty="0">
                <a:solidFill>
                  <a:schemeClr val="bg2">
                    <a:lumMod val="25000"/>
                  </a:schemeClr>
                </a:solidFill>
                <a:latin typeface="Roboto" charset="0"/>
                <a:ea typeface="Roboto" charset="0"/>
              </a:rPr>
              <a:t>LCD Screen</a:t>
            </a:r>
            <a:endParaRPr lang="en-US" altLang="zh-CN" sz="1600" b="1" dirty="0">
              <a:solidFill>
                <a:schemeClr val="bg2">
                  <a:lumMod val="25000"/>
                </a:schemeClr>
              </a:solidFill>
              <a:latin typeface="Roboto" charset="0"/>
              <a:ea typeface="Roboto" charset="0"/>
            </a:endParaRPr>
          </a:p>
          <a:p>
            <a:pPr algn="l">
              <a:buClrTx/>
              <a:buSzTx/>
              <a:buFontTx/>
            </a:pPr>
            <a:r>
              <a:rPr lang="en-US" altLang="zh-CN" sz="1400" dirty="0">
                <a:solidFill>
                  <a:schemeClr val="tx1">
                    <a:lumMod val="75000"/>
                    <a:lumOff val="25000"/>
                  </a:schemeClr>
                </a:solidFill>
                <a:latin typeface="Roboto" charset="0"/>
                <a:ea typeface="Roboto" charset="0"/>
              </a:rPr>
              <a:t>The LCD screen on the front panel displays the device’s IP address and firmware version in real time.</a:t>
            </a:r>
            <a:endParaRPr lang="en-US" altLang="zh-CN" sz="1400" dirty="0">
              <a:solidFill>
                <a:schemeClr val="tx1">
                  <a:lumMod val="75000"/>
                  <a:lumOff val="25000"/>
                </a:schemeClr>
              </a:solidFill>
              <a:latin typeface="Roboto" charset="0"/>
              <a:ea typeface="Roboto" charset="0"/>
            </a:endParaRPr>
          </a:p>
          <a:p>
            <a:endParaRPr lang="en-US" altLang="zh-CN" sz="1600" dirty="0">
              <a:solidFill>
                <a:schemeClr val="tx1">
                  <a:lumMod val="75000"/>
                  <a:lumOff val="25000"/>
                </a:schemeClr>
              </a:solidFill>
              <a:latin typeface="Roboto" charset="0"/>
              <a:ea typeface="Roboto" charset="0"/>
            </a:endParaRPr>
          </a:p>
          <a:p>
            <a:r>
              <a:rPr lang="en-US" sz="1600" b="1" dirty="0">
                <a:solidFill>
                  <a:schemeClr val="bg2">
                    <a:lumMod val="25000"/>
                  </a:schemeClr>
                </a:solidFill>
                <a:latin typeface="Roboto" charset="0"/>
                <a:ea typeface="Roboto" charset="0"/>
              </a:rPr>
              <a:t>All-in-One LAN Port</a:t>
            </a:r>
            <a:endParaRPr lang="en-US" sz="1600" b="1" dirty="0">
              <a:solidFill>
                <a:schemeClr val="bg2">
                  <a:lumMod val="25000"/>
                </a:schemeClr>
              </a:solidFill>
              <a:latin typeface="Roboto" charset="0"/>
              <a:ea typeface="Roboto" charset="0"/>
            </a:endParaRPr>
          </a:p>
          <a:p>
            <a:r>
              <a:rPr lang="en-US" altLang="zh-CN" sz="1400" dirty="0">
                <a:solidFill>
                  <a:schemeClr val="tx1">
                    <a:lumMod val="75000"/>
                    <a:lumOff val="25000"/>
                  </a:schemeClr>
                </a:solidFill>
                <a:latin typeface="Roboto" charset="0"/>
                <a:ea typeface="Roboto" charset="0"/>
              </a:rPr>
              <a:t>Support PoE on the single LAN port. Enable bidirectional conversion between NetworkHD and NDI streams.</a:t>
            </a:r>
            <a:endParaRPr lang="en-US" altLang="zh-CN" sz="1400" dirty="0">
              <a:solidFill>
                <a:schemeClr val="tx1">
                  <a:lumMod val="75000"/>
                  <a:lumOff val="25000"/>
                </a:schemeClr>
              </a:solidFill>
              <a:latin typeface="Roboto" charset="0"/>
              <a:ea typeface="Roboto" charset="0"/>
            </a:endParaRPr>
          </a:p>
          <a:p>
            <a:endParaRPr lang="en-US" altLang="zh-CN" sz="1600" dirty="0">
              <a:solidFill>
                <a:schemeClr val="tx1">
                  <a:lumMod val="75000"/>
                  <a:lumOff val="25000"/>
                </a:schemeClr>
              </a:solidFill>
              <a:latin typeface="Roboto" charset="0"/>
              <a:ea typeface="Roboto" charset="0"/>
            </a:endParaRPr>
          </a:p>
          <a:p>
            <a:endParaRPr lang="en-US" altLang="zh-CN" sz="1600" dirty="0">
              <a:solidFill>
                <a:schemeClr val="tx1">
                  <a:lumMod val="75000"/>
                  <a:lumOff val="25000"/>
                </a:schemeClr>
              </a:solidFill>
              <a:latin typeface="Roboto" charset="0"/>
              <a:ea typeface="Roboto" charset="0"/>
            </a:endParaRPr>
          </a:p>
        </p:txBody>
      </p:sp>
      <p:pic>
        <p:nvPicPr>
          <p:cNvPr id="2" name="图片 1"/>
          <p:cNvPicPr>
            <a:picLocks noChangeAspect="1"/>
          </p:cNvPicPr>
          <p:nvPr/>
        </p:nvPicPr>
        <p:blipFill>
          <a:blip r:embed="rId4"/>
          <a:stretch>
            <a:fillRect/>
          </a:stretch>
        </p:blipFill>
        <p:spPr>
          <a:xfrm>
            <a:off x="1136187" y="1409947"/>
            <a:ext cx="5706186" cy="2224914"/>
          </a:xfrm>
          <a:prstGeom prst="rect">
            <a:avLst/>
          </a:prstGeom>
        </p:spPr>
      </p:pic>
      <p:pic>
        <p:nvPicPr>
          <p:cNvPr id="8" name="图片 7"/>
          <p:cNvPicPr>
            <a:picLocks noChangeAspect="1"/>
          </p:cNvPicPr>
          <p:nvPr/>
        </p:nvPicPr>
        <p:blipFill>
          <a:blip r:embed="rId5"/>
          <a:srcRect t="7710" b="5397"/>
          <a:stretch>
            <a:fillRect/>
          </a:stretch>
        </p:blipFill>
        <p:spPr>
          <a:xfrm>
            <a:off x="960963" y="4235676"/>
            <a:ext cx="5881410" cy="2233069"/>
          </a:xfrm>
          <a:prstGeom prst="rect">
            <a:avLst/>
          </a:prstGeom>
        </p:spPr>
      </p:pic>
    </p:spTree>
    <p:custDataLst>
      <p:tags r:id="rId6"/>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7145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Specifications &amp; Packing List</a:t>
            </a:r>
            <a:endParaRPr lang="en-US" sz="2800" b="1" dirty="0">
              <a:solidFill>
                <a:schemeClr val="lt1"/>
              </a:solidFill>
              <a:uFillTx/>
              <a:latin typeface="Montserrat" pitchFamily="2" charset="0"/>
              <a:ea typeface="微软雅黑" panose="020B0503020204020204" pitchFamily="34" charset="-122"/>
              <a:sym typeface="Roboto"/>
            </a:endParaRPr>
          </a:p>
        </p:txBody>
      </p:sp>
      <p:graphicFrame>
        <p:nvGraphicFramePr>
          <p:cNvPr id="5" name="表格 4"/>
          <p:cNvGraphicFramePr>
            <a:graphicFrameLocks noGrp="1"/>
          </p:cNvGraphicFramePr>
          <p:nvPr>
            <p:custDataLst>
              <p:tags r:id="rId3"/>
            </p:custDataLst>
          </p:nvPr>
        </p:nvGraphicFramePr>
        <p:xfrm>
          <a:off x="457155" y="1530787"/>
          <a:ext cx="6748864" cy="4215483"/>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1128055"/>
                <a:gridCol w="1041238"/>
                <a:gridCol w="4579571"/>
              </a:tblGrid>
              <a:tr h="355201">
                <a:tc gridSpan="3">
                  <a:txBody>
                    <a:bodyPr/>
                    <a:lstStyle/>
                    <a:p>
                      <a:r>
                        <a:rPr lang="en-US" altLang="zh-CN" sz="1600" dirty="0">
                          <a:latin typeface="Roboto" charset="0"/>
                          <a:ea typeface="Roboto" charset="0"/>
                          <a:cs typeface="Arial" panose="020B0604020202020204" pitchFamily="34" charset="0"/>
                        </a:rPr>
                        <a:t>Main Specifications</a:t>
                      </a:r>
                      <a:endParaRPr lang="en-US" altLang="zh-CN" sz="1600" dirty="0">
                        <a:latin typeface="Roboto" charset="0"/>
                        <a:ea typeface="Roboto" charset="0"/>
                        <a:cs typeface="Arial" panose="020B0604020202020204" pitchFamily="34" charset="0"/>
                      </a:endParaRPr>
                    </a:p>
                  </a:txBody>
                  <a:tcPr anchor="ctr">
                    <a:solidFill>
                      <a:srgbClr val="0B7935"/>
                    </a:solidFill>
                  </a:tcPr>
                </a:tc>
                <a:tc hMerge="1">
                  <a:tcPr/>
                </a:tc>
                <a:tc hMerge="1">
                  <a:tcPr/>
                </a:tc>
              </a:tr>
              <a:tr h="397624">
                <a:tc rowSpan="2">
                  <a:txBody>
                    <a:bodyPr/>
                    <a:lstStyle/>
                    <a:p>
                      <a:pPr marL="107950">
                        <a:spcAft>
                          <a:spcPts val="600"/>
                        </a:spcAft>
                        <a:buNone/>
                      </a:pPr>
                      <a:r>
                        <a:rPr lang="en-US" sz="1200" b="1" dirty="0">
                          <a:solidFill>
                            <a:srgbClr val="000000"/>
                          </a:solidFill>
                          <a:effectLst/>
                          <a:latin typeface="Roboto" charset="0"/>
                          <a:ea typeface="Roboto" charset="0"/>
                          <a:cs typeface="Roboto Lt" pitchFamily="2" charset="0"/>
                        </a:rPr>
                        <a:t>Input Video</a:t>
                      </a:r>
                      <a:endParaRPr lang="en-US" sz="1200" b="1" dirty="0">
                        <a:solidFill>
                          <a:srgbClr val="000000"/>
                        </a:solidFill>
                        <a:effectLst/>
                        <a:latin typeface="Roboto" charset="0"/>
                        <a:ea typeface="Roboto" charset="0"/>
                        <a:cs typeface="Roboto Lt" pitchFamily="2" charset="0"/>
                      </a:endParaRPr>
                    </a:p>
                  </a:txBody>
                  <a:tcPr marL="0" marR="0" marT="0" marB="0" anchor="ctr">
                    <a:solidFill>
                      <a:srgbClr val="D6E5D5"/>
                    </a:solidFill>
                  </a:tcPr>
                </a:tc>
                <a:tc>
                  <a:txBody>
                    <a:bodyPr/>
                    <a:lstStyle/>
                    <a:p>
                      <a:pPr marL="107950" algn="ctr">
                        <a:lnSpc>
                          <a:spcPct val="100000"/>
                        </a:lnSpc>
                        <a:spcBef>
                          <a:spcPts val="300"/>
                        </a:spcBef>
                        <a:spcAft>
                          <a:spcPts val="300"/>
                        </a:spcAft>
                        <a:buNone/>
                      </a:pPr>
                      <a:r>
                        <a:rPr lang="en-US" sz="1200" dirty="0">
                          <a:effectLst/>
                          <a:latin typeface="Roboto" charset="0"/>
                          <a:ea typeface="Roboto" charset="0"/>
                          <a:cs typeface="Arial" panose="020B0604020202020204" pitchFamily="34" charset="0"/>
                        </a:rPr>
                        <a:t>NetworkHD</a:t>
                      </a:r>
                      <a:endParaRPr lang="en-US" sz="1200" dirty="0">
                        <a:effectLst/>
                        <a:latin typeface="Roboto" charset="0"/>
                        <a:ea typeface="Roboto" charset="0"/>
                        <a:cs typeface="Arial" panose="020B0604020202020204" pitchFamily="34" charset="0"/>
                      </a:endParaRPr>
                    </a:p>
                  </a:txBody>
                  <a:tcPr marL="9525" marR="9525" marT="9525" marB="9525" anchor="ctr">
                    <a:solidFill>
                      <a:srgbClr val="D6E5D5"/>
                    </a:solidFill>
                  </a:tcPr>
                </a:tc>
                <a:tc>
                  <a:txBody>
                    <a:bodyPr/>
                    <a:lstStyle/>
                    <a:p>
                      <a:pPr marL="107950">
                        <a:lnSpc>
                          <a:spcPct val="100000"/>
                        </a:lnSpc>
                        <a:spcBef>
                          <a:spcPts val="300"/>
                        </a:spcBef>
                        <a:spcAft>
                          <a:spcPts val="300"/>
                        </a:spcAft>
                        <a:buNone/>
                      </a:pPr>
                      <a:r>
                        <a:rPr lang="en-US" sz="1200" dirty="0">
                          <a:effectLst/>
                          <a:latin typeface="Roboto" charset="0"/>
                          <a:ea typeface="Roboto" charset="0"/>
                          <a:cs typeface="Arial" panose="020B0604020202020204" pitchFamily="34" charset="0"/>
                        </a:rPr>
                        <a:t>Timing up to 4K@30Hz</a:t>
                      </a:r>
                      <a:endParaRPr lang="en-US" sz="1200" dirty="0">
                        <a:effectLst/>
                        <a:latin typeface="Roboto" charset="0"/>
                        <a:ea typeface="Roboto" charset="0"/>
                        <a:cs typeface="Arial" panose="020B0604020202020204" pitchFamily="34" charset="0"/>
                      </a:endParaRPr>
                    </a:p>
                    <a:p>
                      <a:pPr marL="107950">
                        <a:lnSpc>
                          <a:spcPct val="100000"/>
                        </a:lnSpc>
                        <a:spcBef>
                          <a:spcPts val="300"/>
                        </a:spcBef>
                        <a:spcAft>
                          <a:spcPts val="300"/>
                        </a:spcAft>
                        <a:buNone/>
                      </a:pPr>
                      <a:r>
                        <a:rPr lang="en-US" sz="1200" dirty="0">
                          <a:effectLst/>
                          <a:latin typeface="Roboto" charset="0"/>
                          <a:ea typeface="Roboto" charset="0"/>
                          <a:cs typeface="Arial" panose="020B0604020202020204" pitchFamily="34" charset="0"/>
                        </a:rPr>
                        <a:t>Bitrate up to 16Mbps</a:t>
                      </a:r>
                      <a:endParaRPr lang="en-US" sz="1200" dirty="0">
                        <a:effectLst/>
                        <a:latin typeface="Roboto" charset="0"/>
                        <a:ea typeface="Roboto" charset="0"/>
                        <a:cs typeface="Arial" panose="020B0604020202020204" pitchFamily="34" charset="0"/>
                      </a:endParaRPr>
                    </a:p>
                  </a:txBody>
                  <a:tcPr marL="9525" marR="9525" marT="9525" marB="9525" anchor="ctr">
                    <a:solidFill>
                      <a:srgbClr val="D6E5D5"/>
                    </a:solidFill>
                  </a:tcPr>
                </a:tc>
              </a:tr>
              <a:tr h="824142">
                <a:tc vMerge="1">
                  <a:tcPr marL="0" marR="0" marT="0" marB="0" anchor="ctr">
                    <a:solidFill>
                      <a:srgbClr val="D6E5D5"/>
                    </a:solidFill>
                  </a:tcPr>
                </a:tc>
                <a:tc>
                  <a:txBody>
                    <a:bodyPr/>
                    <a:lstStyle/>
                    <a:p>
                      <a:pPr marL="107950" algn="ctr">
                        <a:lnSpc>
                          <a:spcPct val="100000"/>
                        </a:lnSpc>
                        <a:spcBef>
                          <a:spcPts val="300"/>
                        </a:spcBef>
                        <a:spcAft>
                          <a:spcPts val="300"/>
                        </a:spcAft>
                        <a:buNone/>
                      </a:pPr>
                      <a:r>
                        <a:rPr lang="en-US" sz="1200" dirty="0">
                          <a:effectLst/>
                          <a:latin typeface="Roboto" charset="0"/>
                          <a:ea typeface="Roboto" charset="0"/>
                          <a:cs typeface="Arial" panose="020B0604020202020204" pitchFamily="34" charset="0"/>
                        </a:rPr>
                        <a:t>NDI</a:t>
                      </a:r>
                      <a:endParaRPr lang="en-US" sz="1200" dirty="0">
                        <a:effectLst/>
                        <a:latin typeface="Roboto" charset="0"/>
                        <a:ea typeface="Roboto" charset="0"/>
                        <a:cs typeface="Arial" panose="020B0604020202020204" pitchFamily="34" charset="0"/>
                      </a:endParaRPr>
                    </a:p>
                  </a:txBody>
                  <a:tcPr marL="9525" marR="9525" marT="9525" marB="9525" anchor="ctr">
                    <a:solidFill>
                      <a:srgbClr val="D6E5D5"/>
                    </a:solidFill>
                  </a:tcPr>
                </a:tc>
                <a:tc>
                  <a:txBody>
                    <a:bodyPr/>
                    <a:lstStyle/>
                    <a:p>
                      <a:pPr marL="107950">
                        <a:lnSpc>
                          <a:spcPct val="100000"/>
                        </a:lnSpc>
                        <a:spcBef>
                          <a:spcPts val="300"/>
                        </a:spcBef>
                        <a:spcAft>
                          <a:spcPts val="300"/>
                        </a:spcAft>
                        <a:buNone/>
                      </a:pPr>
                      <a:r>
                        <a:rPr lang="en-US" sz="1200" dirty="0">
                          <a:effectLst/>
                          <a:latin typeface="Roboto" charset="0"/>
                          <a:ea typeface="Roboto" charset="0"/>
                          <a:cs typeface="Arial" panose="020B0604020202020204" pitchFamily="34" charset="0"/>
                        </a:rPr>
                        <a:t>Main stream: Timing up to 4K@30Hz</a:t>
                      </a:r>
                      <a:endParaRPr lang="en-US" sz="1200" dirty="0">
                        <a:effectLst/>
                        <a:latin typeface="Roboto" charset="0"/>
                        <a:ea typeface="Roboto" charset="0"/>
                        <a:cs typeface="Arial" panose="020B0604020202020204" pitchFamily="34" charset="0"/>
                      </a:endParaRPr>
                    </a:p>
                    <a:p>
                      <a:pPr marL="982980" indent="95250">
                        <a:lnSpc>
                          <a:spcPct val="100000"/>
                        </a:lnSpc>
                        <a:spcBef>
                          <a:spcPts val="300"/>
                        </a:spcBef>
                        <a:spcAft>
                          <a:spcPts val="300"/>
                        </a:spcAft>
                        <a:buNone/>
                      </a:pPr>
                      <a:r>
                        <a:rPr lang="en-US" sz="1200" dirty="0">
                          <a:effectLst/>
                          <a:latin typeface="Roboto" charset="0"/>
                          <a:ea typeface="Roboto" charset="0"/>
                          <a:cs typeface="Arial" panose="020B0604020202020204" pitchFamily="34" charset="0"/>
                        </a:rPr>
                        <a:t>Bitrate up to 16Mbps</a:t>
                      </a:r>
                      <a:endParaRPr lang="en-US" sz="1200" dirty="0">
                        <a:effectLst/>
                        <a:latin typeface="Roboto" charset="0"/>
                        <a:ea typeface="Roboto" charset="0"/>
                        <a:cs typeface="Arial" panose="020B0604020202020204" pitchFamily="34" charset="0"/>
                      </a:endParaRPr>
                    </a:p>
                    <a:p>
                      <a:pPr marL="107950">
                        <a:lnSpc>
                          <a:spcPct val="100000"/>
                        </a:lnSpc>
                        <a:spcBef>
                          <a:spcPts val="300"/>
                        </a:spcBef>
                        <a:spcAft>
                          <a:spcPts val="300"/>
                        </a:spcAft>
                        <a:buNone/>
                      </a:pPr>
                      <a:r>
                        <a:rPr lang="en-US" sz="1200" dirty="0">
                          <a:effectLst/>
                          <a:latin typeface="Roboto" charset="0"/>
                          <a:ea typeface="Roboto" charset="0"/>
                          <a:cs typeface="Arial" panose="020B0604020202020204" pitchFamily="34" charset="0"/>
                        </a:rPr>
                        <a:t>Preview stream: Timing up to 480P@60Hz</a:t>
                      </a:r>
                      <a:endParaRPr lang="en-US" sz="1200" dirty="0">
                        <a:effectLst/>
                        <a:latin typeface="Roboto" charset="0"/>
                        <a:ea typeface="Roboto" charset="0"/>
                        <a:cs typeface="Arial" panose="020B0604020202020204" pitchFamily="34" charset="0"/>
                      </a:endParaRPr>
                    </a:p>
                    <a:p>
                      <a:pPr marL="107950" indent="970280">
                        <a:lnSpc>
                          <a:spcPct val="100000"/>
                        </a:lnSpc>
                        <a:spcBef>
                          <a:spcPts val="300"/>
                        </a:spcBef>
                        <a:spcAft>
                          <a:spcPts val="300"/>
                        </a:spcAft>
                        <a:buNone/>
                      </a:pPr>
                      <a:r>
                        <a:rPr lang="en-US" sz="1200" dirty="0">
                          <a:effectLst/>
                          <a:latin typeface="Roboto" charset="0"/>
                          <a:ea typeface="Roboto" charset="0"/>
                          <a:cs typeface="Arial" panose="020B0604020202020204" pitchFamily="34" charset="0"/>
                        </a:rPr>
                        <a:t>Bitrate up to 1Mbps</a:t>
                      </a:r>
                      <a:endParaRPr lang="en-US" sz="1200" dirty="0">
                        <a:effectLst/>
                        <a:latin typeface="Roboto" charset="0"/>
                        <a:ea typeface="Roboto" charset="0"/>
                        <a:cs typeface="Arial" panose="020B0604020202020204" pitchFamily="34" charset="0"/>
                      </a:endParaRPr>
                    </a:p>
                  </a:txBody>
                  <a:tcPr marL="9525" marR="9525" marT="9525" marB="9525" anchor="ctr">
                    <a:solidFill>
                      <a:srgbClr val="D6E5D5"/>
                    </a:solidFill>
                  </a:tcPr>
                </a:tc>
              </a:tr>
              <a:tr h="556658">
                <a:tc rowSpan="2">
                  <a:txBody>
                    <a:bodyPr/>
                    <a:lstStyle/>
                    <a:p>
                      <a:pPr marL="107950">
                        <a:spcAft>
                          <a:spcPts val="600"/>
                        </a:spcAft>
                        <a:buNone/>
                      </a:pPr>
                      <a:r>
                        <a:rPr lang="en-US" sz="1200" b="1" dirty="0">
                          <a:solidFill>
                            <a:srgbClr val="000000"/>
                          </a:solidFill>
                          <a:effectLst/>
                          <a:latin typeface="Roboto" charset="0"/>
                          <a:ea typeface="Roboto" charset="0"/>
                          <a:cs typeface="Roboto Lt" pitchFamily="2" charset="0"/>
                        </a:rPr>
                        <a:t>Output Video</a:t>
                      </a:r>
                      <a:endParaRPr lang="en-US" sz="1200" b="1" dirty="0">
                        <a:solidFill>
                          <a:srgbClr val="000000"/>
                        </a:solidFill>
                        <a:effectLst/>
                        <a:latin typeface="Roboto" charset="0"/>
                        <a:ea typeface="Roboto" charset="0"/>
                        <a:cs typeface="Roboto Lt" pitchFamily="2" charset="0"/>
                      </a:endParaRPr>
                    </a:p>
                  </a:txBody>
                  <a:tcPr marL="0" marR="0" marT="0" marB="0" anchor="ctr">
                    <a:solidFill>
                      <a:srgbClr val="E3F2E2"/>
                    </a:solidFill>
                  </a:tcPr>
                </a:tc>
                <a:tc>
                  <a:txBody>
                    <a:bodyPr/>
                    <a:lstStyle/>
                    <a:p>
                      <a:pPr marL="107950" algn="ctr">
                        <a:lnSpc>
                          <a:spcPct val="100000"/>
                        </a:lnSpc>
                        <a:spcBef>
                          <a:spcPts val="300"/>
                        </a:spcBef>
                        <a:spcAft>
                          <a:spcPts val="300"/>
                        </a:spcAft>
                        <a:buNone/>
                      </a:pPr>
                      <a:r>
                        <a:rPr lang="en-US" sz="1200" dirty="0">
                          <a:effectLst/>
                          <a:latin typeface="Roboto" charset="0"/>
                          <a:ea typeface="Roboto" charset="0"/>
                          <a:cs typeface="Arial" panose="020B0604020202020204" pitchFamily="34" charset="0"/>
                        </a:rPr>
                        <a:t>NetworkHD</a:t>
                      </a:r>
                      <a:endParaRPr lang="en-US" sz="1200" dirty="0">
                        <a:effectLst/>
                        <a:latin typeface="Roboto" charset="0"/>
                        <a:ea typeface="Roboto" charset="0"/>
                        <a:cs typeface="Arial" panose="020B0604020202020204" pitchFamily="34" charset="0"/>
                      </a:endParaRPr>
                    </a:p>
                  </a:txBody>
                  <a:tcPr marL="9525" marR="9525" marT="9525" marB="9525" anchor="ctr">
                    <a:solidFill>
                      <a:srgbClr val="E3F2E2"/>
                    </a:solidFill>
                  </a:tcPr>
                </a:tc>
                <a:tc>
                  <a:txBody>
                    <a:bodyPr/>
                    <a:lstStyle/>
                    <a:p>
                      <a:pPr marL="107950">
                        <a:lnSpc>
                          <a:spcPct val="100000"/>
                        </a:lnSpc>
                        <a:spcBef>
                          <a:spcPts val="300"/>
                        </a:spcBef>
                        <a:spcAft>
                          <a:spcPts val="300"/>
                        </a:spcAft>
                        <a:buNone/>
                      </a:pPr>
                      <a:r>
                        <a:rPr lang="en-US" sz="1200" dirty="0">
                          <a:effectLst/>
                          <a:latin typeface="Roboto" charset="0"/>
                          <a:ea typeface="Roboto" charset="0"/>
                          <a:cs typeface="Arial" panose="020B0604020202020204" pitchFamily="34" charset="0"/>
                        </a:rPr>
                        <a:t>Timing up to 4K@30Hz</a:t>
                      </a:r>
                      <a:endParaRPr lang="en-US" sz="1200" dirty="0">
                        <a:effectLst/>
                        <a:latin typeface="Roboto" charset="0"/>
                        <a:ea typeface="Roboto" charset="0"/>
                        <a:cs typeface="Arial" panose="020B0604020202020204" pitchFamily="34" charset="0"/>
                      </a:endParaRPr>
                    </a:p>
                    <a:p>
                      <a:pPr marL="107950">
                        <a:lnSpc>
                          <a:spcPct val="100000"/>
                        </a:lnSpc>
                        <a:spcBef>
                          <a:spcPts val="300"/>
                        </a:spcBef>
                        <a:spcAft>
                          <a:spcPts val="300"/>
                        </a:spcAft>
                        <a:buNone/>
                      </a:pPr>
                      <a:r>
                        <a:rPr lang="en-US" sz="1200" dirty="0">
                          <a:effectLst/>
                          <a:latin typeface="Roboto" charset="0"/>
                          <a:ea typeface="Roboto" charset="0"/>
                          <a:cs typeface="Arial" panose="020B0604020202020204" pitchFamily="34" charset="0"/>
                        </a:rPr>
                        <a:t>Bitrate </a:t>
                      </a:r>
                      <a:r>
                        <a:rPr lang="en-US" sz="1200" dirty="0">
                          <a:effectLst/>
                          <a:latin typeface="Roboto" charset="0"/>
                          <a:ea typeface="Roboto" charset="0"/>
                          <a:cs typeface="Arial" panose="020B0604020202020204" pitchFamily="34" charset="0"/>
                        </a:rPr>
                        <a:t>up to 16Mbps</a:t>
                      </a:r>
                      <a:endParaRPr lang="en-US" sz="1200" dirty="0">
                        <a:effectLst/>
                        <a:latin typeface="Roboto" charset="0"/>
                        <a:ea typeface="Roboto" charset="0"/>
                        <a:cs typeface="Arial" panose="020B0604020202020204" pitchFamily="34" charset="0"/>
                      </a:endParaRPr>
                    </a:p>
                  </a:txBody>
                  <a:tcPr marL="9525" marR="9525" marT="9525" marB="9525" anchor="ctr">
                    <a:solidFill>
                      <a:srgbClr val="E3F2E2"/>
                    </a:solidFill>
                  </a:tcPr>
                </a:tc>
              </a:tr>
              <a:tr h="730118">
                <a:tc vMerge="1">
                  <a:tcPr marL="0" marR="0" marT="0" marB="0" anchor="ctr">
                    <a:solidFill>
                      <a:srgbClr val="E3F2E2"/>
                    </a:solidFill>
                  </a:tcPr>
                </a:tc>
                <a:tc>
                  <a:txBody>
                    <a:bodyPr/>
                    <a:lstStyle/>
                    <a:p>
                      <a:pPr marL="107950" algn="ctr">
                        <a:lnSpc>
                          <a:spcPct val="100000"/>
                        </a:lnSpc>
                        <a:spcBef>
                          <a:spcPts val="300"/>
                        </a:spcBef>
                        <a:spcAft>
                          <a:spcPts val="300"/>
                        </a:spcAft>
                        <a:buNone/>
                      </a:pPr>
                      <a:r>
                        <a:rPr lang="en-US" sz="1200" dirty="0">
                          <a:effectLst/>
                          <a:latin typeface="Roboto" charset="0"/>
                          <a:ea typeface="Roboto" charset="0"/>
                          <a:cs typeface="Arial" panose="020B0604020202020204" pitchFamily="34" charset="0"/>
                        </a:rPr>
                        <a:t>NDI</a:t>
                      </a:r>
                      <a:endParaRPr lang="en-US" sz="1200" dirty="0">
                        <a:effectLst/>
                        <a:latin typeface="Roboto" charset="0"/>
                        <a:ea typeface="Roboto" charset="0"/>
                        <a:cs typeface="Arial" panose="020B0604020202020204" pitchFamily="34" charset="0"/>
                      </a:endParaRPr>
                    </a:p>
                  </a:txBody>
                  <a:tcPr marL="9525" marR="9525" marT="9525" marB="9525" anchor="ctr">
                    <a:solidFill>
                      <a:srgbClr val="E3F2E2"/>
                    </a:solidFill>
                  </a:tcPr>
                </a:tc>
                <a:tc>
                  <a:txBody>
                    <a:bodyPr/>
                    <a:lstStyle/>
                    <a:p>
                      <a:pPr marL="107950">
                        <a:lnSpc>
                          <a:spcPct val="100000"/>
                        </a:lnSpc>
                        <a:spcBef>
                          <a:spcPts val="300"/>
                        </a:spcBef>
                        <a:spcAft>
                          <a:spcPts val="300"/>
                        </a:spcAft>
                        <a:buNone/>
                      </a:pPr>
                      <a:r>
                        <a:rPr lang="en-US" sz="1200" dirty="0">
                          <a:effectLst/>
                          <a:latin typeface="Roboto" charset="0"/>
                          <a:ea typeface="Roboto" charset="0"/>
                          <a:cs typeface="Arial" panose="020B0604020202020204" pitchFamily="34" charset="0"/>
                        </a:rPr>
                        <a:t>Main stream: Timing up to 4K@30Hz</a:t>
                      </a:r>
                      <a:endParaRPr lang="en-US" sz="1200" dirty="0">
                        <a:effectLst/>
                        <a:latin typeface="Roboto" charset="0"/>
                        <a:ea typeface="Roboto" charset="0"/>
                        <a:cs typeface="Arial" panose="020B0604020202020204" pitchFamily="34" charset="0"/>
                      </a:endParaRPr>
                    </a:p>
                    <a:p>
                      <a:pPr marL="107950" indent="970280">
                        <a:lnSpc>
                          <a:spcPct val="100000"/>
                        </a:lnSpc>
                        <a:spcBef>
                          <a:spcPts val="300"/>
                        </a:spcBef>
                        <a:spcAft>
                          <a:spcPts val="300"/>
                        </a:spcAft>
                        <a:buNone/>
                      </a:pPr>
                      <a:r>
                        <a:rPr lang="en-US" sz="1200" dirty="0">
                          <a:effectLst/>
                          <a:latin typeface="Roboto" charset="0"/>
                          <a:ea typeface="Roboto" charset="0"/>
                          <a:cs typeface="Arial" panose="020B0604020202020204" pitchFamily="34" charset="0"/>
                        </a:rPr>
                        <a:t>Bitrate up to 20Mbps</a:t>
                      </a:r>
                      <a:endParaRPr lang="en-US" sz="1200" dirty="0">
                        <a:effectLst/>
                        <a:latin typeface="Roboto" charset="0"/>
                        <a:ea typeface="Roboto" charset="0"/>
                        <a:cs typeface="Arial" panose="020B0604020202020204" pitchFamily="34" charset="0"/>
                      </a:endParaRPr>
                    </a:p>
                    <a:p>
                      <a:pPr marL="107950">
                        <a:lnSpc>
                          <a:spcPct val="100000"/>
                        </a:lnSpc>
                        <a:spcBef>
                          <a:spcPts val="300"/>
                        </a:spcBef>
                        <a:spcAft>
                          <a:spcPts val="300"/>
                        </a:spcAft>
                        <a:buNone/>
                      </a:pPr>
                      <a:r>
                        <a:rPr lang="en-US" sz="1200" dirty="0">
                          <a:effectLst/>
                          <a:latin typeface="Roboto" charset="0"/>
                          <a:ea typeface="Roboto" charset="0"/>
                          <a:cs typeface="Arial" panose="020B0604020202020204" pitchFamily="34" charset="0"/>
                        </a:rPr>
                        <a:t>Preview stream: CIF@30</a:t>
                      </a:r>
                      <a:endParaRPr lang="en-US" sz="1200" dirty="0">
                        <a:effectLst/>
                        <a:latin typeface="Roboto" charset="0"/>
                        <a:ea typeface="Roboto" charset="0"/>
                        <a:cs typeface="Arial" panose="020B0604020202020204" pitchFamily="34" charset="0"/>
                      </a:endParaRPr>
                    </a:p>
                    <a:p>
                      <a:pPr marL="107950" indent="970280">
                        <a:lnSpc>
                          <a:spcPct val="100000"/>
                        </a:lnSpc>
                        <a:spcBef>
                          <a:spcPts val="300"/>
                        </a:spcBef>
                        <a:spcAft>
                          <a:spcPts val="300"/>
                        </a:spcAft>
                        <a:buNone/>
                      </a:pPr>
                      <a:r>
                        <a:rPr lang="en-US" sz="1200" dirty="0">
                          <a:effectLst/>
                          <a:latin typeface="Roboto" charset="0"/>
                          <a:ea typeface="Roboto" charset="0"/>
                          <a:cs typeface="Arial" panose="020B0604020202020204" pitchFamily="34" charset="0"/>
                        </a:rPr>
                        <a:t>Bitrate up to 512Kbps</a:t>
                      </a:r>
                      <a:endParaRPr lang="en-US" sz="1200" dirty="0">
                        <a:effectLst/>
                        <a:latin typeface="Roboto" charset="0"/>
                        <a:ea typeface="Roboto" charset="0"/>
                        <a:cs typeface="Arial" panose="020B0604020202020204" pitchFamily="34" charset="0"/>
                      </a:endParaRPr>
                    </a:p>
                  </a:txBody>
                  <a:tcPr marL="9525" marR="9525" marT="9525" marB="9525" anchor="ctr">
                    <a:solidFill>
                      <a:srgbClr val="E3F2E2"/>
                    </a:solidFill>
                  </a:tcPr>
                </a:tc>
              </a:tr>
              <a:tr h="260282">
                <a:tc gridSpan="2">
                  <a:txBody>
                    <a:bodyPr/>
                    <a:lstStyle/>
                    <a:p>
                      <a:pPr marL="107950" algn="ctr">
                        <a:spcAft>
                          <a:spcPts val="600"/>
                        </a:spcAft>
                        <a:buNone/>
                      </a:pPr>
                      <a:r>
                        <a:rPr lang="en-US" sz="1200" b="1" dirty="0">
                          <a:solidFill>
                            <a:srgbClr val="000000"/>
                          </a:solidFill>
                          <a:effectLst/>
                          <a:latin typeface="Roboto" charset="0"/>
                          <a:ea typeface="Roboto" charset="0"/>
                          <a:cs typeface="Roboto Lt" pitchFamily="2" charset="0"/>
                        </a:rPr>
                        <a:t>NDI Protocol</a:t>
                      </a:r>
                      <a:endParaRPr lang="en-US" sz="1200" b="1" dirty="0">
                        <a:solidFill>
                          <a:srgbClr val="000000"/>
                        </a:solidFill>
                        <a:effectLst/>
                        <a:latin typeface="Roboto" charset="0"/>
                        <a:ea typeface="Roboto" charset="0"/>
                        <a:cs typeface="Roboto Lt" pitchFamily="2" charset="0"/>
                      </a:endParaRPr>
                    </a:p>
                  </a:txBody>
                  <a:tcPr marL="0" marR="0" marT="0" marB="0" anchor="ctr">
                    <a:solidFill>
                      <a:srgbClr val="D6E5D5"/>
                    </a:solidFill>
                  </a:tcPr>
                </a:tc>
                <a:tc hMerge="1">
                  <a:tcPr marL="9525" marR="9525" marT="9525" marB="9525" anchor="ctr">
                    <a:solidFill>
                      <a:srgbClr val="D6E5D5"/>
                    </a:solidFill>
                  </a:tcPr>
                </a:tc>
                <a:tc>
                  <a:txBody>
                    <a:bodyPr/>
                    <a:lstStyle/>
                    <a:p>
                      <a:pPr marL="107950">
                        <a:lnSpc>
                          <a:spcPct val="100000"/>
                        </a:lnSpc>
                        <a:spcAft>
                          <a:spcPts val="0"/>
                        </a:spcAft>
                        <a:buNone/>
                      </a:pPr>
                      <a:r>
                        <a:rPr lang="en-US" sz="1200" dirty="0">
                          <a:solidFill>
                            <a:srgbClr val="000000"/>
                          </a:solidFill>
                          <a:effectLst/>
                          <a:latin typeface="Roboto" charset="0"/>
                          <a:ea typeface="Roboto" charset="0"/>
                          <a:cs typeface="Roboto Lt" pitchFamily="2" charset="0"/>
                        </a:rPr>
                        <a:t>NDI HX (NDI 6)</a:t>
                      </a:r>
                      <a:endParaRPr lang="en-US" sz="1200" dirty="0">
                        <a:solidFill>
                          <a:srgbClr val="000000"/>
                        </a:solidFill>
                        <a:effectLst/>
                        <a:latin typeface="Roboto" charset="0"/>
                        <a:ea typeface="Roboto" charset="0"/>
                        <a:cs typeface="Roboto Lt" pitchFamily="2" charset="0"/>
                      </a:endParaRPr>
                    </a:p>
                  </a:txBody>
                  <a:tcPr marL="9525" marR="9525" marT="9525" marB="9525" anchor="ctr">
                    <a:solidFill>
                      <a:srgbClr val="D6E5D5"/>
                    </a:solidFill>
                  </a:tcPr>
                </a:tc>
              </a:tr>
              <a:tr h="387492">
                <a:tc gridSpan="2">
                  <a:txBody>
                    <a:bodyPr/>
                    <a:lstStyle/>
                    <a:p>
                      <a:pPr marL="107950" algn="ctr">
                        <a:spcAft>
                          <a:spcPts val="600"/>
                        </a:spcAft>
                        <a:buNone/>
                      </a:pPr>
                      <a:r>
                        <a:rPr lang="en-US" sz="1200" b="1" dirty="0">
                          <a:solidFill>
                            <a:srgbClr val="000000"/>
                          </a:solidFill>
                          <a:effectLst/>
                          <a:latin typeface="Roboto" charset="0"/>
                          <a:ea typeface="Roboto" charset="0"/>
                          <a:cs typeface="Roboto Lt" pitchFamily="2" charset="0"/>
                        </a:rPr>
                        <a:t>LAN</a:t>
                      </a:r>
                      <a:endParaRPr lang="en-US" sz="1200" b="1" dirty="0">
                        <a:solidFill>
                          <a:srgbClr val="000000"/>
                        </a:solidFill>
                        <a:effectLst/>
                        <a:latin typeface="Roboto" charset="0"/>
                        <a:ea typeface="Roboto" charset="0"/>
                        <a:cs typeface="Roboto Lt" pitchFamily="2" charset="0"/>
                      </a:endParaRPr>
                    </a:p>
                  </a:txBody>
                  <a:tcPr marL="0" marR="0" marT="0" marB="0" anchor="ctr">
                    <a:solidFill>
                      <a:srgbClr val="D6E5D5"/>
                    </a:solidFill>
                  </a:tcPr>
                </a:tc>
                <a:tc hMerge="1">
                  <a:tcPr marL="0" marR="0" marT="0" marB="0" anchor="ctr">
                    <a:solidFill>
                      <a:srgbClr val="D6E5D5"/>
                    </a:solidFill>
                  </a:tcPr>
                </a:tc>
                <a:tc>
                  <a:txBody>
                    <a:bodyPr/>
                    <a:lstStyle/>
                    <a:p>
                      <a:pPr marL="107950">
                        <a:lnSpc>
                          <a:spcPct val="100000"/>
                        </a:lnSpc>
                        <a:spcAft>
                          <a:spcPts val="0"/>
                        </a:spcAft>
                        <a:buNone/>
                      </a:pPr>
                      <a:r>
                        <a:rPr lang="en-US" sz="1200" dirty="0">
                          <a:solidFill>
                            <a:srgbClr val="000000"/>
                          </a:solidFill>
                          <a:effectLst/>
                          <a:latin typeface="Roboto" charset="0"/>
                          <a:ea typeface="Roboto" charset="0"/>
                          <a:cs typeface="Roboto Lt" pitchFamily="2" charset="0"/>
                        </a:rPr>
                        <a:t>1x LAN: 8-pin RJ-45 Female | 10/100/1000Base-T | PoE 802.3af</a:t>
                      </a:r>
                      <a:endParaRPr lang="en-US" sz="1200" dirty="0">
                        <a:solidFill>
                          <a:srgbClr val="000000"/>
                        </a:solidFill>
                        <a:effectLst/>
                        <a:latin typeface="Roboto" charset="0"/>
                        <a:ea typeface="Roboto" charset="0"/>
                        <a:cs typeface="Roboto Lt" pitchFamily="2" charset="0"/>
                      </a:endParaRPr>
                    </a:p>
                  </a:txBody>
                  <a:tcPr marL="0" marR="0" marT="0" marB="0" anchor="ctr">
                    <a:solidFill>
                      <a:srgbClr val="D6E5D5"/>
                    </a:solidFill>
                  </a:tcPr>
                </a:tc>
              </a:tr>
              <a:tr h="236500">
                <a:tc gridSpan="2">
                  <a:txBody>
                    <a:bodyPr/>
                    <a:lstStyle/>
                    <a:p>
                      <a:pPr marL="107950" algn="ctr">
                        <a:spcAft>
                          <a:spcPts val="600"/>
                        </a:spcAft>
                        <a:buNone/>
                      </a:pPr>
                      <a:r>
                        <a:rPr lang="en-US" sz="1200" b="1" dirty="0">
                          <a:solidFill>
                            <a:srgbClr val="000000"/>
                          </a:solidFill>
                          <a:effectLst/>
                          <a:latin typeface="Roboto" charset="0"/>
                          <a:ea typeface="Roboto" charset="0"/>
                          <a:cs typeface="Roboto Lt" pitchFamily="2" charset="0"/>
                        </a:rPr>
                        <a:t>Control Methods</a:t>
                      </a:r>
                      <a:endParaRPr lang="en-US" sz="1200" b="1" dirty="0">
                        <a:solidFill>
                          <a:srgbClr val="000000"/>
                        </a:solidFill>
                        <a:effectLst/>
                        <a:latin typeface="Roboto" charset="0"/>
                        <a:ea typeface="Roboto" charset="0"/>
                        <a:cs typeface="Roboto Lt" pitchFamily="2" charset="0"/>
                      </a:endParaRPr>
                    </a:p>
                  </a:txBody>
                  <a:tcPr marL="0" marR="0" marT="0" marB="0" anchor="ctr">
                    <a:solidFill>
                      <a:srgbClr val="E3F2E2"/>
                    </a:solidFill>
                  </a:tcPr>
                </a:tc>
                <a:tc hMerge="1">
                  <a:tcPr marL="0" marR="0" marT="0" marB="0" anchor="ctr">
                    <a:solidFill>
                      <a:srgbClr val="E3F2E2"/>
                    </a:solidFill>
                  </a:tcPr>
                </a:tc>
                <a:tc>
                  <a:txBody>
                    <a:bodyPr/>
                    <a:lstStyle/>
                    <a:p>
                      <a:pPr marL="107950">
                        <a:lnSpc>
                          <a:spcPct val="100000"/>
                        </a:lnSpc>
                        <a:spcAft>
                          <a:spcPts val="0"/>
                        </a:spcAft>
                        <a:buNone/>
                      </a:pPr>
                      <a:r>
                        <a:rPr lang="en-US" sz="1200" dirty="0">
                          <a:solidFill>
                            <a:srgbClr val="000000"/>
                          </a:solidFill>
                          <a:effectLst/>
                          <a:latin typeface="Roboto" charset="0"/>
                          <a:ea typeface="Roboto" charset="0"/>
                          <a:cs typeface="Roboto Lt" pitchFamily="2" charset="0"/>
                        </a:rPr>
                        <a:t>Web UI | Telnet | Telnet TLS | SSH </a:t>
                      </a:r>
                      <a:endParaRPr lang="en-US" sz="1200" dirty="0">
                        <a:solidFill>
                          <a:srgbClr val="000000"/>
                        </a:solidFill>
                        <a:effectLst/>
                        <a:latin typeface="Roboto" charset="0"/>
                        <a:ea typeface="Roboto" charset="0"/>
                        <a:cs typeface="Roboto Lt" pitchFamily="2" charset="0"/>
                      </a:endParaRPr>
                    </a:p>
                  </a:txBody>
                  <a:tcPr marL="0" marR="0" marT="0" marB="0" anchor="ctr">
                    <a:solidFill>
                      <a:srgbClr val="E3F2E2"/>
                    </a:solidFill>
                  </a:tcPr>
                </a:tc>
              </a:tr>
            </a:tbl>
          </a:graphicData>
        </a:graphic>
      </p:graphicFrame>
      <p:sp>
        <p:nvSpPr>
          <p:cNvPr id="4" name="文本框 3"/>
          <p:cNvSpPr txBox="1"/>
          <p:nvPr/>
        </p:nvSpPr>
        <p:spPr>
          <a:xfrm>
            <a:off x="7295559" y="1901190"/>
            <a:ext cx="4597400" cy="2899410"/>
          </a:xfrm>
          <a:prstGeom prst="rect">
            <a:avLst/>
          </a:prstGeom>
          <a:noFill/>
        </p:spPr>
        <p:txBody>
          <a:bodyPr wrap="square" rtlCol="0">
            <a:noAutofit/>
          </a:bodyPr>
          <a:lstStyle/>
          <a:p>
            <a:pPr algn="l">
              <a:buClrTx/>
              <a:buSzTx/>
              <a:buFontTx/>
            </a:pPr>
            <a:r>
              <a:rPr lang="en-US" altLang="zh-CN" b="1" dirty="0">
                <a:solidFill>
                  <a:schemeClr val="bg2">
                    <a:lumMod val="25000"/>
                  </a:schemeClr>
                </a:solidFill>
                <a:latin typeface="Roboto" charset="0"/>
                <a:ea typeface="Roboto" charset="0"/>
              </a:rPr>
              <a:t>What’s in the Box?</a:t>
            </a:r>
            <a:endParaRPr lang="en-US" altLang="zh-CN" b="1" dirty="0">
              <a:solidFill>
                <a:schemeClr val="bg2">
                  <a:lumMod val="25000"/>
                </a:schemeClr>
              </a:solidFill>
              <a:latin typeface="Roboto" charset="0"/>
              <a:ea typeface="Roboto" charset="0"/>
            </a:endParaRPr>
          </a:p>
          <a:p>
            <a:pPr>
              <a:lnSpc>
                <a:spcPts val="900"/>
              </a:lnSpc>
            </a:pPr>
            <a:endParaRPr lang="zh-CN" altLang="en-US" sz="1600" dirty="0">
              <a:latin typeface="Roboto" charset="0"/>
              <a:cs typeface="Arial" panose="020B0604020202020204" pitchFamily="34" charset="0"/>
            </a:endParaRPr>
          </a:p>
          <a:p>
            <a:pPr marL="285750" indent="-285750">
              <a:buFont typeface="Wingdings" panose="05000000000000000000" charset="0"/>
              <a:buChar char="l"/>
            </a:pPr>
            <a:r>
              <a:rPr lang="zh-CN" altLang="en-US" sz="1600" dirty="0">
                <a:solidFill>
                  <a:schemeClr val="tx1">
                    <a:lumMod val="75000"/>
                    <a:lumOff val="25000"/>
                  </a:schemeClr>
                </a:solidFill>
                <a:latin typeface="Roboto" charset="0"/>
                <a:cs typeface="Arial" panose="020B0604020202020204" pitchFamily="34" charset="0"/>
              </a:rPr>
              <a:t>1x </a:t>
            </a:r>
            <a:r>
              <a:rPr lang="en-US" altLang="zh-CN" sz="1600" dirty="0">
                <a:solidFill>
                  <a:schemeClr val="tx1">
                    <a:lumMod val="75000"/>
                    <a:lumOff val="25000"/>
                  </a:schemeClr>
                </a:solidFill>
                <a:latin typeface="Roboto" charset="0"/>
                <a:cs typeface="Arial" panose="020B0604020202020204" pitchFamily="34" charset="0"/>
              </a:rPr>
              <a:t>NHD-128-NDI-TRX</a:t>
            </a:r>
            <a:endParaRPr lang="en-US" altLang="zh-CN" sz="1600" dirty="0">
              <a:solidFill>
                <a:schemeClr val="tx1">
                  <a:lumMod val="75000"/>
                  <a:lumOff val="25000"/>
                </a:schemeClr>
              </a:solidFill>
              <a:latin typeface="Roboto" charset="0"/>
              <a:cs typeface="Arial" panose="020B0604020202020204" pitchFamily="34" charset="0"/>
            </a:endParaRPr>
          </a:p>
          <a:p>
            <a:pPr marL="285750" indent="-285750">
              <a:buFont typeface="Wingdings" panose="05000000000000000000" charset="0"/>
              <a:buChar char="l"/>
            </a:pPr>
            <a:r>
              <a:rPr lang="en-US" sz="1600" dirty="0">
                <a:solidFill>
                  <a:schemeClr val="tx1">
                    <a:lumMod val="75000"/>
                    <a:lumOff val="25000"/>
                  </a:schemeClr>
                </a:solidFill>
                <a:latin typeface="Roboto" charset="0"/>
                <a:cs typeface="Arial" panose="020B0604020202020204" pitchFamily="34" charset="0"/>
              </a:rPr>
              <a:t>4x Wall Plastic Mounting Ears </a:t>
            </a:r>
            <a:endParaRPr lang="en-US" sz="1600" dirty="0">
              <a:solidFill>
                <a:schemeClr val="tx1">
                  <a:lumMod val="75000"/>
                  <a:lumOff val="25000"/>
                </a:schemeClr>
              </a:solidFill>
              <a:latin typeface="Roboto" charset="0"/>
              <a:cs typeface="Arial" panose="020B0604020202020204" pitchFamily="34" charset="0"/>
            </a:endParaRPr>
          </a:p>
          <a:p>
            <a:pPr marL="285750" indent="-285750">
              <a:buFont typeface="Wingdings" panose="05000000000000000000" charset="0"/>
              <a:buChar char="l"/>
            </a:pPr>
            <a:r>
              <a:rPr lang="en-US" sz="1600" dirty="0">
                <a:solidFill>
                  <a:schemeClr val="tx1">
                    <a:lumMod val="75000"/>
                    <a:lumOff val="25000"/>
                  </a:schemeClr>
                </a:solidFill>
                <a:latin typeface="Roboto" charset="0"/>
                <a:cs typeface="Arial" panose="020B0604020202020204" pitchFamily="34" charset="0"/>
              </a:rPr>
              <a:t>2x Rack Mounting Ears for NHD-000-RACK4 vertical installation.</a:t>
            </a:r>
            <a:endParaRPr lang="en-US" sz="1600" dirty="0">
              <a:solidFill>
                <a:schemeClr val="tx1">
                  <a:lumMod val="75000"/>
                  <a:lumOff val="25000"/>
                </a:schemeClr>
              </a:solidFill>
              <a:latin typeface="Roboto" charset="0"/>
              <a:cs typeface="Arial" panose="020B0604020202020204" pitchFamily="34" charset="0"/>
            </a:endParaRPr>
          </a:p>
          <a:p>
            <a:pPr marL="285750" indent="-285750">
              <a:buFont typeface="Wingdings" panose="05000000000000000000" charset="0"/>
              <a:buChar char="l"/>
            </a:pPr>
            <a:endParaRPr lang="en-US" altLang="zh-CN" sz="1600" dirty="0">
              <a:solidFill>
                <a:schemeClr val="tx1">
                  <a:lumMod val="75000"/>
                  <a:lumOff val="25000"/>
                </a:schemeClr>
              </a:solidFill>
              <a:latin typeface="Roboto" charset="0"/>
              <a:cs typeface="Arial" panose="020B0604020202020204" pitchFamily="34" charset="0"/>
            </a:endParaRPr>
          </a:p>
          <a:p>
            <a:pPr marL="285750" indent="-285750">
              <a:buFont typeface="Wingdings" panose="05000000000000000000" charset="0"/>
              <a:buChar char="l"/>
            </a:pPr>
            <a:endParaRPr lang="zh-CN" altLang="en-US" sz="1600" dirty="0">
              <a:solidFill>
                <a:schemeClr val="tx1">
                  <a:lumMod val="75000"/>
                  <a:lumOff val="25000"/>
                </a:schemeClr>
              </a:solidFill>
              <a:latin typeface="Roboto" charset="0"/>
              <a:cs typeface="Arial" panose="020B0604020202020204" pitchFamily="34" charset="0"/>
            </a:endParaRPr>
          </a:p>
        </p:txBody>
      </p:sp>
      <p:pic>
        <p:nvPicPr>
          <p:cNvPr id="6" name="Google Shape;82;p1"/>
          <p:cNvPicPr preferRelativeResize="0"/>
          <p:nvPr/>
        </p:nvPicPr>
        <p:blipFill>
          <a:blip r:embed="rId4"/>
          <a:stretch>
            <a:fillRect/>
          </a:stretch>
        </p:blipFill>
        <p:spPr>
          <a:xfrm>
            <a:off x="9652104" y="6056488"/>
            <a:ext cx="2241019" cy="440200"/>
          </a:xfrm>
          <a:prstGeom prst="rect">
            <a:avLst/>
          </a:prstGeom>
          <a:noFill/>
          <a:ln>
            <a:noFill/>
          </a:ln>
        </p:spPr>
      </p:pic>
      <p:sp>
        <p:nvSpPr>
          <p:cNvPr id="9"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Tree>
    <p:custDataLst>
      <p:tags r:id="rId5"/>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5621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Typical Connection &amp; Applications</a:t>
            </a:r>
            <a:endParaRPr lang="en-US" sz="2800" b="1" dirty="0">
              <a:solidFill>
                <a:schemeClr val="lt1"/>
              </a:solidFill>
              <a:uFillTx/>
              <a:latin typeface="Montserrat" pitchFamily="2" charset="0"/>
              <a:ea typeface="微软雅黑" panose="020B0503020204020204" pitchFamily="34" charset="-122"/>
              <a:sym typeface="Roboto"/>
            </a:endParaRPr>
          </a:p>
        </p:txBody>
      </p:sp>
      <p:sp>
        <p:nvSpPr>
          <p:cNvPr id="14" name="Title 6"/>
          <p:cNvSpPr txBox="1"/>
          <p:nvPr>
            <p:custDataLst>
              <p:tags r:id="rId3"/>
            </p:custDataLst>
          </p:nvPr>
        </p:nvSpPr>
        <p:spPr>
          <a:xfrm>
            <a:off x="658450" y="1205485"/>
            <a:ext cx="11209328" cy="75882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defTabSz="914400">
              <a:lnSpc>
                <a:spcPct val="100000"/>
              </a:lnSpc>
              <a:spcBef>
                <a:spcPts val="0"/>
              </a:spcBef>
              <a:buClrTx/>
              <a:buSzTx/>
              <a:buFontTx/>
            </a:pPr>
            <a:r>
              <a:rPr lang="en-US" altLang="zh-CN" sz="2000" b="1" spc="0" dirty="0">
                <a:solidFill>
                  <a:schemeClr val="tx1">
                    <a:lumMod val="75000"/>
                    <a:lumOff val="25000"/>
                  </a:schemeClr>
                </a:solidFill>
                <a:latin typeface="Roboto" charset="0"/>
                <a:ea typeface="Roboto" charset="0"/>
                <a:cs typeface="Arial" panose="020B0604020202020204" pitchFamily="34" charset="0"/>
                <a:sym typeface="+mn-ea"/>
              </a:rPr>
              <a:t>The NHD-128-NDI-TRX supports bi-directional conversion between NetworkHD and NDI streams. It is ideal for digital courtrooms, lecture halls, and other environments requiring seamless integration between the two systems. Please refer to the typical connection diagram below.</a:t>
            </a:r>
            <a:endParaRPr lang="en-US" altLang="zh-CN" sz="2000" b="1" spc="0" dirty="0">
              <a:solidFill>
                <a:schemeClr val="tx1">
                  <a:lumMod val="75000"/>
                  <a:lumOff val="25000"/>
                </a:schemeClr>
              </a:solidFill>
              <a:latin typeface="Roboto" charset="0"/>
              <a:ea typeface="Roboto" charset="0"/>
              <a:cs typeface="Arial" panose="020B0604020202020204" pitchFamily="34" charset="0"/>
              <a:sym typeface="+mn-ea"/>
            </a:endParaRPr>
          </a:p>
          <a:p>
            <a:pPr lvl="0" algn="l" defTabSz="914400">
              <a:lnSpc>
                <a:spcPct val="100000"/>
              </a:lnSpc>
              <a:spcBef>
                <a:spcPts val="0"/>
              </a:spcBef>
              <a:buClrTx/>
              <a:buSzTx/>
              <a:buFontTx/>
            </a:pPr>
            <a:endParaRPr lang="en-US" altLang="zh-CN" sz="1600" b="1" spc="0" dirty="0">
              <a:solidFill>
                <a:schemeClr val="tx1">
                  <a:lumMod val="75000"/>
                  <a:lumOff val="25000"/>
                </a:schemeClr>
              </a:solidFill>
              <a:latin typeface="Roboto" charset="0"/>
              <a:ea typeface="Roboto" charset="0"/>
              <a:cs typeface="Arial" panose="020B0604020202020204" pitchFamily="34" charset="0"/>
              <a:sym typeface="+mn-ea"/>
            </a:endParaRPr>
          </a:p>
          <a:p>
            <a:pPr lvl="0" algn="l" defTabSz="914400">
              <a:lnSpc>
                <a:spcPct val="100000"/>
              </a:lnSpc>
              <a:spcBef>
                <a:spcPts val="0"/>
              </a:spcBef>
              <a:buClrTx/>
              <a:buSzTx/>
              <a:buFontTx/>
            </a:pPr>
            <a:endParaRPr lang="en-US" altLang="zh-CN" sz="1600" b="1" spc="0" dirty="0">
              <a:solidFill>
                <a:schemeClr val="tx1">
                  <a:lumMod val="75000"/>
                  <a:lumOff val="25000"/>
                </a:schemeClr>
              </a:solidFill>
              <a:latin typeface="Roboto" charset="0"/>
              <a:ea typeface="Roboto" charset="0"/>
              <a:cs typeface="Arial" panose="020B0604020202020204" pitchFamily="34" charset="0"/>
              <a:sym typeface="+mn-ea"/>
            </a:endParaRPr>
          </a:p>
        </p:txBody>
      </p:sp>
      <p:pic>
        <p:nvPicPr>
          <p:cNvPr id="4" name="图片 3"/>
          <p:cNvPicPr>
            <a:picLocks noChangeAspect="1"/>
          </p:cNvPicPr>
          <p:nvPr/>
        </p:nvPicPr>
        <p:blipFill>
          <a:blip r:embed="rId4"/>
          <a:stretch>
            <a:fillRect/>
          </a:stretch>
        </p:blipFill>
        <p:spPr>
          <a:xfrm>
            <a:off x="1775976" y="2103375"/>
            <a:ext cx="8470883" cy="4415471"/>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ustDataLst>
      <p:tags r:id="rId5"/>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
          <p:cNvSpPr txBox="1"/>
          <p:nvPr>
            <p:custDataLst>
              <p:tags r:id="rId1"/>
            </p:custDataLst>
          </p:nvPr>
        </p:nvSpPr>
        <p:spPr>
          <a:xfrm>
            <a:off x="284480" y="1659255"/>
            <a:ext cx="4311650" cy="424561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00000"/>
              </a:lnSpc>
              <a:spcBef>
                <a:spcPts val="0"/>
              </a:spcBef>
              <a:spcAft>
                <a:spcPts val="800"/>
              </a:spcAft>
              <a:buSzPct val="100000"/>
              <a:buFont typeface="Wingdings" panose="05000000000000000000" charset="0"/>
              <a:buNone/>
            </a:pPr>
            <a:r>
              <a:rPr sz="1800" b="1" u="sng"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Application Scenario 1</a:t>
            </a: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b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lang="en-US" sz="20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Lecture Hall</a:t>
            </a:r>
            <a:endParaRPr lang="en-US"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285750" algn="just" fontAlgn="ctr">
              <a:lnSpc>
                <a:spcPct val="100000"/>
              </a:lnSpc>
              <a:spcBef>
                <a:spcPts val="0"/>
              </a:spcBef>
              <a:spcAft>
                <a:spcPts val="800"/>
              </a:spcAft>
              <a:buSzPct val="100000"/>
            </a:pPr>
            <a:r>
              <a:rPr lang="en-US" sz="1400" dirty="0">
                <a:solidFill>
                  <a:schemeClr val="bg2">
                    <a:lumMod val="25000"/>
                  </a:schemeClr>
                </a:solidFill>
                <a:latin typeface="Roboto" charset="0"/>
                <a:ea typeface="Roboto" charset="0"/>
                <a:sym typeface="+mn-ea"/>
              </a:rPr>
              <a:t>Deliver a comprehensive remote teaching solution that connects in-class and online students. Both groups can simultaneously view shared courseware and live camera feeds of instructors and classmates, creating an engaging and immersive learning experience across locations.</a:t>
            </a:r>
            <a:endParaRPr lang="en-US" sz="1400" dirty="0">
              <a:solidFill>
                <a:schemeClr val="bg2">
                  <a:lumMod val="25000"/>
                </a:schemeClr>
              </a:solidFill>
              <a:latin typeface="Roboto" charset="0"/>
              <a:ea typeface="Roboto" charset="0"/>
              <a:sym typeface="+mn-ea"/>
            </a:endParaRPr>
          </a:p>
          <a:p>
            <a:pPr lvl="0" indent="-285750" algn="l" fontAlgn="ctr">
              <a:lnSpc>
                <a:spcPct val="100000"/>
              </a:lnSpc>
              <a:spcBef>
                <a:spcPts val="0"/>
              </a:spcBef>
              <a:spcAft>
                <a:spcPts val="800"/>
              </a:spcAft>
              <a:buClrTx/>
              <a:buSzTx/>
              <a:buFont typeface="Wingdings" panose="05000000000000000000" charset="0"/>
            </a:pP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Key Benefits Include:</a:t>
            </a:r>
            <a:endPar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285750" algn="l" fontAlgn="ctr">
              <a:lnSpc>
                <a:spcPts val="1500"/>
              </a:lnSpc>
              <a:spcBef>
                <a:spcPts val="0"/>
              </a:spcBef>
              <a:spcAft>
                <a:spcPts val="800"/>
              </a:spcAft>
              <a:buClrTx/>
              <a:buSzTx/>
              <a:buFont typeface="Wingdings" panose="05000000000000000000" charset="0"/>
              <a:buChar char="l"/>
            </a:pPr>
            <a:r>
              <a:rPr lang="en-US" altLang="zh-CN" sz="1400" b="1" dirty="0">
                <a:solidFill>
                  <a:schemeClr val="bg2">
                    <a:lumMod val="25000"/>
                  </a:schemeClr>
                </a:solidFill>
                <a:latin typeface="Roboto" charset="0"/>
                <a:ea typeface="Roboto" charset="0"/>
              </a:rPr>
              <a:t>Multiview </a:t>
            </a:r>
            <a:r>
              <a:rPr sz="1400" b="1">
                <a:solidFill>
                  <a:schemeClr val="bg2">
                    <a:lumMod val="25000"/>
                  </a:schemeClr>
                </a:solidFill>
                <a:latin typeface="Roboto" charset="0"/>
                <a:ea typeface="Roboto" charset="0"/>
                <a:sym typeface="+mn-ea"/>
              </a:rPr>
              <a:t>Function</a:t>
            </a:r>
            <a:r>
              <a:rPr lang="en-US" altLang="zh-CN" sz="1400" b="1" dirty="0">
                <a:solidFill>
                  <a:schemeClr val="bg2">
                    <a:lumMod val="25000"/>
                  </a:schemeClr>
                </a:solidFill>
                <a:latin typeface="Roboto" charset="0"/>
                <a:ea typeface="Roboto" charset="0"/>
              </a:rPr>
              <a:t>: </a:t>
            </a:r>
            <a:r>
              <a:rPr lang="en-US" sz="1400" dirty="0">
                <a:solidFill>
                  <a:schemeClr val="bg2">
                    <a:lumMod val="25000"/>
                  </a:schemeClr>
                </a:solidFill>
                <a:latin typeface="Roboto" charset="0"/>
                <a:ea typeface="Roboto" charset="0"/>
              </a:rPr>
              <a:t>Present camera feeds and course content on the same screen to provide a complete view of the lecture environment.</a:t>
            </a:r>
            <a:endParaRPr lang="en-US" sz="1400" dirty="0">
              <a:solidFill>
                <a:schemeClr val="bg2">
                  <a:lumMod val="25000"/>
                </a:schemeClr>
              </a:solidFill>
              <a:latin typeface="Roboto" charset="0"/>
              <a:ea typeface="Roboto" charset="0"/>
            </a:endParaRPr>
          </a:p>
          <a:p>
            <a:pPr lvl="0" indent="-285750" fontAlgn="ctr">
              <a:lnSpc>
                <a:spcPts val="1500"/>
              </a:lnSpc>
              <a:spcBef>
                <a:spcPts val="0"/>
              </a:spcBef>
              <a:spcAft>
                <a:spcPts val="800"/>
              </a:spcAft>
              <a:buSzPct val="100000"/>
              <a:buFont typeface="Wingdings" panose="05000000000000000000" charset="0"/>
              <a:buChar char="l"/>
            </a:pPr>
            <a:r>
              <a:rPr lang="en-US" sz="1400" b="1" dirty="0">
                <a:solidFill>
                  <a:schemeClr val="bg2">
                    <a:lumMod val="25000"/>
                  </a:schemeClr>
                </a:solidFill>
                <a:latin typeface="Roboto" charset="0"/>
                <a:ea typeface="Roboto" charset="0"/>
              </a:rPr>
              <a:t>NDI Integration:</a:t>
            </a:r>
            <a:r>
              <a:rPr lang="en-US" sz="1400" dirty="0">
                <a:solidFill>
                  <a:schemeClr val="bg2">
                    <a:lumMod val="25000"/>
                  </a:schemeClr>
                </a:solidFill>
                <a:latin typeface="Roboto" charset="0"/>
                <a:ea typeface="Roboto" charset="0"/>
              </a:rPr>
              <a:t> </a:t>
            </a:r>
            <a:r>
              <a:rPr lang="en-US" sz="1400" dirty="0">
                <a:solidFill>
                  <a:schemeClr val="bg2">
                    <a:lumMod val="25000"/>
                  </a:schemeClr>
                </a:solidFill>
                <a:latin typeface="Roboto" charset="0"/>
                <a:ea typeface="Roboto" charset="0"/>
                <a:sym typeface="+mn-ea"/>
              </a:rPr>
              <a:t>Easily incorporate NDI cameras for fast setup and flexible streaming. NDI signals can also be converted to NetworkHD format for local display on monitors.</a:t>
            </a:r>
            <a:endParaRPr lang="en-US" sz="1400" dirty="0">
              <a:solidFill>
                <a:schemeClr val="bg2">
                  <a:lumMod val="25000"/>
                </a:schemeClr>
              </a:solidFill>
              <a:latin typeface="Roboto" charset="0"/>
              <a:ea typeface="Roboto" charset="0"/>
              <a:sym typeface="+mn-ea"/>
            </a:endParaRPr>
          </a:p>
          <a:p>
            <a:pPr lvl="0" indent="-285750" fontAlgn="ctr">
              <a:lnSpc>
                <a:spcPts val="1500"/>
              </a:lnSpc>
              <a:spcBef>
                <a:spcPts val="0"/>
              </a:spcBef>
              <a:spcAft>
                <a:spcPts val="800"/>
              </a:spcAft>
              <a:buSzPct val="100000"/>
              <a:buFont typeface="Wingdings" panose="05000000000000000000" charset="0"/>
              <a:buChar char="l"/>
            </a:pPr>
            <a:r>
              <a:rPr lang="en-US" sz="1400" b="1" spc="0" dirty="0">
                <a:ln w="3175">
                  <a:noFill/>
                  <a:prstDash val="dash"/>
                </a:ln>
                <a:solidFill>
                  <a:schemeClr val="bg2">
                    <a:lumMod val="25000"/>
                  </a:schemeClr>
                </a:solidFill>
                <a:uFillTx/>
                <a:latin typeface="Roboto" charset="0"/>
                <a:ea typeface="Roboto" charset="0"/>
                <a:cs typeface="Arial" panose="020B0604020202020204" pitchFamily="34" charset="0"/>
                <a:sym typeface="+mn-ea"/>
              </a:rPr>
              <a:t>Remote Teaching: </a:t>
            </a:r>
            <a:r>
              <a:rPr lang="en-US" altLang="zh-CN" sz="1400" dirty="0">
                <a:solidFill>
                  <a:schemeClr val="bg2">
                    <a:lumMod val="25000"/>
                  </a:schemeClr>
                </a:solidFill>
                <a:latin typeface="Roboto" charset="0"/>
                <a:ea typeface="Roboto" charset="0"/>
                <a:sym typeface="+mn-ea"/>
              </a:rPr>
              <a:t>Stream NDI camera feeds directly into conferencing platforms like Zoom or Microsoft Teams, enabling real-time classroom access for remote students. Perfect for hybrid teaching, distance learning, and modern educational models.</a:t>
            </a:r>
            <a:endParaRPr lang="en-US" altLang="zh-CN" sz="1400" dirty="0">
              <a:solidFill>
                <a:schemeClr val="bg2">
                  <a:lumMod val="25000"/>
                </a:schemeClr>
              </a:solidFill>
              <a:latin typeface="Roboto" charset="0"/>
              <a:ea typeface="Roboto" charset="0"/>
              <a:sym typeface="+mn-ea"/>
            </a:endParaRPr>
          </a:p>
        </p:txBody>
      </p:sp>
      <p:sp>
        <p:nvSpPr>
          <p:cNvPr id="22"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19" name="文本框 6"/>
          <p:cNvSpPr txBox="1"/>
          <p:nvPr>
            <p:custDataLst>
              <p:tags r:id="rId3"/>
            </p:custDataLst>
          </p:nvPr>
        </p:nvSpPr>
        <p:spPr>
          <a:xfrm>
            <a:off x="457155" y="156211"/>
            <a:ext cx="11277689" cy="609600"/>
          </a:xfrm>
          <a:prstGeom prst="rect">
            <a:avLst/>
          </a:prstGeom>
          <a:noFill/>
        </p:spPr>
        <p:txBody>
          <a:bodyPr wrap="square" lIns="63500" tIns="25400" rIns="63500" bIns="25400" rtlCol="0" anchor="ctr" anchorCtr="0">
            <a:normAutofit fontScale="97500"/>
          </a:bodyPr>
          <a:lstStyle/>
          <a:p>
            <a:pPr marL="0" indent="0" algn="l">
              <a:lnSpc>
                <a:spcPct val="100000"/>
              </a:lnSpc>
              <a:spcBef>
                <a:spcPts val="0"/>
              </a:spcBef>
              <a:spcAft>
                <a:spcPts val="0"/>
              </a:spcAft>
              <a:buSzPct val="100000"/>
              <a:buNone/>
            </a:pPr>
            <a:r>
              <a:rPr lang="en-US" sz="3110" b="1" dirty="0">
                <a:solidFill>
                  <a:schemeClr val="lt1"/>
                </a:solidFill>
                <a:uFillTx/>
                <a:latin typeface="Montserrat" pitchFamily="2" charset="0"/>
                <a:ea typeface="微软雅黑" panose="020B0503020204020204" pitchFamily="34" charset="-122"/>
                <a:sym typeface="Roboto"/>
              </a:rPr>
              <a:t>Typical Connection &amp; Applications</a:t>
            </a:r>
            <a:endParaRPr lang="en-US" sz="3110" b="1" dirty="0">
              <a:solidFill>
                <a:schemeClr val="lt1"/>
              </a:solidFill>
              <a:uFillTx/>
              <a:latin typeface="Montserrat" pitchFamily="2" charset="0"/>
              <a:ea typeface="微软雅黑" panose="020B0503020204020204" pitchFamily="34" charset="-122"/>
              <a:sym typeface="Roboto"/>
            </a:endParaRPr>
          </a:p>
        </p:txBody>
      </p:sp>
      <p:pic>
        <p:nvPicPr>
          <p:cNvPr id="3" name="图片 2"/>
          <p:cNvPicPr>
            <a:picLocks noChangeAspect="1"/>
          </p:cNvPicPr>
          <p:nvPr/>
        </p:nvPicPr>
        <p:blipFill>
          <a:blip r:embed="rId4"/>
          <a:stretch>
            <a:fillRect/>
          </a:stretch>
        </p:blipFill>
        <p:spPr>
          <a:xfrm>
            <a:off x="4754880" y="1772920"/>
            <a:ext cx="7128510" cy="4131945"/>
          </a:xfrm>
          <a:prstGeom prst="rect">
            <a:avLst/>
          </a:prstGeom>
        </p:spPr>
      </p:pic>
    </p:spTree>
    <p:custDataLst>
      <p:tags r:id="rId5"/>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6"/>
          <p:cNvSpPr txBox="1"/>
          <p:nvPr>
            <p:custDataLst>
              <p:tags r:id="rId1"/>
            </p:custDataLst>
          </p:nvPr>
        </p:nvSpPr>
        <p:spPr>
          <a:xfrm>
            <a:off x="292100" y="1066800"/>
            <a:ext cx="4311859" cy="549275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00000"/>
              </a:lnSpc>
              <a:spcBef>
                <a:spcPts val="0"/>
              </a:spcBef>
              <a:spcAft>
                <a:spcPts val="800"/>
              </a:spcAft>
              <a:buSzPct val="100000"/>
              <a:buFont typeface="Wingdings" panose="05000000000000000000" charset="0"/>
              <a:buNone/>
            </a:pPr>
            <a:r>
              <a:rPr sz="1800" b="1" u="sng"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Application Scenario 2</a:t>
            </a: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a:t>
            </a:r>
            <a:b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br>
            <a:r>
              <a:rPr lang="en-US" sz="20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Digital Courtr</a:t>
            </a:r>
            <a:r>
              <a:rPr lang="en-US"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oom</a:t>
            </a:r>
            <a:endParaRPr lang="en-US"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indent="-285750" algn="just" fontAlgn="ctr">
              <a:lnSpc>
                <a:spcPts val="1500"/>
              </a:lnSpc>
              <a:spcBef>
                <a:spcPts val="0"/>
              </a:spcBef>
              <a:spcAft>
                <a:spcPts val="800"/>
              </a:spcAft>
              <a:buSzPct val="100000"/>
            </a:pPr>
            <a:r>
              <a:rPr lang="en-US" sz="1400" dirty="0">
                <a:solidFill>
                  <a:schemeClr val="bg2">
                    <a:lumMod val="25000"/>
                  </a:schemeClr>
                </a:solidFill>
                <a:latin typeface="Roboto" charset="0"/>
                <a:ea typeface="Roboto" charset="0"/>
                <a:sym typeface="+mn-ea"/>
              </a:rPr>
              <a:t>This solution delivers a comprehensive AV system tailored for a digital courtroom environment.</a:t>
            </a:r>
            <a:endParaRPr lang="en-US" sz="1400" dirty="0">
              <a:solidFill>
                <a:schemeClr val="bg2">
                  <a:lumMod val="25000"/>
                </a:schemeClr>
              </a:solidFill>
              <a:latin typeface="Roboto" charset="0"/>
              <a:ea typeface="Roboto" charset="0"/>
              <a:sym typeface="+mn-ea"/>
            </a:endParaRPr>
          </a:p>
          <a:p>
            <a:pPr indent="-285750" algn="just" fontAlgn="ctr">
              <a:lnSpc>
                <a:spcPts val="1500"/>
              </a:lnSpc>
              <a:spcBef>
                <a:spcPts val="0"/>
              </a:spcBef>
              <a:spcAft>
                <a:spcPts val="800"/>
              </a:spcAft>
              <a:buSzPct val="100000"/>
            </a:pPr>
            <a:r>
              <a:rPr lang="en-US" sz="1400" dirty="0">
                <a:solidFill>
                  <a:schemeClr val="bg2">
                    <a:lumMod val="25000"/>
                  </a:schemeClr>
                </a:solidFill>
                <a:latin typeface="Roboto" charset="0"/>
                <a:ea typeface="Roboto" charset="0"/>
                <a:sym typeface="+mn-ea"/>
              </a:rPr>
              <a:t>It enables real-time display of multiple camera feeds and shared evidence documents in a multiview layout. The combined multiview output can also be converted to NDI for remote viewing or live streaming.</a:t>
            </a:r>
            <a:endParaRPr lang="en-US" sz="1400" dirty="0">
              <a:solidFill>
                <a:schemeClr val="bg2">
                  <a:lumMod val="25000"/>
                </a:schemeClr>
              </a:solidFill>
              <a:latin typeface="Roboto" charset="0"/>
              <a:ea typeface="Roboto" charset="0"/>
              <a:sym typeface="+mn-ea"/>
            </a:endParaRPr>
          </a:p>
          <a:p>
            <a:pPr indent="-285750" algn="just" fontAlgn="ctr">
              <a:lnSpc>
                <a:spcPts val="1500"/>
              </a:lnSpc>
              <a:spcBef>
                <a:spcPts val="0"/>
              </a:spcBef>
              <a:spcAft>
                <a:spcPts val="800"/>
              </a:spcAft>
              <a:buSzPct val="100000"/>
            </a:pPr>
            <a:r>
              <a:rPr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Key Benefits Include:</a:t>
            </a:r>
            <a:endParaRPr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285750" fontAlgn="ctr">
              <a:lnSpc>
                <a:spcPts val="1500"/>
              </a:lnSpc>
              <a:spcBef>
                <a:spcPts val="0"/>
              </a:spcBef>
              <a:spcAft>
                <a:spcPts val="800"/>
              </a:spcAft>
              <a:buSzPct val="100000"/>
              <a:buFont typeface="Wingdings" panose="05000000000000000000" charset="0"/>
              <a:buChar char="l"/>
            </a:pPr>
            <a:r>
              <a:rPr lang="en-US" sz="1400" b="1" dirty="0">
                <a:solidFill>
                  <a:schemeClr val="bg2">
                    <a:lumMod val="25000"/>
                  </a:schemeClr>
                </a:solidFill>
                <a:latin typeface="Roboto" charset="0"/>
                <a:ea typeface="Roboto" charset="0"/>
              </a:rPr>
              <a:t>Multiview Function:</a:t>
            </a:r>
            <a:r>
              <a:rPr lang="en-US" sz="1400" dirty="0">
                <a:solidFill>
                  <a:schemeClr val="bg2">
                    <a:lumMod val="25000"/>
                  </a:schemeClr>
                </a:solidFill>
                <a:latin typeface="Roboto" charset="0"/>
                <a:ea typeface="Roboto" charset="0"/>
              </a:rPr>
              <a:t> Simultaneous display of camera feeds and shared content for a complete courtroom overview.</a:t>
            </a:r>
            <a:endParaRPr lang="en-US" sz="1400" dirty="0">
              <a:solidFill>
                <a:schemeClr val="bg2">
                  <a:lumMod val="25000"/>
                </a:schemeClr>
              </a:solidFill>
              <a:latin typeface="Roboto" charset="0"/>
              <a:ea typeface="Roboto" charset="0"/>
            </a:endParaRPr>
          </a:p>
          <a:p>
            <a:pPr lvl="0" indent="-285750" fontAlgn="ctr">
              <a:lnSpc>
                <a:spcPts val="1500"/>
              </a:lnSpc>
              <a:spcBef>
                <a:spcPts val="0"/>
              </a:spcBef>
              <a:spcAft>
                <a:spcPts val="800"/>
              </a:spcAft>
              <a:buSzPct val="100000"/>
              <a:buFont typeface="Wingdings" panose="05000000000000000000" charset="0"/>
              <a:buChar char="l"/>
            </a:pPr>
            <a:r>
              <a:rPr lang="en-US" sz="1400" b="1" dirty="0">
                <a:solidFill>
                  <a:schemeClr val="bg2">
                    <a:lumMod val="25000"/>
                  </a:schemeClr>
                </a:solidFill>
                <a:latin typeface="Roboto" charset="0"/>
                <a:ea typeface="Roboto" charset="0"/>
              </a:rPr>
              <a:t>NDI Integration:</a:t>
            </a:r>
            <a:r>
              <a:rPr lang="en-US" sz="1400" dirty="0">
                <a:solidFill>
                  <a:schemeClr val="bg2">
                    <a:lumMod val="25000"/>
                  </a:schemeClr>
                </a:solidFill>
                <a:latin typeface="Roboto" charset="0"/>
                <a:ea typeface="Roboto" charset="0"/>
              </a:rPr>
              <a:t> Supports NDI camera convert into NetworkHD stream for AV over IP system.</a:t>
            </a:r>
            <a:endParaRPr lang="en-US" sz="1400" dirty="0">
              <a:solidFill>
                <a:schemeClr val="bg2">
                  <a:lumMod val="25000"/>
                </a:schemeClr>
              </a:solidFill>
              <a:latin typeface="Roboto" charset="0"/>
              <a:ea typeface="Roboto" charset="0"/>
            </a:endParaRPr>
          </a:p>
          <a:p>
            <a:pPr lvl="0" indent="-285750" fontAlgn="ctr">
              <a:lnSpc>
                <a:spcPts val="1500"/>
              </a:lnSpc>
              <a:spcBef>
                <a:spcPts val="0"/>
              </a:spcBef>
              <a:spcAft>
                <a:spcPts val="800"/>
              </a:spcAft>
              <a:buSzPct val="100000"/>
              <a:buFont typeface="Wingdings" panose="05000000000000000000" charset="0"/>
              <a:buChar char="l"/>
            </a:pPr>
            <a:r>
              <a:rPr lang="en-US" sz="1400" b="1" dirty="0">
                <a:solidFill>
                  <a:schemeClr val="bg2">
                    <a:lumMod val="25000"/>
                  </a:schemeClr>
                </a:solidFill>
                <a:latin typeface="Roboto" charset="0"/>
                <a:ea typeface="Roboto" charset="0"/>
              </a:rPr>
              <a:t>Full-Court Coverage:</a:t>
            </a:r>
            <a:r>
              <a:rPr lang="en-US" sz="1400" dirty="0">
                <a:solidFill>
                  <a:schemeClr val="bg2">
                    <a:lumMod val="25000"/>
                  </a:schemeClr>
                </a:solidFill>
                <a:latin typeface="Roboto" charset="0"/>
                <a:ea typeface="Roboto" charset="0"/>
              </a:rPr>
              <a:t> Comprehensive video input from multiple courtroom cameras, including judge, jury, and evidence views.</a:t>
            </a:r>
            <a:endParaRPr lang="en-US" sz="1400" dirty="0">
              <a:solidFill>
                <a:schemeClr val="bg2">
                  <a:lumMod val="25000"/>
                </a:schemeClr>
              </a:solidFill>
              <a:latin typeface="Roboto" charset="0"/>
              <a:ea typeface="Roboto" charset="0"/>
            </a:endParaRPr>
          </a:p>
          <a:p>
            <a:pPr lvl="0" indent="-285750" fontAlgn="ctr">
              <a:lnSpc>
                <a:spcPts val="1500"/>
              </a:lnSpc>
              <a:spcBef>
                <a:spcPts val="0"/>
              </a:spcBef>
              <a:spcAft>
                <a:spcPts val="800"/>
              </a:spcAft>
              <a:buSzPct val="100000"/>
              <a:buFont typeface="Wingdings" panose="05000000000000000000" charset="0"/>
              <a:buChar char="l"/>
            </a:pPr>
            <a:r>
              <a:rPr lang="en-US" sz="1400" b="1" dirty="0">
                <a:solidFill>
                  <a:schemeClr val="bg2">
                    <a:lumMod val="25000"/>
                  </a:schemeClr>
                </a:solidFill>
                <a:latin typeface="Roboto" charset="0"/>
                <a:ea typeface="Roboto" charset="0"/>
              </a:rPr>
              <a:t>Centralized Control:</a:t>
            </a:r>
            <a:r>
              <a:rPr lang="en-US" sz="1400" dirty="0">
                <a:solidFill>
                  <a:schemeClr val="bg2">
                    <a:lumMod val="25000"/>
                  </a:schemeClr>
                </a:solidFill>
                <a:latin typeface="Roboto" charset="0"/>
                <a:ea typeface="Roboto" charset="0"/>
              </a:rPr>
              <a:t> Intuitive system control via iPad with NHD-TOUCH and NHD-CTL-PRO for streamlined operation.</a:t>
            </a:r>
            <a:endParaRPr lang="en-US" sz="1400" dirty="0">
              <a:solidFill>
                <a:schemeClr val="bg2">
                  <a:lumMod val="25000"/>
                </a:schemeClr>
              </a:solidFill>
              <a:latin typeface="Roboto" charset="0"/>
              <a:ea typeface="Roboto" charset="0"/>
            </a:endParaRPr>
          </a:p>
          <a:p>
            <a:pPr lvl="0" indent="-285750" fontAlgn="ctr">
              <a:lnSpc>
                <a:spcPts val="1500"/>
              </a:lnSpc>
              <a:spcBef>
                <a:spcPts val="0"/>
              </a:spcBef>
              <a:spcAft>
                <a:spcPts val="800"/>
              </a:spcAft>
              <a:buSzPct val="100000"/>
              <a:buFont typeface="Wingdings" panose="05000000000000000000" charset="0"/>
              <a:buChar char="l"/>
            </a:pPr>
            <a:r>
              <a:rPr lang="en-US" sz="1400" b="1" dirty="0">
                <a:solidFill>
                  <a:schemeClr val="bg2">
                    <a:lumMod val="25000"/>
                  </a:schemeClr>
                </a:solidFill>
                <a:latin typeface="Roboto" charset="0"/>
                <a:ea typeface="Roboto" charset="0"/>
              </a:rPr>
              <a:t>Flexible Signal Distribution:</a:t>
            </a:r>
            <a:r>
              <a:rPr lang="en-US" sz="1400" dirty="0">
                <a:solidFill>
                  <a:schemeClr val="bg2">
                    <a:lumMod val="25000"/>
                  </a:schemeClr>
                </a:solidFill>
                <a:latin typeface="Roboto" charset="0"/>
                <a:ea typeface="Roboto" charset="0"/>
              </a:rPr>
              <a:t> </a:t>
            </a:r>
            <a:r>
              <a:rPr lang="en-US" altLang="zh-CN" sz="1400" spc="0" dirty="0">
                <a:ln w="3175">
                  <a:noFill/>
                  <a:prstDash val="dash"/>
                </a:ln>
                <a:solidFill>
                  <a:schemeClr val="bg2">
                    <a:lumMod val="25000"/>
                  </a:schemeClr>
                </a:solidFill>
                <a:uFillTx/>
                <a:latin typeface="Roboto" charset="0"/>
                <a:ea typeface="Roboto" charset="0"/>
                <a:cs typeface="Arial" panose="020B0604020202020204" pitchFamily="34" charset="0"/>
                <a:sym typeface="+mn-ea"/>
              </a:rPr>
              <a:t>Seamlessly integrates both NetworkHD and NDI protocols over a standard LAN, ensuring reliable and scalable AV transmission.</a:t>
            </a:r>
            <a:endParaRPr lang="en-US" altLang="zh-CN" sz="1400" spc="0" dirty="0">
              <a:ln w="3175">
                <a:noFill/>
                <a:prstDash val="dash"/>
              </a:ln>
              <a:solidFill>
                <a:schemeClr val="bg2">
                  <a:lumMod val="25000"/>
                </a:schemeClr>
              </a:solidFill>
              <a:uFillTx/>
              <a:latin typeface="Roboto" charset="0"/>
              <a:ea typeface="Roboto" charset="0"/>
              <a:cs typeface="Arial" panose="020B0604020202020204" pitchFamily="34" charset="0"/>
              <a:sym typeface="+mn-ea"/>
            </a:endParaRPr>
          </a:p>
        </p:txBody>
      </p:sp>
      <p:sp>
        <p:nvSpPr>
          <p:cNvPr id="22" name="矩形 7"/>
          <p:cNvSpPr/>
          <p:nvPr>
            <p:custDataLst>
              <p:tags r:id="rId2"/>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19" name="文本框 6"/>
          <p:cNvSpPr txBox="1"/>
          <p:nvPr>
            <p:custDataLst>
              <p:tags r:id="rId3"/>
            </p:custDataLst>
          </p:nvPr>
        </p:nvSpPr>
        <p:spPr>
          <a:xfrm>
            <a:off x="457155" y="15621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Typical Connection &amp; Applications</a:t>
            </a:r>
            <a:endParaRPr lang="en-US" sz="2800" b="1" dirty="0">
              <a:solidFill>
                <a:schemeClr val="lt1"/>
              </a:solidFill>
              <a:uFillTx/>
              <a:latin typeface="Montserrat" pitchFamily="2" charset="0"/>
              <a:ea typeface="微软雅黑" panose="020B0503020204020204" pitchFamily="34" charset="-122"/>
              <a:sym typeface="Roboto"/>
            </a:endParaRPr>
          </a:p>
        </p:txBody>
      </p:sp>
      <p:pic>
        <p:nvPicPr>
          <p:cNvPr id="3" name="图片 2"/>
          <p:cNvPicPr>
            <a:picLocks noChangeAspect="1"/>
          </p:cNvPicPr>
          <p:nvPr/>
        </p:nvPicPr>
        <p:blipFill>
          <a:blip r:embed="rId4"/>
          <a:stretch>
            <a:fillRect/>
          </a:stretch>
        </p:blipFill>
        <p:spPr>
          <a:xfrm>
            <a:off x="5055235" y="1744980"/>
            <a:ext cx="6551930" cy="4329430"/>
          </a:xfrm>
          <a:prstGeom prst="rect">
            <a:avLst/>
          </a:prstGeom>
        </p:spPr>
      </p:pic>
    </p:spTree>
    <p:custDataLst>
      <p:tags r:id="rId5"/>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格 9"/>
          <p:cNvGraphicFramePr/>
          <p:nvPr>
            <p:custDataLst>
              <p:tags r:id="rId1"/>
            </p:custDataLst>
          </p:nvPr>
        </p:nvGraphicFramePr>
        <p:xfrm>
          <a:off x="219404" y="1694076"/>
          <a:ext cx="11431753" cy="3957527"/>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1027505"/>
                <a:gridCol w="1496291"/>
                <a:gridCol w="2119745"/>
                <a:gridCol w="1891146"/>
                <a:gridCol w="1849582"/>
                <a:gridCol w="1481676"/>
                <a:gridCol w="1565808"/>
              </a:tblGrid>
              <a:tr h="347183">
                <a:tc gridSpan="2">
                  <a:txBody>
                    <a:bodyPr/>
                    <a:lstStyle/>
                    <a:p>
                      <a:pPr algn="ctr">
                        <a:buNone/>
                      </a:pPr>
                      <a:endParaRPr lang="en-US" altLang="zh-CN" sz="1400" dirty="0">
                        <a:latin typeface="Roboto" charset="0"/>
                        <a:ea typeface="Roboto" charset="0"/>
                        <a:cs typeface="Arial" panose="020B0604020202020204" pitchFamily="34" charset="0"/>
                      </a:endParaRPr>
                    </a:p>
                  </a:txBody>
                  <a:tcPr>
                    <a:solidFill>
                      <a:srgbClr val="0B7935"/>
                    </a:solidFill>
                  </a:tcPr>
                </a:tc>
                <a:tc hMerge="1">
                  <a:tcPr>
                    <a:solidFill>
                      <a:srgbClr val="0B7935"/>
                    </a:solidFill>
                  </a:tcPr>
                </a:tc>
                <a:tc>
                  <a:txBody>
                    <a:bodyPr/>
                    <a:lstStyle/>
                    <a:p>
                      <a:pPr algn="ctr">
                        <a:buNone/>
                      </a:pPr>
                      <a:r>
                        <a:rPr lang="en-US" altLang="zh-CN" sz="1400" dirty="0">
                          <a:latin typeface="Roboto" charset="0"/>
                          <a:ea typeface="Roboto" charset="0"/>
                          <a:cs typeface="Arial" panose="020B0604020202020204" pitchFamily="34" charset="0"/>
                        </a:rPr>
                        <a:t>WyreStorm</a:t>
                      </a:r>
                      <a:br>
                        <a:rPr lang="en-US" altLang="zh-CN" sz="1400" dirty="0">
                          <a:latin typeface="Roboto" charset="0"/>
                          <a:ea typeface="Roboto" charset="0"/>
                          <a:cs typeface="Arial" panose="020B0604020202020204" pitchFamily="34" charset="0"/>
                        </a:rPr>
                      </a:br>
                      <a:r>
                        <a:rPr lang="en-US" altLang="zh-CN" sz="1400" dirty="0">
                          <a:latin typeface="Roboto" charset="0"/>
                          <a:ea typeface="Roboto" charset="0"/>
                          <a:cs typeface="Arial" panose="020B0604020202020204" pitchFamily="34" charset="0"/>
                        </a:rPr>
                        <a:t>NHD-128-NDI-TRX</a:t>
                      </a:r>
                      <a:endParaRPr lang="en-US" altLang="zh-CN" sz="1400" dirty="0">
                        <a:latin typeface="Roboto" charset="0"/>
                        <a:ea typeface="Roboto" charset="0"/>
                        <a:cs typeface="Arial" panose="020B0604020202020204" pitchFamily="34" charset="0"/>
                      </a:endParaRPr>
                    </a:p>
                  </a:txBody>
                  <a:tcPr>
                    <a:solidFill>
                      <a:srgbClr val="0B7935"/>
                    </a:solidFill>
                  </a:tcPr>
                </a:tc>
                <a:tc>
                  <a:txBody>
                    <a:bodyPr/>
                    <a:lstStyle/>
                    <a:p>
                      <a:pPr algn="ctr">
                        <a:buNone/>
                      </a:pPr>
                      <a:r>
                        <a:rPr lang="en-US" altLang="zh-CN" sz="1400" b="1" kern="1200" dirty="0" err="1">
                          <a:solidFill>
                            <a:schemeClr val="lt1"/>
                          </a:solidFill>
                          <a:latin typeface="Roboto" charset="0"/>
                          <a:ea typeface="Roboto" charset="0"/>
                          <a:cs typeface="Arial" panose="020B0604020202020204" pitchFamily="34" charset="0"/>
                        </a:rPr>
                        <a:t>Uray</a:t>
                      </a:r>
                      <a:r>
                        <a:rPr lang="en-US" sz="1400" b="1" kern="1200" dirty="0" err="1">
                          <a:solidFill>
                            <a:schemeClr val="lt1"/>
                          </a:solidFill>
                          <a:latin typeface="Roboto" charset="0"/>
                          <a:ea typeface="Roboto" charset="0"/>
                          <a:cs typeface="Arial" panose="020B0604020202020204" pitchFamily="34" charset="0"/>
                        </a:rPr>
                        <a:t>Coder</a:t>
                      </a:r>
                      <a:endParaRPr lang="en-US" sz="1400" b="1" kern="1200" dirty="0">
                        <a:solidFill>
                          <a:schemeClr val="lt1"/>
                        </a:solidFill>
                        <a:latin typeface="Roboto" charset="0"/>
                        <a:ea typeface="Roboto" charset="0"/>
                        <a:cs typeface="Arial" panose="020B0604020202020204" pitchFamily="34" charset="0"/>
                      </a:endParaRPr>
                    </a:p>
                    <a:p>
                      <a:pPr algn="ctr">
                        <a:buNone/>
                      </a:pPr>
                      <a:r>
                        <a:rPr lang="en-US" sz="1400" b="1" kern="1200" dirty="0">
                          <a:solidFill>
                            <a:schemeClr val="lt1"/>
                          </a:solidFill>
                          <a:latin typeface="Roboto" charset="0"/>
                          <a:ea typeface="Roboto" charset="0"/>
                          <a:cs typeface="Arial" panose="020B0604020202020204" pitchFamily="34" charset="0"/>
                        </a:rPr>
                        <a:t>UHE265-4-4K</a:t>
                      </a:r>
                      <a:endParaRPr lang="en-US" altLang="zh-CN" sz="1400" b="1" kern="1200" dirty="0">
                        <a:solidFill>
                          <a:schemeClr val="lt1"/>
                        </a:solidFill>
                        <a:latin typeface="Roboto" charset="0"/>
                        <a:ea typeface="Roboto" charset="0"/>
                        <a:cs typeface="Arial" panose="020B0604020202020204" pitchFamily="34" charset="0"/>
                      </a:endParaRPr>
                    </a:p>
                  </a:txBody>
                  <a:tcPr>
                    <a:solidFill>
                      <a:srgbClr val="0B7935"/>
                    </a:solidFill>
                  </a:tcPr>
                </a:tc>
                <a:tc>
                  <a:txBody>
                    <a:bodyPr/>
                    <a:lstStyle/>
                    <a:p>
                      <a:pPr algn="ctr">
                        <a:buNone/>
                      </a:pPr>
                      <a:r>
                        <a:rPr lang="en-US" altLang="zh-CN" sz="1400" b="1" kern="1200" dirty="0" err="1">
                          <a:solidFill>
                            <a:schemeClr val="lt1"/>
                          </a:solidFill>
                          <a:latin typeface="Roboto" charset="0"/>
                          <a:ea typeface="Roboto" charset="0"/>
                          <a:cs typeface="Arial" panose="020B0604020202020204" pitchFamily="34" charset="0"/>
                        </a:rPr>
                        <a:t>Kiloview</a:t>
                      </a:r>
                      <a:endParaRPr lang="en-US" altLang="zh-CN" sz="1400" b="1" kern="1200" dirty="0">
                        <a:solidFill>
                          <a:schemeClr val="lt1"/>
                        </a:solidFill>
                        <a:latin typeface="Roboto" charset="0"/>
                        <a:ea typeface="Roboto" charset="0"/>
                        <a:cs typeface="Arial" panose="020B0604020202020204" pitchFamily="34" charset="0"/>
                      </a:endParaRPr>
                    </a:p>
                    <a:p>
                      <a:pPr algn="ctr">
                        <a:buNone/>
                      </a:pPr>
                      <a:r>
                        <a:rPr lang="en-US" altLang="zh-CN" sz="1400" b="1" kern="1200" dirty="0">
                          <a:solidFill>
                            <a:schemeClr val="lt1"/>
                          </a:solidFill>
                          <a:latin typeface="Roboto" charset="0"/>
                          <a:ea typeface="Roboto" charset="0"/>
                          <a:cs typeface="Arial" panose="020B0604020202020204" pitchFamily="34" charset="0"/>
                        </a:rPr>
                        <a:t>N40</a:t>
                      </a:r>
                      <a:endParaRPr lang="en-US" altLang="zh-CN" sz="1400" b="1" kern="1200" dirty="0">
                        <a:solidFill>
                          <a:schemeClr val="lt1"/>
                        </a:solidFill>
                        <a:latin typeface="Roboto" charset="0"/>
                        <a:ea typeface="Roboto" charset="0"/>
                        <a:cs typeface="Arial" panose="020B0604020202020204" pitchFamily="34" charset="0"/>
                      </a:endParaRPr>
                    </a:p>
                  </a:txBody>
                  <a:tcPr>
                    <a:solidFill>
                      <a:srgbClr val="0B7935"/>
                    </a:solidFill>
                  </a:tcPr>
                </a:tc>
                <a:tc>
                  <a:txBody>
                    <a:bodyPr/>
                    <a:lstStyle/>
                    <a:p>
                      <a:pPr algn="ctr">
                        <a:buNone/>
                      </a:pPr>
                      <a:r>
                        <a:rPr lang="en-US" altLang="zh-CN" sz="1400" b="1" kern="1200" dirty="0" err="1">
                          <a:solidFill>
                            <a:schemeClr val="lt1"/>
                          </a:solidFill>
                          <a:latin typeface="Roboto" charset="0"/>
                          <a:ea typeface="Roboto" charset="0"/>
                          <a:cs typeface="Arial" panose="020B0604020202020204" pitchFamily="34" charset="0"/>
                        </a:rPr>
                        <a:t>Magewell</a:t>
                      </a:r>
                      <a:endParaRPr lang="en-US" altLang="zh-CN" sz="1400" b="1" kern="1200" dirty="0">
                        <a:solidFill>
                          <a:schemeClr val="lt1"/>
                        </a:solidFill>
                        <a:latin typeface="Roboto" charset="0"/>
                        <a:ea typeface="Roboto" charset="0"/>
                        <a:cs typeface="Arial" panose="020B0604020202020204" pitchFamily="34" charset="0"/>
                      </a:endParaRPr>
                    </a:p>
                    <a:p>
                      <a:pPr algn="ctr">
                        <a:buNone/>
                      </a:pPr>
                      <a:r>
                        <a:rPr lang="en-US" sz="1400" b="1" kern="1200" dirty="0">
                          <a:solidFill>
                            <a:schemeClr val="lt1"/>
                          </a:solidFill>
                          <a:latin typeface="Roboto" charset="0"/>
                          <a:ea typeface="Roboto" charset="0"/>
                          <a:cs typeface="Arial" panose="020B0604020202020204" pitchFamily="34" charset="0"/>
                        </a:rPr>
                        <a:t>641100000</a:t>
                      </a:r>
                      <a:endParaRPr lang="en-US" altLang="zh-CN" sz="1400" b="1" kern="1200" dirty="0">
                        <a:solidFill>
                          <a:schemeClr val="lt1"/>
                        </a:solidFill>
                        <a:latin typeface="Roboto" charset="0"/>
                        <a:ea typeface="Roboto" charset="0"/>
                        <a:cs typeface="Arial" panose="020B0604020202020204" pitchFamily="34" charset="0"/>
                      </a:endParaRPr>
                    </a:p>
                  </a:txBody>
                  <a:tcPr>
                    <a:solidFill>
                      <a:srgbClr val="0B7935"/>
                    </a:solidFill>
                  </a:tcPr>
                </a:tc>
                <a:tc>
                  <a:txBody>
                    <a:bodyPr/>
                    <a:lstStyle/>
                    <a:p>
                      <a:pPr algn="ctr">
                        <a:buNone/>
                      </a:pPr>
                      <a:r>
                        <a:rPr lang="en-US" altLang="zh-CN" sz="1400" b="1" kern="1200" dirty="0" err="1">
                          <a:solidFill>
                            <a:schemeClr val="lt1"/>
                          </a:solidFill>
                          <a:latin typeface="Roboto" charset="0"/>
                          <a:ea typeface="Roboto" charset="0"/>
                          <a:cs typeface="Arial" panose="020B0604020202020204" pitchFamily="34" charset="0"/>
                        </a:rPr>
                        <a:t>Magewell</a:t>
                      </a:r>
                      <a:endParaRPr lang="en-US" altLang="zh-CN" sz="1400" b="1" kern="1200" dirty="0">
                        <a:solidFill>
                          <a:schemeClr val="lt1"/>
                        </a:solidFill>
                        <a:latin typeface="Roboto" charset="0"/>
                        <a:ea typeface="Roboto" charset="0"/>
                        <a:cs typeface="Arial" panose="020B0604020202020204" pitchFamily="34" charset="0"/>
                      </a:endParaRPr>
                    </a:p>
                    <a:p>
                      <a:pPr algn="ctr">
                        <a:buNone/>
                      </a:pPr>
                      <a:r>
                        <a:rPr lang="en-US" sz="1400" b="1" kern="1200" dirty="0">
                          <a:solidFill>
                            <a:schemeClr val="lt1"/>
                          </a:solidFill>
                          <a:latin typeface="Roboto" charset="0"/>
                          <a:ea typeface="Roboto" charset="0"/>
                          <a:cs typeface="Arial" panose="020B0604020202020204" pitchFamily="34" charset="0"/>
                        </a:rPr>
                        <a:t>640100000</a:t>
                      </a:r>
                      <a:endParaRPr lang="en-US" altLang="zh-CN" sz="1400" b="1" kern="1200" dirty="0">
                        <a:solidFill>
                          <a:schemeClr val="lt1"/>
                        </a:solidFill>
                        <a:latin typeface="Roboto" charset="0"/>
                        <a:ea typeface="Roboto" charset="0"/>
                        <a:cs typeface="Arial" panose="020B0604020202020204" pitchFamily="34" charset="0"/>
                      </a:endParaRPr>
                    </a:p>
                  </a:txBody>
                  <a:tcPr>
                    <a:solidFill>
                      <a:srgbClr val="0B7935"/>
                    </a:solidFill>
                  </a:tcPr>
                </a:tc>
              </a:tr>
              <a:tr h="388785">
                <a:tc>
                  <a:txBody>
                    <a:bodyPr/>
                    <a:lstStyle/>
                    <a:p>
                      <a:pPr algn="ctr">
                        <a:buNone/>
                      </a:pPr>
                      <a:endParaRPr lang="en-US" altLang="zh-CN" sz="1000" dirty="0">
                        <a:solidFill>
                          <a:schemeClr val="tx1"/>
                        </a:solidFill>
                        <a:latin typeface="Roboto" charset="0"/>
                        <a:ea typeface="Roboto" charset="0"/>
                        <a:cs typeface="Arial" panose="020B0604020202020204" pitchFamily="34" charset="0"/>
                      </a:endParaRPr>
                    </a:p>
                  </a:txBody>
                  <a:tcPr anchor="ctr">
                    <a:solidFill>
                      <a:srgbClr val="D6E5D5"/>
                    </a:solidFill>
                  </a:tcPr>
                </a:tc>
                <a:tc>
                  <a:txBody>
                    <a:bodyPr/>
                    <a:lstStyle/>
                    <a:p>
                      <a:pPr algn="ctr">
                        <a:buNone/>
                      </a:pPr>
                      <a:r>
                        <a:rPr lang="en-US" altLang="zh-CN" sz="1000" dirty="0">
                          <a:solidFill>
                            <a:schemeClr val="tx1"/>
                          </a:solidFill>
                          <a:latin typeface="Roboto" charset="0"/>
                          <a:ea typeface="Roboto" charset="0"/>
                          <a:cs typeface="Arial" panose="020B0604020202020204" pitchFamily="34" charset="0"/>
                        </a:rPr>
                        <a:t>Conversion Type</a:t>
                      </a:r>
                      <a:endParaRPr lang="en-US" altLang="zh-CN" sz="1000" dirty="0">
                        <a:solidFill>
                          <a:schemeClr val="tx1"/>
                        </a:solidFill>
                        <a:latin typeface="Roboto" charset="0"/>
                        <a:ea typeface="Roboto" charset="0"/>
                        <a:cs typeface="Arial" panose="020B0604020202020204" pitchFamily="34" charset="0"/>
                      </a:endParaRPr>
                    </a:p>
                  </a:txBody>
                  <a:tcPr anchor="ctr">
                    <a:solidFill>
                      <a:srgbClr val="D6E5D5"/>
                    </a:solidFill>
                  </a:tcPr>
                </a:tc>
                <a:tc>
                  <a:txBody>
                    <a:bodyPr/>
                    <a:lstStyle/>
                    <a:p>
                      <a:pPr algn="ctr">
                        <a:buNone/>
                      </a:pPr>
                      <a:r>
                        <a:rPr lang="en-US" altLang="zh-CN" sz="1000" b="1" kern="1200" dirty="0">
                          <a:solidFill>
                            <a:srgbClr val="70AD47"/>
                          </a:solidFill>
                          <a:latin typeface="Roboto" charset="0"/>
                          <a:ea typeface="Roboto" charset="0"/>
                          <a:cs typeface="Arial" panose="020B0604020202020204" pitchFamily="34" charset="0"/>
                        </a:rPr>
                        <a:t>NetworkHD to NDI &amp;</a:t>
                      </a:r>
                      <a:endParaRPr lang="en-US" altLang="zh-CN" sz="1000" b="1" kern="1200" dirty="0">
                        <a:solidFill>
                          <a:srgbClr val="70AD47"/>
                        </a:solidFill>
                        <a:latin typeface="Roboto" charset="0"/>
                        <a:ea typeface="Roboto" charset="0"/>
                        <a:cs typeface="Arial" panose="020B0604020202020204" pitchFamily="34" charset="0"/>
                      </a:endParaRPr>
                    </a:p>
                    <a:p>
                      <a:pPr algn="ctr">
                        <a:buNone/>
                      </a:pPr>
                      <a:r>
                        <a:rPr lang="en-US" altLang="zh-CN" sz="1000" b="1" kern="1200" dirty="0">
                          <a:solidFill>
                            <a:srgbClr val="70AD47"/>
                          </a:solidFill>
                          <a:latin typeface="Roboto" charset="0"/>
                          <a:ea typeface="Roboto" charset="0"/>
                          <a:cs typeface="Arial" panose="020B0604020202020204" pitchFamily="34" charset="0"/>
                        </a:rPr>
                        <a:t> NDI to NetworkHD</a:t>
                      </a:r>
                      <a:endParaRPr lang="en-US" altLang="zh-CN" sz="1000" b="1" kern="1200" dirty="0">
                        <a:solidFill>
                          <a:srgbClr val="70AD47"/>
                        </a:solidFill>
                        <a:latin typeface="Roboto" charset="0"/>
                        <a:ea typeface="Roboto" charset="0"/>
                        <a:cs typeface="Arial" panose="020B0604020202020204" pitchFamily="34" charset="0"/>
                      </a:endParaRPr>
                    </a:p>
                  </a:txBody>
                  <a:tcPr anchor="ctr">
                    <a:solidFill>
                      <a:srgbClr val="D6E5D5"/>
                    </a:solidFill>
                  </a:tcPr>
                </a:tc>
                <a:tc>
                  <a:txBody>
                    <a:bodyPr/>
                    <a:lstStyle/>
                    <a:p>
                      <a:pPr marL="0" marR="0" lvl="0" indent="0" algn="ctr" defTabSz="914400" rtl="0" eaLnBrk="1" fontAlgn="auto" latinLnBrk="0" hangingPunct="1">
                        <a:lnSpc>
                          <a:spcPts val="1875"/>
                        </a:lnSpc>
                        <a:spcBef>
                          <a:spcPts val="0"/>
                        </a:spcBef>
                        <a:spcAft>
                          <a:spcPts val="0"/>
                        </a:spcAft>
                        <a:buClrTx/>
                        <a:buSzTx/>
                        <a:buFontTx/>
                        <a:buNone/>
                        <a:defRPr/>
                      </a:pPr>
                      <a:r>
                        <a:rPr lang="en-US" altLang="zh-CN" sz="1000" kern="1200" dirty="0">
                          <a:solidFill>
                            <a:schemeClr val="dk1"/>
                          </a:solidFill>
                          <a:latin typeface="Roboto" charset="0"/>
                          <a:ea typeface="Roboto" charset="0"/>
                          <a:cs typeface="Arial" panose="020B0604020202020204" pitchFamily="34" charset="0"/>
                        </a:rPr>
                        <a:t>HDMI to NDI</a:t>
                      </a:r>
                      <a:endParaRPr lang="en-US" altLang="zh-CN" sz="1000" kern="1200" dirty="0">
                        <a:solidFill>
                          <a:schemeClr val="dk1"/>
                        </a:solidFill>
                        <a:latin typeface="Roboto" charset="0"/>
                        <a:ea typeface="Roboto" charset="0"/>
                        <a:cs typeface="Arial" panose="020B0604020202020204" pitchFamily="34" charset="0"/>
                      </a:endParaRPr>
                    </a:p>
                  </a:txBody>
                  <a:tcPr marL="0" marR="0" marT="0" marB="0">
                    <a:solidFill>
                      <a:srgbClr val="D6E5D5"/>
                    </a:solidFill>
                  </a:tcPr>
                </a:tc>
                <a:tc>
                  <a:txBody>
                    <a:bodyPr/>
                    <a:lstStyle/>
                    <a:p>
                      <a:pPr algn="ctr">
                        <a:buNone/>
                      </a:pPr>
                      <a:r>
                        <a:rPr lang="en-US" altLang="zh-CN" sz="1000" dirty="0">
                          <a:latin typeface="Roboto" charset="0"/>
                          <a:ea typeface="Roboto" charset="0"/>
                          <a:cs typeface="Arial" panose="020B0604020202020204" pitchFamily="34" charset="0"/>
                        </a:rPr>
                        <a:t>HDMI to NDI &amp;</a:t>
                      </a:r>
                      <a:endParaRPr lang="en-US" altLang="zh-CN" sz="1000" dirty="0">
                        <a:latin typeface="Roboto" charset="0"/>
                        <a:ea typeface="Roboto" charset="0"/>
                        <a:cs typeface="Arial" panose="020B0604020202020204" pitchFamily="34" charset="0"/>
                      </a:endParaRPr>
                    </a:p>
                    <a:p>
                      <a:pPr algn="ctr">
                        <a:buNone/>
                      </a:pPr>
                      <a:r>
                        <a:rPr lang="en-US" altLang="zh-CN" sz="1000" dirty="0">
                          <a:latin typeface="Roboto" charset="0"/>
                          <a:ea typeface="Roboto" charset="0"/>
                          <a:cs typeface="Arial" panose="020B0604020202020204" pitchFamily="34" charset="0"/>
                        </a:rPr>
                        <a:t>NDI to HDMI</a:t>
                      </a:r>
                      <a:endParaRPr lang="en-US" altLang="zh-CN" sz="1000" dirty="0">
                        <a:latin typeface="Roboto" charset="0"/>
                        <a:ea typeface="Roboto" charset="0"/>
                        <a:cs typeface="Arial" panose="020B0604020202020204" pitchFamily="34" charset="0"/>
                      </a:endParaRPr>
                    </a:p>
                  </a:txBody>
                  <a:tcPr anchor="ctr">
                    <a:solidFill>
                      <a:srgbClr val="D6E5D5"/>
                    </a:solidFill>
                  </a:tcPr>
                </a:tc>
                <a:tc>
                  <a:txBody>
                    <a:bodyPr/>
                    <a:lstStyle/>
                    <a:p>
                      <a:pPr algn="ctr">
                        <a:buNone/>
                      </a:pPr>
                      <a:r>
                        <a:rPr lang="en-US" altLang="zh-CN" sz="1000" dirty="0">
                          <a:latin typeface="Roboto" charset="0"/>
                          <a:ea typeface="Roboto" charset="0"/>
                          <a:cs typeface="Arial" panose="020B0604020202020204" pitchFamily="34" charset="0"/>
                        </a:rPr>
                        <a:t>NDI to HDMI</a:t>
                      </a:r>
                      <a:endParaRPr lang="en-US" altLang="zh-CN" sz="1000" dirty="0">
                        <a:latin typeface="Roboto" charset="0"/>
                        <a:ea typeface="Roboto" charset="0"/>
                        <a:cs typeface="Arial" panose="020B0604020202020204" pitchFamily="34" charset="0"/>
                      </a:endParaRPr>
                    </a:p>
                  </a:txBody>
                  <a:tcPr anchor="ctr">
                    <a:solidFill>
                      <a:srgbClr val="D6E5D5"/>
                    </a:solidFill>
                  </a:tcPr>
                </a:tc>
                <a:tc>
                  <a:txBody>
                    <a:bodyPr/>
                    <a:lstStyle/>
                    <a:p>
                      <a:pPr algn="ctr">
                        <a:buNone/>
                      </a:pPr>
                      <a:r>
                        <a:rPr lang="en-US" altLang="zh-CN" sz="1000" dirty="0">
                          <a:latin typeface="Roboto" charset="0"/>
                          <a:ea typeface="Roboto" charset="0"/>
                          <a:cs typeface="Arial" panose="020B0604020202020204" pitchFamily="34" charset="0"/>
                        </a:rPr>
                        <a:t>HDMI to NDI</a:t>
                      </a:r>
                      <a:endParaRPr lang="en-US" altLang="zh-CN" sz="1000" dirty="0">
                        <a:latin typeface="Roboto" charset="0"/>
                        <a:ea typeface="Roboto" charset="0"/>
                        <a:cs typeface="Arial" panose="020B0604020202020204" pitchFamily="34" charset="0"/>
                      </a:endParaRPr>
                    </a:p>
                  </a:txBody>
                  <a:tcPr anchor="ctr">
                    <a:solidFill>
                      <a:srgbClr val="D6E5D5"/>
                    </a:solidFill>
                  </a:tcPr>
                </a:tc>
              </a:tr>
              <a:tr h="388785">
                <a:tc rowSpan="2">
                  <a:txBody>
                    <a:bodyPr/>
                    <a:lstStyle/>
                    <a:p>
                      <a:pPr algn="ctr">
                        <a:buNone/>
                      </a:pPr>
                      <a:r>
                        <a:rPr lang="en-US" altLang="zh-CN" sz="1000" dirty="0">
                          <a:solidFill>
                            <a:schemeClr val="tx1"/>
                          </a:solidFill>
                          <a:latin typeface="Roboto" charset="0"/>
                          <a:ea typeface="Roboto" charset="0"/>
                          <a:cs typeface="Arial" panose="020B0604020202020204" pitchFamily="34" charset="0"/>
                        </a:rPr>
                        <a:t>Input</a:t>
                      </a:r>
                      <a:endParaRPr lang="en-US" altLang="zh-CN" sz="1000" dirty="0">
                        <a:solidFill>
                          <a:schemeClr val="tx1"/>
                        </a:solidFill>
                        <a:latin typeface="Roboto" charset="0"/>
                        <a:ea typeface="Roboto" charset="0"/>
                        <a:cs typeface="Arial" panose="020B0604020202020204" pitchFamily="34" charset="0"/>
                      </a:endParaRPr>
                    </a:p>
                  </a:txBody>
                  <a:tcPr anchor="ctr">
                    <a:solidFill>
                      <a:srgbClr val="D6E5D5"/>
                    </a:solidFill>
                  </a:tcPr>
                </a:tc>
                <a:tc>
                  <a:txBody>
                    <a:bodyPr/>
                    <a:lstStyle/>
                    <a:p>
                      <a:pPr algn="ctr">
                        <a:buNone/>
                      </a:pPr>
                      <a:r>
                        <a:rPr lang="en-US" altLang="zh-CN" sz="1000" dirty="0">
                          <a:solidFill>
                            <a:schemeClr val="tx1"/>
                          </a:solidFill>
                          <a:latin typeface="Roboto" charset="0"/>
                          <a:ea typeface="Roboto" charset="0"/>
                          <a:cs typeface="Arial" panose="020B0604020202020204" pitchFamily="34" charset="0"/>
                        </a:rPr>
                        <a:t>Video Input</a:t>
                      </a:r>
                      <a:endParaRPr lang="en-US" altLang="zh-CN" sz="1000" dirty="0">
                        <a:solidFill>
                          <a:schemeClr val="tx1"/>
                        </a:solidFill>
                        <a:latin typeface="Roboto" charset="0"/>
                        <a:ea typeface="Roboto" charset="0"/>
                        <a:cs typeface="Arial" panose="020B0604020202020204" pitchFamily="34" charset="0"/>
                      </a:endParaRPr>
                    </a:p>
                  </a:txBody>
                  <a:tcPr anchor="ctr">
                    <a:solidFill>
                      <a:srgbClr val="D6E5D5"/>
                    </a:solidFill>
                  </a:tcPr>
                </a:tc>
                <a:tc>
                  <a:txBody>
                    <a:bodyPr/>
                    <a:lstStyle/>
                    <a:p>
                      <a:pPr algn="ctr">
                        <a:buNone/>
                      </a:pPr>
                      <a:r>
                        <a:rPr lang="en-US" altLang="zh-CN" sz="1000" b="1" kern="1200" dirty="0">
                          <a:solidFill>
                            <a:srgbClr val="70AD47"/>
                          </a:solidFill>
                          <a:latin typeface="Roboto" charset="0"/>
                          <a:ea typeface="Roboto" charset="0"/>
                          <a:cs typeface="Arial" panose="020B0604020202020204" pitchFamily="34" charset="0"/>
                        </a:rPr>
                        <a:t>8x NDI stream,</a:t>
                      </a:r>
                      <a:endParaRPr lang="en-US" altLang="zh-CN" sz="1000" b="1" kern="1200" dirty="0">
                        <a:solidFill>
                          <a:srgbClr val="70AD47"/>
                        </a:solidFill>
                        <a:latin typeface="Roboto" charset="0"/>
                        <a:ea typeface="Roboto" charset="0"/>
                        <a:cs typeface="Arial" panose="020B0604020202020204" pitchFamily="34" charset="0"/>
                      </a:endParaRPr>
                    </a:p>
                    <a:p>
                      <a:pPr algn="ctr">
                        <a:buNone/>
                      </a:pPr>
                      <a:r>
                        <a:rPr lang="en-US" altLang="zh-CN" sz="1000" b="1" kern="1200" dirty="0">
                          <a:solidFill>
                            <a:srgbClr val="70AD47"/>
                          </a:solidFill>
                          <a:latin typeface="Roboto" charset="0"/>
                          <a:ea typeface="Roboto" charset="0"/>
                          <a:cs typeface="Arial" panose="020B0604020202020204" pitchFamily="34" charset="0"/>
                        </a:rPr>
                        <a:t>1x NetworkHD stream</a:t>
                      </a:r>
                      <a:endParaRPr lang="en-US" altLang="zh-CN" sz="1000" b="1" kern="1200" dirty="0">
                        <a:solidFill>
                          <a:srgbClr val="70AD47"/>
                        </a:solidFill>
                        <a:latin typeface="Roboto" charset="0"/>
                        <a:ea typeface="Roboto" charset="0"/>
                        <a:cs typeface="Arial" panose="020B0604020202020204" pitchFamily="34" charset="0"/>
                      </a:endParaRPr>
                    </a:p>
                  </a:txBody>
                  <a:tcPr anchor="ctr">
                    <a:solidFill>
                      <a:srgbClr val="D6E5D5"/>
                    </a:solidFill>
                  </a:tcPr>
                </a:tc>
                <a:tc>
                  <a:txBody>
                    <a:bodyPr/>
                    <a:lstStyle/>
                    <a:p>
                      <a:pPr marL="0" marR="0" lvl="0" indent="0" algn="ctr" defTabSz="914400" rtl="0" eaLnBrk="1" fontAlgn="auto" latinLnBrk="0" hangingPunct="1">
                        <a:lnSpc>
                          <a:spcPts val="1875"/>
                        </a:lnSpc>
                        <a:spcBef>
                          <a:spcPts val="0"/>
                        </a:spcBef>
                        <a:spcAft>
                          <a:spcPts val="0"/>
                        </a:spcAft>
                        <a:buClrTx/>
                        <a:buSzTx/>
                        <a:buFontTx/>
                        <a:buNone/>
                        <a:defRPr/>
                      </a:pPr>
                      <a:r>
                        <a:rPr lang="en-US" altLang="zh-CN" sz="1000" kern="1200" dirty="0">
                          <a:solidFill>
                            <a:schemeClr val="dk1"/>
                          </a:solidFill>
                          <a:latin typeface="Roboto" charset="0"/>
                          <a:ea typeface="Roboto" charset="0"/>
                          <a:cs typeface="Arial" panose="020B0604020202020204" pitchFamily="34" charset="0"/>
                        </a:rPr>
                        <a:t>4x HDMI input</a:t>
                      </a:r>
                      <a:endParaRPr lang="en-US" altLang="zh-CN" sz="1000" kern="1200" dirty="0">
                        <a:solidFill>
                          <a:schemeClr val="dk1"/>
                        </a:solidFill>
                        <a:latin typeface="Roboto" charset="0"/>
                        <a:ea typeface="Roboto" charset="0"/>
                        <a:cs typeface="Arial" panose="020B0604020202020204" pitchFamily="34" charset="0"/>
                      </a:endParaRPr>
                    </a:p>
                  </a:txBody>
                  <a:tcPr marL="0" marR="0" marT="0" marB="0">
                    <a:solidFill>
                      <a:srgbClr val="D6E5D5"/>
                    </a:solidFill>
                  </a:tcPr>
                </a:tc>
                <a:tc>
                  <a:txBody>
                    <a:bodyPr/>
                    <a:lstStyle/>
                    <a:p>
                      <a:pPr algn="ctr">
                        <a:buNone/>
                      </a:pPr>
                      <a:r>
                        <a:rPr lang="en-US" altLang="zh-CN" sz="1000" dirty="0">
                          <a:latin typeface="Roboto" charset="0"/>
                          <a:ea typeface="Roboto" charset="0"/>
                          <a:cs typeface="Arial" panose="020B0604020202020204" pitchFamily="34" charset="0"/>
                        </a:rPr>
                        <a:t>1x HDMI in,</a:t>
                      </a:r>
                      <a:endParaRPr lang="en-US" altLang="zh-CN" sz="1000" dirty="0">
                        <a:latin typeface="Roboto" charset="0"/>
                        <a:ea typeface="Roboto" charset="0"/>
                        <a:cs typeface="Arial" panose="020B0604020202020204" pitchFamily="34" charset="0"/>
                      </a:endParaRPr>
                    </a:p>
                    <a:p>
                      <a:pPr algn="ctr">
                        <a:buNone/>
                      </a:pPr>
                      <a:r>
                        <a:rPr lang="en-US" altLang="zh-CN" sz="1000" dirty="0">
                          <a:latin typeface="Roboto" charset="0"/>
                          <a:ea typeface="Roboto" charset="0"/>
                          <a:cs typeface="Arial" panose="020B0604020202020204" pitchFamily="34" charset="0"/>
                        </a:rPr>
                        <a:t>1x NDI stream</a:t>
                      </a:r>
                      <a:endParaRPr lang="en-US" altLang="zh-CN" sz="1000" dirty="0">
                        <a:latin typeface="Roboto" charset="0"/>
                        <a:ea typeface="Roboto" charset="0"/>
                        <a:cs typeface="Arial" panose="020B0604020202020204" pitchFamily="34" charset="0"/>
                      </a:endParaRPr>
                    </a:p>
                  </a:txBody>
                  <a:tcPr anchor="ctr">
                    <a:solidFill>
                      <a:srgbClr val="D6E5D5"/>
                    </a:solidFill>
                  </a:tcPr>
                </a:tc>
                <a:tc>
                  <a:txBody>
                    <a:bodyPr/>
                    <a:lstStyle/>
                    <a:p>
                      <a:pPr algn="ctr">
                        <a:buNone/>
                      </a:pPr>
                      <a:r>
                        <a:rPr lang="en-US" altLang="zh-CN" sz="1000" dirty="0">
                          <a:latin typeface="Roboto" charset="0"/>
                          <a:ea typeface="Roboto" charset="0"/>
                          <a:cs typeface="Arial" panose="020B0604020202020204" pitchFamily="34" charset="0"/>
                        </a:rPr>
                        <a:t>1x NDI stream</a:t>
                      </a:r>
                      <a:endParaRPr lang="en-US" altLang="zh-CN" sz="1000" dirty="0">
                        <a:latin typeface="Roboto" charset="0"/>
                        <a:ea typeface="Roboto" charset="0"/>
                        <a:cs typeface="Arial" panose="020B0604020202020204" pitchFamily="34" charset="0"/>
                      </a:endParaRPr>
                    </a:p>
                  </a:txBody>
                  <a:tcPr anchor="ctr">
                    <a:solidFill>
                      <a:srgbClr val="D6E5D5"/>
                    </a:solidFill>
                  </a:tcPr>
                </a:tc>
                <a:tc>
                  <a:txBody>
                    <a:bodyPr/>
                    <a:lstStyle/>
                    <a:p>
                      <a:pPr algn="ctr">
                        <a:buNone/>
                      </a:pPr>
                      <a:r>
                        <a:rPr lang="en-US" altLang="zh-CN" sz="1000" dirty="0">
                          <a:latin typeface="Roboto" charset="0"/>
                          <a:ea typeface="Roboto" charset="0"/>
                          <a:cs typeface="Arial" panose="020B0604020202020204" pitchFamily="34" charset="0"/>
                        </a:rPr>
                        <a:t>1x HDMI in</a:t>
                      </a:r>
                      <a:endParaRPr lang="en-US" altLang="zh-CN" sz="1000" dirty="0">
                        <a:latin typeface="Roboto" charset="0"/>
                        <a:ea typeface="Roboto" charset="0"/>
                        <a:cs typeface="Arial" panose="020B0604020202020204" pitchFamily="34" charset="0"/>
                      </a:endParaRPr>
                    </a:p>
                  </a:txBody>
                  <a:tcPr anchor="ctr">
                    <a:solidFill>
                      <a:srgbClr val="D6E5D5"/>
                    </a:solidFill>
                  </a:tcPr>
                </a:tc>
              </a:tr>
              <a:tr h="240545">
                <a:tc vMerge="1">
                  <a:tcPr anchor="ctr">
                    <a:solidFill>
                      <a:srgbClr val="E3F2E2"/>
                    </a:solidFill>
                  </a:tcPr>
                </a:tc>
                <a:tc>
                  <a:txBody>
                    <a:bodyPr/>
                    <a:lstStyle/>
                    <a:p>
                      <a:pPr algn="ctr">
                        <a:buNone/>
                      </a:pPr>
                      <a:r>
                        <a:rPr lang="en-US" altLang="zh-CN" sz="1000" dirty="0">
                          <a:solidFill>
                            <a:schemeClr val="tx1"/>
                          </a:solidFill>
                          <a:latin typeface="Roboto" charset="0"/>
                          <a:ea typeface="Roboto" charset="0"/>
                          <a:cs typeface="Arial" panose="020B0604020202020204" pitchFamily="34" charset="0"/>
                        </a:rPr>
                        <a:t>Input Timing</a:t>
                      </a:r>
                      <a:endParaRPr lang="en-US" altLang="zh-CN" sz="1000" dirty="0">
                        <a:solidFill>
                          <a:schemeClr val="tx1"/>
                        </a:solidFill>
                        <a:latin typeface="Roboto" charset="0"/>
                        <a:ea typeface="Roboto" charset="0"/>
                        <a:cs typeface="Arial" panose="020B0604020202020204" pitchFamily="34" charset="0"/>
                      </a:endParaRPr>
                    </a:p>
                  </a:txBody>
                  <a:tcPr anchor="ctr">
                    <a:solidFill>
                      <a:srgbClr val="E3F2E2"/>
                    </a:solidFill>
                  </a:tcPr>
                </a:tc>
                <a:tc>
                  <a:txBody>
                    <a:bodyPr/>
                    <a:lstStyle/>
                    <a:p>
                      <a:pPr marL="107950" algn="ctr">
                        <a:lnSpc>
                          <a:spcPct val="100000"/>
                        </a:lnSpc>
                        <a:spcBef>
                          <a:spcPts val="300"/>
                        </a:spcBef>
                        <a:spcAft>
                          <a:spcPts val="300"/>
                        </a:spcAft>
                        <a:buNone/>
                      </a:pPr>
                      <a:r>
                        <a:rPr lang="en-US" sz="1000" dirty="0">
                          <a:effectLst/>
                          <a:latin typeface="Roboto" charset="0"/>
                          <a:ea typeface="Roboto" charset="0"/>
                          <a:cs typeface="Arial" panose="020B0604020202020204" pitchFamily="34" charset="0"/>
                        </a:rPr>
                        <a:t>Up to 4K@30Hz NetworkHD stream</a:t>
                      </a:r>
                      <a:endParaRPr lang="en-US" sz="1000" dirty="0">
                        <a:effectLst/>
                        <a:latin typeface="Roboto" charset="0"/>
                        <a:ea typeface="Roboto" charset="0"/>
                        <a:cs typeface="Arial" panose="020B0604020202020204" pitchFamily="34" charset="0"/>
                      </a:endParaRPr>
                    </a:p>
                    <a:p>
                      <a:pPr marL="107950" algn="ctr">
                        <a:lnSpc>
                          <a:spcPct val="100000"/>
                        </a:lnSpc>
                        <a:spcBef>
                          <a:spcPts val="300"/>
                        </a:spcBef>
                        <a:spcAft>
                          <a:spcPts val="300"/>
                        </a:spcAft>
                        <a:buNone/>
                      </a:pPr>
                      <a:r>
                        <a:rPr lang="en-US" sz="1000" dirty="0">
                          <a:effectLst/>
                          <a:latin typeface="Roboto" charset="0"/>
                          <a:ea typeface="Roboto" charset="0"/>
                          <a:cs typeface="Arial" panose="020B0604020202020204" pitchFamily="34" charset="0"/>
                        </a:rPr>
                        <a:t>Up to 4K@30Hz NDI stream</a:t>
                      </a:r>
                      <a:endParaRPr lang="en-US" sz="1000" dirty="0">
                        <a:effectLst/>
                        <a:latin typeface="Roboto" charset="0"/>
                        <a:ea typeface="Roboto" charset="0"/>
                        <a:cs typeface="Arial" panose="020B0604020202020204" pitchFamily="34" charset="0"/>
                      </a:endParaRPr>
                    </a:p>
                  </a:txBody>
                  <a:tcPr anchor="ctr">
                    <a:solidFill>
                      <a:srgbClr val="E3F2E2"/>
                    </a:solidFill>
                  </a:tcPr>
                </a:tc>
                <a:tc>
                  <a:txBody>
                    <a:bodyPr/>
                    <a:lstStyle/>
                    <a:p>
                      <a:pPr algn="ctr">
                        <a:buNone/>
                      </a:pPr>
                      <a:r>
                        <a:rPr lang="en-US" altLang="zh-CN" sz="1000" dirty="0">
                          <a:latin typeface="Roboto" charset="0"/>
                          <a:ea typeface="Roboto" charset="0"/>
                          <a:cs typeface="Arial" panose="020B0604020202020204" pitchFamily="34" charset="0"/>
                        </a:rPr>
                        <a:t>Up to 4K@30Hz HDMI input</a:t>
                      </a:r>
                      <a:endParaRPr lang="en-US" altLang="zh-CN" sz="1000" dirty="0">
                        <a:latin typeface="Roboto" charset="0"/>
                        <a:ea typeface="Roboto" charset="0"/>
                        <a:cs typeface="Arial" panose="020B0604020202020204" pitchFamily="34" charset="0"/>
                      </a:endParaRPr>
                    </a:p>
                  </a:txBody>
                  <a:tcPr anchor="ctr">
                    <a:solidFill>
                      <a:srgbClr val="E3F2E2"/>
                    </a:solidFill>
                  </a:tcPr>
                </a:tc>
                <a:tc>
                  <a:txBody>
                    <a:bodyPr/>
                    <a:lstStyle/>
                    <a:p>
                      <a:pPr algn="ctr">
                        <a:buNone/>
                      </a:pPr>
                      <a:r>
                        <a:rPr lang="en-US" altLang="zh-CN" sz="1000" dirty="0">
                          <a:latin typeface="Roboto" charset="0"/>
                          <a:ea typeface="Roboto" charset="0"/>
                          <a:cs typeface="Arial" panose="020B0604020202020204" pitchFamily="34" charset="0"/>
                        </a:rPr>
                        <a:t>Up to4K@60Hz NDI stream</a:t>
                      </a:r>
                      <a:endParaRPr lang="en-US" altLang="zh-CN" sz="1000" dirty="0">
                        <a:latin typeface="Roboto" charset="0"/>
                        <a:ea typeface="Roboto" charset="0"/>
                        <a:cs typeface="Arial" panose="020B0604020202020204" pitchFamily="34" charset="0"/>
                      </a:endParaRPr>
                    </a:p>
                    <a:p>
                      <a:pPr algn="ctr">
                        <a:buNone/>
                      </a:pPr>
                      <a:r>
                        <a:rPr lang="en-US" altLang="zh-CN" sz="1000" dirty="0">
                          <a:latin typeface="Roboto" charset="0"/>
                          <a:ea typeface="Roboto" charset="0"/>
                          <a:cs typeface="Arial" panose="020B0604020202020204" pitchFamily="34" charset="0"/>
                        </a:rPr>
                        <a:t>Up to 4K@60Hz HDMI input</a:t>
                      </a:r>
                      <a:endParaRPr lang="en-US" altLang="zh-CN" sz="1000" dirty="0">
                        <a:latin typeface="Roboto" charset="0"/>
                        <a:ea typeface="Roboto" charset="0"/>
                        <a:cs typeface="Arial" panose="020B0604020202020204" pitchFamily="34" charset="0"/>
                      </a:endParaRPr>
                    </a:p>
                  </a:txBody>
                  <a:tcPr anchor="ctr">
                    <a:solidFill>
                      <a:srgbClr val="E3F2E2"/>
                    </a:solidFill>
                  </a:tcPr>
                </a:tc>
                <a:tc>
                  <a:txBody>
                    <a:bodyPr/>
                    <a:lstStyle/>
                    <a:p>
                      <a:pPr algn="ctr">
                        <a:buNone/>
                      </a:pPr>
                      <a:r>
                        <a:rPr lang="en-US" altLang="zh-CN" sz="1000" dirty="0">
                          <a:latin typeface="Roboto" charset="0"/>
                          <a:ea typeface="Roboto" charset="0"/>
                          <a:cs typeface="Arial" panose="020B0604020202020204" pitchFamily="34" charset="0"/>
                        </a:rPr>
                        <a:t>Up to 4K@60Hz NDI stream</a:t>
                      </a:r>
                      <a:endParaRPr lang="en-US" altLang="zh-CN" sz="1000" dirty="0">
                        <a:latin typeface="Roboto" charset="0"/>
                        <a:ea typeface="Roboto" charset="0"/>
                        <a:cs typeface="Arial" panose="020B0604020202020204" pitchFamily="34" charset="0"/>
                      </a:endParaRPr>
                    </a:p>
                  </a:txBody>
                  <a:tcPr anchor="ctr">
                    <a:solidFill>
                      <a:srgbClr val="E3F2E2"/>
                    </a:solidFill>
                  </a:tcPr>
                </a:tc>
                <a:tc>
                  <a:txBody>
                    <a:bodyPr/>
                    <a:lstStyle/>
                    <a:p>
                      <a:pPr algn="ctr">
                        <a:buNone/>
                      </a:pPr>
                      <a:r>
                        <a:rPr lang="en-US" altLang="zh-CN" sz="1000" dirty="0">
                          <a:latin typeface="Roboto" charset="0"/>
                          <a:ea typeface="Roboto" charset="0"/>
                          <a:cs typeface="Arial" panose="020B0604020202020204" pitchFamily="34" charset="0"/>
                        </a:rPr>
                        <a:t>Up to 4K@60Hz HDMI input</a:t>
                      </a:r>
                      <a:endParaRPr lang="en-US" altLang="zh-CN" sz="1000" dirty="0">
                        <a:latin typeface="Roboto" charset="0"/>
                        <a:ea typeface="Roboto" charset="0"/>
                        <a:cs typeface="Arial" panose="020B0604020202020204" pitchFamily="34" charset="0"/>
                      </a:endParaRPr>
                    </a:p>
                  </a:txBody>
                  <a:tcPr anchor="ctr">
                    <a:solidFill>
                      <a:srgbClr val="E3F2E2"/>
                    </a:solidFill>
                  </a:tcPr>
                </a:tc>
              </a:tr>
              <a:tr h="265276">
                <a:tc rowSpan="2">
                  <a:txBody>
                    <a:bodyPr/>
                    <a:lstStyle/>
                    <a:p>
                      <a:pPr algn="ctr">
                        <a:buNone/>
                      </a:pPr>
                      <a:r>
                        <a:rPr lang="en-US" altLang="zh-CN" sz="1000" dirty="0">
                          <a:solidFill>
                            <a:schemeClr val="tx1"/>
                          </a:solidFill>
                          <a:latin typeface="Roboto" charset="0"/>
                          <a:cs typeface="Arial" panose="020B0604020202020204" pitchFamily="34" charset="0"/>
                        </a:rPr>
                        <a:t>Output</a:t>
                      </a:r>
                      <a:endParaRPr lang="zh-CN" altLang="en-US" sz="1000" dirty="0">
                        <a:solidFill>
                          <a:schemeClr val="tx1"/>
                        </a:solidFill>
                        <a:latin typeface="Roboto" charset="0"/>
                        <a:cs typeface="Arial" panose="020B0604020202020204" pitchFamily="34" charset="0"/>
                      </a:endParaRPr>
                    </a:p>
                  </a:txBody>
                  <a:tcPr anchor="ctr">
                    <a:solidFill>
                      <a:srgbClr val="D6E5D5"/>
                    </a:solidFill>
                  </a:tcPr>
                </a:tc>
                <a:tc>
                  <a:txBody>
                    <a:bodyPr/>
                    <a:lstStyle/>
                    <a:p>
                      <a:pPr algn="ctr">
                        <a:buNone/>
                      </a:pPr>
                      <a:r>
                        <a:rPr lang="en-US" altLang="zh-CN" sz="1000" dirty="0">
                          <a:solidFill>
                            <a:schemeClr val="tx1"/>
                          </a:solidFill>
                          <a:latin typeface="Roboto" charset="0"/>
                          <a:cs typeface="Arial" panose="020B0604020202020204" pitchFamily="34" charset="0"/>
                        </a:rPr>
                        <a:t>Video Output</a:t>
                      </a:r>
                      <a:endParaRPr lang="zh-CN" altLang="en-US" sz="1000" dirty="0">
                        <a:solidFill>
                          <a:schemeClr val="tx1"/>
                        </a:solidFill>
                        <a:latin typeface="Roboto" charset="0"/>
                        <a:cs typeface="Arial" panose="020B0604020202020204" pitchFamily="34" charset="0"/>
                      </a:endParaRPr>
                    </a:p>
                  </a:txBody>
                  <a:tcPr anchor="ctr">
                    <a:solidFill>
                      <a:srgbClr val="D6E5D5"/>
                    </a:solidFill>
                  </a:tcPr>
                </a:tc>
                <a:tc>
                  <a:txBody>
                    <a:bodyPr/>
                    <a:lstStyle/>
                    <a:p>
                      <a:pPr algn="ctr">
                        <a:buNone/>
                      </a:pPr>
                      <a:r>
                        <a:rPr lang="en-US" altLang="zh-CN" sz="1000" b="1" kern="1200" dirty="0">
                          <a:solidFill>
                            <a:srgbClr val="70AD47"/>
                          </a:solidFill>
                          <a:latin typeface="Roboto" charset="0"/>
                          <a:ea typeface="Roboto" charset="0"/>
                          <a:cs typeface="Arial" panose="020B0604020202020204" pitchFamily="34" charset="0"/>
                        </a:rPr>
                        <a:t>8x NetworkHD stream,</a:t>
                      </a:r>
                      <a:endParaRPr lang="en-US" altLang="zh-CN" sz="1000" b="1" kern="1200" dirty="0">
                        <a:solidFill>
                          <a:srgbClr val="70AD47"/>
                        </a:solidFill>
                        <a:latin typeface="Roboto" charset="0"/>
                        <a:ea typeface="Roboto" charset="0"/>
                        <a:cs typeface="Arial" panose="020B0604020202020204" pitchFamily="34" charset="0"/>
                      </a:endParaRPr>
                    </a:p>
                    <a:p>
                      <a:pPr algn="ctr">
                        <a:buNone/>
                      </a:pPr>
                      <a:r>
                        <a:rPr lang="en-US" altLang="zh-CN" sz="1000" b="1" kern="1200" dirty="0">
                          <a:solidFill>
                            <a:srgbClr val="70AD47"/>
                          </a:solidFill>
                          <a:latin typeface="Roboto" charset="0"/>
                          <a:ea typeface="Roboto" charset="0"/>
                          <a:cs typeface="Arial" panose="020B0604020202020204" pitchFamily="34" charset="0"/>
                        </a:rPr>
                        <a:t>1x NDI stream</a:t>
                      </a:r>
                      <a:endParaRPr lang="en-US" altLang="zh-CN" sz="1000" b="1" kern="1200" dirty="0">
                        <a:solidFill>
                          <a:srgbClr val="70AD47"/>
                        </a:solidFill>
                        <a:latin typeface="Roboto" charset="0"/>
                        <a:ea typeface="Roboto" charset="0"/>
                        <a:cs typeface="Arial" panose="020B0604020202020204" pitchFamily="34" charset="0"/>
                      </a:endParaRPr>
                    </a:p>
                  </a:txBody>
                  <a:tcPr anchor="ctr">
                    <a:solidFill>
                      <a:srgbClr val="D6E5D5"/>
                    </a:solidFill>
                  </a:tcPr>
                </a:tc>
                <a:tc>
                  <a:txBody>
                    <a:bodyPr/>
                    <a:lstStyle/>
                    <a:p>
                      <a:pPr algn="ctr">
                        <a:buNone/>
                      </a:pPr>
                      <a:r>
                        <a:rPr lang="en-US" altLang="zh-CN" sz="1000" dirty="0">
                          <a:latin typeface="Roboto" charset="0"/>
                          <a:cs typeface="Arial" panose="020B0604020202020204" pitchFamily="34" charset="0"/>
                        </a:rPr>
                        <a:t>4x NDI stream</a:t>
                      </a:r>
                      <a:endParaRPr lang="zh-CN" altLang="en-US" sz="1000" dirty="0">
                        <a:latin typeface="Roboto" charset="0"/>
                        <a:cs typeface="Arial" panose="020B0604020202020204" pitchFamily="34" charset="0"/>
                      </a:endParaRPr>
                    </a:p>
                  </a:txBody>
                  <a:tcPr anchor="ctr">
                    <a:solidFill>
                      <a:srgbClr val="D6E5D5"/>
                    </a:solidFill>
                  </a:tcPr>
                </a:tc>
                <a:tc>
                  <a:txBody>
                    <a:bodyPr/>
                    <a:lstStyle/>
                    <a:p>
                      <a:pPr algn="ctr">
                        <a:buNone/>
                      </a:pPr>
                      <a:r>
                        <a:rPr lang="en-US" altLang="zh-CN" sz="1000" dirty="0">
                          <a:latin typeface="Roboto" charset="0"/>
                          <a:ea typeface="Roboto" charset="0"/>
                          <a:cs typeface="Arial" panose="020B0604020202020204" pitchFamily="34" charset="0"/>
                        </a:rPr>
                        <a:t>1x HDMI out,</a:t>
                      </a:r>
                      <a:endParaRPr lang="en-US" altLang="zh-CN" sz="1000" dirty="0">
                        <a:latin typeface="Roboto" charset="0"/>
                        <a:ea typeface="Roboto" charset="0"/>
                        <a:cs typeface="Arial" panose="020B0604020202020204" pitchFamily="34" charset="0"/>
                      </a:endParaRPr>
                    </a:p>
                    <a:p>
                      <a:pPr algn="ctr">
                        <a:buNone/>
                      </a:pPr>
                      <a:r>
                        <a:rPr lang="en-US" altLang="zh-CN" sz="1000" dirty="0">
                          <a:latin typeface="Roboto" charset="0"/>
                          <a:ea typeface="Roboto" charset="0"/>
                          <a:cs typeface="Arial" panose="020B0604020202020204" pitchFamily="34" charset="0"/>
                        </a:rPr>
                        <a:t>1x NDI stream</a:t>
                      </a:r>
                      <a:endParaRPr lang="en-US" altLang="zh-CN" sz="1000" dirty="0">
                        <a:latin typeface="Roboto" charset="0"/>
                        <a:ea typeface="Roboto" charset="0"/>
                        <a:cs typeface="Arial" panose="020B0604020202020204" pitchFamily="34" charset="0"/>
                      </a:endParaRPr>
                    </a:p>
                  </a:txBody>
                  <a:tcPr anchor="ctr">
                    <a:solidFill>
                      <a:srgbClr val="D6E5D5"/>
                    </a:solidFill>
                  </a:tcPr>
                </a:tc>
                <a:tc>
                  <a:txBody>
                    <a:bodyPr/>
                    <a:lstStyle/>
                    <a:p>
                      <a:pPr algn="ctr">
                        <a:buNone/>
                      </a:pPr>
                      <a:r>
                        <a:rPr lang="en-US" altLang="zh-CN" sz="1000" dirty="0">
                          <a:latin typeface="Roboto" charset="0"/>
                          <a:ea typeface="Roboto" charset="0"/>
                          <a:cs typeface="Arial" panose="020B0604020202020204" pitchFamily="34" charset="0"/>
                        </a:rPr>
                        <a:t>1x HDMI out</a:t>
                      </a:r>
                      <a:endParaRPr lang="en-US" altLang="zh-CN" sz="1000" dirty="0">
                        <a:latin typeface="Roboto" charset="0"/>
                        <a:ea typeface="Roboto" charset="0"/>
                        <a:cs typeface="Arial" panose="020B0604020202020204" pitchFamily="34" charset="0"/>
                      </a:endParaRPr>
                    </a:p>
                  </a:txBody>
                  <a:tcPr anchor="ctr">
                    <a:solidFill>
                      <a:srgbClr val="D6E5D5"/>
                    </a:solidFill>
                  </a:tcPr>
                </a:tc>
                <a:tc>
                  <a:txBody>
                    <a:bodyPr/>
                    <a:lstStyle/>
                    <a:p>
                      <a:pPr algn="ctr">
                        <a:buNone/>
                      </a:pPr>
                      <a:r>
                        <a:rPr lang="en-US" altLang="zh-CN" sz="1000" dirty="0">
                          <a:latin typeface="Roboto" charset="0"/>
                          <a:ea typeface="Roboto" charset="0"/>
                          <a:cs typeface="Arial" panose="020B0604020202020204" pitchFamily="34" charset="0"/>
                        </a:rPr>
                        <a:t>1x HDMI loop out</a:t>
                      </a:r>
                      <a:endParaRPr lang="en-US" altLang="zh-CN" sz="1000" dirty="0">
                        <a:latin typeface="Roboto" charset="0"/>
                        <a:ea typeface="Roboto" charset="0"/>
                        <a:cs typeface="Arial" panose="020B0604020202020204" pitchFamily="34" charset="0"/>
                      </a:endParaRPr>
                    </a:p>
                    <a:p>
                      <a:pPr algn="ctr">
                        <a:buNone/>
                      </a:pPr>
                      <a:r>
                        <a:rPr lang="en-US" altLang="zh-CN" sz="1000" dirty="0">
                          <a:latin typeface="Roboto" charset="0"/>
                          <a:ea typeface="Roboto" charset="0"/>
                          <a:cs typeface="Arial" panose="020B0604020202020204" pitchFamily="34" charset="0"/>
                        </a:rPr>
                        <a:t>1x NDI stream</a:t>
                      </a:r>
                      <a:endParaRPr lang="en-US" altLang="zh-CN" sz="1000" dirty="0">
                        <a:latin typeface="Roboto" charset="0"/>
                        <a:ea typeface="Roboto" charset="0"/>
                        <a:cs typeface="Arial" panose="020B0604020202020204" pitchFamily="34" charset="0"/>
                      </a:endParaRPr>
                    </a:p>
                  </a:txBody>
                  <a:tcPr anchor="ctr">
                    <a:solidFill>
                      <a:srgbClr val="D6E5D5"/>
                    </a:solidFill>
                  </a:tcPr>
                </a:tc>
              </a:tr>
              <a:tr h="240545">
                <a:tc vMerge="1">
                  <a:tcPr anchor="ctr">
                    <a:solidFill>
                      <a:srgbClr val="E3F2E2"/>
                    </a:solidFill>
                  </a:tcPr>
                </a:tc>
                <a:tc>
                  <a:txBody>
                    <a:bodyPr/>
                    <a:lstStyle/>
                    <a:p>
                      <a:pPr algn="ctr">
                        <a:buNone/>
                      </a:pPr>
                      <a:r>
                        <a:rPr lang="en-US" altLang="zh-CN" sz="1000" dirty="0">
                          <a:solidFill>
                            <a:schemeClr val="tx1"/>
                          </a:solidFill>
                          <a:latin typeface="Roboto" charset="0"/>
                          <a:ea typeface="Roboto" charset="0"/>
                          <a:cs typeface="Arial" panose="020B0604020202020204" pitchFamily="34" charset="0"/>
                        </a:rPr>
                        <a:t>Output Timing</a:t>
                      </a:r>
                      <a:endParaRPr lang="en-US" altLang="zh-CN" sz="1000" dirty="0">
                        <a:solidFill>
                          <a:schemeClr val="tx1"/>
                        </a:solidFill>
                        <a:latin typeface="Roboto" charset="0"/>
                        <a:ea typeface="Roboto" charset="0"/>
                        <a:cs typeface="Arial" panose="020B0604020202020204" pitchFamily="34" charset="0"/>
                      </a:endParaRPr>
                    </a:p>
                  </a:txBody>
                  <a:tcPr anchor="ctr">
                    <a:solidFill>
                      <a:srgbClr val="E3F2E2"/>
                    </a:solidFill>
                  </a:tcPr>
                </a:tc>
                <a:tc>
                  <a:txBody>
                    <a:bodyPr/>
                    <a:lstStyle/>
                    <a:p>
                      <a:pPr marL="107950" algn="ctr" defTabSz="914400" rtl="0" eaLnBrk="1" latinLnBrk="0" hangingPunct="1">
                        <a:lnSpc>
                          <a:spcPct val="100000"/>
                        </a:lnSpc>
                        <a:spcBef>
                          <a:spcPts val="300"/>
                        </a:spcBef>
                        <a:spcAft>
                          <a:spcPts val="300"/>
                        </a:spcAft>
                        <a:buClrTx/>
                        <a:buSzTx/>
                        <a:buFontTx/>
                        <a:buNone/>
                      </a:pPr>
                      <a:r>
                        <a:rPr lang="en-US" sz="1000" kern="1200" dirty="0">
                          <a:solidFill>
                            <a:schemeClr val="dk1"/>
                          </a:solidFill>
                          <a:effectLst/>
                          <a:latin typeface="Roboto" charset="0"/>
                          <a:ea typeface="Roboto" charset="0"/>
                          <a:cs typeface="Arial" panose="020B0604020202020204" pitchFamily="34" charset="0"/>
                        </a:rPr>
                        <a:t>Up to 4K@30Hz NDI stream</a:t>
                      </a:r>
                      <a:endParaRPr lang="en-US" sz="1000" kern="1200" dirty="0">
                        <a:solidFill>
                          <a:schemeClr val="dk1"/>
                        </a:solidFill>
                        <a:effectLst/>
                        <a:latin typeface="Roboto" charset="0"/>
                        <a:ea typeface="Roboto" charset="0"/>
                        <a:cs typeface="Arial" panose="020B0604020202020204" pitchFamily="34" charset="0"/>
                      </a:endParaRPr>
                    </a:p>
                    <a:p>
                      <a:pPr marL="107950" algn="ctr" defTabSz="914400" rtl="0" eaLnBrk="1" latinLnBrk="0" hangingPunct="1">
                        <a:lnSpc>
                          <a:spcPct val="100000"/>
                        </a:lnSpc>
                        <a:spcBef>
                          <a:spcPts val="300"/>
                        </a:spcBef>
                        <a:spcAft>
                          <a:spcPts val="300"/>
                        </a:spcAft>
                        <a:buClrTx/>
                        <a:buSzTx/>
                        <a:buFontTx/>
                        <a:buNone/>
                      </a:pPr>
                      <a:r>
                        <a:rPr lang="en-US" sz="1000" kern="1200" dirty="0">
                          <a:solidFill>
                            <a:schemeClr val="dk1"/>
                          </a:solidFill>
                          <a:effectLst/>
                          <a:latin typeface="Roboto" charset="0"/>
                          <a:ea typeface="Roboto" charset="0"/>
                          <a:cs typeface="Arial" panose="020B0604020202020204" pitchFamily="34" charset="0"/>
                        </a:rPr>
                        <a:t>Up to 4K@30Hz NetworkHD stream</a:t>
                      </a:r>
                      <a:endParaRPr lang="en-US" sz="1000" kern="1200" dirty="0">
                        <a:solidFill>
                          <a:schemeClr val="dk1"/>
                        </a:solidFill>
                        <a:effectLst/>
                        <a:latin typeface="Roboto" charset="0"/>
                        <a:ea typeface="Roboto" charset="0"/>
                        <a:cs typeface="Arial" panose="020B0604020202020204" pitchFamily="34" charset="0"/>
                      </a:endParaRPr>
                    </a:p>
                  </a:txBody>
                  <a:tcPr anchor="ctr">
                    <a:solidFill>
                      <a:srgbClr val="E3F2E2"/>
                    </a:solidFill>
                  </a:tcPr>
                </a:tc>
                <a:tc>
                  <a:txBody>
                    <a:bodyPr/>
                    <a:lstStyle/>
                    <a:p>
                      <a:pPr algn="ctr">
                        <a:buNone/>
                      </a:pPr>
                      <a:r>
                        <a:rPr lang="en-US" altLang="zh-CN" sz="1000" dirty="0">
                          <a:latin typeface="Roboto" charset="0"/>
                          <a:ea typeface="Roboto" charset="0"/>
                          <a:cs typeface="Arial" panose="020B0604020202020204" pitchFamily="34" charset="0"/>
                        </a:rPr>
                        <a:t>Up to 4K@30Hz NDI stream</a:t>
                      </a:r>
                      <a:endParaRPr lang="en-US" altLang="zh-CN" sz="1000" dirty="0">
                        <a:latin typeface="Roboto" charset="0"/>
                        <a:ea typeface="Roboto" charset="0"/>
                        <a:cs typeface="Arial" panose="020B0604020202020204" pitchFamily="34" charset="0"/>
                      </a:endParaRPr>
                    </a:p>
                  </a:txBody>
                  <a:tcPr anchor="ctr">
                    <a:solidFill>
                      <a:srgbClr val="E3F2E2"/>
                    </a:solidFill>
                  </a:tcPr>
                </a:tc>
                <a:tc>
                  <a:txBody>
                    <a:bodyPr/>
                    <a:lstStyle/>
                    <a:p>
                      <a:pPr algn="ctr">
                        <a:buNone/>
                      </a:pPr>
                      <a:r>
                        <a:rPr lang="en-US" altLang="zh-CN" sz="1000" dirty="0">
                          <a:latin typeface="Roboto" charset="0"/>
                          <a:ea typeface="Roboto" charset="0"/>
                          <a:cs typeface="Arial" panose="020B0604020202020204" pitchFamily="34" charset="0"/>
                        </a:rPr>
                        <a:t>Up to 4K@60Hz HMDI output</a:t>
                      </a:r>
                      <a:endParaRPr lang="en-US" altLang="zh-CN" sz="1000" dirty="0">
                        <a:latin typeface="Roboto" charset="0"/>
                        <a:ea typeface="Roboto" charset="0"/>
                        <a:cs typeface="Arial" panose="020B0604020202020204" pitchFamily="34" charset="0"/>
                      </a:endParaRPr>
                    </a:p>
                    <a:p>
                      <a:pPr algn="ctr">
                        <a:buNone/>
                      </a:pPr>
                      <a:r>
                        <a:rPr lang="en-US" altLang="zh-CN" sz="1000" dirty="0">
                          <a:latin typeface="Roboto" charset="0"/>
                          <a:ea typeface="Roboto" charset="0"/>
                          <a:cs typeface="Arial" panose="020B0604020202020204" pitchFamily="34" charset="0"/>
                        </a:rPr>
                        <a:t>Up to 4K@60Hz NDI stream</a:t>
                      </a:r>
                      <a:endParaRPr lang="en-US" altLang="zh-CN" sz="1000" dirty="0">
                        <a:latin typeface="Roboto" charset="0"/>
                        <a:ea typeface="Roboto" charset="0"/>
                        <a:cs typeface="Arial" panose="020B0604020202020204" pitchFamily="34" charset="0"/>
                      </a:endParaRPr>
                    </a:p>
                  </a:txBody>
                  <a:tcPr anchor="ctr">
                    <a:solidFill>
                      <a:srgbClr val="E3F2E2"/>
                    </a:solidFill>
                  </a:tcPr>
                </a:tc>
                <a:tc>
                  <a:txBody>
                    <a:bodyPr/>
                    <a:lstStyle/>
                    <a:p>
                      <a:pPr algn="ctr">
                        <a:buNone/>
                      </a:pPr>
                      <a:r>
                        <a:rPr lang="en-US" altLang="zh-CN" sz="1000" dirty="0">
                          <a:latin typeface="Roboto" charset="0"/>
                          <a:ea typeface="Roboto" charset="0"/>
                          <a:cs typeface="Arial" panose="020B0604020202020204" pitchFamily="34" charset="0"/>
                        </a:rPr>
                        <a:t>Up to 4K@60Hz HDMI output</a:t>
                      </a:r>
                      <a:endParaRPr lang="en-US" altLang="zh-CN" sz="1000" dirty="0">
                        <a:latin typeface="Roboto" charset="0"/>
                        <a:ea typeface="Roboto" charset="0"/>
                        <a:cs typeface="Arial" panose="020B0604020202020204" pitchFamily="34" charset="0"/>
                      </a:endParaRPr>
                    </a:p>
                  </a:txBody>
                  <a:tcPr anchor="ctr">
                    <a:solidFill>
                      <a:srgbClr val="E3F2E2"/>
                    </a:solidFill>
                  </a:tcPr>
                </a:tc>
                <a:tc>
                  <a:txBody>
                    <a:bodyPr/>
                    <a:lstStyle/>
                    <a:p>
                      <a:pPr algn="ctr">
                        <a:buNone/>
                      </a:pPr>
                      <a:r>
                        <a:rPr lang="en-US" altLang="zh-CN" sz="1000" dirty="0">
                          <a:latin typeface="Roboto" charset="0"/>
                          <a:ea typeface="Roboto" charset="0"/>
                          <a:cs typeface="Arial" panose="020B0604020202020204" pitchFamily="34" charset="0"/>
                        </a:rPr>
                        <a:t>Up to 4K@60Hz NDI stream</a:t>
                      </a:r>
                      <a:endParaRPr lang="en-US" altLang="zh-CN" sz="1000" dirty="0">
                        <a:latin typeface="Roboto" charset="0"/>
                        <a:ea typeface="Roboto" charset="0"/>
                        <a:cs typeface="Arial" panose="020B0604020202020204" pitchFamily="34" charset="0"/>
                      </a:endParaRPr>
                    </a:p>
                  </a:txBody>
                  <a:tcPr anchor="ctr">
                    <a:solidFill>
                      <a:srgbClr val="E3F2E2"/>
                    </a:solidFill>
                  </a:tcPr>
                </a:tc>
              </a:tr>
              <a:tr h="390886">
                <a:tc rowSpan="3">
                  <a:txBody>
                    <a:bodyPr/>
                    <a:lstStyle/>
                    <a:p>
                      <a:pPr marL="0" algn="ctr" defTabSz="914400" rtl="0" eaLnBrk="1" latinLnBrk="0" hangingPunct="1">
                        <a:buNone/>
                      </a:pPr>
                      <a:r>
                        <a:rPr lang="en-US" altLang="zh-CN" sz="1000" kern="1200" dirty="0">
                          <a:solidFill>
                            <a:schemeClr val="tx1"/>
                          </a:solidFill>
                          <a:latin typeface="Roboto" charset="0"/>
                          <a:ea typeface="+mn-ea"/>
                          <a:cs typeface="Arial" panose="020B0604020202020204" pitchFamily="34" charset="0"/>
                        </a:rPr>
                        <a:t>Others</a:t>
                      </a:r>
                      <a:endParaRPr lang="en-US" altLang="zh-CN" sz="1000" kern="1200" dirty="0">
                        <a:solidFill>
                          <a:schemeClr val="tx1"/>
                        </a:solidFill>
                        <a:latin typeface="Roboto" charset="0"/>
                        <a:ea typeface="+mn-ea"/>
                        <a:cs typeface="Arial" panose="020B0604020202020204" pitchFamily="34" charset="0"/>
                      </a:endParaRPr>
                    </a:p>
                  </a:txBody>
                  <a:tcPr anchor="ctr">
                    <a:solidFill>
                      <a:srgbClr val="D6E5D5"/>
                    </a:solidFill>
                  </a:tcPr>
                </a:tc>
                <a:tc>
                  <a:txBody>
                    <a:bodyPr/>
                    <a:lstStyle/>
                    <a:p>
                      <a:pPr algn="ctr">
                        <a:buNone/>
                      </a:pPr>
                      <a:r>
                        <a:rPr lang="en-US" sz="1000" kern="1200" dirty="0">
                          <a:solidFill>
                            <a:schemeClr val="dk1"/>
                          </a:solidFill>
                          <a:effectLst/>
                          <a:latin typeface="Roboto" charset="0"/>
                          <a:ea typeface="Roboto" charset="0"/>
                          <a:cs typeface="+mn-cs"/>
                        </a:rPr>
                        <a:t>NDI</a:t>
                      </a:r>
                      <a:r>
                        <a:rPr lang="en-US" sz="1000" kern="1200" baseline="30000" dirty="0">
                          <a:solidFill>
                            <a:schemeClr val="dk1"/>
                          </a:solidFill>
                          <a:effectLst/>
                          <a:latin typeface="Roboto" charset="0"/>
                          <a:ea typeface="Roboto" charset="0"/>
                          <a:cs typeface="+mn-cs"/>
                        </a:rPr>
                        <a:t>®</a:t>
                      </a:r>
                      <a:r>
                        <a:rPr lang="en-US" sz="1000" kern="1200" dirty="0">
                          <a:solidFill>
                            <a:schemeClr val="dk1"/>
                          </a:solidFill>
                          <a:effectLst/>
                          <a:latin typeface="Roboto" charset="0"/>
                          <a:ea typeface="Roboto" charset="0"/>
                          <a:cs typeface="+mn-cs"/>
                        </a:rPr>
                        <a:t> Codec Capability</a:t>
                      </a:r>
                      <a:endParaRPr lang="en-US" altLang="zh-CN" sz="400" kern="1200" dirty="0">
                        <a:solidFill>
                          <a:schemeClr val="tx1"/>
                        </a:solidFill>
                        <a:latin typeface="Roboto" charset="0"/>
                        <a:ea typeface="Roboto" charset="0"/>
                        <a:cs typeface="Arial" panose="020B0604020202020204" pitchFamily="34" charset="0"/>
                      </a:endParaRPr>
                    </a:p>
                  </a:txBody>
                  <a:tcPr anchor="ctr">
                    <a:solidFill>
                      <a:srgbClr val="D6E5D5"/>
                    </a:solidFill>
                  </a:tcPr>
                </a:tc>
                <a:tc>
                  <a:txBody>
                    <a:bodyPr/>
                    <a:lstStyle/>
                    <a:p>
                      <a:pPr algn="ctr">
                        <a:buClrTx/>
                        <a:buSzTx/>
                        <a:buFontTx/>
                        <a:buNone/>
                      </a:pPr>
                      <a:r>
                        <a:rPr lang="en-US" sz="1000" kern="1200" dirty="0">
                          <a:solidFill>
                            <a:schemeClr val="dk1"/>
                          </a:solidFill>
                          <a:latin typeface="Roboto" charset="0"/>
                          <a:ea typeface="Roboto" charset="0"/>
                          <a:cs typeface="Arial" panose="020B0604020202020204" pitchFamily="34" charset="0"/>
                        </a:rPr>
                        <a:t>NDI</a:t>
                      </a:r>
                      <a:r>
                        <a:rPr lang="en-US" sz="1000" kern="1200" baseline="30000" dirty="0">
                          <a:solidFill>
                            <a:schemeClr val="dk1"/>
                          </a:solidFill>
                          <a:effectLst/>
                          <a:latin typeface="Roboto" charset="0"/>
                          <a:ea typeface="Roboto" charset="0"/>
                          <a:cs typeface="+mn-cs"/>
                        </a:rPr>
                        <a:t>®</a:t>
                      </a:r>
                      <a:r>
                        <a:rPr lang="en-US" sz="1000" kern="1200" dirty="0">
                          <a:solidFill>
                            <a:schemeClr val="dk1"/>
                          </a:solidFill>
                          <a:latin typeface="Roboto" charset="0"/>
                          <a:ea typeface="Roboto" charset="0"/>
                          <a:cs typeface="Arial" panose="020B0604020202020204" pitchFamily="34" charset="0"/>
                        </a:rPr>
                        <a:t> | HX(NDI 6)</a:t>
                      </a:r>
                      <a:endParaRPr lang="en-US" sz="1000" kern="1200" dirty="0">
                        <a:solidFill>
                          <a:schemeClr val="dk1"/>
                        </a:solidFill>
                        <a:latin typeface="Roboto" charset="0"/>
                        <a:ea typeface="Roboto" charset="0"/>
                        <a:cs typeface="Arial" panose="020B0604020202020204" pitchFamily="34" charset="0"/>
                      </a:endParaRPr>
                    </a:p>
                  </a:txBody>
                  <a:tcPr anchor="ctr">
                    <a:solidFill>
                      <a:srgbClr val="D6E5D5"/>
                    </a:solidFill>
                  </a:tcPr>
                </a:tc>
                <a:tc>
                  <a:txBody>
                    <a:bodyPr/>
                    <a:lstStyle/>
                    <a:p>
                      <a:pPr algn="ctr">
                        <a:buNone/>
                      </a:pPr>
                      <a:r>
                        <a:rPr lang="en-US" altLang="zh-CN" sz="1000" dirty="0">
                          <a:latin typeface="Roboto" charset="0"/>
                          <a:ea typeface="Roboto" charset="0"/>
                          <a:cs typeface="Arial" panose="020B0604020202020204" pitchFamily="34" charset="0"/>
                        </a:rPr>
                        <a:t>N/A</a:t>
                      </a:r>
                      <a:endParaRPr lang="en-US" altLang="zh-CN" sz="1000" dirty="0">
                        <a:latin typeface="Roboto" charset="0"/>
                        <a:ea typeface="Roboto" charset="0"/>
                        <a:cs typeface="Arial" panose="020B0604020202020204" pitchFamily="34" charset="0"/>
                      </a:endParaRPr>
                    </a:p>
                  </a:txBody>
                  <a:tcPr anchor="ctr">
                    <a:solidFill>
                      <a:srgbClr val="D6E5D5"/>
                    </a:solidFill>
                  </a:tcPr>
                </a:tc>
                <a:tc>
                  <a:txBody>
                    <a:bodyPr/>
                    <a:lstStyle/>
                    <a:p>
                      <a:pPr algn="ctr">
                        <a:buNone/>
                      </a:pPr>
                      <a:r>
                        <a:rPr lang="en-US" altLang="zh-CN" sz="1000" dirty="0">
                          <a:latin typeface="Roboto" charset="0"/>
                          <a:ea typeface="Roboto" charset="0"/>
                          <a:cs typeface="Arial" panose="020B0604020202020204" pitchFamily="34" charset="0"/>
                        </a:rPr>
                        <a:t>NDI High Bandwidth</a:t>
                      </a:r>
                      <a:endParaRPr lang="en-US" altLang="zh-CN" sz="1000" dirty="0">
                        <a:latin typeface="Roboto" charset="0"/>
                        <a:ea typeface="Roboto" charset="0"/>
                        <a:cs typeface="Arial" panose="020B0604020202020204" pitchFamily="34" charset="0"/>
                      </a:endParaRPr>
                    </a:p>
                  </a:txBody>
                  <a:tcPr anchor="ctr">
                    <a:solidFill>
                      <a:srgbClr val="D6E5D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kern="1200" dirty="0">
                          <a:solidFill>
                            <a:schemeClr val="dk1"/>
                          </a:solidFill>
                          <a:latin typeface="Roboto" charset="0"/>
                          <a:ea typeface="Roboto" charset="0"/>
                          <a:cs typeface="Arial" panose="020B0604020202020204" pitchFamily="34" charset="0"/>
                        </a:rPr>
                        <a:t>NDI</a:t>
                      </a:r>
                      <a:r>
                        <a:rPr lang="en-US" sz="1000" kern="1200" baseline="30000" dirty="0">
                          <a:solidFill>
                            <a:schemeClr val="dk1"/>
                          </a:solidFill>
                          <a:effectLst/>
                          <a:latin typeface="Roboto" charset="0"/>
                          <a:ea typeface="Roboto" charset="0"/>
                          <a:cs typeface="+mn-cs"/>
                        </a:rPr>
                        <a:t>®</a:t>
                      </a:r>
                      <a:r>
                        <a:rPr lang="en-US" altLang="zh-CN" sz="1000" kern="1200" dirty="0">
                          <a:solidFill>
                            <a:schemeClr val="dk1"/>
                          </a:solidFill>
                          <a:latin typeface="Roboto" charset="0"/>
                          <a:ea typeface="Roboto" charset="0"/>
                          <a:cs typeface="Arial" panose="020B0604020202020204" pitchFamily="34" charset="0"/>
                        </a:rPr>
                        <a:t> | HX/NDI High Bandwidth(NDI 5.x)</a:t>
                      </a:r>
                      <a:endParaRPr lang="en-US" altLang="zh-CN" sz="1000" dirty="0">
                        <a:latin typeface="Roboto" charset="0"/>
                        <a:ea typeface="Roboto" charset="0"/>
                        <a:cs typeface="Arial" panose="020B0604020202020204" pitchFamily="34" charset="0"/>
                      </a:endParaRPr>
                    </a:p>
                  </a:txBody>
                  <a:tcPr anchor="ctr">
                    <a:solidFill>
                      <a:srgbClr val="D6E5D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kern="1200" dirty="0">
                          <a:solidFill>
                            <a:schemeClr val="dk1"/>
                          </a:solidFill>
                          <a:latin typeface="Roboto" charset="0"/>
                          <a:ea typeface="Roboto" charset="0"/>
                          <a:cs typeface="Arial" panose="020B0604020202020204" pitchFamily="34" charset="0"/>
                        </a:rPr>
                        <a:t>NDI</a:t>
                      </a:r>
                      <a:r>
                        <a:rPr lang="en-US" sz="1000" kern="1200" baseline="30000" dirty="0">
                          <a:solidFill>
                            <a:schemeClr val="dk1"/>
                          </a:solidFill>
                          <a:effectLst/>
                          <a:latin typeface="Roboto" charset="0"/>
                          <a:ea typeface="Roboto" charset="0"/>
                          <a:cs typeface="+mn-cs"/>
                        </a:rPr>
                        <a:t>®</a:t>
                      </a:r>
                      <a:r>
                        <a:rPr lang="en-US" altLang="zh-CN" sz="1000" kern="1200" dirty="0">
                          <a:solidFill>
                            <a:schemeClr val="dk1"/>
                          </a:solidFill>
                          <a:latin typeface="Roboto" charset="0"/>
                          <a:ea typeface="Roboto" charset="0"/>
                          <a:cs typeface="Arial" panose="020B0604020202020204" pitchFamily="34" charset="0"/>
                        </a:rPr>
                        <a:t> | HX/NDI High Bandwidth(NDI 5.x)</a:t>
                      </a:r>
                      <a:endParaRPr lang="en-US" altLang="zh-CN" sz="1000" dirty="0">
                        <a:latin typeface="Roboto" charset="0"/>
                        <a:ea typeface="Roboto" charset="0"/>
                        <a:cs typeface="Arial" panose="020B0604020202020204" pitchFamily="34" charset="0"/>
                      </a:endParaRPr>
                    </a:p>
                  </a:txBody>
                  <a:tcPr anchor="ctr">
                    <a:solidFill>
                      <a:srgbClr val="D6E5D5"/>
                    </a:solidFill>
                  </a:tcPr>
                </a:tc>
              </a:tr>
              <a:tr h="240545">
                <a:tc vMerge="1">
                  <a:tcPr anchor="ctr">
                    <a:solidFill>
                      <a:srgbClr val="E3F2E2"/>
                    </a:solidFill>
                  </a:tcPr>
                </a:tc>
                <a:tc>
                  <a:txBody>
                    <a:bodyPr/>
                    <a:lstStyle/>
                    <a:p>
                      <a:pPr algn="ctr">
                        <a:buNone/>
                      </a:pPr>
                      <a:r>
                        <a:rPr lang="en-US" altLang="zh-CN" sz="1000" dirty="0">
                          <a:solidFill>
                            <a:schemeClr val="tx1"/>
                          </a:solidFill>
                          <a:latin typeface="Roboto" charset="0"/>
                          <a:ea typeface="Roboto" charset="0"/>
                          <a:cs typeface="Arial" panose="020B0604020202020204" pitchFamily="34" charset="0"/>
                        </a:rPr>
                        <a:t>PoE</a:t>
                      </a:r>
                      <a:endParaRPr lang="en-US" altLang="zh-CN" sz="1000" dirty="0">
                        <a:solidFill>
                          <a:schemeClr val="tx1"/>
                        </a:solidFill>
                        <a:latin typeface="Roboto" charset="0"/>
                        <a:ea typeface="Roboto" charset="0"/>
                        <a:cs typeface="Arial" panose="020B0604020202020204" pitchFamily="34" charset="0"/>
                      </a:endParaRPr>
                    </a:p>
                  </a:txBody>
                  <a:tcPr anchor="ctr">
                    <a:solidFill>
                      <a:srgbClr val="E3F2E2"/>
                    </a:solidFill>
                  </a:tcPr>
                </a:tc>
                <a:tc>
                  <a:txBody>
                    <a:bodyPr/>
                    <a:lstStyle/>
                    <a:p>
                      <a:pPr algn="ctr">
                        <a:buClrTx/>
                        <a:buSzTx/>
                        <a:buFontTx/>
                        <a:buNone/>
                      </a:pPr>
                      <a:r>
                        <a:rPr lang="zh-CN" altLang="en-US" sz="1000" kern="1200" dirty="0">
                          <a:solidFill>
                            <a:schemeClr val="dk1"/>
                          </a:solidFill>
                          <a:latin typeface="Roboto" charset="0"/>
                          <a:ea typeface="Roboto" charset="0"/>
                          <a:cs typeface="Arial" panose="020B0604020202020204" pitchFamily="34" charset="0"/>
                        </a:rPr>
                        <a:t>✓</a:t>
                      </a:r>
                      <a:endParaRPr lang="en-US" sz="1000" kern="1200" dirty="0">
                        <a:solidFill>
                          <a:schemeClr val="dk1"/>
                        </a:solidFill>
                        <a:latin typeface="Roboto" charset="0"/>
                        <a:ea typeface="Roboto" charset="0"/>
                        <a:cs typeface="Arial" panose="020B0604020202020204" pitchFamily="34" charset="0"/>
                      </a:endParaRPr>
                    </a:p>
                  </a:txBody>
                  <a:tcPr anchor="ctr">
                    <a:solidFill>
                      <a:srgbClr val="E3F2E2"/>
                    </a:solidFill>
                  </a:tcPr>
                </a:tc>
                <a:tc>
                  <a:txBody>
                    <a:bodyPr/>
                    <a:lstStyle/>
                    <a:p>
                      <a:pPr algn="ctr">
                        <a:buNone/>
                      </a:pPr>
                      <a:r>
                        <a:rPr lang="en-US" altLang="zh-CN" sz="1000" dirty="0">
                          <a:latin typeface="Roboto" charset="0"/>
                          <a:ea typeface="Roboto" charset="0"/>
                          <a:cs typeface="Arial" panose="020B0604020202020204" pitchFamily="34" charset="0"/>
                        </a:rPr>
                        <a:t>×</a:t>
                      </a:r>
                      <a:endParaRPr lang="en-US" altLang="zh-CN" sz="1000" dirty="0">
                        <a:latin typeface="Roboto" charset="0"/>
                        <a:ea typeface="Roboto" charset="0"/>
                        <a:cs typeface="Arial" panose="020B0604020202020204" pitchFamily="34" charset="0"/>
                      </a:endParaRPr>
                    </a:p>
                  </a:txBody>
                  <a:tcPr anchor="ctr">
                    <a:solidFill>
                      <a:srgbClr val="E3F2E2"/>
                    </a:solidFill>
                  </a:tcPr>
                </a:tc>
                <a:tc>
                  <a:txBody>
                    <a:bodyPr/>
                    <a:lstStyle/>
                    <a:p>
                      <a:pPr algn="ctr">
                        <a:buNone/>
                      </a:pPr>
                      <a:r>
                        <a:rPr lang="zh-CN" altLang="en-US" sz="1000" dirty="0">
                          <a:latin typeface="Roboto" charset="0"/>
                          <a:ea typeface="Roboto" charset="0"/>
                          <a:cs typeface="Arial" panose="020B0604020202020204" pitchFamily="34" charset="0"/>
                        </a:rPr>
                        <a:t>✓</a:t>
                      </a:r>
                      <a:endParaRPr lang="en-US" altLang="zh-CN" sz="1000" dirty="0">
                        <a:latin typeface="Roboto" charset="0"/>
                        <a:ea typeface="Roboto" charset="0"/>
                        <a:cs typeface="Arial" panose="020B0604020202020204" pitchFamily="34" charset="0"/>
                      </a:endParaRPr>
                    </a:p>
                  </a:txBody>
                  <a:tcPr anchor="ctr">
                    <a:solidFill>
                      <a:srgbClr val="E3F2E2"/>
                    </a:solidFill>
                  </a:tcPr>
                </a:tc>
                <a:tc>
                  <a:txBody>
                    <a:bodyPr/>
                    <a:lstStyle/>
                    <a:p>
                      <a:pPr algn="ctr">
                        <a:buNone/>
                      </a:pPr>
                      <a:r>
                        <a:rPr lang="zh-CN" altLang="en-US" sz="1000" dirty="0">
                          <a:latin typeface="Roboto" charset="0"/>
                          <a:ea typeface="Roboto" charset="0"/>
                          <a:cs typeface="Arial" panose="020B0604020202020204" pitchFamily="34" charset="0"/>
                        </a:rPr>
                        <a:t>✓</a:t>
                      </a:r>
                      <a:endParaRPr lang="en-US" altLang="zh-CN" sz="1000" dirty="0">
                        <a:latin typeface="Roboto" charset="0"/>
                        <a:ea typeface="Roboto" charset="0"/>
                        <a:cs typeface="Arial" panose="020B0604020202020204" pitchFamily="34" charset="0"/>
                      </a:endParaRPr>
                    </a:p>
                  </a:txBody>
                  <a:tcPr anchor="ctr">
                    <a:solidFill>
                      <a:srgbClr val="E3F2E2"/>
                    </a:solidFill>
                  </a:tcPr>
                </a:tc>
                <a:tc>
                  <a:txBody>
                    <a:bodyPr/>
                    <a:lstStyle/>
                    <a:p>
                      <a:pPr algn="ctr">
                        <a:buNone/>
                      </a:pPr>
                      <a:r>
                        <a:rPr lang="zh-CN" altLang="en-US" sz="1000" dirty="0">
                          <a:latin typeface="Roboto" charset="0"/>
                          <a:ea typeface="Roboto" charset="0"/>
                          <a:cs typeface="Arial" panose="020B0604020202020204" pitchFamily="34" charset="0"/>
                        </a:rPr>
                        <a:t>✓</a:t>
                      </a:r>
                      <a:endParaRPr lang="en-US" altLang="zh-CN" sz="1000" dirty="0">
                        <a:latin typeface="Roboto" charset="0"/>
                        <a:ea typeface="Roboto" charset="0"/>
                        <a:cs typeface="Arial" panose="020B0604020202020204" pitchFamily="34" charset="0"/>
                      </a:endParaRPr>
                    </a:p>
                  </a:txBody>
                  <a:tcPr anchor="ctr">
                    <a:solidFill>
                      <a:srgbClr val="E3F2E2"/>
                    </a:solidFill>
                  </a:tcPr>
                </a:tc>
              </a:tr>
              <a:tr h="360887">
                <a:tc vMerge="1">
                  <a:tcPr anchor="ctr">
                    <a:solidFill>
                      <a:srgbClr val="D6E5D5"/>
                    </a:solidFill>
                  </a:tcPr>
                </a:tc>
                <a:tc>
                  <a:txBody>
                    <a:bodyPr/>
                    <a:lstStyle/>
                    <a:p>
                      <a:pPr algn="ctr">
                        <a:buNone/>
                      </a:pPr>
                      <a:r>
                        <a:rPr lang="en-US" altLang="zh-CN" sz="1000" dirty="0">
                          <a:solidFill>
                            <a:schemeClr val="tx1"/>
                          </a:solidFill>
                          <a:latin typeface="Roboto" charset="0"/>
                          <a:ea typeface="Roboto" charset="0"/>
                          <a:cs typeface="Arial" panose="020B0604020202020204" pitchFamily="34" charset="0"/>
                        </a:rPr>
                        <a:t>LCD Screen</a:t>
                      </a:r>
                      <a:endParaRPr lang="en-US" altLang="zh-CN" sz="1000" dirty="0">
                        <a:solidFill>
                          <a:schemeClr val="tx1"/>
                        </a:solidFill>
                        <a:latin typeface="Roboto" charset="0"/>
                        <a:ea typeface="Roboto" charset="0"/>
                        <a:cs typeface="Arial" panose="020B0604020202020204" pitchFamily="34" charset="0"/>
                      </a:endParaRPr>
                    </a:p>
                  </a:txBody>
                  <a:tcPr anchor="ctr">
                    <a:solidFill>
                      <a:srgbClr val="D6E5D5"/>
                    </a:solidFill>
                  </a:tcPr>
                </a:tc>
                <a:tc>
                  <a:txBody>
                    <a:bodyPr/>
                    <a:lstStyle/>
                    <a:p>
                      <a:pPr marL="0" algn="ctr" defTabSz="914400" rtl="0" eaLnBrk="1" latinLnBrk="0" hangingPunct="1">
                        <a:buNone/>
                      </a:pPr>
                      <a:r>
                        <a:rPr lang="zh-CN" altLang="en-US" sz="1000" b="1" kern="1200" dirty="0">
                          <a:solidFill>
                            <a:srgbClr val="70AD47"/>
                          </a:solidFill>
                          <a:latin typeface="Roboto" charset="0"/>
                          <a:ea typeface="Roboto" charset="0"/>
                          <a:cs typeface="Arial" panose="020B0604020202020204" pitchFamily="34" charset="0"/>
                        </a:rPr>
                        <a:t>✓</a:t>
                      </a:r>
                      <a:endParaRPr lang="en-US" altLang="zh-CN" sz="1000" b="1" kern="1200" dirty="0">
                        <a:solidFill>
                          <a:srgbClr val="70AD47"/>
                        </a:solidFill>
                        <a:latin typeface="Roboto" charset="0"/>
                        <a:ea typeface="Roboto" charset="0"/>
                        <a:cs typeface="Arial" panose="020B0604020202020204" pitchFamily="34" charset="0"/>
                      </a:endParaRPr>
                    </a:p>
                  </a:txBody>
                  <a:tcPr anchor="ctr">
                    <a:solidFill>
                      <a:srgbClr val="D6E5D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dirty="0">
                          <a:latin typeface="Roboto" charset="0"/>
                          <a:ea typeface="Roboto" charset="0"/>
                          <a:cs typeface="Arial" panose="020B0604020202020204" pitchFamily="34" charset="0"/>
                        </a:rPr>
                        <a:t>×</a:t>
                      </a:r>
                      <a:endParaRPr lang="en-US" altLang="zh-CN" sz="1000" dirty="0">
                        <a:latin typeface="Roboto" charset="0"/>
                        <a:ea typeface="Roboto" charset="0"/>
                        <a:cs typeface="Arial" panose="020B0604020202020204" pitchFamily="34" charset="0"/>
                      </a:endParaRPr>
                    </a:p>
                  </a:txBody>
                  <a:tcPr anchor="ctr">
                    <a:solidFill>
                      <a:srgbClr val="D6E5D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dirty="0">
                          <a:latin typeface="Roboto" charset="0"/>
                          <a:ea typeface="Roboto" charset="0"/>
                          <a:cs typeface="Arial" panose="020B0604020202020204" pitchFamily="34" charset="0"/>
                        </a:rPr>
                        <a:t>×</a:t>
                      </a:r>
                      <a:endParaRPr lang="en-US" altLang="zh-CN" sz="1000" dirty="0">
                        <a:latin typeface="Roboto" charset="0"/>
                        <a:ea typeface="Roboto" charset="0"/>
                        <a:cs typeface="Arial" panose="020B0604020202020204" pitchFamily="34" charset="0"/>
                      </a:endParaRPr>
                    </a:p>
                  </a:txBody>
                  <a:tcPr anchor="ctr">
                    <a:solidFill>
                      <a:srgbClr val="D6E5D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dirty="0">
                          <a:latin typeface="Roboto" charset="0"/>
                          <a:ea typeface="Roboto" charset="0"/>
                          <a:cs typeface="Arial" panose="020B0604020202020204" pitchFamily="34" charset="0"/>
                        </a:rPr>
                        <a:t>×</a:t>
                      </a:r>
                      <a:endParaRPr lang="en-US" altLang="zh-CN" sz="1000" dirty="0">
                        <a:latin typeface="Roboto" charset="0"/>
                        <a:ea typeface="Roboto" charset="0"/>
                        <a:cs typeface="Arial" panose="020B0604020202020204" pitchFamily="34" charset="0"/>
                      </a:endParaRPr>
                    </a:p>
                  </a:txBody>
                  <a:tcPr anchor="ctr">
                    <a:solidFill>
                      <a:srgbClr val="D6E5D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dirty="0">
                          <a:latin typeface="Roboto" charset="0"/>
                          <a:ea typeface="Roboto" charset="0"/>
                          <a:cs typeface="Arial" panose="020B0604020202020204" pitchFamily="34" charset="0"/>
                        </a:rPr>
                        <a:t>×</a:t>
                      </a:r>
                      <a:endParaRPr lang="en-US" altLang="zh-CN" sz="1000" dirty="0">
                        <a:latin typeface="Roboto" charset="0"/>
                        <a:ea typeface="Roboto" charset="0"/>
                        <a:cs typeface="Arial" panose="020B0604020202020204" pitchFamily="34" charset="0"/>
                      </a:endParaRPr>
                    </a:p>
                  </a:txBody>
                  <a:tcPr anchor="ctr">
                    <a:solidFill>
                      <a:srgbClr val="D6E5D5"/>
                    </a:solidFill>
                  </a:tcPr>
                </a:tc>
              </a:tr>
            </a:tbl>
          </a:graphicData>
        </a:graphic>
      </p:graphicFrame>
      <p:sp>
        <p:nvSpPr>
          <p:cNvPr id="7" name="矩形 7"/>
          <p:cNvSpPr/>
          <p:nvPr>
            <p:custDataLst>
              <p:tags r:id="rId2"/>
            </p:custDataLst>
          </p:nvPr>
        </p:nvSpPr>
        <p:spPr>
          <a:xfrm>
            <a:off x="0" y="0"/>
            <a:ext cx="12192000" cy="912114"/>
          </a:xfrm>
          <a:prstGeom prst="rect">
            <a:avLst/>
          </a:prstGeom>
          <a:solidFill>
            <a:srgbClr val="0B7935"/>
          </a:solidFill>
          <a:ln w="12700" cap="flat" cmpd="sng" algn="ctr">
            <a:solidFill>
              <a:schemeClr val="accent6"/>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8" name="文本框 6"/>
          <p:cNvSpPr txBox="1"/>
          <p:nvPr>
            <p:custDataLst>
              <p:tags r:id="rId3"/>
            </p:custDataLst>
          </p:nvPr>
        </p:nvSpPr>
        <p:spPr>
          <a:xfrm>
            <a:off x="457155" y="169546"/>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Comparison with Other Competitors</a:t>
            </a:r>
            <a:endParaRPr lang="en-US" sz="2800" b="1" dirty="0">
              <a:solidFill>
                <a:schemeClr val="lt1"/>
              </a:solidFill>
              <a:uFillTx/>
              <a:latin typeface="Montserrat" pitchFamily="2" charset="0"/>
              <a:ea typeface="微软雅黑" panose="020B0503020204020204" pitchFamily="34" charset="-122"/>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60021"/>
            <a:ext cx="11277689" cy="609600"/>
          </a:xfrm>
          <a:prstGeom prst="rect">
            <a:avLst/>
          </a:prstGeom>
          <a:noFill/>
        </p:spPr>
        <p:txBody>
          <a:bodyPr wrap="square" lIns="63500" tIns="25400" rIns="63500" bIns="25400" rtlCol="0" anchor="ctr" anchorCtr="0"/>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Quick Installation Guide</a:t>
            </a:r>
            <a:endParaRPr lang="en-US" sz="2800" b="1" dirty="0">
              <a:solidFill>
                <a:schemeClr val="lt1"/>
              </a:solidFill>
              <a:uFillTx/>
              <a:latin typeface="Montserrat" pitchFamily="2" charset="0"/>
              <a:ea typeface="微软雅黑" panose="020B0503020204020204" pitchFamily="34" charset="-122"/>
              <a:sym typeface="Roboto"/>
            </a:endParaRPr>
          </a:p>
        </p:txBody>
      </p:sp>
      <p:sp>
        <p:nvSpPr>
          <p:cNvPr id="14" name="Title 6"/>
          <p:cNvSpPr txBox="1"/>
          <p:nvPr>
            <p:custDataLst>
              <p:tags r:id="rId3"/>
            </p:custDataLst>
          </p:nvPr>
        </p:nvSpPr>
        <p:spPr>
          <a:xfrm>
            <a:off x="457200" y="1651635"/>
            <a:ext cx="10788650" cy="459232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00000"/>
              </a:lnSpc>
              <a:spcBef>
                <a:spcPts val="0"/>
              </a:spcBef>
              <a:spcAft>
                <a:spcPts val="800"/>
              </a:spcAft>
              <a:buSzPct val="100000"/>
              <a:buFont typeface="Wingdings" panose="05000000000000000000" charset="0"/>
              <a:buChar char="l"/>
            </a:pP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Connect Interfaces: </a:t>
            </a:r>
            <a:r>
              <a:rPr lang="en-US" altLang="zh-CN" sz="1800" spc="0" dirty="0">
                <a:ln w="3175">
                  <a:noFill/>
                  <a:prstDash val="dash"/>
                </a:ln>
                <a:solidFill>
                  <a:schemeClr val="dk1">
                    <a:lumMod val="75000"/>
                    <a:lumOff val="25000"/>
                  </a:schemeClr>
                </a:solidFill>
                <a:latin typeface="Roboto" charset="0"/>
                <a:ea typeface="Roboto" charset="0"/>
                <a:cs typeface="Arial" panose="020B0604020202020204" pitchFamily="34" charset="0"/>
              </a:rPr>
              <a:t>Connect the CAT cable to a PoE network switch (or using PSU to power on the device) for NHD-128-NDI-TRX.</a:t>
            </a:r>
            <a:endPar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marL="0" lvl="0" indent="-285750" algn="l" fontAlgn="ctr">
              <a:lnSpc>
                <a:spcPct val="100000"/>
              </a:lnSpc>
              <a:spcBef>
                <a:spcPts val="0"/>
              </a:spcBef>
              <a:spcAft>
                <a:spcPts val="800"/>
              </a:spcAft>
              <a:buSzPct val="100000"/>
              <a:buFont typeface="Wingdings" panose="05000000000000000000" charset="0"/>
              <a:buChar char="l"/>
            </a:pP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Start the Device: </a:t>
            </a:r>
            <a:r>
              <a:rPr lang="en-US" sz="1800" b="1" spc="0" dirty="0">
                <a:ln w="3175">
                  <a:noFill/>
                  <a:prstDash val="dash"/>
                </a:ln>
                <a:solidFill>
                  <a:schemeClr val="dk1">
                    <a:lumMod val="75000"/>
                    <a:lumOff val="25000"/>
                  </a:schemeClr>
                </a:solidFill>
                <a:latin typeface="Roboto" charset="0"/>
                <a:ea typeface="Roboto" charset="0"/>
                <a:cs typeface="Arial" panose="020B0604020202020204" pitchFamily="34" charset="0"/>
              </a:rPr>
              <a:t> </a:t>
            </a:r>
            <a:r>
              <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Check the IP Address from the </a:t>
            </a:r>
            <a:r>
              <a:rPr lang="en-US" altLang="zh-CN"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LCD</a:t>
            </a:r>
            <a:r>
              <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 screen, then log into the Web-UI for easy device configuration.</a:t>
            </a:r>
            <a:endPar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lvl="0" indent="-285750" fontAlgn="ctr">
              <a:lnSpc>
                <a:spcPct val="100000"/>
              </a:lnSpc>
              <a:spcBef>
                <a:spcPts val="0"/>
              </a:spcBef>
              <a:spcAft>
                <a:spcPts val="800"/>
              </a:spcAft>
              <a:buSzPct val="100000"/>
              <a:buFont typeface="Wingdings" panose="05000000000000000000" charset="0"/>
              <a:buChar char="l"/>
            </a:pP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Create </a:t>
            </a:r>
            <a:r>
              <a:rPr lang="en-US" altLang="zh-CN"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Conversion</a:t>
            </a: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a:t>
            </a:r>
            <a:r>
              <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 </a:t>
            </a:r>
            <a:r>
              <a:rPr lang="en-US" sz="1800" spc="0" dirty="0">
                <a:ln w="3175">
                  <a:noFill/>
                  <a:prstDash val="dash"/>
                </a:ln>
                <a:solidFill>
                  <a:schemeClr val="dk1">
                    <a:lumMod val="75000"/>
                    <a:lumOff val="25000"/>
                  </a:schemeClr>
                </a:solidFill>
                <a:latin typeface="Roboto" charset="0"/>
                <a:ea typeface="Roboto" charset="0"/>
                <a:cs typeface="Arial" panose="020B0604020202020204" pitchFamily="34" charset="0"/>
              </a:rPr>
              <a:t>Create your specified configuration via Web-UI. For detailed instructions, refer to the user manual.</a:t>
            </a:r>
            <a:endPar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lvl="0" indent="-285750" fontAlgn="ctr">
              <a:lnSpc>
                <a:spcPct val="100000"/>
              </a:lnSpc>
              <a:spcBef>
                <a:spcPts val="0"/>
              </a:spcBef>
              <a:spcAft>
                <a:spcPts val="800"/>
              </a:spcAft>
              <a:buSzPct val="100000"/>
              <a:buFont typeface="Wingdings" panose="05000000000000000000" charset="0"/>
              <a:buChar char="l"/>
            </a:pP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Enjoy </a:t>
            </a:r>
            <a:r>
              <a:rPr lang="en-US" altLang="zh-CN"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NDI and NetworkHD Conversion</a:t>
            </a:r>
            <a:r>
              <a:rPr lang="en-US" sz="18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 </a:t>
            </a:r>
            <a:r>
              <a:rPr lang="en-US" sz="1800" spc="0" dirty="0">
                <a:ln w="3175">
                  <a:noFill/>
                  <a:prstDash val="dash"/>
                </a:ln>
                <a:solidFill>
                  <a:schemeClr val="dk1">
                    <a:lumMod val="75000"/>
                    <a:lumOff val="25000"/>
                  </a:schemeClr>
                </a:solidFill>
                <a:latin typeface="Roboto" charset="0"/>
                <a:ea typeface="Roboto" charset="0"/>
                <a:cs typeface="Arial" panose="020B0604020202020204" pitchFamily="34" charset="0"/>
              </a:rPr>
              <a:t>NDI streams and NetworkHD streams can be freely converted and flexibly configured within the AV-over-IP system.</a:t>
            </a:r>
            <a:endParaRPr lang="en-US" sz="1800"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p:txBody>
      </p:sp>
      <p:pic>
        <p:nvPicPr>
          <p:cNvPr id="4" name="Google Shape;82;p1"/>
          <p:cNvPicPr preferRelativeResize="0"/>
          <p:nvPr/>
        </p:nvPicPr>
        <p:blipFill>
          <a:blip r:embed="rId4"/>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20" name="Title 6"/>
          <p:cNvSpPr txBox="1"/>
          <p:nvPr>
            <p:custDataLst>
              <p:tags r:id="rId5"/>
            </p:custDataLst>
          </p:nvPr>
        </p:nvSpPr>
        <p:spPr>
          <a:xfrm>
            <a:off x="457200" y="1330325"/>
            <a:ext cx="11070590" cy="51371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00000"/>
              </a:lnSpc>
              <a:spcBef>
                <a:spcPts val="0"/>
              </a:spcBef>
              <a:spcAft>
                <a:spcPts val="800"/>
              </a:spcAft>
              <a:buSzPct val="100000"/>
              <a:buFont typeface="Wingdings" panose="05000000000000000000" charset="0"/>
            </a:pPr>
            <a:r>
              <a:rPr lang="en-US" sz="2000" b="1" spc="0" dirty="0">
                <a:ln w="3175">
                  <a:noFill/>
                  <a:prstDash val="dash"/>
                </a:ln>
                <a:solidFill>
                  <a:schemeClr val="dk1">
                    <a:lumMod val="75000"/>
                    <a:lumOff val="25000"/>
                  </a:schemeClr>
                </a:solidFill>
                <a:latin typeface="Roboto" charset="0"/>
                <a:ea typeface="Roboto" charset="0"/>
                <a:cs typeface="Arial" panose="020B0604020202020204" pitchFamily="34" charset="0"/>
              </a:rPr>
              <a:t>Effortlessly set up your </a:t>
            </a:r>
            <a:r>
              <a:rPr lang="en-US" altLang="zh-CN" sz="2000" b="1" spc="0" dirty="0">
                <a:ln w="3175">
                  <a:noFill/>
                  <a:prstDash val="dash"/>
                </a:ln>
                <a:solidFill>
                  <a:schemeClr val="dk1">
                    <a:lumMod val="75000"/>
                    <a:lumOff val="25000"/>
                  </a:schemeClr>
                </a:solidFill>
                <a:latin typeface="Roboto" charset="0"/>
                <a:ea typeface="Roboto" charset="0"/>
                <a:cs typeface="Arial" panose="020B0604020202020204" pitchFamily="34" charset="0"/>
              </a:rPr>
              <a:t>NHD-128-NDI-TRX</a:t>
            </a:r>
            <a:r>
              <a:rPr lang="en-US" sz="2000" b="1" spc="0" dirty="0">
                <a:ln w="3175">
                  <a:noFill/>
                  <a:prstDash val="dash"/>
                </a:ln>
                <a:solidFill>
                  <a:schemeClr val="dk1">
                    <a:lumMod val="75000"/>
                    <a:lumOff val="25000"/>
                  </a:schemeClr>
                </a:solidFill>
                <a:latin typeface="Roboto" charset="0"/>
                <a:ea typeface="Roboto" charset="0"/>
                <a:cs typeface="Arial" panose="020B0604020202020204" pitchFamily="34" charset="0"/>
              </a:rPr>
              <a:t> with simple steps, ensuring seamless configuration and an exceptional viewing experience.</a:t>
            </a:r>
            <a:endParaRPr lang="en-US" sz="2000" b="1" spc="0" dirty="0">
              <a:ln w="3175">
                <a:noFill/>
                <a:prstDash val="dash"/>
              </a:ln>
              <a:solidFill>
                <a:schemeClr val="dk1">
                  <a:lumMod val="75000"/>
                  <a:lumOff val="25000"/>
                </a:schemeClr>
              </a:solidFill>
              <a:latin typeface="Roboto" charset="0"/>
              <a:ea typeface="Roboto" charset="0"/>
              <a:cs typeface="Arial" panose="020B0604020202020204" pitchFamily="34" charset="0"/>
            </a:endParaRPr>
          </a:p>
        </p:txBody>
      </p:sp>
    </p:spTree>
    <p:custDataLst>
      <p:tags r:id="rId6"/>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60021"/>
            <a:ext cx="11277689" cy="609600"/>
          </a:xfrm>
          <a:prstGeom prst="rect">
            <a:avLst/>
          </a:prstGeom>
          <a:noFill/>
        </p:spPr>
        <p:txBody>
          <a:bodyPr wrap="square" lIns="63500" tIns="25400" rIns="63500" bIns="25400" rtlCol="0" anchor="ctr" anchorCtr="0"/>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Important Notes for Installation</a:t>
            </a:r>
            <a:endParaRPr lang="en-US" sz="2800" b="1" dirty="0">
              <a:solidFill>
                <a:schemeClr val="lt1"/>
              </a:solidFill>
              <a:uFillTx/>
              <a:latin typeface="Montserrat" pitchFamily="2" charset="0"/>
              <a:ea typeface="微软雅黑" panose="020B0503020204020204" pitchFamily="34" charset="-122"/>
              <a:sym typeface="Roboto"/>
            </a:endParaRPr>
          </a:p>
        </p:txBody>
      </p:sp>
      <p:sp>
        <p:nvSpPr>
          <p:cNvPr id="14" name="Title 6"/>
          <p:cNvSpPr txBox="1"/>
          <p:nvPr>
            <p:custDataLst>
              <p:tags r:id="rId3"/>
            </p:custDataLst>
          </p:nvPr>
        </p:nvSpPr>
        <p:spPr>
          <a:xfrm>
            <a:off x="340360" y="1054735"/>
            <a:ext cx="11752580" cy="462851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00000"/>
              </a:lnSpc>
              <a:spcBef>
                <a:spcPts val="0"/>
              </a:spcBef>
              <a:spcAft>
                <a:spcPts val="800"/>
              </a:spcAft>
              <a:buSzPct val="100000"/>
              <a:buFont typeface="Arial" panose="020B0604020202020204" pitchFamily="34" charset="0"/>
              <a:buChar char="•"/>
            </a:pPr>
            <a:r>
              <a:rPr lang="en-US" sz="24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Check your network settings and confirm that the device is on the correct subnet.</a:t>
            </a:r>
            <a:endParaRPr lang="en-US" sz="24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24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Double-check configuration settings in the Web-UI to optimize functionality.</a:t>
            </a:r>
            <a:endParaRPr lang="en-US" sz="2400" spc="0" dirty="0">
              <a:ln w="3175">
                <a:noFill/>
                <a:prstDash val="dash"/>
              </a:ln>
              <a:solidFill>
                <a:schemeClr val="dk1">
                  <a:lumMod val="75000"/>
                  <a:lumOff val="25000"/>
                </a:schemeClr>
              </a:solidFill>
              <a:uFillTx/>
              <a:latin typeface="Roboto" charset="0"/>
              <a:ea typeface="Roboto" charset="0"/>
              <a:cs typeface="Arial" panose="020B0604020202020204" pitchFamily="34" charset="0"/>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24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For complex </a:t>
            </a:r>
            <a:r>
              <a:rPr lang="en-US" altLang="zh-CN" sz="24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settings</a:t>
            </a:r>
            <a:r>
              <a:rPr lang="en-US" sz="2400" spc="0" dirty="0">
                <a:ln w="3175">
                  <a:noFill/>
                  <a:prstDash val="dash"/>
                </a:ln>
                <a:solidFill>
                  <a:schemeClr val="dk1">
                    <a:lumMod val="75000"/>
                    <a:lumOff val="25000"/>
                  </a:schemeClr>
                </a:solidFill>
                <a:uFillTx/>
                <a:latin typeface="Roboto" charset="0"/>
                <a:ea typeface="Roboto" charset="0"/>
                <a:cs typeface="Arial" panose="020B0604020202020204" pitchFamily="34" charset="0"/>
              </a:rPr>
              <a:t>, refer to the documentation or seek professional assistance if necessary.</a:t>
            </a:r>
            <a:endParaRPr lang="en-US" sz="24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p:txBody>
      </p:sp>
      <p:pic>
        <p:nvPicPr>
          <p:cNvPr id="4" name="Google Shape;82;p1"/>
          <p:cNvPicPr preferRelativeResize="0"/>
          <p:nvPr/>
        </p:nvPicPr>
        <p:blipFill>
          <a:blip r:embed="rId4"/>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Tree>
    <p:custDataLst>
      <p:tags r:id="rId5"/>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7"/>
          <p:cNvSpPr/>
          <p:nvPr>
            <p:custDataLst>
              <p:tags r:id="rId1"/>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7" name="文本框 6"/>
          <p:cNvSpPr txBox="1"/>
          <p:nvPr>
            <p:custDataLst>
              <p:tags r:id="rId2"/>
            </p:custDataLst>
          </p:nvPr>
        </p:nvSpPr>
        <p:spPr>
          <a:xfrm>
            <a:off x="457155" y="160021"/>
            <a:ext cx="11277689" cy="609600"/>
          </a:xfrm>
          <a:prstGeom prst="rect">
            <a:avLst/>
          </a:prstGeom>
          <a:noFill/>
        </p:spPr>
        <p:txBody>
          <a:bodyPr wrap="square" lIns="63500" tIns="25400" rIns="63500" bIns="25400" rtlCol="0" anchor="ctr" anchorCtr="0"/>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Introduction of Web Configuration Interface</a:t>
            </a:r>
            <a:endParaRPr lang="en-US" sz="2800" b="1" dirty="0">
              <a:solidFill>
                <a:schemeClr val="lt1"/>
              </a:solidFill>
              <a:uFillTx/>
              <a:latin typeface="Montserrat" pitchFamily="2" charset="0"/>
              <a:ea typeface="微软雅黑" panose="020B0503020204020204" pitchFamily="34" charset="-122"/>
              <a:sym typeface="Roboto"/>
            </a:endParaRPr>
          </a:p>
        </p:txBody>
      </p:sp>
      <p:sp>
        <p:nvSpPr>
          <p:cNvPr id="14" name="Title 6"/>
          <p:cNvSpPr txBox="1"/>
          <p:nvPr>
            <p:custDataLst>
              <p:tags r:id="rId3"/>
            </p:custDataLst>
          </p:nvPr>
        </p:nvSpPr>
        <p:spPr>
          <a:xfrm>
            <a:off x="146050" y="482600"/>
            <a:ext cx="11803968" cy="4628515"/>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00000"/>
              </a:lnSpc>
              <a:spcBef>
                <a:spcPts val="0"/>
              </a:spcBef>
              <a:spcAft>
                <a:spcPts val="800"/>
              </a:spcAft>
              <a:buSzPct val="100000"/>
              <a:buFont typeface="Arial" panose="020B0604020202020204" pitchFamily="34" charset="0"/>
            </a:pPr>
            <a:r>
              <a:rPr lang="en-US"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The Web UI of the </a:t>
            </a:r>
            <a:r>
              <a:rPr lang="en-US" altLang="zh-CN" sz="20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NHD-128-NDI-TRX</a:t>
            </a:r>
            <a:r>
              <a:rPr lang="en-US" sz="20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a:t>
            </a:r>
            <a:r>
              <a:rPr lang="en-US"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is designed for intuitive device management and control through any web browser. With the Web UI, you can easily configure and manage your conversion setup with the following features:</a:t>
            </a:r>
            <a:endParaRPr lang="en-US" sz="20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285750" lvl="0" indent="-285750" algn="l" fontAlgn="ctr">
              <a:lnSpc>
                <a:spcPct val="100000"/>
              </a:lnSpc>
              <a:spcBef>
                <a:spcPts val="0"/>
              </a:spcBef>
              <a:spcAft>
                <a:spcPts val="800"/>
              </a:spcAft>
              <a:buSzPct val="100000"/>
              <a:buFont typeface="Arial" panose="020B0604020202020204" pitchFamily="34" charset="0"/>
              <a:buChar char="•"/>
            </a:pPr>
            <a:endParaRPr lang="en-US" sz="18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0" algn="l" fontAlgn="ctr">
              <a:lnSpc>
                <a:spcPct val="100000"/>
              </a:lnSpc>
              <a:spcBef>
                <a:spcPts val="0"/>
              </a:spcBef>
              <a:spcAft>
                <a:spcPts val="800"/>
              </a:spcAft>
              <a:buSzPct val="100000"/>
              <a:buFont typeface="Arial" panose="020B0604020202020204" pitchFamily="34" charset="0"/>
            </a:pPr>
            <a:endParaRPr lang="en-US"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lvl="0" indent="0" algn="l" fontAlgn="ctr">
              <a:lnSpc>
                <a:spcPct val="100000"/>
              </a:lnSpc>
              <a:spcBef>
                <a:spcPts val="0"/>
              </a:spcBef>
              <a:spcAft>
                <a:spcPts val="800"/>
              </a:spcAft>
              <a:buSzPct val="100000"/>
              <a:buFont typeface="Arial" panose="020B0604020202020204" pitchFamily="34" charset="0"/>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Key Web UI Configurations:</a:t>
            </a:r>
            <a:endPar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285750" lvl="0" indent="-285750" algn="l" fontAlgn="ctr">
              <a:lnSpc>
                <a:spcPct val="100000"/>
              </a:lnSpc>
              <a:spcBef>
                <a:spcPts val="0"/>
              </a:spcBef>
              <a:spcAft>
                <a:spcPts val="800"/>
              </a:spcAft>
              <a:buSzPct val="100000"/>
              <a:buFont typeface="Arial" panose="020B0604020202020204" pitchFamily="34" charset="0"/>
              <a:buChar char="•"/>
            </a:pPr>
            <a:r>
              <a:rPr lang="en-US"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Conversion Configuration</a:t>
            </a:r>
            <a:r>
              <a:rPr lang="en-US" altLang="zh-CN" sz="16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a:t>
            </a:r>
            <a:r>
              <a:rPr lang="en-US" altLang="zh-CN" sz="16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Setting the IP address and conversion status between NDI and NetworkHD stream.</a:t>
            </a:r>
            <a:endParaRPr lang="en-US" altLang="zh-CN" sz="1600"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endParaRPr>
          </a:p>
          <a:p>
            <a:pPr marL="285750" lvl="0" indent="-285750" fontAlgn="ctr">
              <a:lnSpc>
                <a:spcPct val="100000"/>
              </a:lnSpc>
              <a:spcBef>
                <a:spcPts val="0"/>
              </a:spcBef>
              <a:spcAft>
                <a:spcPts val="800"/>
              </a:spcAft>
              <a:buSzPct val="100000"/>
              <a:buFont typeface="Arial" panose="020B0604020202020204" pitchFamily="34" charset="0"/>
              <a:buChar char="•"/>
            </a:pPr>
            <a:r>
              <a:rPr lang="en-US" altLang="zh-CN" sz="1600" b="1" spc="0" dirty="0">
                <a:ln w="3175">
                  <a:noFill/>
                  <a:prstDash val="dash"/>
                </a:ln>
                <a:solidFill>
                  <a:schemeClr val="dk1">
                    <a:lumMod val="75000"/>
                    <a:lumOff val="25000"/>
                  </a:schemeClr>
                </a:solidFill>
                <a:uFillTx/>
                <a:latin typeface="Roboto" charset="0"/>
                <a:ea typeface="Roboto" charset="0"/>
                <a:cs typeface="Arial" panose="020B0604020202020204" pitchFamily="34" charset="0"/>
                <a:sym typeface="+mn-ea"/>
              </a:rPr>
              <a:t>Conversion Management</a:t>
            </a:r>
            <a:r>
              <a:rPr lang="en-US" altLang="zh-CN" sz="1600" b="1"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 </a:t>
            </a:r>
            <a:r>
              <a:rPr lang="en-US" altLang="zh-CN" sz="16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rPr>
              <a:t>Activate/Deactivate each conversion channel.</a:t>
            </a:r>
            <a:endParaRPr lang="en-US" altLang="zh-CN" sz="1600" spc="0" dirty="0">
              <a:ln w="3175">
                <a:noFill/>
                <a:prstDash val="dash"/>
              </a:ln>
              <a:solidFill>
                <a:schemeClr val="dk1">
                  <a:lumMod val="75000"/>
                  <a:lumOff val="25000"/>
                </a:schemeClr>
              </a:solidFill>
              <a:latin typeface="Roboto" charset="0"/>
              <a:ea typeface="Roboto" charset="0"/>
              <a:cs typeface="Arial" panose="020B0604020202020204" pitchFamily="34" charset="0"/>
              <a:sym typeface="+mn-ea"/>
            </a:endParaRPr>
          </a:p>
        </p:txBody>
      </p:sp>
      <p:pic>
        <p:nvPicPr>
          <p:cNvPr id="4" name="Google Shape;82;p1"/>
          <p:cNvPicPr preferRelativeResize="0"/>
          <p:nvPr/>
        </p:nvPicPr>
        <p:blipFill>
          <a:blip r:embed="rId4"/>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Tree>
    <p:custDataLst>
      <p:tags r:id="rId5"/>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984293" y="1149489"/>
            <a:ext cx="4159582" cy="707885"/>
          </a:xfrm>
          <a:prstGeom prst="rect">
            <a:avLst/>
          </a:prstGeom>
          <a:solidFill>
            <a:srgbClr val="E2F3E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p:cNvSpPr txBox="1"/>
          <p:nvPr/>
        </p:nvSpPr>
        <p:spPr>
          <a:xfrm>
            <a:off x="-80645" y="1153801"/>
            <a:ext cx="12287885" cy="707886"/>
          </a:xfrm>
          <a:prstGeom prst="rect">
            <a:avLst/>
          </a:prstGeom>
          <a:noFill/>
        </p:spPr>
        <p:txBody>
          <a:bodyPr wrap="square" rtlCol="0">
            <a:spAutoFit/>
          </a:bodyPr>
          <a:lstStyle/>
          <a:p>
            <a:pPr algn="ctr"/>
            <a:r>
              <a:rPr lang="en-US" altLang="zh-CN" sz="4000" b="1" dirty="0">
                <a:latin typeface="Montserrat" pitchFamily="2" charset="0"/>
                <a:cs typeface="Arial" panose="020B0604020202020204" pitchFamily="34" charset="0"/>
              </a:rPr>
              <a:t>Q</a:t>
            </a:r>
            <a:r>
              <a:rPr lang="en-US" altLang="zh-CN" sz="2400" b="1" dirty="0">
                <a:latin typeface="Montserrat" pitchFamily="2" charset="0"/>
                <a:cs typeface="Arial" panose="020B0604020202020204" pitchFamily="34" charset="0"/>
              </a:rPr>
              <a:t> </a:t>
            </a:r>
            <a:r>
              <a:rPr lang="en-US" altLang="zh-CN" sz="4000" b="1" dirty="0">
                <a:latin typeface="Montserrat" pitchFamily="2" charset="0"/>
                <a:cs typeface="Arial" panose="020B0604020202020204" pitchFamily="34" charset="0"/>
              </a:rPr>
              <a:t>&amp;</a:t>
            </a:r>
            <a:r>
              <a:rPr lang="en-US" altLang="zh-CN" sz="2400" b="1" dirty="0">
                <a:latin typeface="Montserrat" pitchFamily="2" charset="0"/>
                <a:cs typeface="Arial" panose="020B0604020202020204" pitchFamily="34" charset="0"/>
              </a:rPr>
              <a:t> </a:t>
            </a:r>
            <a:r>
              <a:rPr lang="en-US" altLang="zh-CN" sz="4000" b="1" dirty="0">
                <a:latin typeface="Montserrat" pitchFamily="2" charset="0"/>
                <a:cs typeface="Arial" panose="020B0604020202020204" pitchFamily="34" charset="0"/>
              </a:rPr>
              <a:t>A Session</a:t>
            </a:r>
            <a:endParaRPr lang="en-US" altLang="zh-CN" dirty="0">
              <a:solidFill>
                <a:schemeClr val="tx1">
                  <a:lumMod val="75000"/>
                  <a:lumOff val="25000"/>
                </a:schemeClr>
              </a:solidFill>
              <a:latin typeface="Roboto" charset="0"/>
              <a:ea typeface="Roboto" charset="0"/>
              <a:cs typeface="Arial" panose="020B0604020202020204" pitchFamily="34" charset="0"/>
            </a:endParaRPr>
          </a:p>
        </p:txBody>
      </p:sp>
      <p:pic>
        <p:nvPicPr>
          <p:cNvPr id="7" name="图片 6"/>
          <p:cNvPicPr/>
          <p:nvPr/>
        </p:nvPicPr>
        <p:blipFill>
          <a:blip r:embed="rId1"/>
          <a:stretch>
            <a:fillRect/>
          </a:stretch>
        </p:blipFill>
        <p:spPr>
          <a:xfrm>
            <a:off x="2796857" y="2808363"/>
            <a:ext cx="6502400" cy="3588240"/>
          </a:xfrm>
          <a:prstGeom prst="rect">
            <a:avLst/>
          </a:prstGeom>
          <a:effectLst>
            <a:outerShdw blurRad="50800" dist="38100" dir="5400000" algn="t" rotWithShape="0">
              <a:prstClr val="black">
                <a:alpha val="40000"/>
              </a:prstClr>
            </a:outerShdw>
          </a:effectLst>
        </p:spPr>
      </p:pic>
      <p:pic>
        <p:nvPicPr>
          <p:cNvPr id="5" name="Google Shape;82;p1"/>
          <p:cNvPicPr preferRelativeResize="0"/>
          <p:nvPr/>
        </p:nvPicPr>
        <p:blipFill>
          <a:blip r:embed="rId2"/>
          <a:stretch>
            <a:fillRect/>
          </a:stretch>
        </p:blipFill>
        <p:spPr>
          <a:xfrm>
            <a:off x="9652104" y="6056488"/>
            <a:ext cx="2241019" cy="440200"/>
          </a:xfrm>
          <a:prstGeom prst="rect">
            <a:avLst/>
          </a:prstGeom>
          <a:noFill/>
          <a:ln>
            <a:noFill/>
          </a:ln>
        </p:spPr>
      </p:pic>
      <p:sp>
        <p:nvSpPr>
          <p:cNvPr id="6" name="文本框 1"/>
          <p:cNvSpPr txBox="1"/>
          <p:nvPr/>
        </p:nvSpPr>
        <p:spPr>
          <a:xfrm>
            <a:off x="9321165" y="6468745"/>
            <a:ext cx="2628900" cy="306705"/>
          </a:xfrm>
          <a:prstGeom prst="rect">
            <a:avLst/>
          </a:prstGeom>
          <a:noFill/>
        </p:spPr>
        <p:txBody>
          <a:bodyPr wrap="square" rtlCol="0" anchor="t">
            <a:spAutoFit/>
          </a:bodyPr>
          <a:lstStyle/>
          <a:p>
            <a:pPr algn="ctr"/>
            <a:r>
              <a:rPr lang="en-US" altLang="zh-CN" sz="1400" dirty="0">
                <a:solidFill>
                  <a:schemeClr val="bg1">
                    <a:lumMod val="50000"/>
                  </a:schemeClr>
                </a:solidFill>
                <a:latin typeface="Roboto" charset="0"/>
                <a:ea typeface="Roboto" charset="0"/>
                <a:cs typeface="Arial" panose="020B0604020202020204" pitchFamily="34" charset="0"/>
                <a:sym typeface="+mn-ea"/>
              </a:rPr>
              <a:t>    Powerful · Reliable · Simple</a:t>
            </a:r>
            <a:endParaRPr lang="en-US" altLang="zh-CN" sz="1400" dirty="0">
              <a:solidFill>
                <a:schemeClr val="bg1">
                  <a:lumMod val="50000"/>
                </a:schemeClr>
              </a:solidFill>
              <a:latin typeface="Roboto" charset="0"/>
              <a:ea typeface="Roboto" charset="0"/>
              <a:cs typeface="Arial" panose="020B0604020202020204" pitchFamily="34" charset="0"/>
              <a:sym typeface="+mn-ea"/>
            </a:endParaRPr>
          </a:p>
        </p:txBody>
      </p:sp>
      <p:sp>
        <p:nvSpPr>
          <p:cNvPr id="9" name="矩形 7"/>
          <p:cNvSpPr/>
          <p:nvPr>
            <p:custDataLst>
              <p:tags r:id="rId3"/>
            </p:custDataLst>
          </p:nvPr>
        </p:nvSpPr>
        <p:spPr>
          <a:xfrm>
            <a:off x="0" y="0"/>
            <a:ext cx="12192000" cy="912114"/>
          </a:xfrm>
          <a:prstGeom prst="rect">
            <a:avLst/>
          </a:prstGeom>
          <a:solidFill>
            <a:srgbClr val="0B793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accent6"/>
              </a:solidFill>
              <a:latin typeface="微软雅黑" panose="020B0503020204020204" pitchFamily="34" charset="-122"/>
              <a:ea typeface="微软雅黑" panose="020B0503020204020204" pitchFamily="34" charset="-122"/>
              <a:sym typeface="+mn-ea"/>
            </a:endParaRPr>
          </a:p>
        </p:txBody>
      </p:sp>
      <p:sp>
        <p:nvSpPr>
          <p:cNvPr id="10" name="文本框 6"/>
          <p:cNvSpPr txBox="1"/>
          <p:nvPr>
            <p:custDataLst>
              <p:tags r:id="rId4"/>
            </p:custDataLst>
          </p:nvPr>
        </p:nvSpPr>
        <p:spPr>
          <a:xfrm>
            <a:off x="457155" y="160021"/>
            <a:ext cx="11277689" cy="609600"/>
          </a:xfrm>
          <a:prstGeom prst="rect">
            <a:avLst/>
          </a:prstGeom>
          <a:noFill/>
        </p:spPr>
        <p:txBody>
          <a:bodyPr wrap="square" lIns="63500" tIns="25400" rIns="63500" bIns="25400" rtlCol="0" anchor="ctr" anchorCtr="0">
            <a:normAutofit/>
          </a:bodyPr>
          <a:lstStyle/>
          <a:p>
            <a:pPr marL="0" indent="0" algn="l">
              <a:lnSpc>
                <a:spcPct val="100000"/>
              </a:lnSpc>
              <a:spcBef>
                <a:spcPts val="0"/>
              </a:spcBef>
              <a:spcAft>
                <a:spcPts val="0"/>
              </a:spcAft>
              <a:buSzPct val="100000"/>
              <a:buNone/>
            </a:pPr>
            <a:r>
              <a:rPr lang="en-US" sz="2800" b="1" dirty="0">
                <a:solidFill>
                  <a:schemeClr val="lt1"/>
                </a:solidFill>
                <a:uFillTx/>
                <a:latin typeface="Montserrat" pitchFamily="2" charset="0"/>
                <a:ea typeface="微软雅黑" panose="020B0503020204020204" pitchFamily="34" charset="-122"/>
                <a:sym typeface="Roboto"/>
              </a:rPr>
              <a:t>Final Thoughts</a:t>
            </a:r>
            <a:endParaRPr lang="en-US" sz="2800" b="1" dirty="0">
              <a:solidFill>
                <a:schemeClr val="lt1"/>
              </a:solidFill>
              <a:uFillTx/>
              <a:latin typeface="Montserrat" pitchFamily="2" charset="0"/>
              <a:ea typeface="微软雅黑" panose="020B0503020204020204" pitchFamily="34" charset="-122"/>
              <a:sym typeface="Roboto"/>
            </a:endParaRPr>
          </a:p>
        </p:txBody>
      </p:sp>
      <p:sp>
        <p:nvSpPr>
          <p:cNvPr id="4" name="文本框 1"/>
          <p:cNvSpPr txBox="1"/>
          <p:nvPr/>
        </p:nvSpPr>
        <p:spPr>
          <a:xfrm>
            <a:off x="-47944" y="2003528"/>
            <a:ext cx="12287885" cy="368300"/>
          </a:xfrm>
          <a:prstGeom prst="rect">
            <a:avLst/>
          </a:prstGeom>
          <a:noFill/>
        </p:spPr>
        <p:txBody>
          <a:bodyPr wrap="square" rtlCol="0">
            <a:spAutoFit/>
          </a:bodyPr>
          <a:lstStyle/>
          <a:p>
            <a:pPr algn="ctr"/>
            <a:r>
              <a:rPr lang="en-US" altLang="zh-CN" dirty="0">
                <a:solidFill>
                  <a:schemeClr val="tx1">
                    <a:lumMod val="75000"/>
                    <a:lumOff val="25000"/>
                  </a:schemeClr>
                </a:solidFill>
                <a:latin typeface="Roboto" charset="0"/>
                <a:ea typeface="Roboto" charset="0"/>
                <a:cs typeface="Arial" panose="020B0604020202020204" pitchFamily="34" charset="0"/>
              </a:rPr>
              <a:t>Got questions? Don't hesitate to ask away.</a:t>
            </a:r>
            <a:endParaRPr lang="en-US" altLang="zh-CN" dirty="0">
              <a:solidFill>
                <a:schemeClr val="tx1">
                  <a:lumMod val="75000"/>
                  <a:lumOff val="25000"/>
                </a:schemeClr>
              </a:solidFill>
              <a:latin typeface="Roboto" charset="0"/>
              <a:ea typeface="Roboto" charset="0"/>
              <a:cs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3.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02_1*a*1"/>
  <p:tag name="KSO_WM_TEMPLATE_CATEGORY" val="diagram"/>
  <p:tag name="KSO_WM_TEMPLATE_INDEX" val="20215802"/>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35545cd6b5ce4dae9dccf4eab288bc6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0992860551d4d4eb792c36bc28c26be"/>
  <p:tag name="KSO_WM_UNIT_TEXT_FILL_FORE_SCHEMECOLOR_INDEX_BRIGHTNESS" val="0"/>
  <p:tag name="KSO_WM_UNIT_TEXT_FILL_FORE_SCHEMECOLOR_INDEX" val="13"/>
  <p:tag name="KSO_WM_UNIT_TEXT_FILL_TYPE" val="1"/>
  <p:tag name="KSO_WM_TEMPLATE_ASSEMBLE_XID" val="60656ea94054ed1e2fb7fd45"/>
  <p:tag name="KSO_WM_TEMPLATE_ASSEMBLE_GROUPID" val="60656ea94054ed1e2fb7fd45"/>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6.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02_1*a*1"/>
  <p:tag name="KSO_WM_TEMPLATE_CATEGORY" val="diagram"/>
  <p:tag name="KSO_WM_TEMPLATE_INDEX" val="20215802"/>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35545cd6b5ce4dae9dccf4eab288bc6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0992860551d4d4eb792c36bc28c26be"/>
  <p:tag name="KSO_WM_UNIT_TEXT_FILL_FORE_SCHEMECOLOR_INDEX_BRIGHTNESS" val="0"/>
  <p:tag name="KSO_WM_UNIT_TEXT_FILL_FORE_SCHEMECOLOR_INDEX" val="13"/>
  <p:tag name="KSO_WM_UNIT_TEXT_FILL_TYPE" val="1"/>
  <p:tag name="KSO_WM_TEMPLATE_ASSEMBLE_XID" val="60656ea94054ed1e2fb7fd45"/>
  <p:tag name="KSO_WM_TEMPLATE_ASSEMBLE_GROUPID" val="60656ea94054ed1e2fb7fd45"/>
</p:tagLst>
</file>

<file path=ppt/tags/tag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02_1*f*1"/>
  <p:tag name="KSO_WM_TEMPLATE_CATEGORY" val="diagram"/>
  <p:tag name="KSO_WM_TEMPLATE_INDEX" val="20215802"/>
  <p:tag name="KSO_WM_UNIT_LAYERLEVEL" val="1"/>
  <p:tag name="KSO_WM_TAG_VERSION" val="1.0"/>
  <p:tag name="KSO_WM_BEAUTIFY_FLAG" val="#wm#"/>
  <p:tag name="KSO_WM_UNIT_DEFAULT_FONT" val="14;20;2"/>
  <p:tag name="KSO_WM_UNIT_BLOCK" val="0"/>
  <p:tag name="KSO_WM_UNIT_VALUE" val="144"/>
  <p:tag name="KSO_WM_UNIT_SHOW_EDIT_AREA_INDICATION" val="1"/>
  <p:tag name="KSO_WM_CHIP_GROUPID" val="5e6b05596848fb12bee65ac8"/>
  <p:tag name="KSO_WM_CHIP_XID" val="5e6b05596848fb12bee65aca"/>
  <p:tag name="KSO_WM_UNIT_DEC_AREA_ID" val="d879e39fee614b88a76bb899d600b76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0fcd4429fddf4fd9b6b9cae2bcdab05b"/>
  <p:tag name="KSO_WM_UNIT_SUPPORT_UNIT_TYPE" val="[&quot;d&quot;]"/>
  <p:tag name="KSO_WM_UNIT_TEXT_FILL_FORE_SCHEMECOLOR_INDEX_BRIGHTNESS" val="0.25"/>
  <p:tag name="KSO_WM_UNIT_TEXT_FILL_FORE_SCHEMECOLOR_INDEX" val="13"/>
  <p:tag name="KSO_WM_UNIT_TEXT_FILL_TYPE" val="1"/>
  <p:tag name="KSO_WM_TEMPLATE_ASSEMBLE_XID" val="60656ea94054ed1e2fb7fd45"/>
  <p:tag name="KSO_WM_TEMPLATE_ASSEMBLE_GROUPID" val="60656ea94054ed1e2fb7fd45"/>
</p:tagLst>
</file>

<file path=ppt/tags/tag8.xml><?xml version="1.0" encoding="utf-8"?>
<p:tagLst xmlns:p="http://schemas.openxmlformats.org/presentationml/2006/main">
  <p:tag name="KSO_WM_SLIDE_ID" val="diagram20215802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SLIDE_SIZE" val="960*384"/>
  <p:tag name="KSO_WM_SLIDE_POSITION" val="0*0"/>
  <p:tag name="KSO_WM_TAG_VERSION" val="1.0"/>
  <p:tag name="KSO_WM_BEAUTIFY_FLAG" val="#wm#"/>
  <p:tag name="KSO_WM_TEMPLATE_CATEGORY" val="diagram"/>
  <p:tag name="KSO_WM_TEMPLATE_INDEX" val="20215802"/>
  <p:tag name="KSO_WM_SLIDE_LAYOUT" val="a_f"/>
  <p:tag name="KSO_WM_SLIDE_LAYOUT_CNT" val="1_1"/>
  <p:tag name="KSO_WM_SLIDE_LAYOUT_INFO" val="{&quot;id&quot;:&quot;2021-04-01T15:11:24&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1-04-01T15:11:24&quot;,&quot;margin&quot;:{&quot;bottom&quot;:0.4230000674724579,&quot;left&quot;:1.2699999809265137,&quot;right&quot;:1.2699999809265137,&quot;top&quot;:0.4230000674724579},&quot;type&quot;:0},{&quot;id&quot;:&quot;2021-04-01T15:11:24&quot;,&quot;margin&quot;:{&quot;bottom&quot;:1.694000005722046,&quot;left&quot;:1.6929999589920044,&quot;right&quot;:1.6929999589920044,&quot;top&quot;:1.6929999589920044},&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78e478fb0c58a940c"/>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lm&quot;,&quot;text_direction&quot;:&quot;horizontal&quot;,&quot;support_features&quot;:[&quot;collage&quot;],&quot;support_big_font&quot;:false,&quot;picture_toward&quot;:0,&quot;picture_dockside&quot;:[],&quot;fill_id&quot;:&quot;aae3729e0a0d44488f1a088171be5691&quot;,&quot;fill_align&quot;:&quot;cm&quot;,&quot;chip_types&quot;:[&quot;text&quot;,&quot;picture&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0656ea94054ed1e2fb7fd45"/>
  <p:tag name="KSO_WM_TEMPLATE_ASSEMBLE_GROUPID" val="60656ea94054ed1e2fb7fd45"/>
  <p:tag name="RESOURCE_RECORD_KEY" val="{&quot;13&quot;:[4364952],&quot;65&quot;:[20215802]}"/>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2"/>
  <p:tag name="KSO_WM_TEMPLATE_CATEGORY" val="diagram"/>
  <p:tag name="KSO_WM_TEMPLATE_INDEX" val="20215817"/>
  <p:tag name="KSO_WM_UNIT_LAYERLEVEL" val="1"/>
  <p:tag name="KSO_WM_TAG_VERSION" val="1.0"/>
  <p:tag name="KSO_WM_BEAUTIFY_FLAG" val="#wm#"/>
  <p:tag name="KSO_WM_UNIT_TYPE" val="i"/>
  <p:tag name="KSO_WM_UNIT_INDEX" val="2"/>
  <p:tag name="KSO_WM_UNIT_BLOCK" val="0"/>
  <p:tag name="KSO_WM_UNIT_SM_LIMIT_TYPE" val="0"/>
  <p:tag name="KSO_WM_UNIT_DEC_AREA_ID" val="c851648b610c4eed84725474f83dd781"/>
  <p:tag name="KSO_WM_UNIT_DECORATE_INFO" val="{&quot;DecorateInfoH&quot;:{&quot;IsAbs&quot;:true},&quot;DecorateInfoW&quot;:{&quot;IsAbs&quot;:true},&quot;DecorateInfoX&quot;:{&quot;IsAbs&quot;:true,&quot;Pos&quot;:2},&quot;DecorateInfoY&quot;:{&quot;IsAbs&quot;:true,&quot;Pos&quot;:2},&quot;ReferentInfo&quot;:{&quot;Id&quot;:&quot;fa1e37419f9b42fb86bdf596086272a2&quot;,&quot;X&quot;:{&quot;Pos&quot;:2},&quot;Y&quot;:{&quot;Pos&quot;:0}},&quot;whChangeMode&quot;:0}"/>
  <p:tag name="KSO_WM_CHIP_GROUPID" val="5f5ee1ca4d6848d78f644aeb"/>
  <p:tag name="KSO_WM_CHIP_XID" val="5f5f3b6d8e478fb0c58a941e"/>
  <p:tag name="KSO_WM_UNIT_LINE_FORE_SCHEMECOLOR_INDEX_BRIGHTNESS" val="0"/>
  <p:tag name="KSO_WM_UNIT_LINE_FORE_SCHEMECOLOR_INDEX" val="15"/>
  <p:tag name="KSO_WM_UNIT_LINE_FILL_TYPE" val="2"/>
  <p:tag name="KSO_WM_TEMPLATE_ASSEMBLE_XID" val="63895f930c9383becde52e83"/>
  <p:tag name="KSO_WM_TEMPLATE_ASSEMBLE_GROUPID" val="63895f930c9383becde52e83"/>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3"/>
  <p:tag name="KSO_WM_TEMPLATE_CATEGORY" val="diagram"/>
  <p:tag name="KSO_WM_TEMPLATE_INDEX" val="20215817"/>
  <p:tag name="KSO_WM_UNIT_LAYERLEVEL" val="1"/>
  <p:tag name="KSO_WM_TAG_VERSION" val="1.0"/>
  <p:tag name="KSO_WM_BEAUTIFY_FLAG" val="#wm#"/>
  <p:tag name="KSO_WM_UNIT_TYPE" val="i"/>
  <p:tag name="KSO_WM_UNIT_INDEX" val="3"/>
  <p:tag name="KSO_WM_UNIT_BLOCK" val="0"/>
  <p:tag name="KSO_WM_UNIT_SM_LIMIT_TYPE" val="0"/>
  <p:tag name="KSO_WM_UNIT_DEC_AREA_ID" val="3104b9f4692049e9b18edec063ed2171"/>
  <p:tag name="KSO_WM_UNIT_DECORATE_INFO" val="{&quot;DecorateInfoH&quot;:{&quot;IsAbs&quot;:true},&quot;DecorateInfoW&quot;:{&quot;IsAbs&quot;:true},&quot;DecorateInfoX&quot;:{&quot;IsAbs&quot;:true,&quot;Pos&quot;:0},&quot;DecorateInfoY&quot;:{&quot;IsAbs&quot;:true,&quot;Pos&quot;:0},&quot;ReferentInfo&quot;:{&quot;Id&quot;:&quot;fa1e37419f9b42fb86bdf596086272a2&quot;,&quot;X&quot;:{&quot;Pos&quot;:0},&quot;Y&quot;:{&quot;Pos&quot;:2}},&quot;whChangeMode&quot;:0}"/>
  <p:tag name="KSO_WM_CHIP_GROUPID" val="5f5ee1ca4d6848d78f644aeb"/>
  <p:tag name="KSO_WM_CHIP_XID" val="5f5f3b6d8e478fb0c58a941e"/>
  <p:tag name="KSO_WM_UNIT_LINE_FORE_SCHEMECOLOR_INDEX_BRIGHTNESS" val="0"/>
  <p:tag name="KSO_WM_UNIT_LINE_FORE_SCHEMECOLOR_INDEX" val="15"/>
  <p:tag name="KSO_WM_UNIT_LINE_FILL_TYPE" val="2"/>
  <p:tag name="KSO_WM_TEMPLATE_ASSEMBLE_XID" val="63895f930c9383becde52e83"/>
  <p:tag name="KSO_WM_TEMPLATE_ASSEMBLE_GROUPID" val="63895f930c9383becde52e83"/>
</p:tagLst>
</file>

<file path=ppt/tags/tag12.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1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14.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16.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17.xml><?xml version="1.0" encoding="utf-8"?>
<p:tagLst xmlns:p="http://schemas.openxmlformats.org/presentationml/2006/main">
  <p:tag name="KSO_WM_DIAGRAM_VIRTUALLY_FRAME" val="{&quot;height&quot;:275.25732283464566,&quot;left&quot;:98.6,&quot;top&quot;:79.59267716535433,&quot;width&quot;:795.4903937007873}"/>
</p:tagLst>
</file>

<file path=ppt/tags/tag18.xml><?xml version="1.0" encoding="utf-8"?>
<p:tagLst xmlns:p="http://schemas.openxmlformats.org/presentationml/2006/main">
  <p:tag name="KSO_WM_DIAGRAM_VIRTUALLY_FRAME" val="{&quot;height&quot;:275.25732283464566,&quot;left&quot;:98.6,&quot;top&quot;:79.59267716535433,&quot;width&quot;:795.4903937007873}"/>
</p:tagLst>
</file>

<file path=ppt/tags/tag19.xml><?xml version="1.0" encoding="utf-8"?>
<p:tagLst xmlns:p="http://schemas.openxmlformats.org/presentationml/2006/main">
  <p:tag name="KSO_WM_DIAGRAM_VIRTUALLY_FRAME" val="{&quot;height&quot;:275.25732283464566,&quot;left&quot;:98.6,&quot;top&quot;:79.59267716535433,&quot;width&quot;:795.4903937007873}"/>
</p:tagLst>
</file>

<file path=ppt/tags/tag20.xml><?xml version="1.0" encoding="utf-8"?>
<p:tagLst xmlns:p="http://schemas.openxmlformats.org/presentationml/2006/main">
  <p:tag name="KSO_WM_DIAGRAM_VIRTUALLY_FRAME" val="{&quot;height&quot;:275.25732283464566,&quot;left&quot;:98.6,&quot;top&quot;:79.59267716535433,&quot;width&quot;:795.4903937007873}"/>
</p:tagLst>
</file>

<file path=ppt/tags/tag21.xml><?xml version="1.0" encoding="utf-8"?>
<p:tagLst xmlns:p="http://schemas.openxmlformats.org/presentationml/2006/main">
  <p:tag name="KSO_WM_DIAGRAM_VIRTUALLY_FRAME" val="{&quot;height&quot;:275.25732283464566,&quot;left&quot;:98.6,&quot;top&quot;:79.59267716535433,&quot;width&quot;:795.4903937007873}"/>
</p:tagLst>
</file>

<file path=ppt/tags/tag22.xml><?xml version="1.0" encoding="utf-8"?>
<p:tagLst xmlns:p="http://schemas.openxmlformats.org/presentationml/2006/main">
  <p:tag name="KSO_WM_DIAGRAM_VIRTUALLY_FRAME" val="{&quot;height&quot;:275.25732283464566,&quot;left&quot;:98.6,&quot;top&quot;:79.59267716535433,&quot;width&quot;:795.4903937007873}"/>
</p:tagLst>
</file>

<file path=ppt/tags/tag23.xml><?xml version="1.0" encoding="utf-8"?>
<p:tagLst xmlns:p="http://schemas.openxmlformats.org/presentationml/2006/main">
  <p:tag name="KSO_WM_DIAGRAM_VIRTUALLY_FRAME" val="{&quot;height&quot;:275.25732283464566,&quot;left&quot;:98.6,&quot;top&quot;:79.59267716535433,&quot;width&quot;:795.4903937007873}"/>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25.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26.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28.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29.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31.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32.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34.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35.xml><?xml version="1.0" encoding="utf-8"?>
<p:tagLst xmlns:p="http://schemas.openxmlformats.org/presentationml/2006/main">
  <p:tag name="TABLE_ENDDRAG_ORIGIN_RECT" val="501*409"/>
  <p:tag name="TABLE_ENDDRAG_RECT" val="36*85*501*409"/>
</p:tagLst>
</file>

<file path=ppt/tags/tag36.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38.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3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40.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43.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44.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4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47.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48.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49.xml><?xml version="1.0" encoding="utf-8"?>
<p:tagLst xmlns:p="http://schemas.openxmlformats.org/presentationml/2006/main">
  <p:tag name="KSO_WM_UNIT_TABLE_BEAUTIFY" val="smartTable{0c91aef9-56d0-45ee-bb9e-0dc96e645092}"/>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51.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53.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5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5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56.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58.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5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60.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62.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ags/tag6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5817_1*f*1"/>
  <p:tag name="KSO_WM_TEMPLATE_CATEGORY" val="diagram"/>
  <p:tag name="KSO_WM_TEMPLATE_INDEX" val="2021581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fa1e37419f9b42fb86bdf596086272a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c765ccbb1c104f1a8e992a725ddfc8ec"/>
  <p:tag name="KSO_WM_UNIT_TEXT_FILL_FORE_SCHEMECOLOR_INDEX_BRIGHTNESS" val="0.25"/>
  <p:tag name="KSO_WM_UNIT_TEXT_FILL_FORE_SCHEMECOLOR_INDEX" val="13"/>
  <p:tag name="KSO_WM_UNIT_TEXT_FILL_TYPE" val="1"/>
  <p:tag name="KSO_WM_TEMPLATE_ASSEMBLE_XID" val="63895f930c9383becde52e83"/>
  <p:tag name="KSO_WM_TEMPLATE_ASSEMBLE_GROUPID" val="63895f930c9383becde52e83"/>
</p:tagLst>
</file>

<file path=ppt/tags/tag64.xml><?xml version="1.0" encoding="utf-8"?>
<p:tagLst xmlns:p="http://schemas.openxmlformats.org/presentationml/2006/main">
  <p:tag name="KSO_WM_SLIDE_ID" val="diagram20215817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480"/>
  <p:tag name="KSO_WM_SLIDE_POSITION" val="0*0"/>
  <p:tag name="KSO_WM_TAG_VERSION" val="1.0"/>
  <p:tag name="KSO_WM_BEAUTIFY_FLAG" val="#wm#"/>
  <p:tag name="KSO_WM_TEMPLATE_CATEGORY" val="diagram"/>
  <p:tag name="KSO_WM_TEMPLATE_INDEX" val="20215817"/>
  <p:tag name="KSO_WM_SLIDE_LAYOUT" val="a_d_f"/>
  <p:tag name="KSO_WM_SLIDE_LAYOUT_CNT" val="1_1_1"/>
  <p:tag name="KSO_WM_SLIDE_LAYOUT_INFO" val="{&quot;id&quot;:&quot;2022-12-02T10:14:43&quot;,&quot;maxSize&quot;:{&quot;size1&quot;:13.3},&quot;minSize&quot;:{&quot;size1&quot;:13.3},&quot;normalSize&quot;:{&quot;size1&quot;:13.3},&quot;subLayout&quot;:[{&quot;backgroundInfo&quot;:[{&quot;bottom&quot;:0,&quot;bottomAbs&quot;:false,&quot;left&quot;:0,&quot;leftAbs&quot;:false,&quot;right&quot;:0,&quot;rightAbs&quot;:false,&quot;top&quot;:0,&quot;topAbs&quot;:false,&quot;type&quot;:&quot;navigation&quot;}],&quot;id&quot;:&quot;2022-12-02T10:14:43&quot;,&quot;margin&quot;:{&quot;bottom&quot;:0.4230000674724579,&quot;left&quot;:1.2699999809265137,&quot;right&quot;:1.2699999809265137,&quot;top&quot;:0.4230000674724579},&quot;type&quot;:0},{&quot;direction&quot;:1,&quot;id&quot;:&quot;2022-12-02T10:14:43&quot;,&quot;maxSize&quot;:{&quot;size1&quot;:41.29964745589144},&quot;minSize&quot;:{&quot;size1&quot;:41.29964745589144},&quot;normalSize&quot;:{&quot;size1&quot;:41.29964745589144},&quot;subLayout&quot;:[{&quot;id&quot;:&quot;2022-12-02T10:14:43&quot;,&quot;margin&quot;:{&quot;bottom&quot;:1.2699999809265137,&quot;left&quot;:1.6929999589920044,&quot;right&quot;:0.44999995827674866,&quot;top&quot;:1.2699999809265137},&quot;type&quot;:0},{&quot;id&quot;:&quot;2022-12-02T10:14:43&quot;,&quot;margin&quot;:{&quot;bottom&quot;:3.38700008392334,&quot;left&quot;:0.8199999928474426,&quot;right&quot;:1.6929999589920044,&quot;top&quot;:3.38700008392334},&quot;type&quot;:0}],&quot;type&quot;:0}],&quot;type&quot;:0}"/>
  <p:tag name="KSO_WM_SLIDE_BACKGROUND" val="[&quot;navigation&quot;]"/>
  <p:tag name="KSO_WM_SLIDE_RATIO" val="1.777778"/>
  <p:tag name="KSO_WM_CHIP_INFOS" val="{&quot;type&quot;:0,&quot;layout_type&quot;:&quot;navigation&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5f3b6d8e478fb0c58a941e"/>
  <p:tag name="KSO_WM_CHIP_FILLPROP" val="[[{&quot;text_align&quot;:&quot;lm&quot;,&quot;text_direction&quot;:&quot;horizontal&quot;,&quot;support_big_font&quot;:false,&quot;picture_toward&quot;:0,&quot;picture_dockside&quot;:[],&quot;fill_id&quot;:&quot;c934b58042b44607bfcc30469ccc57d1&quot;,&quot;fill_align&quot;:&quot;lm&quot;,&quot;chip_types&quot;:[&quot;header&quot;]},{&quot;text_align&quot;:&quot;cm&quot;,&quot;text_direction&quot;:&quot;horizontal&quot;,&quot;support_big_font&quot;:false,&quot;picture_toward&quot;:0,&quot;picture_dockside&quot;:[],&quot;fill_id&quot;:&quot;20fbf7d7eb9c4613b4fee6291a75817d&quot;,&quot;fill_align&quot;:&quot;cm&quot;,&quot;chip_types&quot;:[&quot;pictext&quot;,&quot;picture&quot;,&quot;chart&quot;,&quot;table&quot;,&quot;video&quot;]},{&quot;text_align&quot;:&quot;lm&quot;,&quot;text_direction&quot;:&quot;horizontal&quot;,&quot;support_big_font&quot;:false,&quot;picture_toward&quot;:0,&quot;picture_dockside&quot;:[],&quot;fill_id&quot;:&quot;22114352e1bf4a62ad6b257f5ab26101&quot;,&quot;fill_align&quot;:&quot;cm&quot;,&quot;chip_types&quot;:[&quot;text&quot;]}]]"/>
  <p:tag name="FIXED_XID_TMP" val="5f5ee1ca4d6848d78f644aeb"/>
  <p:tag name="KSO_WM_CHIP_DECFILLPROP" val="[]"/>
  <p:tag name="KSO_WM_SLIDE_CAN_ADD_NAVIGATION" val="1"/>
  <p:tag name="KSO_WM_CHIP_GROUPID" val="5f5ee1ca4d6848d78f644aeb"/>
  <p:tag name="KSO_WM_SLIDE_BK_DARK_LIGHT" val="2"/>
  <p:tag name="KSO_WM_SLIDE_BACKGROUND_TYPE" val="navigation"/>
  <p:tag name="KSO_WM_SLIDE_SUPPORT_FEATURE_TYPE" val="0"/>
  <p:tag name="KSO_WM_TEMPLATE_ASSEMBLE_XID" val="63895f930c9383becde52e83"/>
  <p:tag name="KSO_WM_TEMPLATE_ASSEMBLE_GROUPID" val="63895f930c9383becde52e83"/>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15817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15817"/>
  <p:tag name="KSO_WM_UNIT_VALUE" val="159"/>
  <p:tag name="KSO_WM_TEMPLATE_ASSEMBLE_XID" val="63895f930c9383becde52e83"/>
  <p:tag name="KSO_WM_TEMPLATE_ASSEMBLE_GROUPID" val="63895f930c9383becde52e83"/>
</p:tagLst>
</file>

<file path=ppt/tags/tag66.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15817_1*a*1"/>
  <p:tag name="KSO_WM_TEMPLATE_CATEGORY" val="diagram"/>
  <p:tag name="KSO_WM_TEMPLATE_INDEX" val="20215817"/>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0662bf5b3c444c3294df5537940b5c9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ed88d8d4a19241e298e7ce1eeb589426"/>
  <p:tag name="KSO_WM_UNIT_TEXT_FILL_FORE_SCHEMECOLOR_INDEX_BRIGHTNESS" val="0"/>
  <p:tag name="KSO_WM_UNIT_TEXT_FILL_FORE_SCHEMECOLOR_INDEX" val="13"/>
  <p:tag name="KSO_WM_UNIT_TEXT_FILL_TYPE" val="1"/>
  <p:tag name="KSO_WM_TEMPLATE_ASSEMBLE_XID" val="63895f930c9383becde52e83"/>
  <p:tag name="KSO_WM_TEMPLATE_ASSEMBLE_GROUPID" val="63895f930c9383becde52e8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01A8FBB3908BD4681554D596DADDBBC" ma:contentTypeVersion="19" ma:contentTypeDescription="Create a new document." ma:contentTypeScope="" ma:versionID="089862c3d7236b297f5be572ccb4bd9e">
  <xsd:schema xmlns:xsd="http://www.w3.org/2001/XMLSchema" xmlns:xs="http://www.w3.org/2001/XMLSchema" xmlns:p="http://schemas.microsoft.com/office/2006/metadata/properties" xmlns:ns2="d634ccb5-745a-4b19-b3da-83dafbb0f953" xmlns:ns3="fa7e1be7-6c27-4381-949e-b43a2eb5089a" targetNamespace="http://schemas.microsoft.com/office/2006/metadata/properties" ma:root="true" ma:fieldsID="38436fc1e1e78720b95f7a357a3e0114" ns2:_="" ns3:_="">
    <xsd:import namespace="d634ccb5-745a-4b19-b3da-83dafbb0f953"/>
    <xsd:import namespace="fa7e1be7-6c27-4381-949e-b43a2eb5089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34ccb5-745a-4b19-b3da-83dafbb0f9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a840791-955a-45d0-8f77-cb775012b4d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a7e1be7-6c27-4381-949e-b43a2eb5089a"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e5708c9-3083-478d-b2b5-d29c6e746420}" ma:internalName="TaxCatchAll" ma:showField="CatchAllData" ma:web="fa7e1be7-6c27-4381-949e-b43a2eb5089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634ccb5-745a-4b19-b3da-83dafbb0f953">
      <Terms xmlns="http://schemas.microsoft.com/office/infopath/2007/PartnerControls"/>
    </lcf76f155ced4ddcb4097134ff3c332f>
    <TaxCatchAll xmlns="fa7e1be7-6c27-4381-949e-b43a2eb5089a" xsi:nil="true"/>
  </documentManagement>
</p:properties>
</file>

<file path=customXml/itemProps1.xml><?xml version="1.0" encoding="utf-8"?>
<ds:datastoreItem xmlns:ds="http://schemas.openxmlformats.org/officeDocument/2006/customXml" ds:itemID="{06FF1763-1105-48D6-AF94-C9BDA045522C}"/>
</file>

<file path=customXml/itemProps2.xml><?xml version="1.0" encoding="utf-8"?>
<ds:datastoreItem xmlns:ds="http://schemas.openxmlformats.org/officeDocument/2006/customXml" ds:itemID="{0FEE0B35-0EEC-4CA4-8B8E-FF762569739D}"/>
</file>

<file path=customXml/itemProps3.xml><?xml version="1.0" encoding="utf-8"?>
<ds:datastoreItem xmlns:ds="http://schemas.openxmlformats.org/officeDocument/2006/customXml" ds:itemID="{67447395-03B1-4999-B80D-825E295C57BB}"/>
</file>

<file path=docProps/app.xml><?xml version="1.0" encoding="utf-8"?>
<Properties xmlns="http://schemas.openxmlformats.org/officeDocument/2006/extended-properties" xmlns:vt="http://schemas.openxmlformats.org/officeDocument/2006/docPropsVTypes">
  <TotalTime>0</TotalTime>
  <Words>10352</Words>
  <Application>WPS 演示</Application>
  <PresentationFormat>宽屏</PresentationFormat>
  <Paragraphs>394</Paragraphs>
  <Slides>16</Slides>
  <Notes>15</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16</vt:i4>
      </vt:variant>
    </vt:vector>
  </HeadingPairs>
  <TitlesOfParts>
    <vt:vector size="39" baseType="lpstr">
      <vt:lpstr>Arial</vt:lpstr>
      <vt:lpstr>宋体</vt:lpstr>
      <vt:lpstr>Wingdings</vt:lpstr>
      <vt:lpstr>微软雅黑</vt:lpstr>
      <vt:lpstr>Montserrat</vt:lpstr>
      <vt:lpstr>Segoe Print</vt:lpstr>
      <vt:lpstr>Roboto</vt:lpstr>
      <vt:lpstr>Roboto</vt:lpstr>
      <vt:lpstr>Montserrat</vt:lpstr>
      <vt:lpstr>Arial</vt:lpstr>
      <vt:lpstr>Montserrat</vt:lpstr>
      <vt:lpstr>Segoe UI</vt:lpstr>
      <vt:lpstr>Calibri</vt:lpstr>
      <vt:lpstr>Times New Roman</vt:lpstr>
      <vt:lpstr>Wingdings</vt:lpstr>
      <vt:lpstr>Roboto Lt</vt:lpstr>
      <vt:lpstr>Arial Unicode MS</vt:lpstr>
      <vt:lpstr>等线 Light</vt:lpstr>
      <vt:lpstr>Aptos Display</vt:lpstr>
      <vt:lpstr>Segoe UI Variable Display</vt:lpstr>
      <vt:lpstr>等线</vt:lpstr>
      <vt:lpstr>Aptos</vt:lpstr>
      <vt:lpstr>Office 主题​​</vt:lpstr>
      <vt:lpstr>NHD-128-NDI-TRX</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Damon Xie</dc:creator>
  <cp:lastModifiedBy>一心如初。</cp:lastModifiedBy>
  <cp:revision>40</cp:revision>
  <dcterms:created xsi:type="dcterms:W3CDTF">2025-07-07T07:05:00Z</dcterms:created>
  <dcterms:modified xsi:type="dcterms:W3CDTF">2025-10-27T08:44:12Z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4EFF784CE91443B9BD89795D293AC5ED_13</vt:lpwstr>
  </property>
  <property fmtid="{D5CDD505-2E9C-101B-9397-08002B2CF9AE}" pid="3" name="KSOProductBuildVer">
    <vt:lpwstr>2052-12.1.0.23125</vt:lpwstr>
  </property>
  <property fmtid="{D5CDD505-2E9C-101B-9397-08002B2CF9AE}" pid="4" name="ContentTypeId">
    <vt:lpwstr>0x010100E01A8FBB3908BD4681554D596DADDBBC</vt:lpwstr>
  </property>
</Properties>
</file>