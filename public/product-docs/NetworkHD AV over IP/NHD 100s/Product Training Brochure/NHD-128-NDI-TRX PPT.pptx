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tags/tag3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slides/slide16.xml" ContentType="application/vnd.openxmlformats-officedocument.presentationml.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tags/tag4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1096" r:id="rId2"/>
    <p:sldId id="1106" r:id="rId3"/>
    <p:sldId id="1111" r:id="rId4"/>
    <p:sldId id="1109" r:id="rId5"/>
    <p:sldId id="1087" r:id="rId6"/>
    <p:sldId id="1113" r:id="rId7"/>
    <p:sldId id="1108" r:id="rId8"/>
    <p:sldId id="1104" r:id="rId9"/>
    <p:sldId id="1098" r:id="rId10"/>
    <p:sldId id="1103" r:id="rId11"/>
    <p:sldId id="1094" r:id="rId12"/>
    <p:sldId id="1100" r:id="rId13"/>
    <p:sldId id="1112" r:id="rId14"/>
    <p:sldId id="1099" r:id="rId15"/>
    <p:sldId id="1102" r:id="rId16"/>
    <p:sldId id="10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940098-FA3B-518F-F3D8-1D6D66469B7B}" v="2" dt="2026-03-26T15:43:31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7"/>
    <p:restoredTop sz="94607"/>
  </p:normalViewPr>
  <p:slideViewPr>
    <p:cSldViewPr snapToGrid="0">
      <p:cViewPr varScale="1">
        <p:scale>
          <a:sx n="150" d="100"/>
          <a:sy n="150" d="100"/>
        </p:scale>
        <p:origin x="6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Gagliardi" userId="972efb24-6ad2-402f-bca8-d0c6d5826641" providerId="ADAL" clId="{FCBAE704-33C5-4609-BF4D-4502802E159A}"/>
    <pc:docChg chg="undo custSel addSld delSld modSld sldOrd">
      <pc:chgData name="Joseph Gagliardi" userId="972efb24-6ad2-402f-bca8-d0c6d5826641" providerId="ADAL" clId="{FCBAE704-33C5-4609-BF4D-4502802E159A}" dt="2026-02-24T14:36:08.897" v="2682" actId="1076"/>
      <pc:docMkLst>
        <pc:docMk/>
      </pc:docMkLst>
      <pc:sldChg chg="addSp delSp modSp mod">
        <pc:chgData name="Joseph Gagliardi" userId="972efb24-6ad2-402f-bca8-d0c6d5826641" providerId="ADAL" clId="{FCBAE704-33C5-4609-BF4D-4502802E159A}" dt="2026-02-24T14:09:29.655" v="2545" actId="20577"/>
        <pc:sldMkLst>
          <pc:docMk/>
          <pc:sldMk cId="308249025" sldId="1094"/>
        </pc:sldMkLst>
        <pc:spChg chg="mod">
          <ac:chgData name="Joseph Gagliardi" userId="972efb24-6ad2-402f-bca8-d0c6d5826641" providerId="ADAL" clId="{FCBAE704-33C5-4609-BF4D-4502802E159A}" dt="2026-02-24T14:09:29.655" v="2545" actId="20577"/>
          <ac:spMkLst>
            <pc:docMk/>
            <pc:sldMk cId="308249025" sldId="1094"/>
            <ac:spMk id="21" creationId="{EB09D786-77AF-1DC1-99E1-71371117AA8D}"/>
          </ac:spMkLst>
        </pc:spChg>
      </pc:sldChg>
      <pc:sldChg chg="addSp delSp modSp add mod">
        <pc:chgData name="Joseph Gagliardi" userId="972efb24-6ad2-402f-bca8-d0c6d5826641" providerId="ADAL" clId="{FCBAE704-33C5-4609-BF4D-4502802E159A}" dt="2026-02-24T14:28:40.304" v="2664"/>
        <pc:sldMkLst>
          <pc:docMk/>
          <pc:sldMk cId="3420639271" sldId="1100"/>
        </pc:sldMkLst>
        <pc:spChg chg="add mod">
          <ac:chgData name="Joseph Gagliardi" userId="972efb24-6ad2-402f-bca8-d0c6d5826641" providerId="ADAL" clId="{FCBAE704-33C5-4609-BF4D-4502802E159A}" dt="2026-02-24T14:28:40.304" v="2664"/>
          <ac:spMkLst>
            <pc:docMk/>
            <pc:sldMk cId="3420639271" sldId="1100"/>
            <ac:spMk id="6" creationId="{E623F6D9-486D-BF8C-FE00-5297CA974E0F}"/>
          </ac:spMkLst>
        </pc:spChg>
        <pc:spChg chg="mod">
          <ac:chgData name="Joseph Gagliardi" userId="972efb24-6ad2-402f-bca8-d0c6d5826641" providerId="ADAL" clId="{FCBAE704-33C5-4609-BF4D-4502802E159A}" dt="2026-02-24T14:09:34.324" v="2554" actId="20577"/>
          <ac:spMkLst>
            <pc:docMk/>
            <pc:sldMk cId="3420639271" sldId="1100"/>
            <ac:spMk id="21" creationId="{2E0B3413-D7D6-1FFE-BC41-7543416F2C75}"/>
          </ac:spMkLst>
        </pc:spChg>
        <pc:picChg chg="add del mod modCrop">
          <ac:chgData name="Joseph Gagliardi" userId="972efb24-6ad2-402f-bca8-d0c6d5826641" providerId="ADAL" clId="{FCBAE704-33C5-4609-BF4D-4502802E159A}" dt="2026-02-24T14:28:39.059" v="2660" actId="478"/>
          <ac:picMkLst>
            <pc:docMk/>
            <pc:sldMk cId="3420639271" sldId="1100"/>
            <ac:picMk id="9" creationId="{A06CED82-3FDC-048D-1732-F1341AD090EE}"/>
          </ac:picMkLst>
        </pc:picChg>
        <pc:picChg chg="add del mod">
          <ac:chgData name="Joseph Gagliardi" userId="972efb24-6ad2-402f-bca8-d0c6d5826641" providerId="ADAL" clId="{FCBAE704-33C5-4609-BF4D-4502802E159A}" dt="2026-02-24T14:28:38.725" v="2659" actId="478"/>
          <ac:picMkLst>
            <pc:docMk/>
            <pc:sldMk cId="3420639271" sldId="1100"/>
            <ac:picMk id="10" creationId="{35C7A5FA-A4A0-78E2-DE91-6571B6C8ABD0}"/>
          </ac:picMkLst>
        </pc:picChg>
        <pc:picChg chg="add del mod">
          <ac:chgData name="Joseph Gagliardi" userId="972efb24-6ad2-402f-bca8-d0c6d5826641" providerId="ADAL" clId="{FCBAE704-33C5-4609-BF4D-4502802E159A}" dt="2026-02-24T14:28:38.478" v="2658" actId="478"/>
          <ac:picMkLst>
            <pc:docMk/>
            <pc:sldMk cId="3420639271" sldId="1100"/>
            <ac:picMk id="13" creationId="{718B56C0-042A-69E9-A003-42109840410F}"/>
          </ac:picMkLst>
        </pc:picChg>
      </pc:sldChg>
      <pc:sldChg chg="addSp delSp modSp add mod">
        <pc:chgData name="Joseph Gagliardi" userId="972efb24-6ad2-402f-bca8-d0c6d5826641" providerId="ADAL" clId="{FCBAE704-33C5-4609-BF4D-4502802E159A}" dt="2026-02-24T14:36:08.897" v="2682" actId="1076"/>
        <pc:sldMkLst>
          <pc:docMk/>
          <pc:sldMk cId="3333736553" sldId="1112"/>
        </pc:sldMkLst>
        <pc:spChg chg="add mod">
          <ac:chgData name="Joseph Gagliardi" userId="972efb24-6ad2-402f-bca8-d0c6d5826641" providerId="ADAL" clId="{FCBAE704-33C5-4609-BF4D-4502802E159A}" dt="2026-02-24T14:28:58.552" v="2672" actId="1076"/>
          <ac:spMkLst>
            <pc:docMk/>
            <pc:sldMk cId="3333736553" sldId="1112"/>
            <ac:spMk id="7" creationId="{0BD1F310-C7A4-6C54-94C3-40F1999AF2E7}"/>
          </ac:spMkLst>
        </pc:spChg>
        <pc:spChg chg="mod">
          <ac:chgData name="Joseph Gagliardi" userId="972efb24-6ad2-402f-bca8-d0c6d5826641" providerId="ADAL" clId="{FCBAE704-33C5-4609-BF4D-4502802E159A}" dt="2026-02-24T14:09:50.262" v="2586" actId="20577"/>
          <ac:spMkLst>
            <pc:docMk/>
            <pc:sldMk cId="3333736553" sldId="1112"/>
            <ac:spMk id="21" creationId="{8E49CA9B-850A-5FAA-F4EA-25E76952C0A8}"/>
          </ac:spMkLst>
        </pc:spChg>
        <pc:picChg chg="add mod modCrop">
          <ac:chgData name="Joseph Gagliardi" userId="972efb24-6ad2-402f-bca8-d0c6d5826641" providerId="ADAL" clId="{FCBAE704-33C5-4609-BF4D-4502802E159A}" dt="2026-02-24T14:35:53.586" v="2678" actId="1076"/>
          <ac:picMkLst>
            <pc:docMk/>
            <pc:sldMk cId="3333736553" sldId="1112"/>
            <ac:picMk id="11" creationId="{91AC727B-D14A-178E-7021-97C3D1540243}"/>
          </ac:picMkLst>
        </pc:picChg>
        <pc:picChg chg="add mod">
          <ac:chgData name="Joseph Gagliardi" userId="972efb24-6ad2-402f-bca8-d0c6d5826641" providerId="ADAL" clId="{FCBAE704-33C5-4609-BF4D-4502802E159A}" dt="2026-02-24T14:36:08.897" v="2682" actId="1076"/>
          <ac:picMkLst>
            <pc:docMk/>
            <pc:sldMk cId="3333736553" sldId="1112"/>
            <ac:picMk id="12" creationId="{6748E3B7-E893-D279-A083-AA8F87EB5F37}"/>
          </ac:picMkLst>
        </pc:picChg>
      </pc:sldChg>
      <pc:sldChg chg="addSp delSp modSp add mod">
        <pc:chgData name="Joseph Gagliardi" userId="972efb24-6ad2-402f-bca8-d0c6d5826641" providerId="ADAL" clId="{FCBAE704-33C5-4609-BF4D-4502802E159A}" dt="2026-02-24T14:28:40.548" v="2665" actId="20577"/>
        <pc:sldMkLst>
          <pc:docMk/>
          <pc:sldMk cId="3846757075" sldId="1113"/>
        </pc:sldMkLst>
        <pc:spChg chg="add mod">
          <ac:chgData name="Joseph Gagliardi" userId="972efb24-6ad2-402f-bca8-d0c6d5826641" providerId="ADAL" clId="{FCBAE704-33C5-4609-BF4D-4502802E159A}" dt="2026-02-24T14:23:24.594" v="2639" actId="1076"/>
          <ac:spMkLst>
            <pc:docMk/>
            <pc:sldMk cId="3846757075" sldId="1113"/>
            <ac:spMk id="7" creationId="{D8CF3949-2603-93AE-BC05-231975370473}"/>
          </ac:spMkLst>
        </pc:spChg>
        <pc:spChg chg="add mod">
          <ac:chgData name="Joseph Gagliardi" userId="972efb24-6ad2-402f-bca8-d0c6d5826641" providerId="ADAL" clId="{FCBAE704-33C5-4609-BF4D-4502802E159A}" dt="2026-02-24T14:21:52.208" v="2617" actId="1076"/>
          <ac:spMkLst>
            <pc:docMk/>
            <pc:sldMk cId="3846757075" sldId="1113"/>
            <ac:spMk id="9" creationId="{1FCD9377-FA8A-23C9-2E0B-431FD09E4CFE}"/>
          </ac:spMkLst>
        </pc:spChg>
        <pc:spChg chg="add mod">
          <ac:chgData name="Joseph Gagliardi" userId="972efb24-6ad2-402f-bca8-d0c6d5826641" providerId="ADAL" clId="{FCBAE704-33C5-4609-BF4D-4502802E159A}" dt="2026-02-24T14:22:09.421" v="2635" actId="20577"/>
          <ac:spMkLst>
            <pc:docMk/>
            <pc:sldMk cId="3846757075" sldId="1113"/>
            <ac:spMk id="11" creationId="{F282C8A5-5DD8-9347-07DB-90B5C97CC19F}"/>
          </ac:spMkLst>
        </pc:spChg>
        <pc:spChg chg="mod">
          <ac:chgData name="Joseph Gagliardi" userId="972efb24-6ad2-402f-bca8-d0c6d5826641" providerId="ADAL" clId="{FCBAE704-33C5-4609-BF4D-4502802E159A}" dt="2026-02-24T14:28:40.548" v="2665" actId="20577"/>
          <ac:spMkLst>
            <pc:docMk/>
            <pc:sldMk cId="3846757075" sldId="1113"/>
            <ac:spMk id="21" creationId="{2AF8533E-77A0-85CA-0D4B-0AF7C43ED896}"/>
          </ac:spMkLst>
        </pc:spChg>
      </pc:sldChg>
    </pc:docChg>
  </pc:docChgLst>
  <pc:docChgLst>
    <pc:chgData name="Joseph Gagliardi" userId="S::joseph.gagliardi@wyrestorm.com::972efb24-6ad2-402f-bca8-d0c6d5826641" providerId="AD" clId="Web-{1B940098-FA3B-518F-F3D8-1D6D66469B7B}"/>
    <pc:docChg chg="modSld">
      <pc:chgData name="Joseph Gagliardi" userId="S::joseph.gagliardi@wyrestorm.com::972efb24-6ad2-402f-bca8-d0c6d5826641" providerId="AD" clId="Web-{1B940098-FA3B-518F-F3D8-1D6D66469B7B}" dt="2026-03-26T15:43:31.926" v="1" actId="14100"/>
      <pc:docMkLst>
        <pc:docMk/>
      </pc:docMkLst>
      <pc:sldChg chg="modSp">
        <pc:chgData name="Joseph Gagliardi" userId="S::joseph.gagliardi@wyrestorm.com::972efb24-6ad2-402f-bca8-d0c6d5826641" providerId="AD" clId="Web-{1B940098-FA3B-518F-F3D8-1D6D66469B7B}" dt="2026-03-26T15:43:31.926" v="1" actId="14100"/>
        <pc:sldMkLst>
          <pc:docMk/>
          <pc:sldMk cId="3565889015" sldId="1109"/>
        </pc:sldMkLst>
        <pc:picChg chg="mod">
          <ac:chgData name="Joseph Gagliardi" userId="S::joseph.gagliardi@wyrestorm.com::972efb24-6ad2-402f-bca8-d0c6d5826641" providerId="AD" clId="Web-{1B940098-FA3B-518F-F3D8-1D6D66469B7B}" dt="2026-03-26T15:43:31.926" v="1" actId="14100"/>
          <ac:picMkLst>
            <pc:docMk/>
            <pc:sldMk cId="3565889015" sldId="1109"/>
            <ac:picMk id="4" creationId="{3CB0127E-32C7-D278-0774-D1F688E414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DE376-40F0-6A4A-A018-4C41EB73C30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1F3CE-FC55-0A42-B68A-7163032F7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96FA-F41F-5C2A-5DC4-549059D6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566F2-99B6-7F92-8C6B-1D8FBABF6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1CC6E-87F2-CF23-62A8-3C96C59C6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070A5-0DA6-35A3-D84F-FB012B1CB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01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C439-E0F3-A57C-662F-3652A15E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BB371-0FAB-C50B-FE97-1CCA940F8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25118-AAAE-CEBE-ECB5-CC275C955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6079-392B-2B37-472F-5A21C9276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423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A329-A4B5-4D0B-66D1-958E5CA5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CE35C-238D-6041-BE3A-771FEB7FD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D4B30-4921-3014-9559-AF04CBB40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29BC-C7C9-D82C-AF00-E889E93FD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65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C2AB-21E7-860B-B88E-96C6114B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6FF21-566C-8768-908F-E4737FD3B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0A20E-91D7-FA62-BCF6-81AA715DC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93C23-6F4F-D866-7F48-5A8A4E130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289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DDF5-1B0B-2F97-A7C1-E7DF7E51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092C3-12C6-1FC8-E142-39EF70B3C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E5AC0-4E4F-8213-4C2E-3DC7AECEA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217A0-F764-DE8E-06E1-ED21D03CA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702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8D02-39B2-AACD-A7BA-8ACF28C7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A13CE-C7F6-80CF-8E83-213B86FCC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40F58-7C91-DC28-08ED-849DFE132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64BBC-3B9B-9D0F-E410-69252AF2D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941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80C6-41DD-4D7A-5C93-F2188D0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36F92-3E2D-D570-86F3-EF03AC232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41119-BC99-02AB-9823-5A42C6B16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354AF-A3BD-0FBD-5E4E-00C1542C2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512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6C24-C55E-2C74-F9C9-EBA4D6DC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40960-BA1D-DBC0-9A3C-DB4E9786A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6B083-ECF9-E6CF-6D80-49C83C3CD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FE4C-F002-0B27-5324-1C121E9AC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958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A81C-5089-268A-3356-23079129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82C9F-D584-82F0-399F-2D2069139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56E82-39C0-49AC-76D0-B1F29B8CD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AAB17-6FB7-FBDF-DB44-71B234EE0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131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F4A1-B44E-AB9C-7E7D-567709EA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79E88-9A52-9A0A-376D-DA635CFAB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4EDB6-1B18-8C91-2643-02E701F0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A268F-16F8-9BD1-C0D6-3665DCA52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888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1C6D-9783-B842-A268-F00AF84C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F0838-6D44-566C-3707-270DA8C71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1708D-6AD4-0CAC-9458-29571ABD5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2E0B8-29D3-5229-8982-FCDC05CCF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952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DADAE-2DDD-EBB7-13BE-8CA830D1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8E74A-331A-C04A-9B1C-C8544925E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7B552-FA1A-B6D6-CD52-45695BE52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C1327-0BBE-56ED-4A9D-52A7E9108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71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D25-AD4B-5E3C-256F-301EC22A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DB27F-ED41-BF1F-A2A5-6A1164F16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2B342-9422-365D-F154-4C1B9DA2A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E7BC3-C8A6-12B3-AE43-9B592187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315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F38E-8A96-8F60-567B-ECD37980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B257D-0795-96C5-C56E-36D3754DF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FE0E4-4B76-A7E4-484B-66C700A0D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FA481-C223-B2C1-4192-F9CC3F90B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98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6111-FD89-5EB2-9858-3EE1A00A8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C8398-5389-8C5F-0B05-D222EDC90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B93B-52F4-3A84-B9E8-A0025E75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23B97-F2C1-B2DA-5BC0-ABF6F910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9F3C-0E2A-F4FD-378E-AB172440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8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B7FE-93B4-53E8-A98D-FBC00179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85ED-3B92-CD6D-F36B-7F99117B7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CDA82-5847-74D5-59DF-5306FECC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EB59-7BA2-C393-86B4-691300F8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39832-AAC3-5BBA-5A79-05CF9896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14F8-42B3-140F-3492-8776CF0C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E107E-FD1E-AAD3-3134-5E8291322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62918-BF1C-F113-3F48-CE73DE53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D386E-7D36-0E90-A12C-8FA8A2E3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FC014-44C4-3676-A93A-265BE5B0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1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FC43-C0D2-E5B8-C9FB-6D5FBDBF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A700-B725-522F-6007-216F24B17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08934-8C0D-E61F-C731-96FDEF7EB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B6A1B-51D7-3BC3-EA63-D0537D06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C8147-B0B5-5F43-5489-6F604749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CAD1B-DC19-08F1-C691-54E050F5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2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EA76-1989-4289-CE3D-2962075F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D9DA2-C38B-62A0-4402-4F29F3194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4FCDF-2ACB-A724-BF28-BD46DA2A7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A729D-37D5-0D26-C8CA-06CC92A20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6FC9-F897-3765-AD7E-6DC68F840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56E5D-936D-67A6-FD4A-6FE43742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EE5C3-D721-9170-9D62-3ED0E2CE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D66B5-F9CB-8467-7448-8A61E8F1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9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D1C5-03AC-3788-3DB2-5079AA96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D5709-D702-2F30-8103-6082D2A2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0F9F9-DBC5-2237-A474-1EE4BB97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6F7F9-3585-1585-E914-8CBBF0A8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0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59989-09F7-716E-19A5-1449539B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52E80-2D92-68A5-8149-F8C73BC7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2C27-7D3D-046E-9DA7-9D1F9FDA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AF03-5A4B-5D33-7B06-35561F75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22B6-A89E-C9D9-0356-14E516DF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FAC3B-8E15-8076-2C2C-F24960D7A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D74D6-361A-2C6F-0BF9-6C5BE77C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C2DB-CFBB-AE81-392D-FDA5F99F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BA9D2-A547-55FF-85B8-8D94A02C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0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9426-84A2-9ED1-DA32-EE0EE2D7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2A42D-44CD-CD93-F21C-80027D94E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F5E45-EAC4-3E1B-1D97-C1892AB37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D2D8-A94C-7A90-8418-A07EE43B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187C4-E65B-FEEC-A727-C4DEDC38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FF97D-1109-AE35-73BB-22F942F6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6502-DEED-406F-BE6E-18508FB9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14502-0AA8-E608-7DD7-AE82B616A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7A0B0-A74C-E8CF-CFD0-0709102C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F95AF-A511-DA11-76A1-EFAC45EF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B519-94E5-EFC7-8EB1-0635BC2F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1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7B169-BFDE-731E-BB2F-D7E270848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2AC41-FF22-0121-E3C4-A1BF6EB1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0C562-5EBB-D0D3-14B5-E664466A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9899-F345-6258-FE05-70DF590F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927D-0A7E-6E53-260A-B434C53B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9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C8382-076A-898E-FF8B-33CC7B40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971FC-C575-1D75-5B54-2B0D4EB25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6EEF-F712-6382-8799-B1547BF02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F7CD9-69C1-3F46-8521-FCFDC324313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AD75-BCA4-A919-8E59-461D9A11F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F66EC-B71B-FDDF-7339-946318065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1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hyperlink" Target="https://xchange.avixa.org/posts/ndi-technology-revolutionizing-broadcast-av" TargetMode="Externa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2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4.xml"/><Relationship Id="rId7" Type="http://schemas.openxmlformats.org/officeDocument/2006/relationships/image" Target="../media/image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7.xml"/><Relationship Id="rId7" Type="http://schemas.openxmlformats.org/officeDocument/2006/relationships/image" Target="../media/image9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7A0A-E38C-2F36-ADB1-2003622C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Sales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0A8D9-3B77-11D7-71C4-74EECA6E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NDI &amp; NHD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6FAB64DB-4E4C-4787-546B-3B9FD83A060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B24C05A4-D739-A91B-6455-73250FDDE498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6D21AA91-5186-1400-CBC7-D308F279927A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extLst>
      <p:ext uri="{BB962C8B-B14F-4D97-AF65-F5344CB8AC3E}">
        <p14:creationId xmlns:p14="http://schemas.microsoft.com/office/powerpoint/2010/main" val="336854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A2B-1C96-5E79-DE8F-48EC3CD4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The Power of NDI – How to Use NDI in Your Business | Applied Electronics">
            <a:extLst>
              <a:ext uri="{FF2B5EF4-FFF2-40B4-BE49-F238E27FC236}">
                <a16:creationId xmlns:a16="http://schemas.microsoft.com/office/drawing/2014/main" id="{11C37193-D8F5-BDD1-ADF3-B88AFF4BE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738" y="2874075"/>
            <a:ext cx="5402856" cy="25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9383972E-B4B9-2F0C-F001-E641034F02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458721-6A17-E02C-6A66-E9BC761CEB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85000" lnSpcReduction="10000"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NDI® &amp; NDI® 6 – Why It’s Used in Modern AV Workflows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69391BBD-7BC2-4644-552E-A2F238292EB6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13FDCDD-58F5-7676-FE96-BAC5ABE99C76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B95FC-2AFC-7793-6E9C-1004CC93999B}"/>
              </a:ext>
            </a:extLst>
          </p:cNvPr>
          <p:cNvSpPr txBox="1"/>
          <p:nvPr/>
        </p:nvSpPr>
        <p:spPr>
          <a:xfrm>
            <a:off x="2038350" y="1061037"/>
            <a:ext cx="843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NDI® 6?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Latest generation of NDI (Network Device Interface) developed by </a:t>
            </a:r>
            <a:r>
              <a:rPr lang="en-US" dirty="0" err="1"/>
              <a:t>Vizrt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Transports high-quality video, audio, and metadata over standard IP networks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47FBC-9AA6-BE57-5B6E-74B61DBE8936}"/>
              </a:ext>
            </a:extLst>
          </p:cNvPr>
          <p:cNvSpPr txBox="1"/>
          <p:nvPr/>
        </p:nvSpPr>
        <p:spPr>
          <a:xfrm>
            <a:off x="298877" y="2137958"/>
            <a:ext cx="90805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Why NDI is Utilized: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sz="1200" b="1" dirty="0"/>
              <a:t>Leverages Standard IT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Uses existing Ethernet networks instead of dedicated video cabling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Reduces installation cost and deployment complexity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Low Latency, High Quality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Near real-time performance suitable for live production and conferencing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Supports HD and 4K video with synchronized audio and metadata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Simple Deployment &amp;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Automatic device discovery and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Easily add cameras, PCs, or displays without redesigning systems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Flexible Software-Driven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Native integration with Teams, OBS, </a:t>
            </a:r>
            <a:r>
              <a:rPr lang="en-US" sz="1200" dirty="0" err="1"/>
              <a:t>vMix</a:t>
            </a:r>
            <a:r>
              <a:rPr lang="en-US" sz="1200" dirty="0"/>
              <a:t>, Zoom, and broadcast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Many workflows handled via software instead of dedicated hardware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Bi-Directional &amp; Distributed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Send and receive video/audio on the same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Enables remote production, hybrid environments, and centralized control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Future-Ready AV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Any source can be viewed, recorded, streamed, or displayed anywhere on the network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35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1E57-603E-CA1A-7731-017ED44E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1F965A3C-2D5D-6442-1B9E-1EAF2F5784C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DA1873-5FD0-7408-A7B8-9CF73EA26F4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Opportunity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FFA8150-49B5-E118-0B99-C5A0D06FC8A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B36945F7-AF89-FA75-22F9-6025167B624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6A2A3-EE0A-6111-0AB8-437AADD730D1}"/>
              </a:ext>
            </a:extLst>
          </p:cNvPr>
          <p:cNvSpPr txBox="1"/>
          <p:nvPr/>
        </p:nvSpPr>
        <p:spPr>
          <a:xfrm>
            <a:off x="285705" y="205412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NDI is not just a video transport protocol.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It is a market expansion technology that: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Lowers deployment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software-defined AV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Expands AV into IT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Increases system scalability and lifetime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D4E9D-AE35-33EA-EBDD-BD65BE853959}"/>
              </a:ext>
            </a:extLst>
          </p:cNvPr>
          <p:cNvSpPr txBox="1"/>
          <p:nvPr/>
        </p:nvSpPr>
        <p:spPr>
          <a:xfrm>
            <a:off x="5416594" y="1441452"/>
            <a:ext cx="6096000" cy="367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Rapid Ecosystem Growth:</a:t>
            </a:r>
            <a:r>
              <a:rPr lang="en-US" b="0" i="0" dirty="0">
                <a:effectLst/>
                <a:latin typeface="Google Sans"/>
              </a:rPr>
              <a:t> With thousands of NDI-enabled products, the technology is moving beyond traditional broadcasting into corporate AV, education, and healthcare.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Lowered Production Barriers:</a:t>
            </a:r>
            <a:r>
              <a:rPr lang="en-US" b="0" i="0" dirty="0">
                <a:effectLst/>
                <a:latin typeface="Google Sans"/>
              </a:rPr>
              <a:t> NDI allows for multi-camera, high-quality, low-latency productions using standard Gigabit network infrastructure. This reduces hardware costs and simplifies setups for live streaming virtual meetings, and hybrid events.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Integration with Emerging Tech:</a:t>
            </a:r>
            <a:r>
              <a:rPr lang="en-US" b="0" i="0" dirty="0">
                <a:effectLst/>
                <a:latin typeface="Google Sans"/>
              </a:rPr>
              <a:t> The industry is actively integrating NDI with AI for automatic camera tracking</a:t>
            </a:r>
            <a:r>
              <a:rPr lang="en-US" dirty="0">
                <a:latin typeface="Google Sans"/>
              </a:rPr>
              <a:t> </a:t>
            </a:r>
            <a:r>
              <a:rPr lang="en-US" b="0" i="0" dirty="0">
                <a:effectLst/>
                <a:latin typeface="Google Sans"/>
              </a:rPr>
              <a:t>and advanced 3D content creation using Unreal Engine.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Strategic Partnerships:</a:t>
            </a:r>
            <a:r>
              <a:rPr lang="en-US" b="0" i="0" dirty="0">
                <a:effectLst/>
                <a:latin typeface="Google Sans"/>
              </a:rPr>
              <a:t> Major industry players like Sony, </a:t>
            </a:r>
            <a:r>
              <a:rPr lang="en-US" b="0" i="0" dirty="0">
                <a:effectLst/>
                <a:latin typeface="Google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Panasonic</a:t>
            </a:r>
            <a:r>
              <a:rPr lang="en-US" b="0" i="0" dirty="0">
                <a:effectLst/>
                <a:latin typeface="Google Sans"/>
              </a:rPr>
              <a:t>, and </a:t>
            </a:r>
            <a:r>
              <a:rPr lang="en-US" b="0" i="0" dirty="0" err="1">
                <a:effectLst/>
                <a:latin typeface="Google Sans"/>
              </a:rPr>
              <a:t>Vizrt</a:t>
            </a:r>
            <a:r>
              <a:rPr lang="en-US" b="0" i="0" dirty="0">
                <a:effectLst/>
                <a:latin typeface="Google Sans"/>
              </a:rPr>
              <a:t> are adopting the standard, signaling long-term viability and stability for investments.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548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FAAB-ABB1-EF24-BD23-F19C22E2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loor plan of a court room&#10;&#10;AI-generated content may be incorrect.">
            <a:extLst>
              <a:ext uri="{FF2B5EF4-FFF2-40B4-BE49-F238E27FC236}">
                <a16:creationId xmlns:a16="http://schemas.microsoft.com/office/drawing/2014/main" id="{3CB0127E-32C7-D278-0774-D1F688E414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15"/>
          <a:stretch>
            <a:fillRect/>
          </a:stretch>
        </p:blipFill>
        <p:spPr>
          <a:xfrm>
            <a:off x="471070" y="1083739"/>
            <a:ext cx="10140536" cy="5202822"/>
          </a:xfrm>
          <a:prstGeom prst="rect">
            <a:avLst/>
          </a:prstGeom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ED89D2C7-9DB2-57C6-BF32-C252E9D0C3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998625-443E-D600-1641-514C2BFE59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492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Digital Court/Government AV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20591A74-2F37-5680-AA37-DE54EA486D35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AutoShape 6" descr="Generated image">
            <a:extLst>
              <a:ext uri="{FF2B5EF4-FFF2-40B4-BE49-F238E27FC236}">
                <a16:creationId xmlns:a16="http://schemas.microsoft.com/office/drawing/2014/main" id="{7308D3F3-C0DB-2D53-269D-C5446C734C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909060" cy="39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1F5FCA13-07B8-7CE0-DFE6-077328EB65D7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588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B75A-D009-3985-D8A2-56B0FFD3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97D02B7C-8370-2C2B-37B0-64B61D4A8F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5124D1-5EA6-7B84-F007-C9E7855672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Design Considerations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  <a:sym typeface="Roboto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8AFA39E2-F49F-B63F-2E4B-8107ED87C8C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2DFBFBFA-E022-7E49-0B87-B057FB77D928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A58C1-5FB7-0886-7302-57C490D0B4BF}"/>
              </a:ext>
            </a:extLst>
          </p:cNvPr>
          <p:cNvSpPr txBox="1"/>
          <p:nvPr/>
        </p:nvSpPr>
        <p:spPr>
          <a:xfrm>
            <a:off x="457200" y="1506070"/>
            <a:ext cx="79057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Organizations face several key challenges: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Infrastructure Limitations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Conventional AV Systems rely on specialized video cabling increasing installation costs and reducing flexibility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Scalability constraints: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Adding cameras, collaboration systems, or monitoring endpoints require significant upgrades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Operational Inefficiency: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Separate systems for production, conferencing, streaming, and monitoring create complex system paths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327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CE0F2-6E4E-937E-E027-A7383E67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EE4CB84A-624D-92A8-8A81-413B89256C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F8533E-77A0-85CA-0D4B-0AF7C43ED89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095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Bridging Broadcast (NDI) and ProAV (</a:t>
            </a:r>
            <a:r>
              <a:rPr lang="en-US" altLang="zh-CN" sz="3200" b="1" dirty="0" err="1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AVoIP</a:t>
            </a: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  <a:sym typeface="Roboto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B127666E-9A48-8297-BC5E-A98D628D7885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A9D4862A-7511-ABF1-6894-E1D746071544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F3949-2603-93AE-BC05-231975370473}"/>
              </a:ext>
            </a:extLst>
          </p:cNvPr>
          <p:cNvSpPr txBox="1"/>
          <p:nvPr/>
        </p:nvSpPr>
        <p:spPr>
          <a:xfrm>
            <a:off x="3048000" y="13759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Two IP Video Worlds — Different Purposes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D9377-FA8A-23C9-2E0B-431FD09E4CFE}"/>
              </a:ext>
            </a:extLst>
          </p:cNvPr>
          <p:cNvSpPr txBox="1"/>
          <p:nvPr/>
        </p:nvSpPr>
        <p:spPr>
          <a:xfrm>
            <a:off x="711200" y="24686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🎥 Broadcast / Production (NDI)</a:t>
            </a:r>
          </a:p>
          <a:p>
            <a:pPr>
              <a:buNone/>
            </a:pPr>
            <a:r>
              <a:rPr lang="en-US" b="1" dirty="0"/>
              <a:t>Focused on Content Creation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Cameras, software, and streaming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with OBS, </a:t>
            </a:r>
            <a:r>
              <a:rPr lang="en-US" dirty="0" err="1"/>
              <a:t>vMix</a:t>
            </a:r>
            <a:r>
              <a:rPr lang="en-US" dirty="0"/>
              <a:t>, Teams, lecture capture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source discovery &amp;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recording and live production</a:t>
            </a:r>
          </a:p>
          <a:p>
            <a:r>
              <a:rPr lang="en-US" dirty="0"/>
              <a:t>➡ Answers: </a:t>
            </a:r>
            <a:r>
              <a:rPr lang="en-US" b="1" dirty="0"/>
              <a:t>“How do we create video?”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2C8A5-5DD8-9347-07DB-90B5C97CC19F}"/>
              </a:ext>
            </a:extLst>
          </p:cNvPr>
          <p:cNvSpPr txBox="1"/>
          <p:nvPr/>
        </p:nvSpPr>
        <p:spPr>
          <a:xfrm>
            <a:off x="6604104" y="24686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🖥️ ProAV Distribution (</a:t>
            </a:r>
            <a:r>
              <a:rPr lang="en-US" b="1" dirty="0" err="1"/>
              <a:t>NetworkHD</a:t>
            </a:r>
            <a:r>
              <a:rPr lang="en-US" b="1" dirty="0"/>
              <a:t>)</a:t>
            </a:r>
          </a:p>
          <a:p>
            <a:pPr>
              <a:buNone/>
            </a:pPr>
            <a:r>
              <a:rPr lang="en-US" b="1" dirty="0"/>
              <a:t>Focused on Reliable Delivery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Facility-wide video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Videowalls, Multiview, room displays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Integrated with control systems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➡ Answers: </a:t>
            </a:r>
            <a:r>
              <a:rPr lang="en-US" b="1" dirty="0"/>
              <a:t>“How do we deliver video everywhere?”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75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4C3669-C25A-5300-65AF-AFD68C65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DC9EE951-B3FB-A3B0-5562-15F75E60A4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9F6CC6-C0A3-6611-4B4F-80303E90E5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Codec Comparison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25DD811-4951-E23A-7725-5816EE7F0C0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ADC2066-754A-177B-60B9-A135E2FCF56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CD3F51-37B0-ED12-D71A-F51D4B31D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15587"/>
              </p:ext>
            </p:extLst>
          </p:nvPr>
        </p:nvGraphicFramePr>
        <p:xfrm>
          <a:off x="653473" y="1409917"/>
          <a:ext cx="6736245" cy="4706328"/>
        </p:xfrm>
        <a:graphic>
          <a:graphicData uri="http://schemas.openxmlformats.org/drawingml/2006/table">
            <a:tbl>
              <a:tblPr/>
              <a:tblGrid>
                <a:gridCol w="1347249">
                  <a:extLst>
                    <a:ext uri="{9D8B030D-6E8A-4147-A177-3AD203B41FA5}">
                      <a16:colId xmlns:a16="http://schemas.microsoft.com/office/drawing/2014/main" val="3882668457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1687052900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1308821915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3454257738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1863156198"/>
                    </a:ext>
                  </a:extLst>
                </a:gridCol>
              </a:tblGrid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NDI</a:t>
                      </a:r>
                      <a:endParaRPr lang="en-US" sz="1100" dirty="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H.264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H.265 (HEVC)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JPEG2000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280161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Primary Use Case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Live production &amp; software workflows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Streaming &amp; conferencing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Efficient distribution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Broadcast &amp; mission-critical AV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683953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Compression Type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Intra-frame (visually lossless)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Long GOP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Long GOP (advanced)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Intra-frame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754157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Typical Latency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~1–2 frames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100–500 ms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150–800 ms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~1 frame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14543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Bandwidth (1080p60)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~100–150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4–8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2–6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150–300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23057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Bandwidth (4K60)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~250–400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15–25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10–20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600 Mbps–1.2 Gbps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769516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Network Requirement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1Gb managed network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Any IP network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Any IP network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1–10Gb network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225232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Video Quality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Visually lossless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Lossy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Higher efficiency lossy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Visually lossless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65195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Frame Accuracy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good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Moderate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Moderate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Excellent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752149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Discovery / Routing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Auto discovery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Manual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Manual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Controlled routing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17916"/>
                  </a:ext>
                </a:extLst>
              </a:tr>
              <a:tr h="153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Scalability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high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high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high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Medium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686413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Typical Latency Sensitivity Use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Live switching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Streaming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Remote viewing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Broadcast production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421057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Best Strength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Flexibility &amp; software integration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Low bandwidth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Maximum efficiency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Quality + reliability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363709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Main Tradeoff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Higher bandwidth than H.265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Higher latency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Higher latency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Higher cost/bandwidth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4043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6055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BF44-DF13-BEDB-6E27-E16791C8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389262FF-2F77-822C-9C7E-2173141DFE4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4F8B37-F138-E382-E8A9-79B322B689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What is </a:t>
            </a:r>
            <a:r>
              <a:rPr lang="en-US" altLang="zh-CN" sz="32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the NHD-128-NDI-TRX</a:t>
            </a: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? 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57126525-9C6A-D72D-0D16-8111878E4F40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54BBF0BC-EEA5-BD35-1140-64F6531DD7F1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AA76B2-01F9-C5FF-8601-ACDDFF00E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481457"/>
            <a:ext cx="5715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A98513B-FB37-EAB1-68DC-83229FCA3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1881485"/>
            <a:ext cx="5715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53DAA1-7E8C-29C9-F39B-FCA98E3B4018}"/>
              </a:ext>
            </a:extLst>
          </p:cNvPr>
          <p:cNvSpPr txBox="1"/>
          <p:nvPr/>
        </p:nvSpPr>
        <p:spPr>
          <a:xfrm>
            <a:off x="565150" y="18439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NHD-128-NDI-TRX</a:t>
            </a:r>
          </a:p>
          <a:p>
            <a:pPr>
              <a:buNone/>
            </a:pPr>
            <a:r>
              <a:rPr lang="en-US" b="1" dirty="0"/>
              <a:t>NDI ↔ </a:t>
            </a:r>
            <a:r>
              <a:rPr lang="en-US" b="1" dirty="0" err="1"/>
              <a:t>NetworkHD</a:t>
            </a:r>
            <a:r>
              <a:rPr lang="en-US" b="1" dirty="0"/>
              <a:t> Gateway</a:t>
            </a:r>
            <a:endParaRPr lang="en-US" dirty="0"/>
          </a:p>
          <a:p>
            <a:pPr>
              <a:buNone/>
            </a:pPr>
            <a:r>
              <a:rPr lang="en-US" dirty="0"/>
              <a:t>• Converts up to 8 NDI HX (NDI ® 6) streams into </a:t>
            </a:r>
            <a:r>
              <a:rPr lang="en-US" dirty="0" err="1"/>
              <a:t>NetworkHD</a:t>
            </a:r>
            <a:r>
              <a:rPr lang="en-US" dirty="0"/>
              <a:t> 100s (H.265)</a:t>
            </a:r>
            <a:br>
              <a:rPr lang="en-US" dirty="0"/>
            </a:br>
            <a:r>
              <a:rPr lang="en-US" dirty="0"/>
              <a:t>• Outputs 1 </a:t>
            </a:r>
            <a:r>
              <a:rPr lang="en-US" dirty="0" err="1"/>
              <a:t>NetworkHD</a:t>
            </a:r>
            <a:r>
              <a:rPr lang="en-US" dirty="0"/>
              <a:t> stream to NDI (Teams, OBS, </a:t>
            </a:r>
            <a:r>
              <a:rPr lang="en-US" dirty="0" err="1"/>
              <a:t>vMix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• True bidirectional conversion in one device</a:t>
            </a:r>
            <a:br>
              <a:rPr lang="en-US" dirty="0"/>
            </a:br>
            <a:r>
              <a:rPr lang="en-US" dirty="0"/>
              <a:t>• Compact and PoE-powered for simple deployment</a:t>
            </a:r>
            <a:br>
              <a:rPr lang="en-US" dirty="0"/>
            </a:br>
            <a:r>
              <a:rPr lang="en-US" dirty="0"/>
              <a:t>• Reduces system complexity by replacing multiple converters</a:t>
            </a:r>
            <a:br>
              <a:rPr lang="en-US" dirty="0"/>
            </a:br>
            <a:r>
              <a:rPr lang="en-US" dirty="0"/>
              <a:t>• Cloud-enabled for remote monitoring and management</a:t>
            </a:r>
            <a:br>
              <a:rPr lang="en-US" dirty="0"/>
            </a:br>
            <a:r>
              <a:rPr lang="en-US" dirty="0"/>
              <a:t>• Ideal for courtrooms, lecture halls, and corporate AV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304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7D34-0F3D-3C84-4476-97B3BE5A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F161C487-590A-193B-A5D8-29FDA700AEA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BF296E-E50D-9AC2-C7D0-9BC755160EC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System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3C76F0-971B-60A9-4ABF-72B2B9FC94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93" t="4840" r="2045" b="5482"/>
          <a:stretch>
            <a:fillRect/>
          </a:stretch>
        </p:blipFill>
        <p:spPr>
          <a:xfrm>
            <a:off x="553790" y="1063154"/>
            <a:ext cx="7076942" cy="5794846"/>
          </a:xfrm>
          <a:prstGeom prst="rect">
            <a:avLst/>
          </a:prstGeom>
        </p:spPr>
      </p:pic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F38FEDF7-2DFF-F49A-E428-516C10004B29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403AF723-4A97-EB7A-D27A-847D06ED2F28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138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045D-711A-5000-E145-73A7BD74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D6356D77-2038-AD2D-F4B3-9FCF450E0D2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29B0C2-30A9-80A1-8069-F9E1ADFE77C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Comparison to Competition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211A1D-B0DF-D91F-FE46-95493BE62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877921"/>
              </p:ext>
            </p:extLst>
          </p:nvPr>
        </p:nvGraphicFramePr>
        <p:xfrm>
          <a:off x="158750" y="933452"/>
          <a:ext cx="11874499" cy="5228410"/>
        </p:xfrm>
        <a:graphic>
          <a:graphicData uri="http://schemas.openxmlformats.org/drawingml/2006/table">
            <a:tbl>
              <a:tblPr/>
              <a:tblGrid>
                <a:gridCol w="1696357">
                  <a:extLst>
                    <a:ext uri="{9D8B030D-6E8A-4147-A177-3AD203B41FA5}">
                      <a16:colId xmlns:a16="http://schemas.microsoft.com/office/drawing/2014/main" val="4164142649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1121186582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3540690160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88124316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2877188017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943286671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2141094272"/>
                    </a:ext>
                  </a:extLst>
                </a:gridCol>
              </a:tblGrid>
              <a:tr h="262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WyreStorm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Uray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Kiloview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Magewell</a:t>
                      </a:r>
                      <a:r>
                        <a:rPr lang="en-US" sz="1100" b="1" dirty="0"/>
                        <a:t> Encoder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Magewell Decoder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WyreStorm Advantage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584528"/>
                  </a:ext>
                </a:extLst>
              </a:tr>
              <a:tr h="375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Model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NHD-128-NDI-TRX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URayCoder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FMG-400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 Convert NDI Encoder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 Convert Decoder (NDI + SRT)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304157"/>
                  </a:ext>
                </a:extLst>
              </a:tr>
              <a:tr h="60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Primary Function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Bi-directional NDI ⇄ </a:t>
                      </a:r>
                      <a:r>
                        <a:rPr lang="en-US" sz="1100" b="1" dirty="0" err="1"/>
                        <a:t>AVoIP</a:t>
                      </a:r>
                      <a:r>
                        <a:rPr lang="en-US" sz="1100" b="1" dirty="0"/>
                        <a:t> Gateway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Streaming Encoder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Encoding Platform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NDI Encoder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NDI Decoder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Only true </a:t>
                      </a:r>
                      <a:r>
                        <a:rPr lang="en-US" sz="1100" b="1"/>
                        <a:t>NDI ↔ AVoIP bridge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892110"/>
                  </a:ext>
                </a:extLst>
              </a:tr>
              <a:tr h="71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Input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• 1× NHD input (up to 4K60) • </a:t>
                      </a:r>
                      <a:r>
                        <a:rPr lang="en-US" sz="1100" b="1"/>
                        <a:t>8× NDI inputs (up to 4K30)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H.264/H.265 IP stream input (4K)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H.264/H.265 encode 4K60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HDMI/SDI input up to 4K60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NDI input up to 4K60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</a:t>
                      </a:r>
                      <a:r>
                        <a:rPr lang="en-US" sz="1100" b="1"/>
                        <a:t>Multi-channel ingest</a:t>
                      </a:r>
                      <a:r>
                        <a:rPr lang="en-US" sz="1100"/>
                        <a:t> vs single-purpose devices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195830"/>
                  </a:ext>
                </a:extLst>
              </a:tr>
              <a:tr h="487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Output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• 1× NHD → NDI • </a:t>
                      </a:r>
                      <a:r>
                        <a:rPr lang="en-US" sz="1100" b="1"/>
                        <a:t>8× NDI → NHD</a:t>
                      </a:r>
                      <a:r>
                        <a:rPr lang="en-US" sz="1100"/>
                        <a:t> (4K30)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/>
                        <a:t>4-ch H.264/H.265 → NDI HX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Transcoding platform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HDMI/SDI → NDI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NDI → HDMI/SDI/AIO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</a:t>
                      </a:r>
                      <a:r>
                        <a:rPr lang="en-US" sz="1100" b="1"/>
                        <a:t>Simultaneous encode + decode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192"/>
                  </a:ext>
                </a:extLst>
              </a:tr>
              <a:tr h="487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Conversion Type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Bidirectional conversion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Encode only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Transcode only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Encode only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Decode only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Replaces multiple boxes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895042"/>
                  </a:ext>
                </a:extLst>
              </a:tr>
              <a:tr h="375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PoE Powered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Simplified installs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522256"/>
                  </a:ext>
                </a:extLst>
              </a:tr>
              <a:tr h="262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Audio Output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98487"/>
                  </a:ext>
                </a:extLst>
              </a:tr>
              <a:tr h="487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Fanless Design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Silent operation (courtrooms / education)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77878"/>
                  </a:ext>
                </a:extLst>
              </a:tr>
              <a:tr h="1994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Ethernet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GbE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GbE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GbE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GbE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GbE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974906"/>
                  </a:ext>
                </a:extLst>
              </a:tr>
              <a:tr h="60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Front Status Display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LED Screen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 Easier deployment &amp; troubleshooting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215447"/>
                  </a:ext>
                </a:extLst>
              </a:tr>
              <a:tr h="375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Channels per Device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Up to 8 streams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Single workflow focus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Single channel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Single channel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 Higher density per device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492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354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212F-3065-07AE-60D2-BFAC865B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loor plan of a court room&#10;&#10;AI-generated content may be incorrect.">
            <a:extLst>
              <a:ext uri="{FF2B5EF4-FFF2-40B4-BE49-F238E27FC236}">
                <a16:creationId xmlns:a16="http://schemas.microsoft.com/office/drawing/2014/main" id="{6A022515-F70F-2CFA-E5C2-0A92071F69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15"/>
          <a:stretch>
            <a:fillRect/>
          </a:stretch>
        </p:blipFill>
        <p:spPr>
          <a:xfrm>
            <a:off x="4745900" y="1759836"/>
            <a:ext cx="7446100" cy="3861186"/>
          </a:xfrm>
          <a:prstGeom prst="rect">
            <a:avLst/>
          </a:prstGeom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99DDB776-6418-A963-26D1-3F6331B476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09D786-77AF-1DC1-99E1-71371117AA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1 (Digital Court/Government AV)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649CD1F2-E7A3-47DD-21F6-135049F58C3E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9330BE56-EF15-000D-6260-96CB887735A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3C600-19B3-732B-0C6A-81271F09DC21}"/>
              </a:ext>
            </a:extLst>
          </p:cNvPr>
          <p:cNvSpPr txBox="1"/>
          <p:nvPr/>
        </p:nvSpPr>
        <p:spPr>
          <a:xfrm>
            <a:off x="342900" y="1014442"/>
            <a:ext cx="62103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Cameras are often NDI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are fed by </a:t>
            </a:r>
            <a:r>
              <a:rPr lang="en-US" dirty="0" err="1"/>
              <a:t>AVoIP</a:t>
            </a:r>
            <a:r>
              <a:rPr lang="en-US" dirty="0"/>
              <a:t> (</a:t>
            </a:r>
            <a:r>
              <a:rPr lang="en-US" dirty="0" err="1"/>
              <a:t>NetworkHD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Cameras are ingested into HDMI Encoders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Separate encoders/decoders increase device count and cost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How the NHD-128-NDI-TRX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Converts NDI camera feeds directly into NHD streams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 jury, gallery, judge displays over </a:t>
            </a:r>
            <a:r>
              <a:rPr lang="en-US" dirty="0" err="1"/>
              <a:t>AVoIP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Eliminate standalone NDI/NHD encoders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Simplified Control and Management</a:t>
            </a:r>
          </a:p>
        </p:txBody>
      </p:sp>
      <p:sp>
        <p:nvSpPr>
          <p:cNvPr id="7" name="AutoShape 6" descr="Generated image">
            <a:extLst>
              <a:ext uri="{FF2B5EF4-FFF2-40B4-BE49-F238E27FC236}">
                <a16:creationId xmlns:a16="http://schemas.microsoft.com/office/drawing/2014/main" id="{3C871C05-D597-19AB-61EC-30D57AD77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909060" cy="39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24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9A7B-F26C-C7C5-CE73-95AF6ECA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0319453B-B1EC-9D6C-5AB4-6E8F0E3400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0B3413-D7D6-1FFE-BC41-7543416F2C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2 (Education/Lecture Capture)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931EB321-0FEE-49C8-7560-9B3C6759A215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3C2848FA-8717-89E3-8DB9-319351BDEFE1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3F6D9-486D-BF8C-FE00-5297CA974E0F}"/>
              </a:ext>
            </a:extLst>
          </p:cNvPr>
          <p:cNvSpPr txBox="1"/>
          <p:nvPr/>
        </p:nvSpPr>
        <p:spPr>
          <a:xfrm>
            <a:off x="324277" y="252286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Production team uses NDI cameras and production switchers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flexible routing between systems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How TRX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 NDI channels ingest into </a:t>
            </a:r>
            <a:r>
              <a:rPr lang="en-US" dirty="0" err="1"/>
              <a:t>AVoIP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NHD to NDI return feed for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integration between control room and distribution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CED82-3FDC-048D-1732-F1341AD090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251"/>
          <a:stretch>
            <a:fillRect/>
          </a:stretch>
        </p:blipFill>
        <p:spPr>
          <a:xfrm>
            <a:off x="5567926" y="1498200"/>
            <a:ext cx="6109768" cy="3273029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5C7A5FA-A4A0-78E2-DE91-6571B6C8AB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655" y="2696694"/>
            <a:ext cx="2146299" cy="140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8B56C0-042A-69E9-A003-421098404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1689" y="1609517"/>
            <a:ext cx="77123" cy="1079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063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FF38-C069-1686-AFD8-5F77F434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E644A467-363A-7282-96EA-B02D587C95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49CA9B-850A-5FAA-F4EA-25E76952C0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3 (Corporate/Boardroom)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C930F564-BCB1-4B35-91B9-ABCA626649D4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CA1BC9EB-E4C9-01B7-3188-1053C9391BE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1F310-C7A4-6C54-94C3-40F1999AF2E7}"/>
              </a:ext>
            </a:extLst>
          </p:cNvPr>
          <p:cNvSpPr txBox="1"/>
          <p:nvPr/>
        </p:nvSpPr>
        <p:spPr>
          <a:xfrm>
            <a:off x="248077" y="162502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Problem:</a:t>
            </a:r>
          </a:p>
          <a:p>
            <a:r>
              <a:rPr lang="en-US" b="1" dirty="0"/>
              <a:t>Collaboration &amp; Production Are Becoming IP-Based</a:t>
            </a:r>
          </a:p>
          <a:p>
            <a:r>
              <a:rPr lang="en-US" dirty="0"/>
              <a:t>NDI PTZ cameras</a:t>
            </a:r>
          </a:p>
          <a:p>
            <a:r>
              <a:rPr lang="en-US" dirty="0"/>
              <a:t>Teams / Zoom workflows</a:t>
            </a:r>
          </a:p>
          <a:p>
            <a:r>
              <a:rPr lang="en-US" dirty="0"/>
              <a:t>Software screen capture</a:t>
            </a:r>
          </a:p>
          <a:p>
            <a:r>
              <a:rPr lang="en-US" dirty="0"/>
              <a:t>Recording &amp; streaming platforms</a:t>
            </a:r>
          </a:p>
          <a:p>
            <a:r>
              <a:rPr lang="en-US" dirty="0"/>
              <a:t>These systems generate NDI video streams on the network.</a:t>
            </a:r>
          </a:p>
          <a:p>
            <a:br>
              <a:rPr lang="en-US" dirty="0"/>
            </a:br>
            <a:r>
              <a:rPr lang="en-US" dirty="0"/>
              <a:t>NDI sources cannot natively integrate into traditional AV distribution systems.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How TRX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 NDI channels ingest into </a:t>
            </a:r>
            <a:r>
              <a:rPr lang="en-US" dirty="0" err="1"/>
              <a:t>AVoIP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NHD to NDI return feed for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integration between control room and distribution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AC727B-D14A-178E-7021-97C3D15402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8129"/>
          <a:stretch>
            <a:fillRect/>
          </a:stretch>
        </p:blipFill>
        <p:spPr>
          <a:xfrm>
            <a:off x="6219825" y="1854478"/>
            <a:ext cx="5972175" cy="3259646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6748E3B7-E893-D279-A083-AA8F87EB5F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041" y="2266735"/>
            <a:ext cx="5117995" cy="335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373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FF44-1885-2849-50B9-6721F39E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A17C6B41-EE50-7305-7AAB-99DA6B40C8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B6E766-144E-6776-1868-7630B73260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Benefits</a:t>
            </a:r>
            <a:endParaRPr lang="en-US" altLang="zh-CN" sz="3200" b="1" strike="noStrike" dirty="0" err="1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4E69F76-FB70-089D-B44C-88EB83F05139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82EF8A4-0A91-39C7-028A-B597220262CF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C05C2-1A3C-887F-E754-A45EA538A185}"/>
              </a:ext>
            </a:extLst>
          </p:cNvPr>
          <p:cNvSpPr txBox="1"/>
          <p:nvPr/>
        </p:nvSpPr>
        <p:spPr>
          <a:xfrm>
            <a:off x="889000" y="1488639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True Bridge Device (Not Just Encode OR Decode)</a:t>
            </a:r>
          </a:p>
          <a:p>
            <a:pPr>
              <a:buNone/>
            </a:pPr>
            <a:r>
              <a:rPr lang="en-US" dirty="0"/>
              <a:t>Most competitors: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Encode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channel count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WyreStorm: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8-channel NDI ingest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1-channel NHD to NDI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Bidirectional architecture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Channel Density Advantage</a:t>
            </a:r>
          </a:p>
          <a:p>
            <a:r>
              <a:rPr lang="en-US" dirty="0"/>
              <a:t>Competitors typically offer:</a:t>
            </a:r>
          </a:p>
          <a:p>
            <a:r>
              <a:rPr lang="en-US" dirty="0"/>
              <a:t>1 channel per box</a:t>
            </a:r>
          </a:p>
          <a:p>
            <a:r>
              <a:rPr lang="en-US" dirty="0"/>
              <a:t>4 channel at most (some models)</a:t>
            </a:r>
          </a:p>
          <a:p>
            <a:endParaRPr lang="en-US" dirty="0"/>
          </a:p>
          <a:p>
            <a:r>
              <a:rPr lang="en-US" dirty="0"/>
              <a:t>This unit:</a:t>
            </a:r>
          </a:p>
          <a:p>
            <a:r>
              <a:rPr lang="en-US" dirty="0"/>
              <a:t>8 channels in one chassis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6823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2130-D324-3D45-627A-4FCC480D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A84C53C-8F71-2A05-EEFE-98F16A0914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A542C6-94EA-7B71-DA8D-637300F8EF6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92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Y.S.K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88745F1C-42CE-06B6-9E93-71617FC5ECFA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98412562-9E2A-34B9-5F9C-B7A84601BE63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DEEC-4474-E62E-51A4-D2D9E93EB52B}"/>
              </a:ext>
            </a:extLst>
          </p:cNvPr>
          <p:cNvSpPr txBox="1"/>
          <p:nvPr/>
        </p:nvSpPr>
        <p:spPr>
          <a:xfrm>
            <a:off x="517525" y="140051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You should know: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seamless switching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Switching time 3~5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 conversion hub, not a production switcher</a:t>
            </a:r>
          </a:p>
          <a:p>
            <a:endParaRPr lang="en-US" dirty="0"/>
          </a:p>
          <a:p>
            <a:r>
              <a:rPr lang="en-US" b="1" dirty="0"/>
              <a:t>Do NOT position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live production switcher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seamless video processor</a:t>
            </a:r>
          </a:p>
          <a:p>
            <a:endParaRPr lang="en-US" dirty="0"/>
          </a:p>
          <a:p>
            <a:r>
              <a:rPr lang="en-US" b="1" dirty="0"/>
              <a:t>Position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Infrastructure bridge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integrator tool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719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301C-F1CC-42A3-A140-C3748312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6359-B081-D64D-B7ED-D83EC2F1D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	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CCD02476-0D2C-A754-254A-CABC45C0B3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3EB9651B-0EB0-F43E-1B89-C26AB70D8B3D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1153B3B4-337C-839E-5D5C-2B125B01CE5D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0597A02-D2A1-45A7-368B-961738D468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97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7e1be7-6c27-4381-949e-b43a2eb5089a" xsi:nil="true"/>
    <lcf76f155ced4ddcb4097134ff3c332f xmlns="d634ccb5-745a-4b19-b3da-83dafbb0f9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E4FCB1B-F91C-49F3-A377-618ED34F92C1}"/>
</file>

<file path=customXml/itemProps2.xml><?xml version="1.0" encoding="utf-8"?>
<ds:datastoreItem xmlns:ds="http://schemas.openxmlformats.org/officeDocument/2006/customXml" ds:itemID="{6D74844C-8B1C-45F0-9AB7-850293498A70}"/>
</file>

<file path=customXml/itemProps3.xml><?xml version="1.0" encoding="utf-8"?>
<ds:datastoreItem xmlns:ds="http://schemas.openxmlformats.org/officeDocument/2006/customXml" ds:itemID="{B0CA6953-6A43-4AF9-9027-B70CB9F8F460}"/>
</file>

<file path=docProps/app.xml><?xml version="1.0" encoding="utf-8"?>
<Properties xmlns="http://schemas.openxmlformats.org/officeDocument/2006/extended-properties" xmlns:vt="http://schemas.openxmlformats.org/officeDocument/2006/docPropsVTypes">
  <TotalTime>7248</TotalTime>
  <Words>1437</Words>
  <Application>Microsoft Office PowerPoint</Application>
  <PresentationFormat>Widescreen</PresentationFormat>
  <Paragraphs>335</Paragraphs>
  <Slides>16</Slides>
  <Notes>14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Solution Sales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Lee</dc:creator>
  <cp:lastModifiedBy>Joseph Gagliardi</cp:lastModifiedBy>
  <cp:revision>108</cp:revision>
  <dcterms:created xsi:type="dcterms:W3CDTF">2026-02-09T07:04:12Z</dcterms:created>
  <dcterms:modified xsi:type="dcterms:W3CDTF">2026-03-26T15:43:40Z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0x010100E01A8FBB3908BD4681554D596DADDBBC</vt:lpwstr>
  </property>
</Properties>
</file>