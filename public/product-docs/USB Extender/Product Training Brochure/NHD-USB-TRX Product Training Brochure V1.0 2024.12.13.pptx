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4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5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6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7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8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9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0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  <p:sldMasterId id="2147483663" r:id="rId6"/>
  </p:sldMasterIdLst>
  <p:notesMasterIdLst>
    <p:notesMasterId r:id="rId21"/>
  </p:notesMasterIdLst>
  <p:sldIdLst>
    <p:sldId id="257" r:id="rId7"/>
    <p:sldId id="1007" r:id="rId8"/>
    <p:sldId id="1008" r:id="rId9"/>
    <p:sldId id="1013" r:id="rId10"/>
    <p:sldId id="1014" r:id="rId11"/>
    <p:sldId id="1011" r:id="rId12"/>
    <p:sldId id="1024" r:id="rId13"/>
    <p:sldId id="1012" r:id="rId14"/>
    <p:sldId id="1027" r:id="rId15"/>
    <p:sldId id="272" r:id="rId16"/>
    <p:sldId id="1025" r:id="rId17"/>
    <p:sldId id="1017" r:id="rId18"/>
    <p:sldId id="1023" r:id="rId19"/>
    <p:sldId id="984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2E2"/>
    <a:srgbClr val="D6E5D5"/>
    <a:srgbClr val="291A2A"/>
    <a:srgbClr val="53B24E"/>
    <a:srgbClr val="33CC33"/>
    <a:srgbClr val="000000"/>
    <a:srgbClr val="0C7935"/>
    <a:srgbClr val="EFEDF9"/>
    <a:srgbClr val="FAF9FD"/>
    <a:srgbClr val="F1E9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5F23EC-71E0-A60E-1A7D-03DEEC1758DC}" v="4" dt="2025-10-30T08:51:31.6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68" autoAdjust="0"/>
    <p:restoredTop sz="86543" autoAdjust="0"/>
  </p:normalViewPr>
  <p:slideViewPr>
    <p:cSldViewPr snapToGrid="0">
      <p:cViewPr varScale="1">
        <p:scale>
          <a:sx n="74" d="100"/>
          <a:sy n="74" d="100"/>
        </p:scale>
        <p:origin x="706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lyn Mogale" userId="S::franklyn.mogale@wyrestorm.com::2af9dd90-5c0a-4309-9664-3098185c05fd" providerId="AD" clId="Web-{B65F23EC-71E0-A60E-1A7D-03DEEC1758DC}"/>
    <pc:docChg chg="modSld">
      <pc:chgData name="Franklyn Mogale" userId="S::franklyn.mogale@wyrestorm.com::2af9dd90-5c0a-4309-9664-3098185c05fd" providerId="AD" clId="Web-{B65F23EC-71E0-A60E-1A7D-03DEEC1758DC}" dt="2025-10-30T08:51:31.650" v="3" actId="1076"/>
      <pc:docMkLst>
        <pc:docMk/>
      </pc:docMkLst>
      <pc:sldChg chg="modSp">
        <pc:chgData name="Franklyn Mogale" userId="S::franklyn.mogale@wyrestorm.com::2af9dd90-5c0a-4309-9664-3098185c05fd" providerId="AD" clId="Web-{B65F23EC-71E0-A60E-1A7D-03DEEC1758DC}" dt="2025-10-30T08:51:31.650" v="3" actId="1076"/>
        <pc:sldMkLst>
          <pc:docMk/>
          <pc:sldMk cId="1339950094" sldId="1024"/>
        </pc:sldMkLst>
        <pc:spChg chg="mod">
          <ac:chgData name="Franklyn Mogale" userId="S::franklyn.mogale@wyrestorm.com::2af9dd90-5c0a-4309-9664-3098185c05fd" providerId="AD" clId="Web-{B65F23EC-71E0-A60E-1A7D-03DEEC1758DC}" dt="2025-10-30T08:51:30.587" v="2" actId="1076"/>
          <ac:spMkLst>
            <pc:docMk/>
            <pc:sldMk cId="1339950094" sldId="1024"/>
            <ac:spMk id="4" creationId="{C2FCDA92-9E98-EF2E-76FA-52623C0DB94E}"/>
          </ac:spMkLst>
        </pc:spChg>
        <pc:picChg chg="mod">
          <ac:chgData name="Franklyn Mogale" userId="S::franklyn.mogale@wyrestorm.com::2af9dd90-5c0a-4309-9664-3098185c05fd" providerId="AD" clId="Web-{B65F23EC-71E0-A60E-1A7D-03DEEC1758DC}" dt="2025-10-30T08:51:31.650" v="3" actId="1076"/>
          <ac:picMkLst>
            <pc:docMk/>
            <pc:sldMk cId="1339950094" sldId="1024"/>
            <ac:picMk id="3" creationId="{AD8D8B45-9B0D-520E-82CB-D26FA14DFD9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90828-D59D-4FB6-B526-44D0AEA8C2BD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A306D-6C12-4E72-AF59-54F4E5C1E32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更新封面，不需要展示产品；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561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77FE9-DF42-20DB-4884-BA8B1B22D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D5986C-A4BA-1A0D-9A2A-981F56D5F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67ED2-963D-452B-CA29-ABB6F4529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F68D8-42F1-FBE7-FF02-572FACDC9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551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075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543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A306D-6C12-4E72-AF59-54F4E5C1E32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709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11B7E-33AF-4B07-8A60-1A70837D531B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11B7E-33AF-4B07-8A60-1A70837D531B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11B7E-33AF-4B07-8A60-1A70837D531B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11B7E-33AF-4B07-8A60-1A70837D531B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9B56B-6286-4108-9151-EF4CD1753CA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.xml"/><Relationship Id="rId7" Type="http://schemas.openxmlformats.org/officeDocument/2006/relationships/image" Target="../media/image1.jpeg"/><Relationship Id="rId12" Type="http://schemas.openxmlformats.org/officeDocument/2006/relationships/image" Target="../media/image5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1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3.png"/><Relationship Id="rId4" Type="http://schemas.openxmlformats.org/officeDocument/2006/relationships/tags" Target="../tags/tag8.xml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1.xml"/><Relationship Id="rId7" Type="http://schemas.openxmlformats.org/officeDocument/2006/relationships/image" Target="../media/image1.jpe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15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5.png"/><Relationship Id="rId5" Type="http://schemas.openxmlformats.org/officeDocument/2006/relationships/tags" Target="../tags/tag17.xml"/><Relationship Id="rId10" Type="http://schemas.openxmlformats.org/officeDocument/2006/relationships/image" Target="../media/image4.png"/><Relationship Id="rId4" Type="http://schemas.openxmlformats.org/officeDocument/2006/relationships/tags" Target="../tags/tag16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20.xml"/><Relationship Id="rId7" Type="http://schemas.openxmlformats.org/officeDocument/2006/relationships/image" Target="../media/image7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image" Target="../media/image6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2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27.xml"/><Relationship Id="rId7" Type="http://schemas.openxmlformats.org/officeDocument/2006/relationships/slideLayout" Target="../slideLayouts/slideLayout14.xml"/><Relationship Id="rId12" Type="http://schemas.openxmlformats.org/officeDocument/2006/relationships/image" Target="../media/image11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image" Target="../media/image10.png"/><Relationship Id="rId5" Type="http://schemas.openxmlformats.org/officeDocument/2006/relationships/tags" Target="../tags/tag29.xml"/><Relationship Id="rId10" Type="http://schemas.openxmlformats.org/officeDocument/2006/relationships/image" Target="../media/image6.png"/><Relationship Id="rId4" Type="http://schemas.openxmlformats.org/officeDocument/2006/relationships/tags" Target="../tags/tag28.xml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image" Target="../media/image10.png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image" Target="../media/image12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image" Target="../media/image6.png"/><Relationship Id="rId5" Type="http://schemas.openxmlformats.org/officeDocument/2006/relationships/tags" Target="../tags/tag35.xml"/><Relationship Id="rId10" Type="http://schemas.openxmlformats.org/officeDocument/2006/relationships/image" Target="../media/image1.jpeg"/><Relationship Id="rId4" Type="http://schemas.openxmlformats.org/officeDocument/2006/relationships/tags" Target="../tags/tag34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41.xml"/><Relationship Id="rId7" Type="http://schemas.openxmlformats.org/officeDocument/2006/relationships/slideLayout" Target="../slideLayouts/slideLayout14.xml"/><Relationship Id="rId12" Type="http://schemas.openxmlformats.org/officeDocument/2006/relationships/image" Target="../media/image10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image" Target="../media/image13.png"/><Relationship Id="rId5" Type="http://schemas.openxmlformats.org/officeDocument/2006/relationships/tags" Target="../tags/tag43.xml"/><Relationship Id="rId10" Type="http://schemas.openxmlformats.org/officeDocument/2006/relationships/image" Target="../media/image6.png"/><Relationship Id="rId4" Type="http://schemas.openxmlformats.org/officeDocument/2006/relationships/tags" Target="../tags/tag42.xml"/><Relationship Id="rId9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47.xml"/><Relationship Id="rId7" Type="http://schemas.openxmlformats.org/officeDocument/2006/relationships/image" Target="../media/image6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4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7" Type="http://schemas.openxmlformats.org/officeDocument/2006/relationships/image" Target="../media/image6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5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6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image" Target="../media/image16.jpe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image" Target="../media/image6.png"/><Relationship Id="rId5" Type="http://schemas.openxmlformats.org/officeDocument/2006/relationships/tags" Target="../tags/tag58.xml"/><Relationship Id="rId10" Type="http://schemas.openxmlformats.org/officeDocument/2006/relationships/image" Target="../media/image1.jpeg"/><Relationship Id="rId4" Type="http://schemas.openxmlformats.org/officeDocument/2006/relationships/tags" Target="../tags/tag57.xml"/><Relationship Id="rId9" Type="http://schemas.openxmlformats.org/officeDocument/2006/relationships/notesSlide" Target="../notesSlides/notesSlide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63.xml"/><Relationship Id="rId7" Type="http://schemas.openxmlformats.org/officeDocument/2006/relationships/image" Target="../media/image1.jpe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4.xml"/><Relationship Id="rId9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6.pn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18.jpe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and person sitting in a room with a computer&#10;&#10;Description automatically generated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3000" contrast="-49000"/>
                    </a14:imgEffect>
                    <a14:imgEffect>
                      <a14:saturation sat="16000"/>
                    </a14:imgEffect>
                    <a14:imgEffect>
                      <a14:sharpenSoften amount="-2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7153"/>
            <a:ext cx="12192000" cy="6120322"/>
          </a:xfrm>
          <a:prstGeom prst="rect">
            <a:avLst/>
          </a:prstGeom>
        </p:spPr>
      </p:pic>
      <p:sp>
        <p:nvSpPr>
          <p:cNvPr id="9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1203942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矩形 7"/>
          <p:cNvSpPr/>
          <p:nvPr>
            <p:custDataLst>
              <p:tags r:id="rId2"/>
            </p:custDataLst>
          </p:nvPr>
        </p:nvSpPr>
        <p:spPr>
          <a:xfrm>
            <a:off x="0" y="1086295"/>
            <a:ext cx="12192000" cy="4567763"/>
          </a:xfrm>
          <a:prstGeom prst="rect">
            <a:avLst/>
          </a:prstGeom>
          <a:solidFill>
            <a:srgbClr val="73B98F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00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文本框 20"/>
          <p:cNvSpPr txBox="1"/>
          <p:nvPr>
            <p:custDataLst>
              <p:tags r:id="rId3"/>
            </p:custDataLst>
          </p:nvPr>
        </p:nvSpPr>
        <p:spPr>
          <a:xfrm>
            <a:off x="399346" y="257682"/>
            <a:ext cx="4077404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8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Product Guide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97979" y="198014"/>
            <a:ext cx="7006591" cy="503028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Roboto" charset="0"/>
                <a:ea typeface="Roboto"/>
                <a:cs typeface="Roboto" charset="0"/>
                <a:sym typeface="+mn-ea"/>
              </a:rPr>
              <a:t>NHD-USB-TRX</a:t>
            </a:r>
            <a:endParaRPr lang="zh-CN" altLang="en-US" sz="2800" b="1" dirty="0">
              <a:solidFill>
                <a:schemeClr val="bg1"/>
              </a:solidFill>
              <a:latin typeface="Roboto" charset="0"/>
              <a:ea typeface="宋体" panose="02010600030101010101" pitchFamily="2" charset="-122"/>
              <a:cs typeface="Roboto" charset="0"/>
              <a:sym typeface="+mn-ea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6931548" y="497942"/>
            <a:ext cx="6543720" cy="4346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Roboto" charset="0"/>
                <a:ea typeface="Roboto"/>
                <a:cs typeface="Roboto" charset="0"/>
              </a:rPr>
              <a:t>USB 2.0 over IP</a:t>
            </a:r>
            <a:endParaRPr lang="zh-CN" altLang="en-US" sz="1800" dirty="0">
              <a:solidFill>
                <a:schemeClr val="accent6">
                  <a:lumMod val="40000"/>
                  <a:lumOff val="60000"/>
                </a:schemeClr>
              </a:solidFill>
              <a:latin typeface="Roboto" charset="0"/>
              <a:ea typeface="宋体" panose="02010600030101010101" pitchFamily="2" charset="-122"/>
              <a:cs typeface="Roboto" charset="0"/>
              <a:sym typeface="+mn-ea"/>
            </a:endParaRPr>
          </a:p>
        </p:txBody>
      </p:sp>
      <p:sp>
        <p:nvSpPr>
          <p:cNvPr id="13" name="矩形 7"/>
          <p:cNvSpPr/>
          <p:nvPr>
            <p:custDataLst>
              <p:tags r:id="rId4"/>
            </p:custDataLst>
          </p:nvPr>
        </p:nvSpPr>
        <p:spPr>
          <a:xfrm>
            <a:off x="0" y="5654059"/>
            <a:ext cx="12192000" cy="120343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6" name="Picture 25" descr="A picture containing text, clock&#10;&#10;Description automatically generated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46" y="5877970"/>
            <a:ext cx="4315581" cy="863114"/>
          </a:xfrm>
          <a:prstGeom prst="rect">
            <a:avLst/>
          </a:prstGeom>
        </p:spPr>
      </p:pic>
      <p:sp>
        <p:nvSpPr>
          <p:cNvPr id="19" name="Title 1"/>
          <p:cNvSpPr txBox="1"/>
          <p:nvPr/>
        </p:nvSpPr>
        <p:spPr>
          <a:xfrm>
            <a:off x="6616271" y="5849316"/>
            <a:ext cx="5691024" cy="8116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i="1" dirty="0">
                <a:latin typeface="Montserrat"/>
                <a:ea typeface="Roboto"/>
                <a:cs typeface="Arial" panose="020B0604020202020204"/>
              </a:rPr>
              <a:t>Award-Winning Audio-Visual</a:t>
            </a:r>
            <a:br>
              <a:rPr lang="en-US" sz="2400" b="1" i="1" dirty="0">
                <a:latin typeface="Montserrat" pitchFamily="2" charset="77"/>
                <a:ea typeface="Roboto"/>
                <a:cs typeface="Arial" panose="020B0604020202020204"/>
              </a:rPr>
            </a:br>
            <a:r>
              <a:rPr lang="en-US" sz="2400" b="1" i="1" dirty="0">
                <a:latin typeface="Montserrat"/>
                <a:ea typeface="Roboto"/>
                <a:cs typeface="Arial" panose="020B0604020202020204"/>
              </a:rPr>
              <a:t>Solutions Manufacturer</a:t>
            </a:r>
          </a:p>
        </p:txBody>
      </p:sp>
      <p:pic>
        <p:nvPicPr>
          <p:cNvPr id="4" name="Picture 3" descr="A back of a black device&#10;&#10;Description automatically generated">
            <a:extLst>
              <a:ext uri="{FF2B5EF4-FFF2-40B4-BE49-F238E27FC236}">
                <a16:creationId xmlns:a16="http://schemas.microsoft.com/office/drawing/2014/main" id="{E644F479-AB0E-F470-575D-BC19BB1889D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437" y="1551095"/>
            <a:ext cx="9733848" cy="5475289"/>
          </a:xfrm>
          <a:prstGeom prst="rect">
            <a:avLst/>
          </a:prstGeom>
        </p:spPr>
      </p:pic>
      <p:pic>
        <p:nvPicPr>
          <p:cNvPr id="7" name="Picture 6" descr="A black electronic device with ports&#10;&#10;Description automatically generated">
            <a:extLst>
              <a:ext uri="{FF2B5EF4-FFF2-40B4-BE49-F238E27FC236}">
                <a16:creationId xmlns:a16="http://schemas.microsoft.com/office/drawing/2014/main" id="{94659F26-D906-CDF9-6078-B814395101F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5588" y="-157443"/>
            <a:ext cx="9733848" cy="54752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Contents</a:t>
            </a:r>
          </a:p>
        </p:txBody>
      </p:sp>
      <p:pic>
        <p:nvPicPr>
          <p:cNvPr id="2" name="Google Shape;82;p1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44008" y="1531900"/>
            <a:ext cx="348013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586148" y="2208151"/>
            <a:ext cx="482633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007153" y="3564595"/>
            <a:ext cx="396908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974518" y="4232120"/>
            <a:ext cx="806483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607228" y="4907265"/>
            <a:ext cx="2799412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3662" y="2883296"/>
            <a:ext cx="6306544" cy="553324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6"/>
          <p:cNvSpPr txBox="1"/>
          <p:nvPr>
            <p:custDataLst>
              <p:tags r:id="rId4"/>
            </p:custDataLst>
          </p:nvPr>
        </p:nvSpPr>
        <p:spPr>
          <a:xfrm>
            <a:off x="1570188" y="1327054"/>
            <a:ext cx="8873491" cy="4209932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Product Overview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altLang="zh-CN" sz="2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Interface &amp; Specifications</a:t>
            </a:r>
            <a:endParaRPr lang="en-US" altLang="zh-CN" sz="2800" b="1" strike="noStrike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Typical Connection &amp; Applications 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Competitor Analysis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Quick Installation Guide &amp; Web UI Introduction</a:t>
            </a:r>
          </a:p>
          <a:p>
            <a:pPr lvl="0" algn="ctr" fontAlgn="ctr">
              <a:lnSpc>
                <a:spcPts val="45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altLang="zh-CN" sz="2800" b="1" strike="noStrike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Q &amp; A Session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55572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Product Overview</a:t>
            </a:r>
          </a:p>
        </p:txBody>
      </p:sp>
      <p:pic>
        <p:nvPicPr>
          <p:cNvPr id="3" name="Google Shape;82;p1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54F6B1-11C9-185F-124E-B0A1A3F11927}"/>
              </a:ext>
            </a:extLst>
          </p:cNvPr>
          <p:cNvSpPr/>
          <p:nvPr/>
        </p:nvSpPr>
        <p:spPr>
          <a:xfrm>
            <a:off x="731520" y="2589835"/>
            <a:ext cx="5356860" cy="3453856"/>
          </a:xfrm>
          <a:prstGeom prst="rect">
            <a:avLst/>
          </a:prstGeom>
          <a:solidFill>
            <a:srgbClr val="53B24E">
              <a:alpha val="10196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B876D30-3D92-BCD5-DBEA-B6031A9734A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602940" y="1164834"/>
            <a:ext cx="45999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USB2.0 over IP</a:t>
            </a:r>
          </a:p>
          <a:p>
            <a:pPr marL="171450" indent="-1714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Delivers </a:t>
            </a:r>
            <a:r>
              <a:rPr lang="en" altLang="zh-CN" sz="1200" b="1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USB 2.0 over IP</a:t>
            </a: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functionality, enabling </a:t>
            </a:r>
            <a:r>
              <a:rPr lang="en" altLang="zh-CN" sz="1200" b="1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one-to-one</a:t>
            </a: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" altLang="zh-CN" sz="1200" b="1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one-to-many</a:t>
            </a: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connections. </a:t>
            </a:r>
          </a:p>
          <a:p>
            <a:pPr marL="171450" indent="-1714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Supports a wide variety of USB 2.0 input devices, ensuring adaptability for diverse application scenarios.</a:t>
            </a:r>
          </a:p>
          <a:p>
            <a:pPr indent="0" algn="l" fontAlgn="auto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sz="1200" b="1" dirty="0">
              <a:solidFill>
                <a:srgbClr val="71BF44"/>
              </a:solidFill>
              <a:latin typeface="Roboto" charset="0"/>
              <a:ea typeface="Roboto" charset="0"/>
              <a:cs typeface="Roboto" charset="0"/>
              <a:sym typeface="+mn-ea"/>
            </a:endParaRP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zh-CN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USB3.2 Gen2 Local Hub (HOST Mode)</a:t>
            </a:r>
          </a:p>
          <a:p>
            <a:pPr marL="171450" indent="-1714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Features a </a:t>
            </a:r>
            <a:r>
              <a:rPr lang="en" altLang="zh-CN" sz="1200" b="1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USB 3.2 Gen2 local USB hub</a:t>
            </a: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with up to </a:t>
            </a:r>
            <a:r>
              <a:rPr lang="en" altLang="zh-CN" sz="1200" b="1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10Gbps</a:t>
            </a: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data transfer speed for devices requiring fast data rates.</a:t>
            </a:r>
          </a:p>
          <a:p>
            <a:pPr indent="0" algn="l" fontAlgn="auto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sz="1200" b="1" dirty="0">
              <a:solidFill>
                <a:srgbClr val="71BF44"/>
              </a:solidFill>
              <a:latin typeface="Roboto" charset="0"/>
              <a:ea typeface="Roboto" charset="0"/>
              <a:cs typeface="Roboto" charset="0"/>
              <a:sym typeface="+mn-ea"/>
            </a:endParaRP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PoE+</a:t>
            </a:r>
            <a:r>
              <a:rPr lang="zh-CN" altLang="en-US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 </a:t>
            </a:r>
            <a:r>
              <a:rPr lang="en-US" altLang="zh-CN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Technology</a:t>
            </a:r>
            <a:endParaRPr lang="en-US" sz="1400" b="1" dirty="0">
              <a:solidFill>
                <a:srgbClr val="0B7935"/>
              </a:solidFill>
              <a:latin typeface="Roboto" charset="0"/>
              <a:ea typeface="Roboto" charset="0"/>
              <a:cs typeface="Roboto" charset="0"/>
              <a:sym typeface="+mn-ea"/>
            </a:endParaRPr>
          </a:p>
          <a:p>
            <a:pPr marL="171450" indent="-1714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Integrated </a:t>
            </a:r>
            <a:r>
              <a:rPr lang="en" altLang="zh-CN" sz="1200" b="1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PoE+ (Power over Ethernet)</a:t>
            </a: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allows a single cable for both </a:t>
            </a:r>
            <a:r>
              <a:rPr lang="en" altLang="zh-CN" sz="1200" b="1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network connectivity</a:t>
            </a: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" altLang="zh-CN" sz="1200" b="1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power delivery</a:t>
            </a: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pPr marL="171450" indent="-1714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Provides sufficient power for high-current USB devices, eliminating the need for additional power adapters.</a:t>
            </a:r>
          </a:p>
          <a:p>
            <a:pPr indent="0" algn="l" fontAlgn="auto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endParaRPr lang="en-US" altLang="zh-CN" sz="1200" dirty="0">
              <a:latin typeface="Roboto" charset="0"/>
              <a:ea typeface="Roboto" charset="0"/>
              <a:cs typeface="Roboto" charset="0"/>
              <a:sym typeface="+mn-ea"/>
            </a:endParaRPr>
          </a:p>
          <a:p>
            <a:pPr indent="0" algn="l" fontAlgn="auto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Single SKU for HOST and DEVICES Mode</a:t>
            </a:r>
          </a:p>
          <a:p>
            <a:pPr marL="171450" indent="-1714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Easily switch between </a:t>
            </a:r>
            <a:r>
              <a:rPr lang="en" altLang="zh-CN" sz="1200" b="1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HOST mode</a:t>
            </a: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" altLang="zh-CN" sz="1200" b="1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DEVICE mode</a:t>
            </a: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via </a:t>
            </a:r>
            <a:r>
              <a:rPr lang="en" altLang="zh-CN" sz="1200" b="1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DIP switch</a:t>
            </a: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or </a:t>
            </a:r>
            <a:r>
              <a:rPr lang="en" altLang="zh-CN" sz="1200" b="1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NHD-CTL-PRO controller</a:t>
            </a: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</a:p>
          <a:p>
            <a:pPr marL="171450" indent="-1714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Simplified SKU management for greater deployment flexibility.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F6C5D2E-2843-8715-E9D4-3C67A98004C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864213" y="1164834"/>
            <a:ext cx="4855420" cy="1254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" altLang="zh-CN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</a:rPr>
              <a:t>Seamless Interoperability</a:t>
            </a:r>
            <a:r>
              <a:rPr lang="en-US" altLang="zh-CN" sz="1400" b="1" dirty="0">
                <a:solidFill>
                  <a:srgbClr val="0B7935"/>
                </a:solidFill>
                <a:latin typeface="Roboto" charset="0"/>
                <a:ea typeface="Roboto" charset="0"/>
                <a:cs typeface="Roboto" charset="0"/>
                <a:sym typeface="+mn-ea"/>
              </a:rPr>
              <a:t> with NHD-500</a:t>
            </a:r>
          </a:p>
          <a:p>
            <a:pPr marL="171450" indent="-1714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Fully compatible with the </a:t>
            </a:r>
            <a:r>
              <a:rPr lang="en" altLang="zh-CN" sz="1200" b="1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NHD-500 series encoders and decoders</a:t>
            </a: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leveraging their built-in USB functionality.</a:t>
            </a:r>
          </a:p>
          <a:p>
            <a:pPr marL="171450" indent="-17145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Centralized control and management through the </a:t>
            </a:r>
            <a:r>
              <a:rPr lang="en" altLang="zh-CN" sz="1200" b="1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NHD-CTL-PRO controller</a:t>
            </a:r>
            <a:r>
              <a:rPr lang="en" altLang="zh-CN" sz="12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for system-wide integration.</a:t>
            </a:r>
          </a:p>
        </p:txBody>
      </p:sp>
      <p:pic>
        <p:nvPicPr>
          <p:cNvPr id="11" name="Picture 10" descr="A back of a black device&#10;&#10;Description automatically generated">
            <a:extLst>
              <a:ext uri="{FF2B5EF4-FFF2-40B4-BE49-F238E27FC236}">
                <a16:creationId xmlns:a16="http://schemas.microsoft.com/office/drawing/2014/main" id="{0141C5B0-A2D0-F48A-7A9C-F5056844B6E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3259" y="2589835"/>
            <a:ext cx="8673524" cy="4878857"/>
          </a:xfrm>
          <a:prstGeom prst="rect">
            <a:avLst/>
          </a:prstGeom>
        </p:spPr>
      </p:pic>
      <p:pic>
        <p:nvPicPr>
          <p:cNvPr id="6" name="Picture 5" descr="A black electronic device with ports&#10;&#10;Description automatically generated">
            <a:extLst>
              <a:ext uri="{FF2B5EF4-FFF2-40B4-BE49-F238E27FC236}">
                <a16:creationId xmlns:a16="http://schemas.microsoft.com/office/drawing/2014/main" id="{360F3F01-6934-6F7D-D2B3-601B74113E1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1730" y="1082926"/>
            <a:ext cx="8673524" cy="4878857"/>
          </a:xfrm>
          <a:prstGeom prst="rect">
            <a:avLst/>
          </a:prstGeom>
        </p:spPr>
      </p:pic>
      <p:pic>
        <p:nvPicPr>
          <p:cNvPr id="13" name="Picture 12" descr="A black electronic device with ports&#10;&#10;Description automatically generated">
            <a:extLst>
              <a:ext uri="{FF2B5EF4-FFF2-40B4-BE49-F238E27FC236}">
                <a16:creationId xmlns:a16="http://schemas.microsoft.com/office/drawing/2014/main" id="{93BA9062-B534-54B7-A5C6-E63A8297FA1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3259" y="1105786"/>
            <a:ext cx="8673524" cy="487885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back of a black device&#10;&#10;Description automatically generated">
            <a:extLst>
              <a:ext uri="{FF2B5EF4-FFF2-40B4-BE49-F238E27FC236}">
                <a16:creationId xmlns:a16="http://schemas.microsoft.com/office/drawing/2014/main" id="{5F01B1D0-BBCB-038B-B65E-D461FCD2923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973" y="1475294"/>
            <a:ext cx="9091092" cy="5113739"/>
          </a:xfrm>
          <a:prstGeom prst="rect">
            <a:avLst/>
          </a:prstGeom>
        </p:spPr>
      </p:pic>
      <p:pic>
        <p:nvPicPr>
          <p:cNvPr id="26" name="Picture 25" descr="A black electronic device with ports&#10;&#10;Description automatically generated">
            <a:extLst>
              <a:ext uri="{FF2B5EF4-FFF2-40B4-BE49-F238E27FC236}">
                <a16:creationId xmlns:a16="http://schemas.microsoft.com/office/drawing/2014/main" id="{9D7A48E1-932B-32B0-41A9-AD5DDB7FCD8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19" y="597311"/>
            <a:ext cx="9100245" cy="5118888"/>
          </a:xfrm>
          <a:prstGeom prst="rect">
            <a:avLst/>
          </a:prstGeom>
        </p:spPr>
      </p:pic>
      <p:sp>
        <p:nvSpPr>
          <p:cNvPr id="19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Interface of the Product</a:t>
            </a:r>
          </a:p>
        </p:txBody>
      </p:sp>
      <p:pic>
        <p:nvPicPr>
          <p:cNvPr id="16" name="Google Shape;82;p1"/>
          <p:cNvPicPr preferRelativeResize="0"/>
          <p:nvPr/>
        </p:nvPicPr>
        <p:blipFill>
          <a:blip r:embed="rId9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336741" y="4164897"/>
            <a:ext cx="1851660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b="1" dirty="0">
                <a:latin typeface="Roboto" charset="0"/>
                <a:cs typeface="Roboto" charset="0"/>
                <a:sym typeface="+mn-ea"/>
              </a:rPr>
              <a:t>Rear Panel</a:t>
            </a:r>
          </a:p>
        </p:txBody>
      </p:sp>
      <p:cxnSp>
        <p:nvCxnSpPr>
          <p:cNvPr id="11" name="肘形连接符 10">
            <a:extLst>
              <a:ext uri="{FF2B5EF4-FFF2-40B4-BE49-F238E27FC236}">
                <a16:creationId xmlns:a16="http://schemas.microsoft.com/office/drawing/2014/main" id="{70F7D08C-F1B0-A558-E354-0E194441AC2A}"/>
              </a:ext>
            </a:extLst>
          </p:cNvPr>
          <p:cNvCxnSpPr>
            <a:cxnSpLocks/>
          </p:cNvCxnSpPr>
          <p:nvPr/>
        </p:nvCxnSpPr>
        <p:spPr>
          <a:xfrm rot="16200000" flipV="1">
            <a:off x="2807509" y="2520393"/>
            <a:ext cx="1325187" cy="612559"/>
          </a:xfrm>
          <a:prstGeom prst="bentConnector3">
            <a:avLst>
              <a:gd name="adj1" fmla="val 100026"/>
            </a:avLst>
          </a:prstGeom>
          <a:ln w="25400">
            <a:solidFill>
              <a:srgbClr val="0C793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>
            <a:extLst>
              <a:ext uri="{FF2B5EF4-FFF2-40B4-BE49-F238E27FC236}">
                <a16:creationId xmlns:a16="http://schemas.microsoft.com/office/drawing/2014/main" id="{AB63C3B2-E5F3-68A2-3416-130D1C126251}"/>
              </a:ext>
            </a:extLst>
          </p:cNvPr>
          <p:cNvCxnSpPr>
            <a:cxnSpLocks/>
          </p:cNvCxnSpPr>
          <p:nvPr/>
        </p:nvCxnSpPr>
        <p:spPr>
          <a:xfrm rot="16200000" flipV="1">
            <a:off x="2951025" y="2133036"/>
            <a:ext cx="1567455" cy="1141859"/>
          </a:xfrm>
          <a:prstGeom prst="bentConnector3">
            <a:avLst>
              <a:gd name="adj1" fmla="val 99586"/>
            </a:avLst>
          </a:prstGeom>
          <a:ln w="25400">
            <a:solidFill>
              <a:srgbClr val="0C793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肘形连接符 21">
            <a:extLst>
              <a:ext uri="{FF2B5EF4-FFF2-40B4-BE49-F238E27FC236}">
                <a16:creationId xmlns:a16="http://schemas.microsoft.com/office/drawing/2014/main" id="{151D1A67-FC54-053C-9C6B-6547BAE99E82}"/>
              </a:ext>
            </a:extLst>
          </p:cNvPr>
          <p:cNvCxnSpPr>
            <a:cxnSpLocks/>
          </p:cNvCxnSpPr>
          <p:nvPr/>
        </p:nvCxnSpPr>
        <p:spPr>
          <a:xfrm rot="10800000" flipV="1">
            <a:off x="3163826" y="4282812"/>
            <a:ext cx="732041" cy="673232"/>
          </a:xfrm>
          <a:prstGeom prst="bentConnector3">
            <a:avLst>
              <a:gd name="adj1" fmla="val 36"/>
            </a:avLst>
          </a:prstGeom>
          <a:ln w="25400">
            <a:solidFill>
              <a:srgbClr val="0C793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>
            <a:extLst>
              <a:ext uri="{FF2B5EF4-FFF2-40B4-BE49-F238E27FC236}">
                <a16:creationId xmlns:a16="http://schemas.microsoft.com/office/drawing/2014/main" id="{5558FE5F-E9DE-F789-D668-E6B99B458A9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150998" y="4343106"/>
            <a:ext cx="1255098" cy="932684"/>
          </a:xfrm>
          <a:prstGeom prst="bentConnector3">
            <a:avLst>
              <a:gd name="adj1" fmla="val 216"/>
            </a:avLst>
          </a:prstGeom>
          <a:ln w="25400">
            <a:solidFill>
              <a:srgbClr val="0C793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BC5F77FC-9077-9401-C45B-4BB56F5240D0}"/>
              </a:ext>
            </a:extLst>
          </p:cNvPr>
          <p:cNvSpPr/>
          <p:nvPr/>
        </p:nvSpPr>
        <p:spPr>
          <a:xfrm>
            <a:off x="5097780" y="3246120"/>
            <a:ext cx="1760220" cy="528866"/>
          </a:xfrm>
          <a:prstGeom prst="rect">
            <a:avLst/>
          </a:prstGeom>
          <a:noFill/>
          <a:ln w="25400">
            <a:solidFill>
              <a:srgbClr val="0C793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2" name="肘形连接符 31">
            <a:extLst>
              <a:ext uri="{FF2B5EF4-FFF2-40B4-BE49-F238E27FC236}">
                <a16:creationId xmlns:a16="http://schemas.microsoft.com/office/drawing/2014/main" id="{3ECA71FF-BB4F-EEC2-E58F-0A43EEE64548}"/>
              </a:ext>
            </a:extLst>
          </p:cNvPr>
          <p:cNvCxnSpPr>
            <a:cxnSpLocks/>
            <a:stCxn id="31" idx="0"/>
          </p:cNvCxnSpPr>
          <p:nvPr/>
        </p:nvCxnSpPr>
        <p:spPr>
          <a:xfrm rot="5400000" flipH="1" flipV="1">
            <a:off x="6811689" y="1086439"/>
            <a:ext cx="1325882" cy="2993480"/>
          </a:xfrm>
          <a:prstGeom prst="bentConnector2">
            <a:avLst/>
          </a:prstGeom>
          <a:ln w="25400">
            <a:solidFill>
              <a:srgbClr val="0C793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>
            <a:extLst>
              <a:ext uri="{FF2B5EF4-FFF2-40B4-BE49-F238E27FC236}">
                <a16:creationId xmlns:a16="http://schemas.microsoft.com/office/drawing/2014/main" id="{7CD7AC2F-0175-B1EF-53F1-7C76F585AB69}"/>
              </a:ext>
            </a:extLst>
          </p:cNvPr>
          <p:cNvCxnSpPr>
            <a:cxnSpLocks/>
          </p:cNvCxnSpPr>
          <p:nvPr/>
        </p:nvCxnSpPr>
        <p:spPr>
          <a:xfrm>
            <a:off x="7772400" y="4388589"/>
            <a:ext cx="1143000" cy="567457"/>
          </a:xfrm>
          <a:prstGeom prst="bentConnector3">
            <a:avLst>
              <a:gd name="adj1" fmla="val 0"/>
            </a:avLst>
          </a:prstGeom>
          <a:ln w="25400">
            <a:solidFill>
              <a:srgbClr val="0C793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肘形连接符 41">
            <a:extLst>
              <a:ext uri="{FF2B5EF4-FFF2-40B4-BE49-F238E27FC236}">
                <a16:creationId xmlns:a16="http://schemas.microsoft.com/office/drawing/2014/main" id="{90678FB1-4748-E06A-516E-B714199C0A9F}"/>
              </a:ext>
            </a:extLst>
          </p:cNvPr>
          <p:cNvCxnSpPr>
            <a:cxnSpLocks/>
          </p:cNvCxnSpPr>
          <p:nvPr/>
        </p:nvCxnSpPr>
        <p:spPr>
          <a:xfrm>
            <a:off x="7164284" y="4213880"/>
            <a:ext cx="1751116" cy="1053164"/>
          </a:xfrm>
          <a:prstGeom prst="bentConnector3">
            <a:avLst>
              <a:gd name="adj1" fmla="val -913"/>
            </a:avLst>
          </a:prstGeom>
          <a:ln w="25400">
            <a:solidFill>
              <a:srgbClr val="0C793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肘形连接符 51">
            <a:extLst>
              <a:ext uri="{FF2B5EF4-FFF2-40B4-BE49-F238E27FC236}">
                <a16:creationId xmlns:a16="http://schemas.microsoft.com/office/drawing/2014/main" id="{A44D4CEF-46A9-10F7-D5E7-2208AE67950C}"/>
              </a:ext>
            </a:extLst>
          </p:cNvPr>
          <p:cNvCxnSpPr>
            <a:cxnSpLocks/>
          </p:cNvCxnSpPr>
          <p:nvPr/>
        </p:nvCxnSpPr>
        <p:spPr>
          <a:xfrm>
            <a:off x="5977890" y="4404443"/>
            <a:ext cx="2937510" cy="1173397"/>
          </a:xfrm>
          <a:prstGeom prst="bentConnector3">
            <a:avLst>
              <a:gd name="adj1" fmla="val -65"/>
            </a:avLst>
          </a:prstGeom>
          <a:ln w="25400">
            <a:solidFill>
              <a:srgbClr val="0C793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连接符 60">
            <a:extLst>
              <a:ext uri="{FF2B5EF4-FFF2-40B4-BE49-F238E27FC236}">
                <a16:creationId xmlns:a16="http://schemas.microsoft.com/office/drawing/2014/main" id="{33AD844F-4978-1739-BC28-551872C492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3163824" y="4284385"/>
            <a:ext cx="1933957" cy="1302598"/>
          </a:xfrm>
          <a:prstGeom prst="bentConnector3">
            <a:avLst>
              <a:gd name="adj1" fmla="val -39"/>
            </a:avLst>
          </a:prstGeom>
          <a:ln w="25400">
            <a:solidFill>
              <a:srgbClr val="0C793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16B6405B-6F63-BDD5-B1A0-C5D2C9F7884B}"/>
              </a:ext>
            </a:extLst>
          </p:cNvPr>
          <p:cNvSpPr txBox="1"/>
          <p:nvPr/>
        </p:nvSpPr>
        <p:spPr>
          <a:xfrm>
            <a:off x="2142804" y="2033274"/>
            <a:ext cx="9476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POWER LED</a:t>
            </a:r>
            <a:endParaRPr kumimoji="1" lang="zh-CN" altLang="en-US" sz="11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722225F-6A2D-98B2-0775-5869E07BFF1A}"/>
              </a:ext>
            </a:extLst>
          </p:cNvPr>
          <p:cNvSpPr txBox="1"/>
          <p:nvPr/>
        </p:nvSpPr>
        <p:spPr>
          <a:xfrm>
            <a:off x="2095108" y="1797064"/>
            <a:ext cx="10021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STATUS LED</a:t>
            </a:r>
            <a:endParaRPr kumimoji="1" lang="zh-CN" altLang="en-US" sz="11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7CAC2BE-E419-920B-CCFF-E6E671E09D78}"/>
              </a:ext>
            </a:extLst>
          </p:cNvPr>
          <p:cNvSpPr txBox="1"/>
          <p:nvPr/>
        </p:nvSpPr>
        <p:spPr>
          <a:xfrm>
            <a:off x="859193" y="4832633"/>
            <a:ext cx="22541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DC Connector with Locking Type</a:t>
            </a:r>
            <a:endParaRPr kumimoji="1" lang="zh-CN" altLang="en-US" sz="11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79BA1EF2-24FA-F13D-0D38-D50625E92AE1}"/>
              </a:ext>
            </a:extLst>
          </p:cNvPr>
          <p:cNvSpPr txBox="1"/>
          <p:nvPr/>
        </p:nvSpPr>
        <p:spPr>
          <a:xfrm>
            <a:off x="1582147" y="5144985"/>
            <a:ext cx="15183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Factory Reset Button</a:t>
            </a:r>
            <a:endParaRPr kumimoji="1" lang="zh-CN" altLang="en-US" sz="11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CA8E1A9-4DEA-9855-245D-D6FF0720F4DE}"/>
              </a:ext>
            </a:extLst>
          </p:cNvPr>
          <p:cNvSpPr txBox="1"/>
          <p:nvPr/>
        </p:nvSpPr>
        <p:spPr>
          <a:xfrm>
            <a:off x="963806" y="5457385"/>
            <a:ext cx="21419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LAN Connector (PoE+ Enabled)</a:t>
            </a:r>
            <a:endParaRPr kumimoji="1" lang="zh-CN" altLang="en-US" sz="11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27FCB95A-CC83-7952-7493-69D94B118675}"/>
              </a:ext>
            </a:extLst>
          </p:cNvPr>
          <p:cNvSpPr txBox="1"/>
          <p:nvPr/>
        </p:nvSpPr>
        <p:spPr>
          <a:xfrm>
            <a:off x="9055190" y="1626779"/>
            <a:ext cx="2241019" cy="621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kumimoji="1" lang="en-US" altLang="zh-CN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USB Devices Connector:</a:t>
            </a:r>
          </a:p>
          <a:p>
            <a:pPr marL="171450" indent="-171450">
              <a:lnSpc>
                <a:spcPts val="1400"/>
              </a:lnSpc>
              <a:buFontTx/>
              <a:buChar char="-"/>
            </a:pPr>
            <a:r>
              <a:rPr kumimoji="1" lang="en-US" altLang="zh-CN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USB3.2 Gen2 on HOST mode</a:t>
            </a:r>
          </a:p>
          <a:p>
            <a:pPr marL="171450" indent="-171450">
              <a:lnSpc>
                <a:spcPts val="1400"/>
              </a:lnSpc>
              <a:buFontTx/>
              <a:buChar char="-"/>
            </a:pPr>
            <a:r>
              <a:rPr kumimoji="1" lang="en-US" altLang="zh-CN" sz="1100" b="1" dirty="0">
                <a:latin typeface="Roboto" panose="02000000000000000000" pitchFamily="2" charset="0"/>
                <a:cs typeface="Roboto" panose="02000000000000000000" pitchFamily="2" charset="0"/>
              </a:rPr>
              <a:t>USB2.0 on DEVICE mode</a:t>
            </a:r>
            <a:endParaRPr kumimoji="1" lang="zh-CN" altLang="en-US" sz="11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63E5B55C-EB24-8B32-C930-C6CE0F90D8FF}"/>
              </a:ext>
            </a:extLst>
          </p:cNvPr>
          <p:cNvSpPr txBox="1"/>
          <p:nvPr/>
        </p:nvSpPr>
        <p:spPr>
          <a:xfrm>
            <a:off x="8971370" y="4823887"/>
            <a:ext cx="18982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 Selection DIP Switch</a:t>
            </a:r>
            <a:endParaRPr kumimoji="1" lang="zh-CN" altLang="en-US" sz="11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F25530BB-9936-C491-6F64-97951E82CF49}"/>
              </a:ext>
            </a:extLst>
          </p:cNvPr>
          <p:cNvSpPr txBox="1"/>
          <p:nvPr/>
        </p:nvSpPr>
        <p:spPr>
          <a:xfrm>
            <a:off x="8971370" y="5140348"/>
            <a:ext cx="14847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USB Host Connector</a:t>
            </a:r>
            <a:endParaRPr kumimoji="1" lang="zh-CN" altLang="en-US" sz="11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30AE970-F126-C49A-8DF4-FA3D5BEF3766}"/>
              </a:ext>
            </a:extLst>
          </p:cNvPr>
          <p:cNvSpPr txBox="1"/>
          <p:nvPr/>
        </p:nvSpPr>
        <p:spPr>
          <a:xfrm>
            <a:off x="8971370" y="5459993"/>
            <a:ext cx="1540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LAN (SFP) Connector</a:t>
            </a:r>
            <a:endParaRPr kumimoji="1" lang="zh-CN" altLang="en-US" sz="11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7145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Specifications &amp; Packing List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276925312"/>
              </p:ext>
            </p:extLst>
          </p:nvPr>
        </p:nvGraphicFramePr>
        <p:xfrm>
          <a:off x="889001" y="1992963"/>
          <a:ext cx="6369050" cy="287207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34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010">
                <a:tc gridSpan="2">
                  <a:txBody>
                    <a:bodyPr/>
                    <a:lstStyle/>
                    <a:p>
                      <a:r>
                        <a:rPr lang="en-US" altLang="zh-CN" sz="16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Main Specifications</a:t>
                      </a:r>
                    </a:p>
                  </a:txBody>
                  <a:tcPr anchor="ctr">
                    <a:solidFill>
                      <a:srgbClr val="0B79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97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 Host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USB3.2 Gen2 Type-B, 10Gbps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28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 Device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HOST mode: 3x USB3.2 Gen 2 Type-A, 10Gbps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Device mode: 3x USB2.0 Type-A, 480Mbps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13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LAN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RJ45 (PoE+)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1x SFP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7978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Control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zh-CN" sz="1400" b="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DIP Switch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zh-CN" sz="1400" b="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NHD-CTL-PRO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zh-CN" sz="1400" b="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Console API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282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Power Supply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12V 2A DC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731804" y="2213943"/>
            <a:ext cx="4597400" cy="2899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b="1" dirty="0">
                <a:latin typeface="Roboto" charset="0"/>
                <a:cs typeface="Arial" panose="020B0604020202020204" pitchFamily="34" charset="0"/>
              </a:rPr>
              <a:t>What’s in the Box?</a:t>
            </a:r>
          </a:p>
          <a:p>
            <a:pPr>
              <a:lnSpc>
                <a:spcPts val="900"/>
              </a:lnSpc>
            </a:pPr>
            <a:endParaRPr lang="zh-CN" altLang="en-US" sz="1600" dirty="0">
              <a:latin typeface="Roboto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1x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NHD-USB-TRX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2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x Plastic Mounting Brackets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1x Quick Start Guide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cs typeface="Arial" panose="020B0604020202020204" pitchFamily="34" charset="0"/>
            </a:endParaRPr>
          </a:p>
          <a:p>
            <a:pPr>
              <a:lnSpc>
                <a:spcPts val="2000"/>
              </a:lnSpc>
            </a:pPr>
            <a:endParaRPr lang="en-US" altLang="zh-CN" sz="1600" b="1" dirty="0">
              <a:latin typeface="Roboto" charset="0"/>
              <a:cs typeface="Arial" panose="020B0604020202020204" pitchFamily="34" charset="0"/>
            </a:endParaRPr>
          </a:p>
          <a:p>
            <a:r>
              <a:rPr lang="en-US" altLang="zh-CN" sz="1600" b="1" dirty="0">
                <a:latin typeface="Roboto" charset="0"/>
                <a:cs typeface="Arial" panose="020B0604020202020204" pitchFamily="34" charset="0"/>
              </a:rPr>
              <a:t>NOT </a:t>
            </a:r>
            <a:r>
              <a:rPr lang="zh-CN" altLang="en-US" sz="1600" b="1" dirty="0">
                <a:latin typeface="Roboto" charset="0"/>
                <a:cs typeface="Arial" panose="020B0604020202020204" pitchFamily="34" charset="0"/>
              </a:rPr>
              <a:t>in the Box</a:t>
            </a:r>
            <a:endParaRPr lang="en-US" altLang="zh-CN" sz="1600" b="1" dirty="0">
              <a:latin typeface="Roboto" charset="0"/>
              <a:cs typeface="Arial" panose="020B0604020202020204" pitchFamily="34" charset="0"/>
            </a:endParaRPr>
          </a:p>
          <a:p>
            <a:pPr>
              <a:lnSpc>
                <a:spcPct val="3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Power Supply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1G DLC SFP Module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cs typeface="Arial" panose="020B0604020202020204" pitchFamily="34" charset="0"/>
              </a:rPr>
              <a:t> 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cs typeface="Arial" panose="020B0604020202020204" pitchFamily="34" charset="0"/>
            </a:endParaRPr>
          </a:p>
        </p:txBody>
      </p:sp>
      <p:pic>
        <p:nvPicPr>
          <p:cNvPr id="6" name="Google Shape;82;p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/>
          <p:cNvSpPr txBox="1"/>
          <p:nvPr>
            <p:custDataLst>
              <p:tags r:id="rId2"/>
            </p:custDataLst>
          </p:nvPr>
        </p:nvSpPr>
        <p:spPr>
          <a:xfrm>
            <a:off x="457155" y="1655065"/>
            <a:ext cx="4838700" cy="252222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800" b="1" u="sng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Application Scenario 1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</a:t>
            </a:r>
            <a:b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Point to Point</a:t>
            </a:r>
            <a:endParaRPr lang="en-US" sz="20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2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endParaRPr sz="12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indent="-285750" font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 </a:t>
            </a:r>
            <a:r>
              <a:rPr lang="en" altLang="zh-CN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NHD-CTL-PRO</a:t>
            </a:r>
            <a: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required for operation</a:t>
            </a:r>
            <a:endParaRPr lang="en-US" sz="12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  <a:p>
            <a:pPr marL="0" lvl="0" indent="-285750" algn="l" font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USB 3.2 Gen2  </a:t>
            </a:r>
            <a:r>
              <a:rPr lang="en-US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(up to 10Gbps) for local high-speed connections.</a:t>
            </a:r>
            <a:endParaRPr lang="en-US" sz="12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  <a:p>
            <a:pPr marL="0" lvl="0" indent="-285750" algn="l" font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USB2.0 </a:t>
            </a:r>
            <a:r>
              <a:rPr lang="en-US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for remote device connectivity.</a:t>
            </a:r>
          </a:p>
        </p:txBody>
      </p:sp>
      <p:sp>
        <p:nvSpPr>
          <p:cNvPr id="22" name="矩形 7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6"/>
          <p:cNvSpPr txBox="1"/>
          <p:nvPr>
            <p:custDataLst>
              <p:tags r:id="rId4"/>
            </p:custDataLst>
          </p:nvPr>
        </p:nvSpPr>
        <p:spPr>
          <a:xfrm>
            <a:off x="457155" y="15621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Typical Connection &amp;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1D1974-E37D-EC9B-9CC8-DECBD3325F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4121" y="1678585"/>
            <a:ext cx="6260723" cy="352076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Google Shape;82;p1">
            <a:extLst>
              <a:ext uri="{FF2B5EF4-FFF2-40B4-BE49-F238E27FC236}">
                <a16:creationId xmlns:a16="http://schemas.microsoft.com/office/drawing/2014/main" id="{2C383CE0-6697-71D2-7EAB-B66F146D79C1}"/>
              </a:ext>
            </a:extLst>
          </p:cNvPr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269979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1">
            <a:extLst>
              <a:ext uri="{FF2B5EF4-FFF2-40B4-BE49-F238E27FC236}">
                <a16:creationId xmlns:a16="http://schemas.microsoft.com/office/drawing/2014/main" id="{750BAA9C-B860-2259-06D4-E846F9D14D5B}"/>
              </a:ext>
            </a:extLst>
          </p:cNvPr>
          <p:cNvSpPr txBox="1"/>
          <p:nvPr/>
        </p:nvSpPr>
        <p:spPr>
          <a:xfrm>
            <a:off x="-60960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BC9980-3D4F-1EC4-4669-623A723E265D}"/>
              </a:ext>
            </a:extLst>
          </p:cNvPr>
          <p:cNvSpPr/>
          <p:nvPr/>
        </p:nvSpPr>
        <p:spPr>
          <a:xfrm>
            <a:off x="5536800" y="3189600"/>
            <a:ext cx="488400" cy="282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B7E081-4BA2-FAAA-9E1E-61DB045176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8506" y="1929011"/>
            <a:ext cx="495168" cy="59195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9D7CFD6-5915-1AD8-3C6D-06475820D2AE}"/>
              </a:ext>
            </a:extLst>
          </p:cNvPr>
          <p:cNvSpPr/>
          <p:nvPr/>
        </p:nvSpPr>
        <p:spPr>
          <a:xfrm>
            <a:off x="8296079" y="1978039"/>
            <a:ext cx="315121" cy="542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EBD456E-B8AB-CD0A-EFC8-C92DFE9814F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31175" y="1928284"/>
            <a:ext cx="523875" cy="6993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87AC3C9-6278-08FA-8BD7-2D76E85B2BE2}"/>
              </a:ext>
            </a:extLst>
          </p:cNvPr>
          <p:cNvSpPr/>
          <p:nvPr/>
        </p:nvSpPr>
        <p:spPr>
          <a:xfrm>
            <a:off x="11175600" y="3206138"/>
            <a:ext cx="488400" cy="282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A1C39830-C7DA-01B6-B4F0-B36AA610160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497155" y="3112289"/>
            <a:ext cx="528045" cy="470636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ctr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" altLang="zh-CN" sz="1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HOST</a:t>
            </a:r>
            <a:br>
              <a:rPr lang="en" altLang="zh-CN" sz="1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" altLang="zh-CN" sz="1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</a:t>
            </a:r>
            <a:endParaRPr lang="en-US" sz="10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19105045-9B69-8A6F-1AC8-06362B62C17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110221" y="3117351"/>
            <a:ext cx="601245" cy="470636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ctr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" altLang="zh-CN" sz="1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DEVICE</a:t>
            </a:r>
            <a:br>
              <a:rPr lang="en" altLang="zh-CN" sz="1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" altLang="zh-CN" sz="1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</a:t>
            </a:r>
            <a:endParaRPr lang="en-US" sz="10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89FC3F-BA1D-57B6-D1FF-1A143F2F0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6">
            <a:extLst>
              <a:ext uri="{FF2B5EF4-FFF2-40B4-BE49-F238E27FC236}">
                <a16:creationId xmlns:a16="http://schemas.microsoft.com/office/drawing/2014/main" id="{82D7ECC7-6D87-ABF0-3027-E0A6CDE35D6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155" y="1531622"/>
            <a:ext cx="5038771" cy="302514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800" b="1" u="sng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Application Scenario </a:t>
            </a:r>
            <a:r>
              <a:rPr lang="en-US" sz="1800" b="1" u="sng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2</a:t>
            </a:r>
            <a: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</a:t>
            </a:r>
            <a:br>
              <a:rPr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Point to Multipoint</a:t>
            </a:r>
          </a:p>
          <a:p>
            <a:pPr marL="0" lvl="0" indent="-285750" algn="l" fontAlgn="ctr">
              <a:lnSpc>
                <a:spcPts val="1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</a:p>
          <a:p>
            <a:pPr marL="0" lvl="0" indent="-285750" algn="l" font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One host connecting to multiple devices in different locations.</a:t>
            </a:r>
            <a:endParaRPr sz="12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Managed by </a:t>
            </a:r>
            <a:r>
              <a:rPr lang="en-US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NHD-CTL-PRO </a:t>
            </a:r>
            <a:r>
              <a:rPr lang="en-US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for centralized control.</a:t>
            </a:r>
            <a:endParaRPr sz="12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USB 3.2 Gen2  </a:t>
            </a: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(up to 10Gbps) for local high-speed connections.</a:t>
            </a:r>
            <a:endParaRPr lang="en-US" altLang="zh-CN" sz="12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  <a:p>
            <a:pPr marL="0" lvl="0" indent="-285750" algn="l" font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USB2.0 </a:t>
            </a: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for remote device connectivity.</a:t>
            </a:r>
          </a:p>
        </p:txBody>
      </p:sp>
      <p:sp>
        <p:nvSpPr>
          <p:cNvPr id="22" name="矩形 7">
            <a:extLst>
              <a:ext uri="{FF2B5EF4-FFF2-40B4-BE49-F238E27FC236}">
                <a16:creationId xmlns:a16="http://schemas.microsoft.com/office/drawing/2014/main" id="{6BAAD94F-D035-93A9-E394-68DF01311EB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6">
            <a:extLst>
              <a:ext uri="{FF2B5EF4-FFF2-40B4-BE49-F238E27FC236}">
                <a16:creationId xmlns:a16="http://schemas.microsoft.com/office/drawing/2014/main" id="{A8FC919D-5161-E9BE-4CBB-FB64A21E6E5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57155" y="15621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Typical Connection &amp; Applications</a:t>
            </a:r>
          </a:p>
        </p:txBody>
      </p:sp>
      <p:pic>
        <p:nvPicPr>
          <p:cNvPr id="3" name="Google Shape;82;p1">
            <a:extLst>
              <a:ext uri="{FF2B5EF4-FFF2-40B4-BE49-F238E27FC236}">
                <a16:creationId xmlns:a16="http://schemas.microsoft.com/office/drawing/2014/main" id="{AD8D8B45-9B0D-520E-82CB-D26FA14DFD9D}"/>
              </a:ext>
            </a:extLst>
          </p:cNvPr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269979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1">
            <a:extLst>
              <a:ext uri="{FF2B5EF4-FFF2-40B4-BE49-F238E27FC236}">
                <a16:creationId xmlns:a16="http://schemas.microsoft.com/office/drawing/2014/main" id="{C2FCDA92-9E98-EF2E-76FA-52623C0DB94E}"/>
              </a:ext>
            </a:extLst>
          </p:cNvPr>
          <p:cNvSpPr txBox="1"/>
          <p:nvPr/>
        </p:nvSpPr>
        <p:spPr>
          <a:xfrm>
            <a:off x="-60960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A992C4-0C17-A26B-C9BA-8DFAF4A41F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32121" y="1350519"/>
            <a:ext cx="6205232" cy="504468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69B315D-CA8C-E32D-609C-8C78A6B08229}"/>
              </a:ext>
            </a:extLst>
          </p:cNvPr>
          <p:cNvSpPr/>
          <p:nvPr/>
        </p:nvSpPr>
        <p:spPr>
          <a:xfrm>
            <a:off x="9604725" y="1626414"/>
            <a:ext cx="654693" cy="4694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D58CD7-82D4-B535-9DED-C5DECFAEA1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00106" y="1626611"/>
            <a:ext cx="428112" cy="5117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49740A8-29F1-1CB5-2F05-F9E97C3C37B9}"/>
              </a:ext>
            </a:extLst>
          </p:cNvPr>
          <p:cNvSpPr/>
          <p:nvPr/>
        </p:nvSpPr>
        <p:spPr>
          <a:xfrm>
            <a:off x="9602738" y="4644414"/>
            <a:ext cx="654693" cy="4694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D8A2CA-2FE4-6317-2E5D-09C81F723EE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98119" y="4644611"/>
            <a:ext cx="428112" cy="51178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D758691-AA44-919F-1BEA-ACA87DDF04E2}"/>
              </a:ext>
            </a:extLst>
          </p:cNvPr>
          <p:cNvSpPr/>
          <p:nvPr/>
        </p:nvSpPr>
        <p:spPr>
          <a:xfrm>
            <a:off x="7556089" y="1424170"/>
            <a:ext cx="284535" cy="4902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FC833E-52EF-78BA-F8CF-A37BCA1B36E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75417" y="1389599"/>
            <a:ext cx="499681" cy="6314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BA2EB82-F588-E992-56B2-CB91E96C8362}"/>
              </a:ext>
            </a:extLst>
          </p:cNvPr>
          <p:cNvSpPr/>
          <p:nvPr/>
        </p:nvSpPr>
        <p:spPr>
          <a:xfrm>
            <a:off x="5601600" y="2520000"/>
            <a:ext cx="488400" cy="282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E7E9B4-F47B-956A-B74C-93C4151F4FF2}"/>
              </a:ext>
            </a:extLst>
          </p:cNvPr>
          <p:cNvSpPr/>
          <p:nvPr/>
        </p:nvSpPr>
        <p:spPr>
          <a:xfrm>
            <a:off x="10923600" y="2536538"/>
            <a:ext cx="488400" cy="282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0CB8347A-2DDC-D3E8-A033-65304FF63D4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61955" y="2442689"/>
            <a:ext cx="528045" cy="470636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ctr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" altLang="zh-CN" sz="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HOST</a:t>
            </a:r>
            <a:br>
              <a:rPr lang="en" altLang="zh-CN" sz="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" altLang="zh-CN" sz="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</a:t>
            </a:r>
            <a:endParaRPr lang="en-US" sz="9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</p:txBody>
      </p:sp>
      <p:sp>
        <p:nvSpPr>
          <p:cNvPr id="15" name="Title 6">
            <a:extLst>
              <a:ext uri="{FF2B5EF4-FFF2-40B4-BE49-F238E27FC236}">
                <a16:creationId xmlns:a16="http://schemas.microsoft.com/office/drawing/2014/main" id="{7DE05811-9193-801A-F7CB-8718465C002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0858221" y="2447751"/>
            <a:ext cx="601245" cy="470636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ctr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" altLang="zh-CN" sz="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DEVICE</a:t>
            </a:r>
            <a:br>
              <a:rPr lang="en" altLang="zh-CN" sz="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" altLang="zh-CN" sz="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</a:t>
            </a:r>
            <a:endParaRPr lang="en-US" sz="9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8EF646-BB6C-D9C2-9648-0A5A63ADA389}"/>
              </a:ext>
            </a:extLst>
          </p:cNvPr>
          <p:cNvSpPr/>
          <p:nvPr/>
        </p:nvSpPr>
        <p:spPr>
          <a:xfrm>
            <a:off x="5602800" y="5581200"/>
            <a:ext cx="488400" cy="282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30E769-D6CF-E307-EDC1-97986E1D8E2C}"/>
              </a:ext>
            </a:extLst>
          </p:cNvPr>
          <p:cNvSpPr/>
          <p:nvPr/>
        </p:nvSpPr>
        <p:spPr>
          <a:xfrm>
            <a:off x="10924800" y="5597738"/>
            <a:ext cx="488400" cy="282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6">
            <a:extLst>
              <a:ext uri="{FF2B5EF4-FFF2-40B4-BE49-F238E27FC236}">
                <a16:creationId xmlns:a16="http://schemas.microsoft.com/office/drawing/2014/main" id="{F6EFDD7D-977A-57CA-9CD6-18CD49C0EFA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563155" y="5503889"/>
            <a:ext cx="528045" cy="470636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ctr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altLang="zh-CN" sz="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DEVICE</a:t>
            </a:r>
            <a:br>
              <a:rPr lang="en" altLang="zh-CN" sz="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" altLang="zh-CN" sz="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</a:t>
            </a:r>
            <a:endParaRPr lang="en-US" sz="9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</p:txBody>
      </p:sp>
      <p:sp>
        <p:nvSpPr>
          <p:cNvPr id="20" name="Title 6">
            <a:extLst>
              <a:ext uri="{FF2B5EF4-FFF2-40B4-BE49-F238E27FC236}">
                <a16:creationId xmlns:a16="http://schemas.microsoft.com/office/drawing/2014/main" id="{A5FAA397-84E4-B496-2C08-C97ACFDC0A1B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0859421" y="5508951"/>
            <a:ext cx="601245" cy="470636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ctr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" altLang="zh-CN" sz="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DEVICE</a:t>
            </a:r>
            <a:br>
              <a:rPr lang="en" altLang="zh-CN" sz="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" altLang="zh-CN" sz="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</a:t>
            </a:r>
            <a:endParaRPr lang="en-US" sz="9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9950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72D5C8E1-C1D5-C680-D909-E78EE0C8691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9740" y="1676400"/>
            <a:ext cx="3738880" cy="345948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" altLang="zh-CN" sz="1800" b="1" u="sng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Application Scenario 3</a:t>
            </a:r>
            <a:r>
              <a:rPr lang="en" altLang="zh-CN"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</a:t>
            </a:r>
            <a:br>
              <a:rPr lang="en" altLang="zh-CN"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lang="en" altLang="zh-CN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Interoperable with NHD-500</a:t>
            </a:r>
          </a:p>
          <a:p>
            <a:pPr marL="0" lvl="0" indent="-285750" algn="l" fontAlgn="ctr">
              <a:lnSpc>
                <a:spcPts val="11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endParaRPr lang="en" altLang="zh-CN" sz="18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One host connecting to multiple devices in</a:t>
            </a: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</a:t>
            </a:r>
            <a:b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    </a:t>
            </a: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different locations.</a:t>
            </a:r>
          </a:p>
          <a:p>
            <a:pPr marL="0" lvl="0" indent="-285750" algn="l" fontAlgn="ctr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Acts as a </a:t>
            </a:r>
            <a:r>
              <a:rPr lang="en" altLang="zh-CN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USB-only extension </a:t>
            </a:r>
            <a: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for the</a:t>
            </a:r>
            <a:b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   NHD-500 ecosystem.</a:t>
            </a:r>
            <a:endParaRPr lang="en" altLang="zh-CN" sz="12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Fully managed by </a:t>
            </a:r>
            <a:r>
              <a:rPr lang="en" altLang="zh-CN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NHD-CTL-PRO</a:t>
            </a:r>
            <a: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for</a:t>
            </a:r>
            <a:b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   seamless integration.</a:t>
            </a:r>
          </a:p>
          <a:p>
            <a:pPr marL="0" lvl="0" indent="-285750" algn="l" fontAlgn="ctr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USB2.0 </a:t>
            </a: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for remote device connectivity.</a:t>
            </a:r>
          </a:p>
        </p:txBody>
      </p:sp>
      <p:sp>
        <p:nvSpPr>
          <p:cNvPr id="45" name="矩形 7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6"/>
          <p:cNvSpPr txBox="1"/>
          <p:nvPr>
            <p:custDataLst>
              <p:tags r:id="rId4"/>
            </p:custDataLst>
          </p:nvPr>
        </p:nvSpPr>
        <p:spPr>
          <a:xfrm>
            <a:off x="457155" y="15621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Typical Connection &amp; Applications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E20E3424-A16D-B5B4-8731-E5BB25BAD163}"/>
              </a:ext>
            </a:extLst>
          </p:cNvPr>
          <p:cNvPicPr preferRelativeResize="0"/>
          <p:nvPr/>
        </p:nvPicPr>
        <p:blipFill>
          <a:blip r:embed="rId10"/>
          <a:stretch>
            <a:fillRect/>
          </a:stretch>
        </p:blipFill>
        <p:spPr>
          <a:xfrm>
            <a:off x="269979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1">
            <a:extLst>
              <a:ext uri="{FF2B5EF4-FFF2-40B4-BE49-F238E27FC236}">
                <a16:creationId xmlns:a16="http://schemas.microsoft.com/office/drawing/2014/main" id="{A911E395-B0C6-C479-1F5D-E18A9F116AB5}"/>
              </a:ext>
            </a:extLst>
          </p:cNvPr>
          <p:cNvSpPr txBox="1"/>
          <p:nvPr/>
        </p:nvSpPr>
        <p:spPr>
          <a:xfrm>
            <a:off x="-60960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B76A68-8C74-6681-A8CC-53AFE4460C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64380" y="1625009"/>
            <a:ext cx="7167880" cy="4592878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6106C9E-D65B-4819-B90C-9FEBAA02AD72}"/>
              </a:ext>
            </a:extLst>
          </p:cNvPr>
          <p:cNvSpPr/>
          <p:nvPr/>
        </p:nvSpPr>
        <p:spPr>
          <a:xfrm>
            <a:off x="9381525" y="4398414"/>
            <a:ext cx="654693" cy="4694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C9C452-9C52-13B7-33E8-92C18687EAF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76906" y="4398611"/>
            <a:ext cx="428112" cy="5117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710C48E-1DDA-71E9-9779-BEFCA09E81D4}"/>
              </a:ext>
            </a:extLst>
          </p:cNvPr>
          <p:cNvSpPr/>
          <p:nvPr/>
        </p:nvSpPr>
        <p:spPr>
          <a:xfrm>
            <a:off x="6643424" y="4398414"/>
            <a:ext cx="654693" cy="4694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DA5060-6161-5BE7-C38E-FFE2E3E6B50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38805" y="4398611"/>
            <a:ext cx="428112" cy="5117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264EF9D-02B0-21C1-D631-9567C31FA0CD}"/>
              </a:ext>
            </a:extLst>
          </p:cNvPr>
          <p:cNvSpPr/>
          <p:nvPr/>
        </p:nvSpPr>
        <p:spPr>
          <a:xfrm>
            <a:off x="5293200" y="5350800"/>
            <a:ext cx="488400" cy="282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8F1F8E-9969-043B-47CC-9E6298D1CB16}"/>
              </a:ext>
            </a:extLst>
          </p:cNvPr>
          <p:cNvSpPr/>
          <p:nvPr/>
        </p:nvSpPr>
        <p:spPr>
          <a:xfrm>
            <a:off x="10716000" y="5367338"/>
            <a:ext cx="488400" cy="282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098D1EA4-D16C-8F95-945B-0B719BFC5B3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303955" y="5273489"/>
            <a:ext cx="528045" cy="470636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ctr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altLang="zh-CN" sz="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DEVICE</a:t>
            </a:r>
            <a:br>
              <a:rPr lang="en" altLang="zh-CN" sz="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" altLang="zh-CN" sz="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</a:t>
            </a:r>
            <a:endParaRPr lang="en-US" sz="9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</p:txBody>
      </p:sp>
      <p:sp>
        <p:nvSpPr>
          <p:cNvPr id="14" name="Title 6">
            <a:extLst>
              <a:ext uri="{FF2B5EF4-FFF2-40B4-BE49-F238E27FC236}">
                <a16:creationId xmlns:a16="http://schemas.microsoft.com/office/drawing/2014/main" id="{C2A00AD5-4E9E-15C3-75FE-1C7B8EA1837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0643421" y="5278551"/>
            <a:ext cx="601245" cy="470636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ctr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" altLang="zh-CN" sz="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DEVICE</a:t>
            </a:r>
            <a:br>
              <a:rPr lang="en" altLang="zh-CN" sz="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" altLang="zh-CN" sz="9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</a:t>
            </a:r>
            <a:endParaRPr lang="en-US" sz="9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FB994-2D73-5132-BBA3-433D5A3AE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ABE883DA-7002-B765-6F09-E427264922C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9740" y="1676400"/>
            <a:ext cx="3914140" cy="345948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" altLang="zh-CN" sz="1800" b="1" u="sng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Application Scenario 4</a:t>
            </a:r>
            <a:r>
              <a:rPr lang="en" altLang="zh-CN"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:</a:t>
            </a:r>
            <a:br>
              <a:rPr lang="en" altLang="zh-CN" sz="18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lang="en" altLang="zh-CN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USB over IP Solution with Matrix</a:t>
            </a:r>
          </a:p>
          <a:p>
            <a:pPr marL="0" lvl="0" indent="-285750" algn="l" fontAlgn="ctr">
              <a:lnSpc>
                <a:spcPts val="11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endParaRPr lang="en" altLang="zh-CN" sz="18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Each</a:t>
            </a: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host can connect to multiple devices in</a:t>
            </a: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</a:t>
            </a:r>
            <a:b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    </a:t>
            </a: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different locations.</a:t>
            </a:r>
          </a:p>
          <a:p>
            <a:pPr indent="-285750" fontAlgn="ctr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" altLang="zh-CN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USB </a:t>
            </a:r>
            <a:r>
              <a:rPr lang="en" altLang="zh-CN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over IP</a:t>
            </a:r>
            <a: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solution</a:t>
            </a:r>
            <a: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offers more wiring flexibility</a:t>
            </a:r>
            <a:b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    and </a:t>
            </a: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possibilities </a:t>
            </a:r>
            <a: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in many scenarios.</a:t>
            </a:r>
          </a:p>
          <a:p>
            <a:pPr indent="-285750" fontAlgn="ctr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The routing relationship between hosts and</a:t>
            </a:r>
            <a:b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    devices can be flexibly adjusted according to the </a:t>
            </a:r>
            <a:b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    scenario.</a:t>
            </a:r>
            <a:endParaRPr lang="en-US" altLang="zh-CN" sz="12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F</a:t>
            </a:r>
            <a: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ully managed by</a:t>
            </a: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CN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SYN-</a:t>
            </a:r>
            <a:r>
              <a:rPr lang="en" altLang="zh-CN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TOUCH10</a:t>
            </a:r>
            <a:r>
              <a:rPr lang="en" altLang="zh-CN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for</a:t>
            </a:r>
            <a: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</a:t>
            </a:r>
            <a: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seamless</a:t>
            </a:r>
            <a:b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</a:br>
            <a:r>
              <a:rPr lang="en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    integration.  </a:t>
            </a:r>
            <a:endParaRPr lang="en" altLang="zh-CN" sz="1200" spc="0" dirty="0">
              <a:ln w="3175">
                <a:noFill/>
                <a:prstDash val="dash"/>
              </a:ln>
              <a:solidFill>
                <a:srgbClr val="FF0000"/>
              </a:solidFill>
              <a:uFillTx/>
              <a:latin typeface="Roboto" charset="0"/>
              <a:ea typeface="Roboto" charset="0"/>
              <a:cs typeface="Arial" panose="020B0604020202020204" pitchFamily="34" charset="0"/>
              <a:sym typeface="+mn-ea"/>
            </a:endParaRPr>
          </a:p>
          <a:p>
            <a:pPr marL="0" lvl="0" indent="-285750" algn="l" fontAlgn="ctr">
              <a:lnSpc>
                <a:spcPts val="16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en-US" altLang="zh-CN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USB2.0 </a:t>
            </a:r>
            <a:r>
              <a:rPr lang="en-US" altLang="zh-CN" sz="12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for remote device connectivity.</a:t>
            </a:r>
          </a:p>
        </p:txBody>
      </p:sp>
      <p:sp>
        <p:nvSpPr>
          <p:cNvPr id="45" name="矩形 7">
            <a:extLst>
              <a:ext uri="{FF2B5EF4-FFF2-40B4-BE49-F238E27FC236}">
                <a16:creationId xmlns:a16="http://schemas.microsoft.com/office/drawing/2014/main" id="{CC20E2E5-7135-13B4-FEB9-5CDD7C5DF0C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6">
            <a:extLst>
              <a:ext uri="{FF2B5EF4-FFF2-40B4-BE49-F238E27FC236}">
                <a16:creationId xmlns:a16="http://schemas.microsoft.com/office/drawing/2014/main" id="{F8839CA3-B0F8-5240-3812-7241CE56C50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57155" y="15621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Typical Connection &amp; Applications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37611E78-4E1F-950B-77ED-46086D675A64}"/>
              </a:ext>
            </a:extLst>
          </p:cNvPr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269979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1">
            <a:extLst>
              <a:ext uri="{FF2B5EF4-FFF2-40B4-BE49-F238E27FC236}">
                <a16:creationId xmlns:a16="http://schemas.microsoft.com/office/drawing/2014/main" id="{4231EE18-11B5-7A33-0C7A-0835BBB27234}"/>
              </a:ext>
            </a:extLst>
          </p:cNvPr>
          <p:cNvSpPr txBox="1"/>
          <p:nvPr/>
        </p:nvSpPr>
        <p:spPr>
          <a:xfrm>
            <a:off x="-60960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30B78D8-D727-D55E-FD9F-B389B687B4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1403" y="1165664"/>
            <a:ext cx="6260368" cy="53737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39689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8676176"/>
              </p:ext>
            </p:extLst>
          </p:nvPr>
        </p:nvGraphicFramePr>
        <p:xfrm>
          <a:off x="1340405" y="1588055"/>
          <a:ext cx="9432208" cy="384171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9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5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2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dirty="0"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WyreStorm</a:t>
                      </a:r>
                      <a:b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NHD-USB-TRX</a:t>
                      </a:r>
                    </a:p>
                  </a:txBody>
                  <a:tcPr>
                    <a:solidFill>
                      <a:srgbClr val="0B7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dirty="0" err="1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Icron</a:t>
                      </a: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(ADI)</a:t>
                      </a:r>
                      <a:b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4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 2.0 Ranger 2304PoE</a:t>
                      </a:r>
                    </a:p>
                  </a:txBody>
                  <a:tcPr>
                    <a:solidFill>
                      <a:srgbClr val="0B7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 2.0 High Speed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480Mbps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480Mbps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 Local Hub on TX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b="1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USB3.2 Gen 2 10Gbps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USB2.0 480Mbps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USB Downstream Ports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Roboto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4</a:t>
                      </a:r>
                      <a:endParaRPr lang="zh-CN" altLang="en-US" sz="1000" b="1" kern="1200" dirty="0">
                        <a:solidFill>
                          <a:srgbClr val="70AD47"/>
                        </a:solidFill>
                        <a:latin typeface="Roboto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Max. Power Current on USB Ports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b="1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3.0A total</a:t>
                      </a:r>
                      <a:r>
                        <a:rPr lang="zh-CN" altLang="en-US" sz="1000" b="1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000" b="1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shared</a:t>
                      </a:r>
                      <a:endParaRPr lang="en-US" sz="1000" b="1" dirty="0">
                        <a:solidFill>
                          <a:srgbClr val="70AD47"/>
                        </a:solidFill>
                        <a:latin typeface="Roboto" charset="0"/>
                        <a:ea typeface="Roboto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1.5A at each port, 3.5A total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Max. Devices Quantity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5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Max. Endpoints Quantity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Unlimited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altLang="zh-CN" sz="1000" dirty="0">
                          <a:solidFill>
                            <a:schemeClr val="tx1"/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Measured Camera Bandwidth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Roboto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160Mbps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160Mbps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1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cs typeface="Arial" panose="020B0604020202020204" pitchFamily="34" charset="0"/>
                        </a:rPr>
                        <a:t>USB Hub/Tier Usage</a:t>
                      </a:r>
                      <a:endParaRPr lang="zh-CN" altLang="en-US" sz="1000" dirty="0">
                        <a:solidFill>
                          <a:schemeClr val="tx1"/>
                        </a:solidFill>
                        <a:latin typeface="Roboto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Two Hubs total, one on HOST end, one on DEVICE end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Two Hubs total, one on LEX, one on REX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1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Working with NHD-500 family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anchor="ctr">
                    <a:solidFill>
                      <a:srgbClr val="D6E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1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solidFill>
                            <a:schemeClr val="tx1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Transceiver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b="1" kern="1200" dirty="0">
                          <a:solidFill>
                            <a:srgbClr val="70AD47"/>
                          </a:solidFill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 dirty="0">
                          <a:latin typeface="Roboto" charset="0"/>
                          <a:ea typeface="Roboto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anchor="ctr">
                    <a:solidFill>
                      <a:srgbClr val="E3F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541540"/>
                  </a:ext>
                </a:extLst>
              </a:tr>
            </a:tbl>
          </a:graphicData>
        </a:graphic>
      </p:graphicFrame>
      <p:sp>
        <p:nvSpPr>
          <p:cNvPr id="7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solidFill>
              <a:schemeClr val="accent6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6"/>
          <p:cNvSpPr txBox="1"/>
          <p:nvPr>
            <p:custDataLst>
              <p:tags r:id="rId3"/>
            </p:custDataLst>
          </p:nvPr>
        </p:nvSpPr>
        <p:spPr>
          <a:xfrm>
            <a:off x="457155" y="16954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Comparison with Other Competitors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D073460B-E90A-CBC0-6FB3-AFDED0C2E5C0}"/>
              </a:ext>
            </a:extLst>
          </p:cNvPr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0729FD1F-8F99-09CE-6F26-1058C02B78EF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82;p1">
            <a:extLst>
              <a:ext uri="{FF2B5EF4-FFF2-40B4-BE49-F238E27FC236}">
                <a16:creationId xmlns:a16="http://schemas.microsoft.com/office/drawing/2014/main" id="{41F92183-DEC3-E096-7FBA-6787D10EFA55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>
            <a:extLst>
              <a:ext uri="{FF2B5EF4-FFF2-40B4-BE49-F238E27FC236}">
                <a16:creationId xmlns:a16="http://schemas.microsoft.com/office/drawing/2014/main" id="{96306723-2FFC-96B7-8AED-083D8222412F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7" name="矩形 7">
            <a:extLst>
              <a:ext uri="{FF2B5EF4-FFF2-40B4-BE49-F238E27FC236}">
                <a16:creationId xmlns:a16="http://schemas.microsoft.com/office/drawing/2014/main" id="{1BA4347F-5228-8E79-36D1-7E8F0604111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6">
            <a:extLst>
              <a:ext uri="{FF2B5EF4-FFF2-40B4-BE49-F238E27FC236}">
                <a16:creationId xmlns:a16="http://schemas.microsoft.com/office/drawing/2014/main" id="{6765652C-F34E-60B3-FD70-EAF604F4BA7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Our Advantages</a:t>
            </a:r>
          </a:p>
        </p:txBody>
      </p:sp>
      <p:sp>
        <p:nvSpPr>
          <p:cNvPr id="11" name="文本框 7">
            <a:extLst>
              <a:ext uri="{FF2B5EF4-FFF2-40B4-BE49-F238E27FC236}">
                <a16:creationId xmlns:a16="http://schemas.microsoft.com/office/drawing/2014/main" id="{74230F2C-E1BC-F5EF-D8AC-EE71F870FEE8}"/>
              </a:ext>
            </a:extLst>
          </p:cNvPr>
          <p:cNvSpPr txBox="1"/>
          <p:nvPr/>
        </p:nvSpPr>
        <p:spPr>
          <a:xfrm>
            <a:off x="438105" y="1260093"/>
            <a:ext cx="10852150" cy="1559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latin typeface="Roboto" charset="0"/>
                <a:ea typeface="Roboto" charset="0"/>
                <a:cs typeface="Arial" panose="020B0604020202020204" pitchFamily="34" charset="0"/>
              </a:rPr>
              <a:t>The NHD-USB-TRX delivers a flexible, scalable, and cost-effective solution, ideal for conference rooms, classrooms, and professional environments, ensuring seamless connectivity and efficient performance for all your presentation and conferencing needs.</a:t>
            </a:r>
          </a:p>
          <a:p>
            <a:pPr algn="l">
              <a:lnSpc>
                <a:spcPts val="2800"/>
              </a:lnSpc>
            </a:pPr>
            <a:endParaRPr lang="en-US" sz="2000" b="1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algn="l"/>
            <a:r>
              <a:rPr lang="en-US" b="1" u="sng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latin typeface="Roboto" charset="0"/>
                <a:ea typeface="Roboto" charset="0"/>
                <a:cs typeface="Arial" panose="020B0604020202020204" pitchFamily="34" charset="0"/>
              </a:rPr>
              <a:t>Our key advantages include</a:t>
            </a:r>
            <a:r>
              <a:rPr lang="en-US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latin typeface="Roboto" charset="0"/>
                <a:ea typeface="Roboto" charset="0"/>
                <a:cs typeface="Arial" panose="020B0604020202020204" pitchFamily="34" charset="0"/>
              </a:rPr>
              <a:t>:</a:t>
            </a:r>
            <a:endParaRPr lang="zh-CN" altLang="en-US" dirty="0"/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91FB9704-E56A-086F-3C04-7DE3C3E0D8B7}"/>
              </a:ext>
            </a:extLst>
          </p:cNvPr>
          <p:cNvSpPr txBox="1"/>
          <p:nvPr/>
        </p:nvSpPr>
        <p:spPr>
          <a:xfrm>
            <a:off x="506731" y="2989476"/>
            <a:ext cx="6284594" cy="2900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latin typeface="Roboto" charset="0"/>
                <a:ea typeface="Roboto" charset="0"/>
                <a:cs typeface="Arial" panose="020B0604020202020204" pitchFamily="34" charset="0"/>
              </a:rPr>
              <a:t>USB2.0 Over IP: </a:t>
            </a:r>
            <a:r>
              <a:rPr 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latin typeface="Roboto" charset="0"/>
                <a:ea typeface="Roboto" charset="0"/>
                <a:cs typeface="Arial" panose="020B0604020202020204" pitchFamily="34" charset="0"/>
              </a:rPr>
              <a:t>Supports up to 7 USB devices and 21 endpoints for flexible, scalable one-to-many setups.</a:t>
            </a:r>
          </a:p>
          <a:p>
            <a:pPr marL="285750" indent="-285750" algn="l">
              <a:lnSpc>
                <a:spcPts val="1000"/>
              </a:lnSpc>
              <a:buFont typeface="Arial" panose="020B0604020202020204" pitchFamily="34" charset="0"/>
              <a:buChar char="•"/>
            </a:pPr>
            <a:endParaRPr lang="en-US" sz="14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effectLst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latin typeface="Roboto" charset="0"/>
                <a:ea typeface="Roboto" charset="0"/>
                <a:cs typeface="Arial" panose="020B0604020202020204" pitchFamily="34" charset="0"/>
              </a:rPr>
              <a:t>NHD-500 Compatibility: </a:t>
            </a:r>
            <a:r>
              <a:rPr 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latin typeface="Roboto" charset="0"/>
                <a:ea typeface="Roboto" charset="0"/>
                <a:cs typeface="Arial" panose="020B0604020202020204" pitchFamily="34" charset="0"/>
              </a:rPr>
              <a:t>Seamlessly integrates with the NHD-500 family for smooth system management and easy setup.</a:t>
            </a:r>
          </a:p>
          <a:p>
            <a:pPr marL="285750" indent="-285750" algn="l">
              <a:lnSpc>
                <a:spcPts val="1000"/>
              </a:lnSpc>
              <a:buFont typeface="Arial" panose="020B0604020202020204" pitchFamily="34" charset="0"/>
              <a:buChar char="•"/>
            </a:pPr>
            <a:endParaRPr lang="en-US" sz="14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effectLst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latin typeface="Roboto" charset="0"/>
                <a:ea typeface="Roboto" charset="0"/>
                <a:cs typeface="Arial" panose="020B0604020202020204" pitchFamily="34" charset="0"/>
              </a:rPr>
              <a:t>Transceiver Flexibility: </a:t>
            </a:r>
            <a:r>
              <a:rPr 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latin typeface="Roboto" charset="0"/>
                <a:ea typeface="Roboto" charset="0"/>
                <a:cs typeface="Arial" panose="020B0604020202020204" pitchFamily="34" charset="0"/>
              </a:rPr>
              <a:t>One SKU for both Transmitter and Receiver, s</a:t>
            </a:r>
            <a:r>
              <a:rPr lang="en-US" altLang="zh-CN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latin typeface="Roboto" charset="0"/>
                <a:ea typeface="Roboto" charset="0"/>
                <a:cs typeface="Arial" panose="020B0604020202020204" pitchFamily="34" charset="0"/>
              </a:rPr>
              <a:t>treamlining</a:t>
            </a:r>
            <a:r>
              <a:rPr 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latin typeface="Roboto" charset="0"/>
                <a:ea typeface="Roboto" charset="0"/>
                <a:cs typeface="Arial" panose="020B0604020202020204" pitchFamily="34" charset="0"/>
              </a:rPr>
              <a:t> inventory management and system configuration.</a:t>
            </a:r>
          </a:p>
          <a:p>
            <a:pPr marL="285750" indent="-285750" algn="l">
              <a:lnSpc>
                <a:spcPts val="1000"/>
              </a:lnSpc>
              <a:buFont typeface="Arial" panose="020B0604020202020204" pitchFamily="34" charset="0"/>
              <a:buChar char="•"/>
            </a:pPr>
            <a:endParaRPr lang="en-US" sz="14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effectLst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latin typeface="Roboto" charset="0"/>
                <a:ea typeface="Roboto" charset="0"/>
                <a:cs typeface="Arial" panose="020B0604020202020204" pitchFamily="34" charset="0"/>
              </a:rPr>
              <a:t>USB Camera Support:</a:t>
            </a:r>
            <a:r>
              <a:rPr 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latin typeface="Roboto" charset="0"/>
                <a:ea typeface="Roboto" charset="0"/>
                <a:cs typeface="Arial" panose="020B0604020202020204" pitchFamily="34" charset="0"/>
              </a:rPr>
              <a:t> Ideal for video conferencing and interactive presentations, with native support for USB cameras.</a:t>
            </a:r>
          </a:p>
          <a:p>
            <a:pPr marL="285750" indent="-285750" algn="l">
              <a:lnSpc>
                <a:spcPts val="1000"/>
              </a:lnSpc>
              <a:buFont typeface="Arial" panose="020B0604020202020204" pitchFamily="34" charset="0"/>
              <a:buChar char="•"/>
            </a:pPr>
            <a:endParaRPr lang="en-US" sz="14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effectLst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latin typeface="Roboto" charset="0"/>
                <a:ea typeface="Roboto" charset="0"/>
                <a:cs typeface="Arial" panose="020B0604020202020204" pitchFamily="34" charset="0"/>
              </a:rPr>
              <a:t>Cost-Effective:</a:t>
            </a:r>
            <a:r>
              <a:rPr lang="en-US" sz="14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effectLst/>
                <a:latin typeface="Roboto" charset="0"/>
                <a:ea typeface="Roboto" charset="0"/>
                <a:cs typeface="Arial" panose="020B0604020202020204" pitchFamily="34" charset="0"/>
              </a:rPr>
              <a:t> Offers a powerful, affordable solution for professional environments.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799EA07-EFF1-4366-CB2D-80A5336AF5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2775" y="2364740"/>
            <a:ext cx="4882723" cy="306800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24220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Quick Installation Guide</a:t>
            </a:r>
          </a:p>
        </p:txBody>
      </p:sp>
      <p:sp>
        <p:nvSpPr>
          <p:cNvPr id="14" name="Title 6"/>
          <p:cNvSpPr txBox="1"/>
          <p:nvPr>
            <p:custDataLst>
              <p:tags r:id="rId4"/>
            </p:custDataLst>
          </p:nvPr>
        </p:nvSpPr>
        <p:spPr>
          <a:xfrm>
            <a:off x="464819" y="1612525"/>
            <a:ext cx="6145532" cy="2786447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Configuring</a:t>
            </a:r>
            <a:r>
              <a:rPr lang="zh-CN" altLang="en-US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HOST or DEVICE</a:t>
            </a:r>
            <a:r>
              <a:rPr lang="zh-CN" altLang="en-US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 </a:t>
            </a:r>
            <a:r>
              <a:rPr lang="en-US" altLang="zh-CN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Mode</a:t>
            </a:r>
          </a:p>
          <a:p>
            <a:pPr lvl="1" indent="-285750" fontAlgn="ctr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" altLang="zh-CN" sz="11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 the </a:t>
            </a:r>
            <a:r>
              <a:rPr lang="en" altLang="zh-CN" sz="1100" b="1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DIP switch</a:t>
            </a:r>
            <a:r>
              <a:rPr lang="en" altLang="zh-CN" sz="11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to set the </a:t>
            </a:r>
            <a:r>
              <a:rPr lang="en" altLang="zh-CN" sz="1100" b="1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NHD-USB-TRX</a:t>
            </a:r>
            <a:r>
              <a:rPr lang="en" altLang="zh-CN" sz="11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to either </a:t>
            </a:r>
            <a:r>
              <a:rPr lang="en" altLang="zh-CN" sz="1100" b="1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HOST</a:t>
            </a:r>
            <a:r>
              <a:rPr lang="en" altLang="zh-CN" sz="11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or </a:t>
            </a:r>
            <a:r>
              <a:rPr lang="en" altLang="zh-CN" sz="1100" b="1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DEVICE</a:t>
            </a:r>
            <a:r>
              <a:rPr lang="en" altLang="zh-CN" sz="110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mode.</a:t>
            </a:r>
            <a:endParaRPr lang="en-US" sz="11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fontAlgn="ctr">
              <a:lnSpc>
                <a:spcPts val="2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" altLang="zh-CN" sz="12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" altLang="zh-CN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Connect and Power Up</a:t>
            </a:r>
          </a:p>
          <a:p>
            <a:pPr lvl="1" indent="-285750" fontAlgn="ctr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" altLang="zh-CN" sz="1100" dirty="0">
                <a:solidFill>
                  <a:srgbClr val="0E0E0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Connect USB cables, Ethernet cable, and power up the device using either PoE+ or a power adapter.</a:t>
            </a:r>
          </a:p>
          <a:p>
            <a:pPr fontAlgn="ctr">
              <a:lnSpc>
                <a:spcPts val="2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endParaRPr lang="en" altLang="zh-CN" sz="12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" altLang="zh-CN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Configure Routing via NHD-CTL-PRO</a:t>
            </a:r>
          </a:p>
          <a:p>
            <a:pPr lvl="1" indent="-285750" fontAlgn="ctr">
              <a:lnSpc>
                <a:spcPts val="8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" altLang="zh-CN" sz="1100" dirty="0">
                <a:solidFill>
                  <a:srgbClr val="0E0E0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Log in to the NHD-CTL-PRO controller.</a:t>
            </a:r>
          </a:p>
          <a:p>
            <a:pPr lvl="1" indent="-285750" fontAlgn="ctr">
              <a:lnSpc>
                <a:spcPts val="8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" altLang="zh-CN" sz="1100" dirty="0">
                <a:solidFill>
                  <a:srgbClr val="0E0E0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Set up the routing between TX (transmitter) and RX (receiver).</a:t>
            </a:r>
          </a:p>
          <a:p>
            <a:pPr lvl="1" indent="-285750" fontAlgn="ctr">
              <a:lnSpc>
                <a:spcPts val="8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" altLang="zh-CN" sz="1100" dirty="0">
                <a:solidFill>
                  <a:srgbClr val="0E0E0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Optionally, configure the device to work seamlessly with the NHD-500 family endpoints.</a:t>
            </a:r>
          </a:p>
        </p:txBody>
      </p:sp>
      <p:pic>
        <p:nvPicPr>
          <p:cNvPr id="4" name="Google Shape;82;p1"/>
          <p:cNvPicPr preferRelativeResize="0"/>
          <p:nvPr/>
        </p:nvPicPr>
        <p:blipFill>
          <a:blip r:embed="rId11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20" name="Title 6"/>
          <p:cNvSpPr txBox="1"/>
          <p:nvPr>
            <p:custDataLst>
              <p:tags r:id="rId5"/>
            </p:custDataLst>
          </p:nvPr>
        </p:nvSpPr>
        <p:spPr>
          <a:xfrm>
            <a:off x="464821" y="1221423"/>
            <a:ext cx="7787640" cy="513714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To install the presentation device, it simply takes 4 steps below</a:t>
            </a: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:</a:t>
            </a:r>
            <a:endParaRPr lang="en-US" sz="20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pic>
        <p:nvPicPr>
          <p:cNvPr id="22" name="图片 4"/>
          <p:cNvPicPr/>
          <p:nvPr/>
        </p:nvPicPr>
        <p:blipFill>
          <a:blip r:embed="rId12"/>
          <a:stretch>
            <a:fillRect/>
          </a:stretch>
        </p:blipFill>
        <p:spPr>
          <a:xfrm>
            <a:off x="6962775" y="2364740"/>
            <a:ext cx="4882723" cy="306800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A0393CEA-12B8-FD1C-57CC-A0760714D18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4817" y="4352242"/>
            <a:ext cx="2148841" cy="513714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indent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r>
              <a:rPr lang="en-US" sz="20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Roboto" charset="0"/>
                <a:ea typeface="Roboto" charset="0"/>
                <a:cs typeface="Arial" panose="020B0604020202020204" pitchFamily="34" charset="0"/>
              </a:rPr>
              <a:t>IMPORTANT</a:t>
            </a: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65DDB5DC-A489-A38C-EC80-76A0119A478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83867" y="4710763"/>
            <a:ext cx="6255385" cy="1710357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PoE+ Compatibility</a:t>
            </a:r>
          </a:p>
          <a:p>
            <a:pPr lvl="1" indent="-285750" fontAlgn="ctr">
              <a:lnSpc>
                <a:spcPts val="14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Using a PoE+ (802.3at) capability network switch instead of a PoE (802.3af) only for getting full power for USB devices.</a:t>
            </a:r>
            <a:endParaRPr lang="en-US" sz="11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 lvl="0" algn="l" font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ct val="100000"/>
            </a:pPr>
            <a:r>
              <a:rPr lang="en-US" sz="1200" b="1" spc="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Power Supply Option</a:t>
            </a:r>
          </a:p>
          <a:p>
            <a:pPr lvl="1" indent="-285750" fontAlgn="ctr">
              <a:lnSpc>
                <a:spcPts val="14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" altLang="zh-CN" sz="1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When not using PoE+, ensure you use a </a:t>
            </a:r>
            <a:r>
              <a:rPr lang="en" altLang="zh-CN" sz="1100" b="1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compatible power adapter </a:t>
            </a:r>
            <a:r>
              <a:rPr lang="en" altLang="zh-CN" sz="1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capable of supplying at least 2A current to power the device effectively</a:t>
            </a:r>
            <a:endParaRPr lang="en-US" sz="1100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Introduction of Web Configuration Interface</a:t>
            </a:r>
          </a:p>
        </p:txBody>
      </p:sp>
      <p:sp>
        <p:nvSpPr>
          <p:cNvPr id="14" name="Title 6"/>
          <p:cNvSpPr txBox="1"/>
          <p:nvPr>
            <p:custDataLst>
              <p:tags r:id="rId4"/>
            </p:custDataLst>
          </p:nvPr>
        </p:nvSpPr>
        <p:spPr>
          <a:xfrm>
            <a:off x="457154" y="1150240"/>
            <a:ext cx="6381796" cy="4635245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ts val="1800"/>
              </a:lnSpc>
            </a:pPr>
            <a:r>
              <a:rPr lang="en" altLang="zh-CN" sz="1600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</a:t>
            </a:r>
            <a:r>
              <a:rPr lang="en" altLang="zh-CN" sz="1600" b="1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Web Configuration Interface</a:t>
            </a:r>
            <a:r>
              <a:rPr lang="en" altLang="zh-CN" sz="1600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on </a:t>
            </a:r>
            <a:r>
              <a:rPr lang="en" altLang="zh-CN" sz="1600" b="1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NHD-CTL-PRO</a:t>
            </a:r>
            <a:r>
              <a:rPr lang="en" altLang="zh-CN" sz="1600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provides an</a:t>
            </a:r>
            <a:br>
              <a:rPr lang="en" altLang="zh-CN" sz="1600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" altLang="zh-CN" sz="1600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intuitive platform for managing devices and streamlining workflows.</a:t>
            </a:r>
          </a:p>
          <a:p>
            <a:pPr>
              <a:lnSpc>
                <a:spcPts val="2200"/>
              </a:lnSpc>
            </a:pPr>
            <a:br>
              <a:rPr lang="en" altLang="zh-CN" sz="1400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" altLang="zh-CN" sz="1600" b="1" u="sng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functionalities include</a:t>
            </a:r>
            <a:r>
              <a:rPr lang="en" altLang="zh-CN" sz="1600" b="1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pPr lvl="0" indent="0" algn="l" fontAlgn="ctr">
              <a:lnSpc>
                <a:spcPts val="5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endParaRPr lang="en-US" sz="1600" b="1" spc="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Roboto" charset="0"/>
              <a:ea typeface="Roboto" charset="0"/>
              <a:cs typeface="Arial" panose="020B0604020202020204" pitchFamily="34" charset="0"/>
            </a:endParaRPr>
          </a:p>
          <a:p>
            <a:pPr>
              <a:lnSpc>
                <a:spcPts val="1500"/>
              </a:lnSpc>
              <a:spcBef>
                <a:spcPts val="900"/>
              </a:spcBef>
            </a:pPr>
            <a:r>
              <a:rPr lang="en" altLang="zh-CN" sz="1400" b="1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Firmware Management</a:t>
            </a:r>
            <a:endParaRPr lang="en" altLang="zh-CN" sz="1400" spc="0" dirty="0">
              <a:solidFill>
                <a:srgbClr val="0E0E0E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ts val="15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" altLang="zh-CN" sz="1200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Perform </a:t>
            </a:r>
            <a:r>
              <a:rPr lang="en" altLang="zh-CN" sz="1200" b="1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simultaneous firmware upgrades</a:t>
            </a:r>
            <a:r>
              <a:rPr lang="en" altLang="zh-CN" sz="1200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for one or multiple </a:t>
            </a:r>
            <a:r>
              <a:rPr lang="en" altLang="zh-CN" sz="1200" b="1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NHD-USB-TRX</a:t>
            </a:r>
            <a:r>
              <a:rPr lang="en" altLang="zh-CN" sz="1200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devices, saving time and effort.</a:t>
            </a:r>
          </a:p>
          <a:p>
            <a:pPr>
              <a:lnSpc>
                <a:spcPts val="200"/>
              </a:lnSpc>
              <a:spcBef>
                <a:spcPts val="900"/>
              </a:spcBef>
            </a:pPr>
            <a:endParaRPr lang="en" altLang="zh-CN" sz="1400" b="1" spc="0" dirty="0">
              <a:solidFill>
                <a:srgbClr val="0E0E0E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ts val="1500"/>
              </a:lnSpc>
              <a:spcBef>
                <a:spcPts val="900"/>
              </a:spcBef>
            </a:pPr>
            <a:r>
              <a:rPr lang="en" altLang="zh-CN" sz="1400" b="1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Routing Management</a:t>
            </a:r>
            <a:endParaRPr lang="en" altLang="zh-CN" sz="1400" spc="0" dirty="0">
              <a:solidFill>
                <a:srgbClr val="0E0E0E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ts val="15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" altLang="zh-CN" sz="1200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Configure </a:t>
            </a:r>
            <a:r>
              <a:rPr lang="en" altLang="zh-CN" sz="1200" b="1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routing between NHD-USB-TRX</a:t>
            </a:r>
            <a:r>
              <a:rPr lang="en" altLang="zh-CN" sz="1200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devices on the HOST and DEVICE ends.</a:t>
            </a:r>
          </a:p>
          <a:p>
            <a:pPr marL="285750" indent="-285750">
              <a:lnSpc>
                <a:spcPts val="15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" altLang="zh-CN" sz="1200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Seamlessly integrate and manage routes involving </a:t>
            </a:r>
            <a:r>
              <a:rPr lang="en" altLang="zh-CN" sz="1200" b="1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NHD-500 Encoders or Decoders</a:t>
            </a:r>
            <a:r>
              <a:rPr lang="en" altLang="zh-CN" sz="1200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>
              <a:lnSpc>
                <a:spcPts val="200"/>
              </a:lnSpc>
              <a:spcBef>
                <a:spcPts val="900"/>
              </a:spcBef>
            </a:pPr>
            <a:endParaRPr lang="en" altLang="zh-CN" sz="1400" b="1" spc="0" dirty="0">
              <a:solidFill>
                <a:srgbClr val="0E0E0E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ts val="1500"/>
              </a:lnSpc>
              <a:spcBef>
                <a:spcPts val="900"/>
              </a:spcBef>
            </a:pPr>
            <a:r>
              <a:rPr lang="en" altLang="zh-CN" sz="1400" b="1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Working Mode Configuration</a:t>
            </a:r>
            <a:endParaRPr lang="en" altLang="zh-CN" sz="1400" spc="0" dirty="0">
              <a:solidFill>
                <a:srgbClr val="0E0E0E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ts val="15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" altLang="zh-CN" sz="1200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Dynamically switch </a:t>
            </a:r>
            <a:r>
              <a:rPr lang="en" altLang="zh-CN" sz="1200" b="1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USB-TRX modes</a:t>
            </a:r>
            <a:r>
              <a:rPr lang="en" altLang="zh-CN" sz="1200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directly via the </a:t>
            </a:r>
            <a:r>
              <a:rPr lang="en" altLang="zh-CN" sz="1200" b="1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NHD-CTL-PRO</a:t>
            </a:r>
            <a:r>
              <a:rPr lang="en" altLang="zh-CN" sz="1200" spc="0" dirty="0">
                <a:solidFill>
                  <a:srgbClr val="0E0E0E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interface, even during runtime.</a:t>
            </a:r>
          </a:p>
        </p:txBody>
      </p:sp>
      <p:pic>
        <p:nvPicPr>
          <p:cNvPr id="5" name="Google Shape;82;p1"/>
          <p:cNvPicPr preferRelativeResize="0"/>
          <p:nvPr/>
        </p:nvPicPr>
        <p:blipFill>
          <a:blip r:embed="rId8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pic>
        <p:nvPicPr>
          <p:cNvPr id="2" name="图片 3"/>
          <p:cNvPicPr/>
          <p:nvPr/>
        </p:nvPicPr>
        <p:blipFill>
          <a:blip r:embed="rId9"/>
          <a:stretch>
            <a:fillRect/>
          </a:stretch>
        </p:blipFill>
        <p:spPr>
          <a:xfrm>
            <a:off x="6962774" y="2364740"/>
            <a:ext cx="4882723" cy="306800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84293" y="1149489"/>
            <a:ext cx="4159582" cy="707885"/>
          </a:xfrm>
          <a:prstGeom prst="rect">
            <a:avLst/>
          </a:prstGeom>
          <a:solidFill>
            <a:srgbClr val="E2F3E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-80645" y="1153801"/>
            <a:ext cx="122878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Q</a:t>
            </a:r>
            <a:r>
              <a:rPr lang="en-US" altLang="zh-CN" sz="2400" b="1" dirty="0">
                <a:latin typeface="Montserrat" pitchFamily="2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&amp;</a:t>
            </a:r>
            <a:r>
              <a:rPr lang="en-US" altLang="zh-CN" sz="2400" b="1" dirty="0">
                <a:latin typeface="Montserrat" pitchFamily="2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Montserrat" pitchFamily="2" charset="0"/>
                <a:cs typeface="Arial" panose="020B0604020202020204" pitchFamily="34" charset="0"/>
              </a:rPr>
              <a:t>A Session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Roboto" charset="0"/>
              <a:ea typeface="Roboto" charset="0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/>
          <p:nvPr/>
        </p:nvPicPr>
        <p:blipFill>
          <a:blip r:embed="rId6"/>
          <a:stretch>
            <a:fillRect/>
          </a:stretch>
        </p:blipFill>
        <p:spPr>
          <a:xfrm>
            <a:off x="2796857" y="2808363"/>
            <a:ext cx="6502400" cy="358824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Google Shape;82;p1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/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9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6"/>
          <p:cNvSpPr txBox="1"/>
          <p:nvPr>
            <p:custDataLst>
              <p:tags r:id="rId2"/>
            </p:custDataLst>
          </p:nvPr>
        </p:nvSpPr>
        <p:spPr>
          <a:xfrm>
            <a:off x="457155" y="160021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3200" b="1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sym typeface="Roboto"/>
              </a:rPr>
              <a:t>Final Thoughts</a:t>
            </a:r>
          </a:p>
        </p:txBody>
      </p:sp>
      <p:sp>
        <p:nvSpPr>
          <p:cNvPr id="4" name="文本框 1"/>
          <p:cNvSpPr txBox="1"/>
          <p:nvPr/>
        </p:nvSpPr>
        <p:spPr>
          <a:xfrm>
            <a:off x="-47944" y="2003528"/>
            <a:ext cx="12287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Got questions? Let's dive into a lively Q&amp;A session! </a:t>
            </a:r>
          </a:p>
          <a:p>
            <a:pPr algn="ctr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</a:rPr>
              <a:t>Your curiosity fuels the conversation, so don’t hesitate to ask away.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3&quot;:[4364952],&quot;65&quot;:[20215802]}"/>
  <p:tag name="COMMONDATA" val="eyJoZGlkIjoiNTc4NzQzMWI1MGViYjVlYjEzZTIyZjMyNmVmMjIyZT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02_1*f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44"/>
  <p:tag name="KSO_WM_UNIT_SHOW_EDIT_AREA_INDICATION" val="1"/>
  <p:tag name="KSO_WM_CHIP_GROUPID" val="5e6b05596848fb12bee65ac8"/>
  <p:tag name="KSO_WM_CHIP_XID" val="5e6b05596848fb12bee65aca"/>
  <p:tag name="KSO_WM_UNIT_DEC_AREA_ID" val="d879e39fee614b88a76bb899d600b764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fcd4429fddf4fd9b6b9cae2bcdab05b"/>
  <p:tag name="KSO_WM_UNIT_SUPPORT_UNIT_TYPE" val="[&quot;d&quot;]"/>
  <p:tag name="KSO_WM_UNIT_TEXT_FILL_FORE_SCHEMECOLOR_INDEX_BRIGHTNESS" val="0.25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25732283464566,&quot;left&quot;:98.6,&quot;top&quot;:79.59267716535433,&quot;width&quot;:795.4903937007873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5.25732283464566,&quot;left&quot;:98.6,&quot;top&quot;:79.59267716535433,&quot;width&quot;:795.4903937007873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00*422"/>
  <p:tag name="TABLE_ENDDRAG_RECT" val="28*96*500*4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4a5ff3c-0b77-46f1-a1d7-63cde164d70f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17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80"/>
  <p:tag name="KSO_WM_SLIDE_POSITION" val="0*0"/>
  <p:tag name="KSO_WM_TAG_VERSION" val="1.0"/>
  <p:tag name="KSO_WM_BEAUTIFY_FLAG" val="#wm#"/>
  <p:tag name="KSO_WM_TEMPLATE_CATEGORY" val="diagram"/>
  <p:tag name="KSO_WM_TEMPLATE_INDEX" val="20215817"/>
  <p:tag name="KSO_WM_SLIDE_LAYOUT" val="a_d_f"/>
  <p:tag name="KSO_WM_SLIDE_LAYOUT_CNT" val="1_1_1"/>
  <p:tag name="KSO_WM_SLIDE_LAYOUT_INFO" val="{&quot;id&quot;:&quot;2022-12-02T10:14:43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2-12-02T10:14:43&quot;,&quot;margin&quot;:{&quot;bottom&quot;:0.4230000674724579,&quot;left&quot;:1.2699999809265137,&quot;right&quot;:1.2699999809265137,&quot;top&quot;:0.4230000674724579},&quot;type&quot;:0},{&quot;direction&quot;:1,&quot;id&quot;:&quot;2022-12-02T10:14:43&quot;,&quot;maxSize&quot;:{&quot;size1&quot;:41.29964745589144},&quot;minSize&quot;:{&quot;size1&quot;:41.29964745589144},&quot;normalSize&quot;:{&quot;size1&quot;:41.29964745589144},&quot;subLayout&quot;:[{&quot;id&quot;:&quot;2022-12-02T10:14:43&quot;,&quot;margin&quot;:{&quot;bottom&quot;:1.2699999809265137,&quot;left&quot;:1.6929999589920044,&quot;right&quot;:0.44999995827674866,&quot;top&quot;:1.2699999809265137},&quot;type&quot;:0},{&quot;id&quot;:&quot;2022-12-02T10:14:43&quot;,&quot;margin&quot;:{&quot;bottom&quot;:3.38700008392334,&quot;left&quot;:0.8199999928474426,&quot;right&quot;:1.6929999589920044,&quot;top&quot;:3.38700008392334},&quot;type&quot;:0}]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d8e478fb0c58a941e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cm&quot;,&quot;text_direction&quot;:&quot;horizontal&quot;,&quot;support_big_font&quot;:false,&quot;picture_toward&quot;:0,&quot;picture_dockside&quot;:[],&quot;fill_id&quot;:&quot;20fbf7d7eb9c4613b4fee6291a75817d&quot;,&quot;fill_align&quot;:&quot;cm&quot;,&quot;chip_types&quot;:[&quot;pictext&quot;,&quot;picture&quot;,&quot;chart&quot;,&quot;table&quot;,&quot;video&quot;]},{&quot;text_align&quot;:&quot;lm&quot;,&quot;text_direction&quot;:&quot;horizontal&quot;,&quot;support_big_font&quot;:false,&quot;picture_toward&quot;:0,&quot;picture_dockside&quot;:[],&quot;fill_id&quot;:&quot;22114352e1bf4a62ad6b257f5ab26101&quot;,&quot;fill_align&quot;:&quot;cm&quot;,&quot;chip_types&quot;:[&quot;text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3895f930c9383becde52e83"/>
  <p:tag name="KSO_WM_TEMPLATE_ASSEMBLE_GROUPID" val="63895f930c9383becde52e8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5817_1*f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96"/>
  <p:tag name="KSO_WM_UNIT_SHOW_EDIT_AREA_INDICATION" val="1"/>
  <p:tag name="KSO_WM_CHIP_GROUPID" val="5e6b05596848fb12bee65ac8"/>
  <p:tag name="KSO_WM_CHIP_XID" val="5e6b05596848fb12bee65aca"/>
  <p:tag name="KSO_WM_UNIT_DEC_AREA_ID" val="fa1e37419f9b42fb86bdf596086272a2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c765ccbb1c104f1a8e992a725ddfc8ec"/>
  <p:tag name="KSO_WM_UNIT_TEXT_FILL_FORE_SCHEMECOLOR_INDEX_BRIGHTNESS" val="0.25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15817_1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TEMPLATE_CATEGORY" val="diagram"/>
  <p:tag name="KSO_WM_TEMPLATE_INDEX" val="20215817"/>
  <p:tag name="KSO_WM_UNIT_VALUE" val="159"/>
  <p:tag name="KSO_WM_TEMPLATE_ASSEMBLE_XID" val="63895f930c9383becde52e83"/>
  <p:tag name="KSO_WM_TEMPLATE_ASSEMBLE_GROUPID" val="63895f930c9383becde52e8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17_1*a*1"/>
  <p:tag name="KSO_WM_TEMPLATE_CATEGORY" val="diagram"/>
  <p:tag name="KSO_WM_TEMPLATE_INDEX" val="20215817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0662bf5b3c444c3294df5537940b5c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d88d8d4a19241e298e7ce1eeb589426"/>
  <p:tag name="KSO_WM_UNIT_TEXT_FILL_FORE_SCHEMECOLOR_INDEX_BRIGHTNESS" val="0"/>
  <p:tag name="KSO_WM_UNIT_TEXT_FILL_FORE_SCHEMECOLOR_INDEX" val="13"/>
  <p:tag name="KSO_WM_UNIT_TEXT_FILL_TYPE" val="1"/>
  <p:tag name="KSO_WM_TEMPLATE_ASSEMBLE_XID" val="63895f930c9383becde52e83"/>
  <p:tag name="KSO_WM_TEMPLATE_ASSEMBLE_GROUPID" val="63895f930c9383becde52e8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402328"/>
      </a:dk2>
      <a:lt2>
        <a:srgbClr val="EFE6E7"/>
      </a:lt2>
      <a:accent1>
        <a:srgbClr val="D60926"/>
      </a:accent1>
      <a:accent2>
        <a:srgbClr val="B33220"/>
      </a:accent2>
      <a:accent3>
        <a:srgbClr val="905B1A"/>
      </a:accent3>
      <a:accent4>
        <a:srgbClr val="6D8414"/>
      </a:accent4>
      <a:accent5>
        <a:srgbClr val="4AAD0E"/>
      </a:accent5>
      <a:accent6>
        <a:srgbClr val="27D608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34ccb5-745a-4b19-b3da-83dafbb0f953">
      <Terms xmlns="http://schemas.microsoft.com/office/infopath/2007/PartnerControls"/>
    </lcf76f155ced4ddcb4097134ff3c332f>
    <TaxCatchAll xmlns="fa7e1be7-6c27-4381-949e-b43a2eb5089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1A8FBB3908BD4681554D596DADDBBC" ma:contentTypeVersion="19" ma:contentTypeDescription="Create a new document." ma:contentTypeScope="" ma:versionID="089862c3d7236b297f5be572ccb4bd9e">
  <xsd:schema xmlns:xsd="http://www.w3.org/2001/XMLSchema" xmlns:xs="http://www.w3.org/2001/XMLSchema" xmlns:p="http://schemas.microsoft.com/office/2006/metadata/properties" xmlns:ns2="d634ccb5-745a-4b19-b3da-83dafbb0f953" xmlns:ns3="fa7e1be7-6c27-4381-949e-b43a2eb5089a" targetNamespace="http://schemas.microsoft.com/office/2006/metadata/properties" ma:root="true" ma:fieldsID="38436fc1e1e78720b95f7a357a3e0114" ns2:_="" ns3:_="">
    <xsd:import namespace="d634ccb5-745a-4b19-b3da-83dafbb0f953"/>
    <xsd:import namespace="fa7e1be7-6c27-4381-949e-b43a2eb508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34ccb5-745a-4b19-b3da-83dafbb0f9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a840791-955a-45d0-8f77-cb775012b4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7e1be7-6c27-4381-949e-b43a2eb5089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e5708c9-3083-478d-b2b5-d29c6e746420}" ma:internalName="TaxCatchAll" ma:showField="CatchAllData" ma:web="fa7e1be7-6c27-4381-949e-b43a2eb508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F874BB-17AA-4DA6-9324-EEB7EA1289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C3EAF9-EFA4-4B63-8513-7B46D0D4461A}">
  <ds:schemaRefs>
    <ds:schemaRef ds:uri="http://schemas.microsoft.com/office/2006/metadata/properties"/>
    <ds:schemaRef ds:uri="http://schemas.microsoft.com/office/infopath/2007/PartnerControls"/>
    <ds:schemaRef ds:uri="d634ccb5-745a-4b19-b3da-83dafbb0f953"/>
    <ds:schemaRef ds:uri="fa7e1be7-6c27-4381-949e-b43a2eb5089a"/>
  </ds:schemaRefs>
</ds:datastoreItem>
</file>

<file path=customXml/itemProps3.xml><?xml version="1.0" encoding="utf-8"?>
<ds:datastoreItem xmlns:ds="http://schemas.openxmlformats.org/officeDocument/2006/customXml" ds:itemID="{B6B5C0EA-353A-4F09-BAF5-460D3A26687D}"/>
</file>

<file path=docProps/app.xml><?xml version="1.0" encoding="utf-8"?>
<Properties xmlns="http://schemas.openxmlformats.org/officeDocument/2006/extended-properties" xmlns:vt="http://schemas.openxmlformats.org/officeDocument/2006/docPropsVTypes">
  <TotalTime>1249</TotalTime>
  <Words>1193</Words>
  <Application>Microsoft Office PowerPoint</Application>
  <PresentationFormat>Widescreen</PresentationFormat>
  <Paragraphs>208</Paragraphs>
  <Slides>14</Slides>
  <Notes>11</Notes>
  <HiddenSlides>2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Office 主题​​</vt:lpstr>
      <vt:lpstr>1_Office 主题​​</vt:lpstr>
      <vt:lpstr>2_Office 主题​​</vt:lpstr>
      <vt:lpstr>NHD-USB-TRX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henry@proitav.com</dc:creator>
  <cp:lastModifiedBy>Sissi Pan</cp:lastModifiedBy>
  <cp:revision>183</cp:revision>
  <dcterms:created xsi:type="dcterms:W3CDTF">2024-10-24T01:32:00Z</dcterms:created>
  <dcterms:modified xsi:type="dcterms:W3CDTF">2025-10-30T08:51:32Z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E205779165384D6681FE05BF827F3D4B_12</vt:lpwstr>
  </property>
  <property fmtid="{D5CDD505-2E9C-101B-9397-08002B2CF9AE}" pid="3" name="KSOProductBuildVer">
    <vt:lpwstr>2052-12.1.0.18608</vt:lpwstr>
  </property>
  <property fmtid="{D5CDD505-2E9C-101B-9397-08002B2CF9AE}" pid="4" name="ContentTypeId">
    <vt:lpwstr>0x010100E01A8FBB3908BD4681554D596DADDBBC</vt:lpwstr>
  </property>
  <property fmtid="{D5CDD505-2E9C-101B-9397-08002B2CF9AE}" pid="5" name="MediaServiceImageTags">
    <vt:lpwstr/>
  </property>
</Properties>
</file>